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65"/>
  </p:notesMasterIdLst>
  <p:handoutMasterIdLst>
    <p:handoutMasterId r:id="rId466"/>
  </p:handoutMasterIdLst>
  <p:sldIdLst>
    <p:sldId id="256" r:id="rId2"/>
    <p:sldId id="397" r:id="rId3"/>
    <p:sldId id="398" r:id="rId4"/>
    <p:sldId id="257" r:id="rId5"/>
    <p:sldId id="258" r:id="rId6"/>
    <p:sldId id="259" r:id="rId7"/>
    <p:sldId id="383" r:id="rId8"/>
    <p:sldId id="384" r:id="rId9"/>
    <p:sldId id="385" r:id="rId10"/>
    <p:sldId id="263" r:id="rId11"/>
    <p:sldId id="265" r:id="rId12"/>
    <p:sldId id="401" r:id="rId13"/>
    <p:sldId id="402" r:id="rId14"/>
    <p:sldId id="403" r:id="rId15"/>
    <p:sldId id="404" r:id="rId16"/>
    <p:sldId id="405" r:id="rId17"/>
    <p:sldId id="406" r:id="rId18"/>
    <p:sldId id="407" r:id="rId19"/>
    <p:sldId id="408" r:id="rId20"/>
    <p:sldId id="409" r:id="rId21"/>
    <p:sldId id="410" r:id="rId22"/>
    <p:sldId id="267" r:id="rId23"/>
    <p:sldId id="371" r:id="rId24"/>
    <p:sldId id="411" r:id="rId25"/>
    <p:sldId id="412" r:id="rId26"/>
    <p:sldId id="413" r:id="rId27"/>
    <p:sldId id="414" r:id="rId28"/>
    <p:sldId id="415" r:id="rId29"/>
    <p:sldId id="416" r:id="rId30"/>
    <p:sldId id="417" r:id="rId31"/>
    <p:sldId id="418" r:id="rId32"/>
    <p:sldId id="419" r:id="rId33"/>
    <p:sldId id="420" r:id="rId34"/>
    <p:sldId id="421" r:id="rId35"/>
    <p:sldId id="422" r:id="rId36"/>
    <p:sldId id="423" r:id="rId37"/>
    <p:sldId id="424" r:id="rId38"/>
    <p:sldId id="425" r:id="rId39"/>
    <p:sldId id="426" r:id="rId40"/>
    <p:sldId id="427" r:id="rId41"/>
    <p:sldId id="428" r:id="rId42"/>
    <p:sldId id="429" r:id="rId43"/>
    <p:sldId id="430" r:id="rId44"/>
    <p:sldId id="431" r:id="rId45"/>
    <p:sldId id="432" r:id="rId46"/>
    <p:sldId id="433" r:id="rId47"/>
    <p:sldId id="434" r:id="rId48"/>
    <p:sldId id="435" r:id="rId49"/>
    <p:sldId id="436" r:id="rId50"/>
    <p:sldId id="437" r:id="rId51"/>
    <p:sldId id="439" r:id="rId52"/>
    <p:sldId id="438" r:id="rId53"/>
    <p:sldId id="440" r:id="rId54"/>
    <p:sldId id="441" r:id="rId55"/>
    <p:sldId id="442" r:id="rId56"/>
    <p:sldId id="443" r:id="rId57"/>
    <p:sldId id="444" r:id="rId58"/>
    <p:sldId id="445" r:id="rId59"/>
    <p:sldId id="446" r:id="rId60"/>
    <p:sldId id="447" r:id="rId61"/>
    <p:sldId id="448" r:id="rId62"/>
    <p:sldId id="400" r:id="rId63"/>
    <p:sldId id="449" r:id="rId64"/>
    <p:sldId id="450" r:id="rId65"/>
    <p:sldId id="451" r:id="rId66"/>
    <p:sldId id="452" r:id="rId67"/>
    <p:sldId id="453" r:id="rId68"/>
    <p:sldId id="454" r:id="rId69"/>
    <p:sldId id="455" r:id="rId70"/>
    <p:sldId id="456" r:id="rId71"/>
    <p:sldId id="457" r:id="rId72"/>
    <p:sldId id="458" r:id="rId73"/>
    <p:sldId id="459" r:id="rId74"/>
    <p:sldId id="460" r:id="rId75"/>
    <p:sldId id="461" r:id="rId76"/>
    <p:sldId id="462" r:id="rId77"/>
    <p:sldId id="463" r:id="rId78"/>
    <p:sldId id="464" r:id="rId79"/>
    <p:sldId id="465" r:id="rId80"/>
    <p:sldId id="466" r:id="rId81"/>
    <p:sldId id="467" r:id="rId82"/>
    <p:sldId id="468" r:id="rId83"/>
    <p:sldId id="469" r:id="rId84"/>
    <p:sldId id="470" r:id="rId85"/>
    <p:sldId id="471" r:id="rId86"/>
    <p:sldId id="472" r:id="rId87"/>
    <p:sldId id="473" r:id="rId88"/>
    <p:sldId id="474" r:id="rId89"/>
    <p:sldId id="475" r:id="rId90"/>
    <p:sldId id="476" r:id="rId91"/>
    <p:sldId id="477" r:id="rId92"/>
    <p:sldId id="478" r:id="rId93"/>
    <p:sldId id="479" r:id="rId94"/>
    <p:sldId id="480" r:id="rId95"/>
    <p:sldId id="481" r:id="rId96"/>
    <p:sldId id="482" r:id="rId97"/>
    <p:sldId id="396" r:id="rId98"/>
    <p:sldId id="483" r:id="rId99"/>
    <p:sldId id="484" r:id="rId100"/>
    <p:sldId id="485" r:id="rId101"/>
    <p:sldId id="486" r:id="rId102"/>
    <p:sldId id="487" r:id="rId103"/>
    <p:sldId id="488" r:id="rId104"/>
    <p:sldId id="489" r:id="rId105"/>
    <p:sldId id="492" r:id="rId106"/>
    <p:sldId id="493" r:id="rId107"/>
    <p:sldId id="494" r:id="rId108"/>
    <p:sldId id="495" r:id="rId109"/>
    <p:sldId id="496" r:id="rId110"/>
    <p:sldId id="497" r:id="rId111"/>
    <p:sldId id="498" r:id="rId112"/>
    <p:sldId id="499" r:id="rId113"/>
    <p:sldId id="530" r:id="rId114"/>
    <p:sldId id="490" r:id="rId115"/>
    <p:sldId id="491" r:id="rId116"/>
    <p:sldId id="500" r:id="rId117"/>
    <p:sldId id="501" r:id="rId118"/>
    <p:sldId id="502" r:id="rId119"/>
    <p:sldId id="503" r:id="rId120"/>
    <p:sldId id="504" r:id="rId121"/>
    <p:sldId id="505" r:id="rId122"/>
    <p:sldId id="506" r:id="rId123"/>
    <p:sldId id="507" r:id="rId124"/>
    <p:sldId id="508" r:id="rId125"/>
    <p:sldId id="509" r:id="rId126"/>
    <p:sldId id="510" r:id="rId127"/>
    <p:sldId id="511" r:id="rId128"/>
    <p:sldId id="512" r:id="rId129"/>
    <p:sldId id="513" r:id="rId130"/>
    <p:sldId id="514" r:id="rId131"/>
    <p:sldId id="515" r:id="rId132"/>
    <p:sldId id="516" r:id="rId133"/>
    <p:sldId id="517" r:id="rId134"/>
    <p:sldId id="518" r:id="rId135"/>
    <p:sldId id="519" r:id="rId136"/>
    <p:sldId id="521" r:id="rId137"/>
    <p:sldId id="520" r:id="rId138"/>
    <p:sldId id="522" r:id="rId139"/>
    <p:sldId id="523" r:id="rId140"/>
    <p:sldId id="524" r:id="rId141"/>
    <p:sldId id="525" r:id="rId142"/>
    <p:sldId id="526" r:id="rId143"/>
    <p:sldId id="527" r:id="rId144"/>
    <p:sldId id="528" r:id="rId145"/>
    <p:sldId id="529" r:id="rId146"/>
    <p:sldId id="531" r:id="rId147"/>
    <p:sldId id="532" r:id="rId148"/>
    <p:sldId id="533" r:id="rId149"/>
    <p:sldId id="534" r:id="rId150"/>
    <p:sldId id="535" r:id="rId151"/>
    <p:sldId id="536" r:id="rId152"/>
    <p:sldId id="537" r:id="rId153"/>
    <p:sldId id="331" r:id="rId154"/>
    <p:sldId id="333" r:id="rId155"/>
    <p:sldId id="334" r:id="rId156"/>
    <p:sldId id="336" r:id="rId157"/>
    <p:sldId id="339" r:id="rId158"/>
    <p:sldId id="340" r:id="rId159"/>
    <p:sldId id="338" r:id="rId160"/>
    <p:sldId id="554" r:id="rId161"/>
    <p:sldId id="555" r:id="rId162"/>
    <p:sldId id="556" r:id="rId163"/>
    <p:sldId id="557" r:id="rId164"/>
    <p:sldId id="558" r:id="rId165"/>
    <p:sldId id="559" r:id="rId166"/>
    <p:sldId id="560" r:id="rId167"/>
    <p:sldId id="561" r:id="rId168"/>
    <p:sldId id="562" r:id="rId169"/>
    <p:sldId id="563" r:id="rId170"/>
    <p:sldId id="564" r:id="rId171"/>
    <p:sldId id="565" r:id="rId172"/>
    <p:sldId id="566" r:id="rId173"/>
    <p:sldId id="567" r:id="rId174"/>
    <p:sldId id="568" r:id="rId175"/>
    <p:sldId id="569" r:id="rId176"/>
    <p:sldId id="570" r:id="rId177"/>
    <p:sldId id="571" r:id="rId178"/>
    <p:sldId id="538" r:id="rId179"/>
    <p:sldId id="539" r:id="rId180"/>
    <p:sldId id="540" r:id="rId181"/>
    <p:sldId id="541" r:id="rId182"/>
    <p:sldId id="542" r:id="rId183"/>
    <p:sldId id="543" r:id="rId184"/>
    <p:sldId id="544" r:id="rId185"/>
    <p:sldId id="545" r:id="rId186"/>
    <p:sldId id="546" r:id="rId187"/>
    <p:sldId id="547" r:id="rId188"/>
    <p:sldId id="548" r:id="rId189"/>
    <p:sldId id="549" r:id="rId190"/>
    <p:sldId id="550" r:id="rId191"/>
    <p:sldId id="551" r:id="rId192"/>
    <p:sldId id="552" r:id="rId193"/>
    <p:sldId id="583" r:id="rId194"/>
    <p:sldId id="584" r:id="rId195"/>
    <p:sldId id="585" r:id="rId196"/>
    <p:sldId id="586" r:id="rId197"/>
    <p:sldId id="587" r:id="rId198"/>
    <p:sldId id="588" r:id="rId199"/>
    <p:sldId id="589" r:id="rId200"/>
    <p:sldId id="590" r:id="rId201"/>
    <p:sldId id="591" r:id="rId202"/>
    <p:sldId id="553" r:id="rId203"/>
    <p:sldId id="572" r:id="rId204"/>
    <p:sldId id="573" r:id="rId205"/>
    <p:sldId id="574" r:id="rId206"/>
    <p:sldId id="575" r:id="rId207"/>
    <p:sldId id="576" r:id="rId208"/>
    <p:sldId id="577" r:id="rId209"/>
    <p:sldId id="578" r:id="rId210"/>
    <p:sldId id="579" r:id="rId211"/>
    <p:sldId id="580" r:id="rId212"/>
    <p:sldId id="581" r:id="rId213"/>
    <p:sldId id="582" r:id="rId214"/>
    <p:sldId id="592" r:id="rId215"/>
    <p:sldId id="593" r:id="rId216"/>
    <p:sldId id="594" r:id="rId217"/>
    <p:sldId id="595" r:id="rId218"/>
    <p:sldId id="596" r:id="rId219"/>
    <p:sldId id="597" r:id="rId220"/>
    <p:sldId id="598" r:id="rId221"/>
    <p:sldId id="599" r:id="rId222"/>
    <p:sldId id="600" r:id="rId223"/>
    <p:sldId id="601" r:id="rId224"/>
    <p:sldId id="602" r:id="rId225"/>
    <p:sldId id="614" r:id="rId226"/>
    <p:sldId id="615" r:id="rId227"/>
    <p:sldId id="603" r:id="rId228"/>
    <p:sldId id="604" r:id="rId229"/>
    <p:sldId id="605" r:id="rId230"/>
    <p:sldId id="606" r:id="rId231"/>
    <p:sldId id="607" r:id="rId232"/>
    <p:sldId id="608" r:id="rId233"/>
    <p:sldId id="609" r:id="rId234"/>
    <p:sldId id="610" r:id="rId235"/>
    <p:sldId id="611" r:id="rId236"/>
    <p:sldId id="612" r:id="rId237"/>
    <p:sldId id="613" r:id="rId238"/>
    <p:sldId id="616" r:id="rId239"/>
    <p:sldId id="617" r:id="rId240"/>
    <p:sldId id="618" r:id="rId241"/>
    <p:sldId id="619" r:id="rId242"/>
    <p:sldId id="620" r:id="rId243"/>
    <p:sldId id="621" r:id="rId244"/>
    <p:sldId id="622" r:id="rId245"/>
    <p:sldId id="623" r:id="rId246"/>
    <p:sldId id="624" r:id="rId247"/>
    <p:sldId id="625" r:id="rId248"/>
    <p:sldId id="626" r:id="rId249"/>
    <p:sldId id="627" r:id="rId250"/>
    <p:sldId id="628" r:id="rId251"/>
    <p:sldId id="629" r:id="rId252"/>
    <p:sldId id="630" r:id="rId253"/>
    <p:sldId id="631" r:id="rId254"/>
    <p:sldId id="632" r:id="rId255"/>
    <p:sldId id="633" r:id="rId256"/>
    <p:sldId id="634" r:id="rId257"/>
    <p:sldId id="635" r:id="rId258"/>
    <p:sldId id="636" r:id="rId259"/>
    <p:sldId id="637" r:id="rId260"/>
    <p:sldId id="638" r:id="rId261"/>
    <p:sldId id="639" r:id="rId262"/>
    <p:sldId id="640" r:id="rId263"/>
    <p:sldId id="641" r:id="rId264"/>
    <p:sldId id="642" r:id="rId265"/>
    <p:sldId id="643" r:id="rId266"/>
    <p:sldId id="644" r:id="rId267"/>
    <p:sldId id="645" r:id="rId268"/>
    <p:sldId id="646" r:id="rId269"/>
    <p:sldId id="647" r:id="rId270"/>
    <p:sldId id="648" r:id="rId271"/>
    <p:sldId id="649" r:id="rId272"/>
    <p:sldId id="650" r:id="rId273"/>
    <p:sldId id="651" r:id="rId274"/>
    <p:sldId id="652" r:id="rId275"/>
    <p:sldId id="653" r:id="rId276"/>
    <p:sldId id="654" r:id="rId277"/>
    <p:sldId id="655" r:id="rId278"/>
    <p:sldId id="656" r:id="rId279"/>
    <p:sldId id="657" r:id="rId280"/>
    <p:sldId id="658" r:id="rId281"/>
    <p:sldId id="659" r:id="rId282"/>
    <p:sldId id="660" r:id="rId283"/>
    <p:sldId id="661" r:id="rId284"/>
    <p:sldId id="662" r:id="rId285"/>
    <p:sldId id="663" r:id="rId286"/>
    <p:sldId id="664" r:id="rId287"/>
    <p:sldId id="665" r:id="rId288"/>
    <p:sldId id="666" r:id="rId289"/>
    <p:sldId id="668" r:id="rId290"/>
    <p:sldId id="669" r:id="rId291"/>
    <p:sldId id="670" r:id="rId292"/>
    <p:sldId id="671" r:id="rId293"/>
    <p:sldId id="672" r:id="rId294"/>
    <p:sldId id="673" r:id="rId295"/>
    <p:sldId id="674" r:id="rId296"/>
    <p:sldId id="667" r:id="rId297"/>
    <p:sldId id="675" r:id="rId298"/>
    <p:sldId id="676" r:id="rId299"/>
    <p:sldId id="677" r:id="rId300"/>
    <p:sldId id="678" r:id="rId301"/>
    <p:sldId id="679" r:id="rId302"/>
    <p:sldId id="680" r:id="rId303"/>
    <p:sldId id="681" r:id="rId304"/>
    <p:sldId id="682" r:id="rId305"/>
    <p:sldId id="683" r:id="rId306"/>
    <p:sldId id="684" r:id="rId307"/>
    <p:sldId id="685" r:id="rId308"/>
    <p:sldId id="686" r:id="rId309"/>
    <p:sldId id="687" r:id="rId310"/>
    <p:sldId id="688" r:id="rId311"/>
    <p:sldId id="689" r:id="rId312"/>
    <p:sldId id="690" r:id="rId313"/>
    <p:sldId id="691" r:id="rId314"/>
    <p:sldId id="692" r:id="rId315"/>
    <p:sldId id="693" r:id="rId316"/>
    <p:sldId id="694" r:id="rId317"/>
    <p:sldId id="695" r:id="rId318"/>
    <p:sldId id="696" r:id="rId319"/>
    <p:sldId id="697" r:id="rId320"/>
    <p:sldId id="698" r:id="rId321"/>
    <p:sldId id="699" r:id="rId322"/>
    <p:sldId id="700" r:id="rId323"/>
    <p:sldId id="701" r:id="rId324"/>
    <p:sldId id="702" r:id="rId325"/>
    <p:sldId id="703" r:id="rId326"/>
    <p:sldId id="704" r:id="rId327"/>
    <p:sldId id="705" r:id="rId328"/>
    <p:sldId id="706" r:id="rId329"/>
    <p:sldId id="707" r:id="rId330"/>
    <p:sldId id="708" r:id="rId331"/>
    <p:sldId id="709" r:id="rId332"/>
    <p:sldId id="710" r:id="rId333"/>
    <p:sldId id="711" r:id="rId334"/>
    <p:sldId id="712" r:id="rId335"/>
    <p:sldId id="713" r:id="rId336"/>
    <p:sldId id="714" r:id="rId337"/>
    <p:sldId id="715" r:id="rId338"/>
    <p:sldId id="716" r:id="rId339"/>
    <p:sldId id="717" r:id="rId340"/>
    <p:sldId id="718" r:id="rId341"/>
    <p:sldId id="719" r:id="rId342"/>
    <p:sldId id="720" r:id="rId343"/>
    <p:sldId id="721" r:id="rId344"/>
    <p:sldId id="722" r:id="rId345"/>
    <p:sldId id="723" r:id="rId346"/>
    <p:sldId id="724" r:id="rId347"/>
    <p:sldId id="725" r:id="rId348"/>
    <p:sldId id="726" r:id="rId349"/>
    <p:sldId id="727" r:id="rId350"/>
    <p:sldId id="728" r:id="rId351"/>
    <p:sldId id="729" r:id="rId352"/>
    <p:sldId id="730" r:id="rId353"/>
    <p:sldId id="731" r:id="rId354"/>
    <p:sldId id="732" r:id="rId355"/>
    <p:sldId id="733" r:id="rId356"/>
    <p:sldId id="734" r:id="rId357"/>
    <p:sldId id="735" r:id="rId358"/>
    <p:sldId id="736" r:id="rId359"/>
    <p:sldId id="737" r:id="rId360"/>
    <p:sldId id="738" r:id="rId361"/>
    <p:sldId id="739" r:id="rId362"/>
    <p:sldId id="740" r:id="rId363"/>
    <p:sldId id="741" r:id="rId364"/>
    <p:sldId id="742" r:id="rId365"/>
    <p:sldId id="743" r:id="rId366"/>
    <p:sldId id="744" r:id="rId367"/>
    <p:sldId id="745" r:id="rId368"/>
    <p:sldId id="746" r:id="rId369"/>
    <p:sldId id="747" r:id="rId370"/>
    <p:sldId id="748" r:id="rId371"/>
    <p:sldId id="749" r:id="rId372"/>
    <p:sldId id="750" r:id="rId373"/>
    <p:sldId id="751" r:id="rId374"/>
    <p:sldId id="752" r:id="rId375"/>
    <p:sldId id="753" r:id="rId376"/>
    <p:sldId id="754" r:id="rId377"/>
    <p:sldId id="755" r:id="rId378"/>
    <p:sldId id="756" r:id="rId379"/>
    <p:sldId id="757" r:id="rId380"/>
    <p:sldId id="758" r:id="rId381"/>
    <p:sldId id="759" r:id="rId382"/>
    <p:sldId id="760" r:id="rId383"/>
    <p:sldId id="761" r:id="rId384"/>
    <p:sldId id="762" r:id="rId385"/>
    <p:sldId id="763" r:id="rId386"/>
    <p:sldId id="764" r:id="rId387"/>
    <p:sldId id="765" r:id="rId388"/>
    <p:sldId id="766" r:id="rId389"/>
    <p:sldId id="767" r:id="rId390"/>
    <p:sldId id="768" r:id="rId391"/>
    <p:sldId id="769" r:id="rId392"/>
    <p:sldId id="770" r:id="rId393"/>
    <p:sldId id="771" r:id="rId394"/>
    <p:sldId id="772" r:id="rId395"/>
    <p:sldId id="773" r:id="rId396"/>
    <p:sldId id="774" r:id="rId397"/>
    <p:sldId id="775" r:id="rId398"/>
    <p:sldId id="776" r:id="rId399"/>
    <p:sldId id="777" r:id="rId400"/>
    <p:sldId id="778" r:id="rId401"/>
    <p:sldId id="779" r:id="rId402"/>
    <p:sldId id="780" r:id="rId403"/>
    <p:sldId id="781" r:id="rId404"/>
    <p:sldId id="782" r:id="rId405"/>
    <p:sldId id="783" r:id="rId406"/>
    <p:sldId id="784" r:id="rId407"/>
    <p:sldId id="785" r:id="rId408"/>
    <p:sldId id="786" r:id="rId409"/>
    <p:sldId id="787" r:id="rId410"/>
    <p:sldId id="788" r:id="rId411"/>
    <p:sldId id="789" r:id="rId412"/>
    <p:sldId id="790" r:id="rId413"/>
    <p:sldId id="791" r:id="rId414"/>
    <p:sldId id="792" r:id="rId415"/>
    <p:sldId id="794" r:id="rId416"/>
    <p:sldId id="796" r:id="rId417"/>
    <p:sldId id="797" r:id="rId418"/>
    <p:sldId id="795" r:id="rId419"/>
    <p:sldId id="793" r:id="rId420"/>
    <p:sldId id="798" r:id="rId421"/>
    <p:sldId id="799" r:id="rId422"/>
    <p:sldId id="800" r:id="rId423"/>
    <p:sldId id="801" r:id="rId424"/>
    <p:sldId id="802" r:id="rId425"/>
    <p:sldId id="803" r:id="rId426"/>
    <p:sldId id="804" r:id="rId427"/>
    <p:sldId id="805" r:id="rId428"/>
    <p:sldId id="806" r:id="rId429"/>
    <p:sldId id="807" r:id="rId430"/>
    <p:sldId id="808" r:id="rId431"/>
    <p:sldId id="809" r:id="rId432"/>
    <p:sldId id="810" r:id="rId433"/>
    <p:sldId id="811" r:id="rId434"/>
    <p:sldId id="812" r:id="rId435"/>
    <p:sldId id="813" r:id="rId436"/>
    <p:sldId id="814" r:id="rId437"/>
    <p:sldId id="815" r:id="rId438"/>
    <p:sldId id="816" r:id="rId439"/>
    <p:sldId id="817" r:id="rId440"/>
    <p:sldId id="818" r:id="rId441"/>
    <p:sldId id="819" r:id="rId442"/>
    <p:sldId id="820" r:id="rId443"/>
    <p:sldId id="821" r:id="rId444"/>
    <p:sldId id="822" r:id="rId445"/>
    <p:sldId id="823" r:id="rId446"/>
    <p:sldId id="824" r:id="rId447"/>
    <p:sldId id="825" r:id="rId448"/>
    <p:sldId id="830" r:id="rId449"/>
    <p:sldId id="826" r:id="rId450"/>
    <p:sldId id="827" r:id="rId451"/>
    <p:sldId id="828" r:id="rId452"/>
    <p:sldId id="829" r:id="rId453"/>
    <p:sldId id="831" r:id="rId454"/>
    <p:sldId id="832" r:id="rId455"/>
    <p:sldId id="837" r:id="rId456"/>
    <p:sldId id="833" r:id="rId457"/>
    <p:sldId id="834" r:id="rId458"/>
    <p:sldId id="838" r:id="rId459"/>
    <p:sldId id="835" r:id="rId460"/>
    <p:sldId id="836" r:id="rId461"/>
    <p:sldId id="839" r:id="rId462"/>
    <p:sldId id="840" r:id="rId463"/>
    <p:sldId id="841" r:id="rId464"/>
  </p:sldIdLst>
  <p:sldSz cx="9144000" cy="6858000" type="screen4x3"/>
  <p:notesSz cx="6858000" cy="9144000"/>
  <p:defaultTextStyle>
    <a:defPPr>
      <a:defRPr lang="ru-RU"/>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9D3B"/>
    <a:srgbClr val="E47C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41" autoAdjust="0"/>
    <p:restoredTop sz="93179" autoAdjust="0"/>
  </p:normalViewPr>
  <p:slideViewPr>
    <p:cSldViewPr>
      <p:cViewPr varScale="1">
        <p:scale>
          <a:sx n="103" d="100"/>
          <a:sy n="103" d="100"/>
        </p:scale>
        <p:origin x="1350" y="108"/>
      </p:cViewPr>
      <p:guideLst>
        <p:guide orient="horz" pos="2160"/>
        <p:guide pos="2880"/>
      </p:guideLst>
    </p:cSldViewPr>
  </p:slideViewPr>
  <p:outlineViewPr>
    <p:cViewPr>
      <p:scale>
        <a:sx n="33" d="100"/>
        <a:sy n="33" d="100"/>
      </p:scale>
      <p:origin x="0" y="-42498"/>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70" d="100"/>
          <a:sy n="70"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433" Type="http://schemas.openxmlformats.org/officeDocument/2006/relationships/slide" Target="slides/slide432.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44" Type="http://schemas.openxmlformats.org/officeDocument/2006/relationships/slide" Target="slides/slide443.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248" Type="http://schemas.openxmlformats.org/officeDocument/2006/relationships/slide" Target="slides/slide247.xml"/><Relationship Id="rId455" Type="http://schemas.openxmlformats.org/officeDocument/2006/relationships/slide" Target="slides/slide454.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259" Type="http://schemas.openxmlformats.org/officeDocument/2006/relationships/slide" Target="slides/slide258.xml"/><Relationship Id="rId424" Type="http://schemas.openxmlformats.org/officeDocument/2006/relationships/slide" Target="slides/slide423.xml"/><Relationship Id="rId466" Type="http://schemas.openxmlformats.org/officeDocument/2006/relationships/handoutMaster" Target="handoutMasters/handoutMaster1.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435" Type="http://schemas.openxmlformats.org/officeDocument/2006/relationships/slide" Target="slides/slide434.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46" Type="http://schemas.openxmlformats.org/officeDocument/2006/relationships/slide" Target="slides/slide445.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457" Type="http://schemas.openxmlformats.org/officeDocument/2006/relationships/slide" Target="slides/slide456.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426" Type="http://schemas.openxmlformats.org/officeDocument/2006/relationships/slide" Target="slides/slide425.xml"/><Relationship Id="rId230" Type="http://schemas.openxmlformats.org/officeDocument/2006/relationships/slide" Target="slides/slide229.xml"/><Relationship Id="rId468" Type="http://schemas.openxmlformats.org/officeDocument/2006/relationships/viewProps" Target="viewProps.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437" Type="http://schemas.openxmlformats.org/officeDocument/2006/relationships/slide" Target="slides/slide436.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48" Type="http://schemas.openxmlformats.org/officeDocument/2006/relationships/slide" Target="slides/slide447.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417" Type="http://schemas.openxmlformats.org/officeDocument/2006/relationships/slide" Target="slides/slide416.xml"/><Relationship Id="rId459" Type="http://schemas.openxmlformats.org/officeDocument/2006/relationships/slide" Target="slides/slide458.xml"/><Relationship Id="rId16" Type="http://schemas.openxmlformats.org/officeDocument/2006/relationships/slide" Target="slides/slide15.xml"/><Relationship Id="rId221" Type="http://schemas.openxmlformats.org/officeDocument/2006/relationships/slide" Target="slides/slide220.xml"/><Relationship Id="rId263" Type="http://schemas.openxmlformats.org/officeDocument/2006/relationships/slide" Target="slides/slide262.xml"/><Relationship Id="rId319" Type="http://schemas.openxmlformats.org/officeDocument/2006/relationships/slide" Target="slides/slide318.xml"/><Relationship Id="rId470" Type="http://schemas.openxmlformats.org/officeDocument/2006/relationships/tableStyles" Target="tableStyles.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165" Type="http://schemas.openxmlformats.org/officeDocument/2006/relationships/slide" Target="slides/slide164.xml"/><Relationship Id="rId372" Type="http://schemas.openxmlformats.org/officeDocument/2006/relationships/slide" Target="slides/slide371.xml"/><Relationship Id="rId428" Type="http://schemas.openxmlformats.org/officeDocument/2006/relationships/slide" Target="slides/slide427.xml"/><Relationship Id="rId232" Type="http://schemas.openxmlformats.org/officeDocument/2006/relationships/slide" Target="slides/slide231.xml"/><Relationship Id="rId274" Type="http://schemas.openxmlformats.org/officeDocument/2006/relationships/slide" Target="slides/slide273.xml"/><Relationship Id="rId27" Type="http://schemas.openxmlformats.org/officeDocument/2006/relationships/slide" Target="slides/slide26.xml"/><Relationship Id="rId69" Type="http://schemas.openxmlformats.org/officeDocument/2006/relationships/slide" Target="slides/slide68.xml"/><Relationship Id="rId134" Type="http://schemas.openxmlformats.org/officeDocument/2006/relationships/slide" Target="slides/slide133.xml"/><Relationship Id="rId80" Type="http://schemas.openxmlformats.org/officeDocument/2006/relationships/slide" Target="slides/slide79.xml"/><Relationship Id="rId176" Type="http://schemas.openxmlformats.org/officeDocument/2006/relationships/slide" Target="slides/slide175.xml"/><Relationship Id="rId341" Type="http://schemas.openxmlformats.org/officeDocument/2006/relationships/slide" Target="slides/slide340.xml"/><Relationship Id="rId383" Type="http://schemas.openxmlformats.org/officeDocument/2006/relationships/slide" Target="slides/slide382.xml"/><Relationship Id="rId439" Type="http://schemas.openxmlformats.org/officeDocument/2006/relationships/slide" Target="slides/slide438.xml"/><Relationship Id="rId201" Type="http://schemas.openxmlformats.org/officeDocument/2006/relationships/slide" Target="slides/slide200.xml"/><Relationship Id="rId243" Type="http://schemas.openxmlformats.org/officeDocument/2006/relationships/slide" Target="slides/slide242.xml"/><Relationship Id="rId285" Type="http://schemas.openxmlformats.org/officeDocument/2006/relationships/slide" Target="slides/slide284.xml"/><Relationship Id="rId450" Type="http://schemas.openxmlformats.org/officeDocument/2006/relationships/slide" Target="slides/slide449.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91" Type="http://schemas.openxmlformats.org/officeDocument/2006/relationships/slide" Target="slides/slide90.xml"/><Relationship Id="rId145" Type="http://schemas.openxmlformats.org/officeDocument/2006/relationships/slide" Target="slides/slide144.xml"/><Relationship Id="rId187" Type="http://schemas.openxmlformats.org/officeDocument/2006/relationships/slide" Target="slides/slide186.xml"/><Relationship Id="rId352" Type="http://schemas.openxmlformats.org/officeDocument/2006/relationships/slide" Target="slides/slide351.xml"/><Relationship Id="rId394" Type="http://schemas.openxmlformats.org/officeDocument/2006/relationships/slide" Target="slides/slide393.xml"/><Relationship Id="rId408" Type="http://schemas.openxmlformats.org/officeDocument/2006/relationships/slide" Target="slides/slide407.xml"/><Relationship Id="rId212" Type="http://schemas.openxmlformats.org/officeDocument/2006/relationships/slide" Target="slides/slide211.xml"/><Relationship Id="rId254" Type="http://schemas.openxmlformats.org/officeDocument/2006/relationships/slide" Target="slides/slide253.xml"/><Relationship Id="rId49" Type="http://schemas.openxmlformats.org/officeDocument/2006/relationships/slide" Target="slides/slide48.xml"/><Relationship Id="rId114" Type="http://schemas.openxmlformats.org/officeDocument/2006/relationships/slide" Target="slides/slide113.xml"/><Relationship Id="rId296" Type="http://schemas.openxmlformats.org/officeDocument/2006/relationships/slide" Target="slides/slide295.xml"/><Relationship Id="rId461" Type="http://schemas.openxmlformats.org/officeDocument/2006/relationships/slide" Target="slides/slide460.xml"/><Relationship Id="rId60" Type="http://schemas.openxmlformats.org/officeDocument/2006/relationships/slide" Target="slides/slide59.xml"/><Relationship Id="rId156" Type="http://schemas.openxmlformats.org/officeDocument/2006/relationships/slide" Target="slides/slide155.xml"/><Relationship Id="rId198" Type="http://schemas.openxmlformats.org/officeDocument/2006/relationships/slide" Target="slides/slide197.xml"/><Relationship Id="rId321" Type="http://schemas.openxmlformats.org/officeDocument/2006/relationships/slide" Target="slides/slide320.xml"/><Relationship Id="rId363" Type="http://schemas.openxmlformats.org/officeDocument/2006/relationships/slide" Target="slides/slide362.xml"/><Relationship Id="rId419" Type="http://schemas.openxmlformats.org/officeDocument/2006/relationships/slide" Target="slides/slide418.xml"/><Relationship Id="rId223" Type="http://schemas.openxmlformats.org/officeDocument/2006/relationships/slide" Target="slides/slide222.xml"/><Relationship Id="rId430" Type="http://schemas.openxmlformats.org/officeDocument/2006/relationships/slide" Target="slides/slide429.xml"/><Relationship Id="rId18" Type="http://schemas.openxmlformats.org/officeDocument/2006/relationships/slide" Target="slides/slide17.xml"/><Relationship Id="rId265" Type="http://schemas.openxmlformats.org/officeDocument/2006/relationships/slide" Target="slides/slide264.xml"/><Relationship Id="rId125" Type="http://schemas.openxmlformats.org/officeDocument/2006/relationships/slide" Target="slides/slide124.xml"/><Relationship Id="rId167" Type="http://schemas.openxmlformats.org/officeDocument/2006/relationships/slide" Target="slides/slide166.xml"/><Relationship Id="rId332" Type="http://schemas.openxmlformats.org/officeDocument/2006/relationships/slide" Target="slides/slide331.xml"/><Relationship Id="rId374" Type="http://schemas.openxmlformats.org/officeDocument/2006/relationships/slide" Target="slides/slide373.xml"/><Relationship Id="rId71" Type="http://schemas.openxmlformats.org/officeDocument/2006/relationships/slide" Target="slides/slide70.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76" Type="http://schemas.openxmlformats.org/officeDocument/2006/relationships/slide" Target="slides/slide275.xml"/><Relationship Id="rId441" Type="http://schemas.openxmlformats.org/officeDocument/2006/relationships/slide" Target="slides/slide440.xml"/><Relationship Id="rId40" Type="http://schemas.openxmlformats.org/officeDocument/2006/relationships/slide" Target="slides/slide39.xml"/><Relationship Id="rId136" Type="http://schemas.openxmlformats.org/officeDocument/2006/relationships/slide" Target="slides/slide135.xml"/><Relationship Id="rId178" Type="http://schemas.openxmlformats.org/officeDocument/2006/relationships/slide" Target="slides/slide177.xml"/><Relationship Id="rId301" Type="http://schemas.openxmlformats.org/officeDocument/2006/relationships/slide" Target="slides/slide300.xml"/><Relationship Id="rId343" Type="http://schemas.openxmlformats.org/officeDocument/2006/relationships/slide" Target="slides/slide342.xml"/><Relationship Id="rId82" Type="http://schemas.openxmlformats.org/officeDocument/2006/relationships/slide" Target="slides/slide81.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431" Type="http://schemas.openxmlformats.org/officeDocument/2006/relationships/slide" Target="slides/slide430.xml"/><Relationship Id="rId452" Type="http://schemas.openxmlformats.org/officeDocument/2006/relationships/slide" Target="slides/slide45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421" Type="http://schemas.openxmlformats.org/officeDocument/2006/relationships/slide" Target="slides/slide420.xml"/><Relationship Id="rId442" Type="http://schemas.openxmlformats.org/officeDocument/2006/relationships/slide" Target="slides/slide441.xml"/><Relationship Id="rId463" Type="http://schemas.openxmlformats.org/officeDocument/2006/relationships/slide" Target="slides/slide462.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432" Type="http://schemas.openxmlformats.org/officeDocument/2006/relationships/slide" Target="slides/slide431.xml"/><Relationship Id="rId453" Type="http://schemas.openxmlformats.org/officeDocument/2006/relationships/slide" Target="slides/slide452.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443" Type="http://schemas.openxmlformats.org/officeDocument/2006/relationships/slide" Target="slides/slide442.xml"/><Relationship Id="rId464" Type="http://schemas.openxmlformats.org/officeDocument/2006/relationships/slide" Target="slides/slide463.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454" Type="http://schemas.openxmlformats.org/officeDocument/2006/relationships/slide" Target="slides/slide453.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465" Type="http://schemas.openxmlformats.org/officeDocument/2006/relationships/notesMaster" Target="notesMasters/notesMaster1.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slide" Target="slides/slide433.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slide" Target="slides/slide413.xml"/><Relationship Id="rId456" Type="http://schemas.openxmlformats.org/officeDocument/2006/relationships/slide" Target="slides/slide455.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425" Type="http://schemas.openxmlformats.org/officeDocument/2006/relationships/slide" Target="slides/slide424.xml"/><Relationship Id="rId467" Type="http://schemas.openxmlformats.org/officeDocument/2006/relationships/presProps" Target="presProps.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436" Type="http://schemas.openxmlformats.org/officeDocument/2006/relationships/slide" Target="slides/slide435.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447" Type="http://schemas.openxmlformats.org/officeDocument/2006/relationships/slide" Target="slides/slide446.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slide" Target="slides/slide415.xml"/><Relationship Id="rId220" Type="http://schemas.openxmlformats.org/officeDocument/2006/relationships/slide" Target="slides/slide219.xml"/><Relationship Id="rId458" Type="http://schemas.openxmlformats.org/officeDocument/2006/relationships/slide" Target="slides/slide457.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427" Type="http://schemas.openxmlformats.org/officeDocument/2006/relationships/slide" Target="slides/slide426.xml"/><Relationship Id="rId469" Type="http://schemas.openxmlformats.org/officeDocument/2006/relationships/theme" Target="theme/theme1.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200" Type="http://schemas.openxmlformats.org/officeDocument/2006/relationships/slide" Target="slides/slide199.xml"/><Relationship Id="rId382" Type="http://schemas.openxmlformats.org/officeDocument/2006/relationships/slide" Target="slides/slide381.xml"/><Relationship Id="rId438" Type="http://schemas.openxmlformats.org/officeDocument/2006/relationships/slide" Target="slides/slide437.xml"/><Relationship Id="rId242" Type="http://schemas.openxmlformats.org/officeDocument/2006/relationships/slide" Target="slides/slide241.xml"/><Relationship Id="rId284" Type="http://schemas.openxmlformats.org/officeDocument/2006/relationships/slide" Target="slides/slide283.xml"/><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449" Type="http://schemas.openxmlformats.org/officeDocument/2006/relationships/slide" Target="slides/slide448.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222" Type="http://schemas.openxmlformats.org/officeDocument/2006/relationships/slide" Target="slides/slide221.xml"/><Relationship Id="rId264" Type="http://schemas.openxmlformats.org/officeDocument/2006/relationships/slide" Target="slides/slide263.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slide" Target="slides/slide439.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 Id="rId202" Type="http://schemas.openxmlformats.org/officeDocument/2006/relationships/slide" Target="slides/slide201.xml"/><Relationship Id="rId244" Type="http://schemas.openxmlformats.org/officeDocument/2006/relationships/slide" Target="slides/slide243.xml"/><Relationship Id="rId39" Type="http://schemas.openxmlformats.org/officeDocument/2006/relationships/slide" Target="slides/slide38.xml"/><Relationship Id="rId286" Type="http://schemas.openxmlformats.org/officeDocument/2006/relationships/slide" Target="slides/slide285.xml"/><Relationship Id="rId451" Type="http://schemas.openxmlformats.org/officeDocument/2006/relationships/slide" Target="slides/slide450.xml"/><Relationship Id="rId50" Type="http://schemas.openxmlformats.org/officeDocument/2006/relationships/slide" Target="slides/slide49.xml"/><Relationship Id="rId104" Type="http://schemas.openxmlformats.org/officeDocument/2006/relationships/slide" Target="slides/slide103.xml"/><Relationship Id="rId146" Type="http://schemas.openxmlformats.org/officeDocument/2006/relationships/slide" Target="slides/slide145.xml"/><Relationship Id="rId188" Type="http://schemas.openxmlformats.org/officeDocument/2006/relationships/slide" Target="slides/slide187.xml"/><Relationship Id="rId311" Type="http://schemas.openxmlformats.org/officeDocument/2006/relationships/slide" Target="slides/slide310.xml"/><Relationship Id="rId353" Type="http://schemas.openxmlformats.org/officeDocument/2006/relationships/slide" Target="slides/slide352.xml"/><Relationship Id="rId395" Type="http://schemas.openxmlformats.org/officeDocument/2006/relationships/slide" Target="slides/slide394.xml"/><Relationship Id="rId409" Type="http://schemas.openxmlformats.org/officeDocument/2006/relationships/slide" Target="slides/slide408.xml"/><Relationship Id="rId92" Type="http://schemas.openxmlformats.org/officeDocument/2006/relationships/slide" Target="slides/slide91.xml"/><Relationship Id="rId213" Type="http://schemas.openxmlformats.org/officeDocument/2006/relationships/slide" Target="slides/slide212.xml"/><Relationship Id="rId420" Type="http://schemas.openxmlformats.org/officeDocument/2006/relationships/slide" Target="slides/slide419.xml"/><Relationship Id="rId255" Type="http://schemas.openxmlformats.org/officeDocument/2006/relationships/slide" Target="slides/slide254.xml"/><Relationship Id="rId297" Type="http://schemas.openxmlformats.org/officeDocument/2006/relationships/slide" Target="slides/slide296.xml"/><Relationship Id="rId462" Type="http://schemas.openxmlformats.org/officeDocument/2006/relationships/slide" Target="slides/slide461.xml"/><Relationship Id="rId115" Type="http://schemas.openxmlformats.org/officeDocument/2006/relationships/slide" Target="slides/slide114.xml"/><Relationship Id="rId157" Type="http://schemas.openxmlformats.org/officeDocument/2006/relationships/slide" Target="slides/slide156.xml"/><Relationship Id="rId322" Type="http://schemas.openxmlformats.org/officeDocument/2006/relationships/slide" Target="slides/slide321.xml"/><Relationship Id="rId364" Type="http://schemas.openxmlformats.org/officeDocument/2006/relationships/slide" Target="slides/slide363.xml"/><Relationship Id="rId61" Type="http://schemas.openxmlformats.org/officeDocument/2006/relationships/slide" Target="slides/slide60.xml"/><Relationship Id="rId199" Type="http://schemas.openxmlformats.org/officeDocument/2006/relationships/slide" Target="slides/slide19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C4E9EB66-2A43-4086-8E3A-B77A1CA31B55}" type="datetimeFigureOut">
              <a:rPr lang="ru-RU"/>
              <a:pPr>
                <a:defRPr/>
              </a:pPr>
              <a:t>21.12.2025</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13156ACF-A2FF-485E-91AA-A553C0E0131E}" type="slidenum">
              <a:rPr lang="ru-RU" altLang="ru-RU"/>
              <a:pPr/>
              <a:t>‹#›</a:t>
            </a:fld>
            <a:endParaRPr lang="ru-RU" altLang="ru-RU"/>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F585788A-3306-474D-BBA5-0C608FE55EDC}" type="datetimeFigureOut">
              <a:rPr lang="ru-RU"/>
              <a:pPr>
                <a:defRPr/>
              </a:pPr>
              <a:t>21.12.2025</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ru-RU"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272E57FE-D8A0-4A96-9002-565CE42EF41D}" type="slidenum">
              <a:rPr lang="ru-RU" altLang="ru-RU"/>
              <a:pPr/>
              <a:t>‹#›</a:t>
            </a:fld>
            <a:endParaRPr lang="ru-RU" altLang="ru-RU"/>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272E57FE-D8A0-4A96-9002-565CE42EF41D}" type="slidenum">
              <a:rPr lang="ru-RU" altLang="ru-RU" smtClean="0"/>
              <a:pPr/>
              <a:t>341</a:t>
            </a:fld>
            <a:endParaRPr lang="ru-RU" altLang="ru-RU"/>
          </a:p>
        </p:txBody>
      </p:sp>
    </p:spTree>
    <p:extLst>
      <p:ext uri="{BB962C8B-B14F-4D97-AF65-F5344CB8AC3E}">
        <p14:creationId xmlns:p14="http://schemas.microsoft.com/office/powerpoint/2010/main" val="7933730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2.bin"/><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oleObject" Target="../embeddings/oleObject3.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4" name="Rectangle 2"/>
          <p:cNvSpPr>
            <a:spLocks noChangeArrowheads="1"/>
          </p:cNvSpPr>
          <p:nvPr/>
        </p:nvSpPr>
        <p:spPr bwMode="ltGray">
          <a:xfrm>
            <a:off x="-1588" y="5157788"/>
            <a:ext cx="9145588" cy="1708150"/>
          </a:xfrm>
          <a:prstGeom prst="rect">
            <a:avLst/>
          </a:prstGeom>
          <a:solidFill>
            <a:schemeClr val="bg2"/>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5" name="Rectangle 3"/>
          <p:cNvSpPr>
            <a:spLocks noChangeArrowheads="1"/>
          </p:cNvSpPr>
          <p:nvPr/>
        </p:nvSpPr>
        <p:spPr bwMode="white">
          <a:xfrm>
            <a:off x="0" y="0"/>
            <a:ext cx="9144000" cy="4935538"/>
          </a:xfrm>
          <a:prstGeom prst="rect">
            <a:avLst/>
          </a:prstGeom>
          <a:solidFill>
            <a:schemeClr val="tx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6" name="Rectangle 4"/>
          <p:cNvSpPr>
            <a:spLocks noChangeArrowheads="1"/>
          </p:cNvSpPr>
          <p:nvPr/>
        </p:nvSpPr>
        <p:spPr bwMode="ltGray">
          <a:xfrm>
            <a:off x="1270000" y="4933950"/>
            <a:ext cx="7874000" cy="223838"/>
          </a:xfrm>
          <a:prstGeom prst="rect">
            <a:avLst/>
          </a:prstGeom>
          <a:solidFill>
            <a:schemeClr val="hlink"/>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7" name="Rectangle 9"/>
          <p:cNvSpPr>
            <a:spLocks noChangeArrowheads="1"/>
          </p:cNvSpPr>
          <p:nvPr/>
        </p:nvSpPr>
        <p:spPr bwMode="gray">
          <a:xfrm>
            <a:off x="-9525" y="4935538"/>
            <a:ext cx="1282700" cy="222250"/>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graphicFrame>
        <p:nvGraphicFramePr>
          <p:cNvPr id="8" name="Object 10"/>
          <p:cNvGraphicFramePr>
            <a:graphicFrameLocks noChangeAspect="1"/>
          </p:cNvGraphicFramePr>
          <p:nvPr/>
        </p:nvGraphicFramePr>
        <p:xfrm>
          <a:off x="1279525" y="5054600"/>
          <a:ext cx="2351088" cy="609600"/>
        </p:xfrm>
        <a:graphic>
          <a:graphicData uri="http://schemas.openxmlformats.org/presentationml/2006/ole">
            <mc:AlternateContent xmlns:mc="http://schemas.openxmlformats.org/markup-compatibility/2006">
              <mc:Choice xmlns:v="urn:schemas-microsoft-com:vml" Requires="v">
                <p:oleObj name="Image" r:id="rId2" imgW="2539683" imgH="609524" progId="Photoshop.Image.6">
                  <p:embed/>
                </p:oleObj>
              </mc:Choice>
              <mc:Fallback>
                <p:oleObj name="Image" r:id="rId2" imgW="2539683" imgH="609524" progId="Photoshop.Image.6">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9525" y="5054600"/>
                        <a:ext cx="2351088" cy="609600"/>
                      </a:xfrm>
                      <a:prstGeom prst="rect">
                        <a:avLst/>
                      </a:prstGeom>
                      <a:noFill/>
                      <a:ln>
                        <a:noFill/>
                      </a:ln>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graphicFrame>
        <p:nvGraphicFramePr>
          <p:cNvPr id="9" name="Object 11"/>
          <p:cNvGraphicFramePr>
            <a:graphicFrameLocks noChangeAspect="1"/>
          </p:cNvGraphicFramePr>
          <p:nvPr/>
        </p:nvGraphicFramePr>
        <p:xfrm>
          <a:off x="0" y="3500438"/>
          <a:ext cx="1266825" cy="1430337"/>
        </p:xfrm>
        <a:graphic>
          <a:graphicData uri="http://schemas.openxmlformats.org/presentationml/2006/ole">
            <mc:AlternateContent xmlns:mc="http://schemas.openxmlformats.org/markup-compatibility/2006">
              <mc:Choice xmlns:v="urn:schemas-microsoft-com:vml" Requires="v">
                <p:oleObj name="Image" r:id="rId4" imgW="2539683" imgH="2539683" progId="Photoshop.Image.6">
                  <p:embed/>
                </p:oleObj>
              </mc:Choice>
              <mc:Fallback>
                <p:oleObj name="Image" r:id="rId4" imgW="2539683" imgH="2539683" progId="Photoshop.Image.6">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500438"/>
                        <a:ext cx="1266825" cy="1430337"/>
                      </a:xfrm>
                      <a:prstGeom prst="rect">
                        <a:avLst/>
                      </a:prstGeom>
                      <a:noFill/>
                      <a:ln>
                        <a:noFill/>
                      </a:ln>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
        <p:nvSpPr>
          <p:cNvPr id="10" name="Rectangle 12"/>
          <p:cNvSpPr>
            <a:spLocks noChangeArrowheads="1"/>
          </p:cNvSpPr>
          <p:nvPr/>
        </p:nvSpPr>
        <p:spPr bwMode="invGray">
          <a:xfrm>
            <a:off x="1266825" y="1125538"/>
            <a:ext cx="2368550" cy="4535487"/>
          </a:xfrm>
          <a:prstGeom prst="rect">
            <a:avLst/>
          </a:prstGeom>
          <a:noFill/>
          <a:ln w="0" algn="ctr">
            <a:solidFill>
              <a:schemeClr val="accent1"/>
            </a:solidFill>
            <a:miter lim="800000"/>
            <a:headEnd/>
            <a:tailEnd/>
          </a:ln>
          <a:effectLst/>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1" name="Rectangle 13"/>
          <p:cNvSpPr>
            <a:spLocks noChangeArrowheads="1"/>
          </p:cNvSpPr>
          <p:nvPr/>
        </p:nvSpPr>
        <p:spPr bwMode="invGray">
          <a:xfrm flipH="1">
            <a:off x="8221663" y="0"/>
            <a:ext cx="95250" cy="2060575"/>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2" name="Rectangle 14"/>
          <p:cNvSpPr>
            <a:spLocks noChangeArrowheads="1"/>
          </p:cNvSpPr>
          <p:nvPr/>
        </p:nvSpPr>
        <p:spPr bwMode="invGray">
          <a:xfrm>
            <a:off x="250825" y="260350"/>
            <a:ext cx="8569325" cy="4392613"/>
          </a:xfrm>
          <a:prstGeom prst="rect">
            <a:avLst/>
          </a:prstGeom>
          <a:noFill/>
          <a:ln w="0" algn="ctr">
            <a:solidFill>
              <a:schemeClr val="tx2"/>
            </a:solidFill>
            <a:miter lim="800000"/>
            <a:headEnd/>
            <a:tailEnd/>
          </a:ln>
          <a:effectLst/>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3" name="Rectangle 15"/>
          <p:cNvSpPr>
            <a:spLocks noChangeArrowheads="1"/>
          </p:cNvSpPr>
          <p:nvPr/>
        </p:nvSpPr>
        <p:spPr bwMode="invGray">
          <a:xfrm>
            <a:off x="7775575" y="908050"/>
            <a:ext cx="1368425" cy="1439863"/>
          </a:xfrm>
          <a:prstGeom prst="rect">
            <a:avLst/>
          </a:prstGeom>
          <a:noFill/>
          <a:ln w="0" algn="ctr">
            <a:solidFill>
              <a:schemeClr val="tx2"/>
            </a:solidFill>
            <a:miter lim="800000"/>
            <a:headEnd/>
            <a:tailEnd/>
          </a:ln>
          <a:effectLst/>
          <a:extLst>
            <a:ext uri="{909E8E84-426E-40DD-AFC4-6F175D3DCCD1}">
              <a14:hiddenFill xmlns:a14="http://schemas.microsoft.com/office/drawing/2010/main">
                <a:gradFill rotWithShape="1">
                  <a:gsLst>
                    <a:gs pos="0">
                      <a:srgbClr val="729DD5">
                        <a:alpha val="39998"/>
                      </a:srgbClr>
                    </a:gs>
                    <a:gs pos="100000">
                      <a:schemeClr val="accent1"/>
                    </a:gs>
                  </a:gsLst>
                  <a:lin ang="5400000" scaled="1"/>
                </a:gra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4" name="Rectangle 16"/>
          <p:cNvSpPr>
            <a:spLocks noChangeArrowheads="1"/>
          </p:cNvSpPr>
          <p:nvPr/>
        </p:nvSpPr>
        <p:spPr bwMode="invGray">
          <a:xfrm>
            <a:off x="611188" y="1916113"/>
            <a:ext cx="7921625" cy="1584325"/>
          </a:xfrm>
          <a:prstGeom prst="rect">
            <a:avLst/>
          </a:prstGeom>
          <a:noFill/>
          <a:ln w="0" algn="ctr">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5125" name="Rectangle 5"/>
          <p:cNvSpPr>
            <a:spLocks noGrp="1" noChangeArrowheads="1"/>
          </p:cNvSpPr>
          <p:nvPr>
            <p:ph type="subTitle" idx="1"/>
          </p:nvPr>
        </p:nvSpPr>
        <p:spPr bwMode="black">
          <a:xfrm>
            <a:off x="1752600" y="3733800"/>
            <a:ext cx="6019800" cy="381000"/>
          </a:xfrm>
        </p:spPr>
        <p:txBody>
          <a:bodyPr/>
          <a:lstStyle>
            <a:lvl1pPr marL="0" indent="0" algn="ctr">
              <a:buFont typeface="Wingdings" panose="05000000000000000000" pitchFamily="2" charset="2"/>
              <a:buNone/>
              <a:defRPr sz="2000">
                <a:solidFill>
                  <a:srgbClr val="84A1E8"/>
                </a:solidFill>
              </a:defRPr>
            </a:lvl1pPr>
          </a:lstStyle>
          <a:p>
            <a:pPr lvl="0"/>
            <a:r>
              <a:rPr lang="en-US" altLang="ru-RU" noProof="0"/>
              <a:t>Образец подзаголовка</a:t>
            </a:r>
          </a:p>
        </p:txBody>
      </p:sp>
      <p:sp>
        <p:nvSpPr>
          <p:cNvPr id="5137" name="Rectangle 17"/>
          <p:cNvSpPr>
            <a:spLocks noGrp="1" noChangeArrowheads="1"/>
          </p:cNvSpPr>
          <p:nvPr>
            <p:ph type="ctrTitle"/>
          </p:nvPr>
        </p:nvSpPr>
        <p:spPr>
          <a:xfrm>
            <a:off x="990600" y="1981200"/>
            <a:ext cx="7239000" cy="1524000"/>
          </a:xfrm>
        </p:spPr>
        <p:txBody>
          <a:bodyPr/>
          <a:lstStyle>
            <a:lvl1pPr>
              <a:defRPr sz="4000" b="1"/>
            </a:lvl1pPr>
          </a:lstStyle>
          <a:p>
            <a:pPr lvl="0"/>
            <a:r>
              <a:rPr lang="en-US" altLang="ru-RU" noProof="0"/>
              <a:t>Образец заголовка</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lvl1pPr>
              <a:defRPr sz="20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Rectangle 11"/>
          <p:cNvSpPr>
            <a:spLocks noGrp="1" noChangeArrowheads="1"/>
          </p:cNvSpPr>
          <p:nvPr>
            <p:ph type="sldNum" sz="quarter" idx="10"/>
          </p:nvPr>
        </p:nvSpPr>
        <p:spPr>
          <a:ln/>
        </p:spPr>
        <p:txBody>
          <a:bodyPr/>
          <a:lstStyle>
            <a:lvl1pPr>
              <a:defRPr/>
            </a:lvl1pPr>
          </a:lstStyle>
          <a:p>
            <a:fld id="{38960EDB-697B-4C7D-91E1-B154575E1736}" type="slidenum">
              <a:rPr lang="en-US" altLang="ru-RU"/>
              <a:pPr/>
              <a:t>‹#›</a:t>
            </a:fld>
            <a:endParaRPr lang="en-US" altLang="ru-RU"/>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3888" y="1709738"/>
            <a:ext cx="78867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ru-RU"/>
              <a:t>Образец текста</a:t>
            </a:r>
          </a:p>
        </p:txBody>
      </p:sp>
      <p:sp>
        <p:nvSpPr>
          <p:cNvPr id="4" name="Rectangle 11"/>
          <p:cNvSpPr>
            <a:spLocks noGrp="1" noChangeArrowheads="1"/>
          </p:cNvSpPr>
          <p:nvPr>
            <p:ph type="sldNum" sz="quarter" idx="10"/>
          </p:nvPr>
        </p:nvSpPr>
        <p:spPr>
          <a:ln/>
        </p:spPr>
        <p:txBody>
          <a:bodyPr/>
          <a:lstStyle>
            <a:lvl1pPr>
              <a:defRPr/>
            </a:lvl1pPr>
          </a:lstStyle>
          <a:p>
            <a:fld id="{8641A5B1-3EB4-4035-B454-2AB8FC568EC6}" type="slidenum">
              <a:rPr lang="en-US" altLang="ru-RU"/>
              <a:pPr/>
              <a:t>‹#›</a:t>
            </a:fld>
            <a:endParaRPr lang="en-US" alt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457200" y="1262063"/>
            <a:ext cx="4038600" cy="52482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4648200" y="1262063"/>
            <a:ext cx="4038600" cy="5248275"/>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11"/>
          <p:cNvSpPr>
            <a:spLocks noGrp="1" noChangeArrowheads="1"/>
          </p:cNvSpPr>
          <p:nvPr>
            <p:ph type="sldNum" sz="quarter" idx="10"/>
          </p:nvPr>
        </p:nvSpPr>
        <p:spPr>
          <a:ln/>
        </p:spPr>
        <p:txBody>
          <a:bodyPr/>
          <a:lstStyle>
            <a:lvl1pPr>
              <a:defRPr/>
            </a:lvl1pPr>
          </a:lstStyle>
          <a:p>
            <a:fld id="{E52DA5BF-F478-4733-AAF8-857C32F12CC8}" type="slidenum">
              <a:rPr lang="en-US" altLang="ru-RU"/>
              <a:pPr/>
              <a:t>‹#›</a:t>
            </a:fld>
            <a:endParaRPr lang="en-US" alt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365125"/>
            <a:ext cx="7886700" cy="1325563"/>
          </a:xfrm>
        </p:spPr>
        <p:txBody>
          <a:bodyPr/>
          <a:lstStyle/>
          <a:p>
            <a:r>
              <a:rPr lang="ru-RU"/>
              <a:t>Образец заголовка</a:t>
            </a:r>
          </a:p>
        </p:txBody>
      </p:sp>
      <p:sp>
        <p:nvSpPr>
          <p:cNvPr id="3" name="Текст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630238" y="2505075"/>
            <a:ext cx="386873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29150" y="2505075"/>
            <a:ext cx="38877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11"/>
          <p:cNvSpPr>
            <a:spLocks noGrp="1" noChangeArrowheads="1"/>
          </p:cNvSpPr>
          <p:nvPr>
            <p:ph type="sldNum" sz="quarter" idx="10"/>
          </p:nvPr>
        </p:nvSpPr>
        <p:spPr>
          <a:ln/>
        </p:spPr>
        <p:txBody>
          <a:bodyPr/>
          <a:lstStyle>
            <a:lvl1pPr>
              <a:defRPr/>
            </a:lvl1pPr>
          </a:lstStyle>
          <a:p>
            <a:fld id="{07BD6256-B87C-4E5C-BE8C-64D74020108E}" type="slidenum">
              <a:rPr lang="en-US" altLang="ru-RU"/>
              <a:pPr/>
              <a:t>‹#›</a:t>
            </a:fld>
            <a:endParaRPr lang="en-US" alt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11"/>
          <p:cNvSpPr>
            <a:spLocks noGrp="1" noChangeArrowheads="1"/>
          </p:cNvSpPr>
          <p:nvPr>
            <p:ph type="sldNum" sz="quarter" idx="10"/>
          </p:nvPr>
        </p:nvSpPr>
        <p:spPr>
          <a:ln/>
        </p:spPr>
        <p:txBody>
          <a:bodyPr/>
          <a:lstStyle>
            <a:lvl1pPr>
              <a:defRPr/>
            </a:lvl1pPr>
          </a:lstStyle>
          <a:p>
            <a:fld id="{A8648162-18DF-4E94-9D35-8929A7EE2D8A}" type="slidenum">
              <a:rPr lang="en-US" altLang="ru-RU"/>
              <a:pPr/>
              <a:t>‹#›</a:t>
            </a:fld>
            <a:endParaRPr lang="en-US" altLang="ru-RU"/>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11"/>
          <p:cNvSpPr>
            <a:spLocks noGrp="1" noChangeArrowheads="1"/>
          </p:cNvSpPr>
          <p:nvPr>
            <p:ph type="sldNum" sz="quarter" idx="10"/>
          </p:nvPr>
        </p:nvSpPr>
        <p:spPr>
          <a:ln/>
        </p:spPr>
        <p:txBody>
          <a:bodyPr/>
          <a:lstStyle>
            <a:lvl1pPr>
              <a:defRPr/>
            </a:lvl1pPr>
          </a:lstStyle>
          <a:p>
            <a:fld id="{823B4AC8-D05C-44D2-A61B-863ED4C427EF}" type="slidenum">
              <a:rPr lang="en-US" altLang="ru-RU"/>
              <a:pPr/>
              <a:t>‹#›</a:t>
            </a:fld>
            <a:endParaRPr lang="en-US" altLang="ru-RU"/>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457200"/>
            <a:ext cx="2949575"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Rectangle 11"/>
          <p:cNvSpPr>
            <a:spLocks noGrp="1" noChangeArrowheads="1"/>
          </p:cNvSpPr>
          <p:nvPr>
            <p:ph type="sldNum" sz="quarter" idx="10"/>
          </p:nvPr>
        </p:nvSpPr>
        <p:spPr>
          <a:ln/>
        </p:spPr>
        <p:txBody>
          <a:bodyPr/>
          <a:lstStyle>
            <a:lvl1pPr>
              <a:defRPr/>
            </a:lvl1pPr>
          </a:lstStyle>
          <a:p>
            <a:fld id="{271334AC-BF00-4608-AEAC-8327AB2D0EC7}" type="slidenum">
              <a:rPr lang="en-US" altLang="ru-RU"/>
              <a:pPr/>
              <a:t>‹#›</a:t>
            </a:fld>
            <a:endParaRPr lang="en-US" alt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457200"/>
            <a:ext cx="2949575"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Rectangle 11"/>
          <p:cNvSpPr>
            <a:spLocks noGrp="1" noChangeArrowheads="1"/>
          </p:cNvSpPr>
          <p:nvPr>
            <p:ph type="sldNum" sz="quarter" idx="10"/>
          </p:nvPr>
        </p:nvSpPr>
        <p:spPr>
          <a:ln/>
        </p:spPr>
        <p:txBody>
          <a:bodyPr/>
          <a:lstStyle>
            <a:lvl1pPr>
              <a:defRPr/>
            </a:lvl1pPr>
          </a:lstStyle>
          <a:p>
            <a:fld id="{FBC67C79-AE55-499A-9864-B25F46A6D4F4}" type="slidenum">
              <a:rPr lang="en-US" altLang="ru-RU"/>
              <a:pPr/>
              <a:t>‹#›</a:t>
            </a:fld>
            <a:endParaRPr lang="en-US" alt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1"/>
          <p:cNvSpPr>
            <a:spLocks noGrp="1" noChangeArrowheads="1"/>
          </p:cNvSpPr>
          <p:nvPr>
            <p:ph type="sldNum" sz="quarter" idx="10"/>
          </p:nvPr>
        </p:nvSpPr>
        <p:spPr>
          <a:ln/>
        </p:spPr>
        <p:txBody>
          <a:bodyPr/>
          <a:lstStyle>
            <a:lvl1pPr>
              <a:defRPr/>
            </a:lvl1pPr>
          </a:lstStyle>
          <a:p>
            <a:fld id="{85DEFDED-DAA7-4B97-B14A-4CC03DA83D9D}" type="slidenum">
              <a:rPr lang="en-US" altLang="ru-RU"/>
              <a:pPr/>
              <a:t>‹#›</a:t>
            </a:fld>
            <a:endParaRPr lang="en-US" altLang="ru-RU"/>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33363"/>
            <a:ext cx="2057400" cy="627697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33363"/>
            <a:ext cx="6019800" cy="62769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11"/>
          <p:cNvSpPr>
            <a:spLocks noGrp="1" noChangeArrowheads="1"/>
          </p:cNvSpPr>
          <p:nvPr>
            <p:ph type="sldNum" sz="quarter" idx="10"/>
          </p:nvPr>
        </p:nvSpPr>
        <p:spPr>
          <a:ln/>
        </p:spPr>
        <p:txBody>
          <a:bodyPr/>
          <a:lstStyle>
            <a:lvl1pPr>
              <a:defRPr/>
            </a:lvl1pPr>
          </a:lstStyle>
          <a:p>
            <a:fld id="{739961FB-2C8C-4F2B-97C0-DA71583E1757}" type="slidenum">
              <a:rPr lang="en-US" altLang="ru-RU"/>
              <a:pPr/>
              <a:t>‹#›</a:t>
            </a:fld>
            <a:endParaRPr lang="en-US" alt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143000" y="1122363"/>
            <a:ext cx="6858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Rectangle 11"/>
          <p:cNvSpPr>
            <a:spLocks noGrp="1" noChangeArrowheads="1"/>
          </p:cNvSpPr>
          <p:nvPr>
            <p:ph type="sldNum" sz="quarter" idx="10"/>
          </p:nvPr>
        </p:nvSpPr>
        <p:spPr>
          <a:ln/>
        </p:spPr>
        <p:txBody>
          <a:bodyPr/>
          <a:lstStyle>
            <a:lvl1pPr>
              <a:defRPr/>
            </a:lvl1pPr>
          </a:lstStyle>
          <a:p>
            <a:fld id="{97A34B57-25C5-4D0C-ACB2-307773EC6895}" type="slidenum">
              <a:rPr lang="en-US" altLang="ru-RU"/>
              <a:pPr/>
              <a:t>‹#›</a:t>
            </a:fld>
            <a:endParaRPr lang="en-US" alt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0" y="981075"/>
            <a:ext cx="250825" cy="5891213"/>
          </a:xfrm>
          <a:prstGeom prst="rect">
            <a:avLst/>
          </a:prstGeom>
          <a:solidFill>
            <a:schemeClr val="hlink"/>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27" name="Rectangle 3"/>
          <p:cNvSpPr>
            <a:spLocks noChangeArrowheads="1"/>
          </p:cNvSpPr>
          <p:nvPr/>
        </p:nvSpPr>
        <p:spPr bwMode="ltGray">
          <a:xfrm>
            <a:off x="0" y="0"/>
            <a:ext cx="1403350" cy="1247775"/>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28" name="Rectangle 4"/>
          <p:cNvSpPr>
            <a:spLocks noChangeArrowheads="1"/>
          </p:cNvSpPr>
          <p:nvPr/>
        </p:nvSpPr>
        <p:spPr bwMode="invGray">
          <a:xfrm>
            <a:off x="1403350" y="0"/>
            <a:ext cx="7740650" cy="1052513"/>
          </a:xfrm>
          <a:prstGeom prst="rect">
            <a:avLst/>
          </a:prstGeom>
          <a:solidFill>
            <a:schemeClr val="tx2"/>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29" name="Rectangle 5"/>
          <p:cNvSpPr>
            <a:spLocks noChangeArrowheads="1"/>
          </p:cNvSpPr>
          <p:nvPr/>
        </p:nvSpPr>
        <p:spPr bwMode="invGray">
          <a:xfrm>
            <a:off x="8820150" y="0"/>
            <a:ext cx="73025" cy="765175"/>
          </a:xfrm>
          <a:prstGeom prst="rect">
            <a:avLst/>
          </a:prstGeom>
          <a:solidFill>
            <a:schemeClr val="accent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30" name="Rectangle 6"/>
          <p:cNvSpPr>
            <a:spLocks noChangeArrowheads="1"/>
          </p:cNvSpPr>
          <p:nvPr/>
        </p:nvSpPr>
        <p:spPr bwMode="white">
          <a:xfrm>
            <a:off x="179388" y="134938"/>
            <a:ext cx="8785225" cy="773112"/>
          </a:xfrm>
          <a:prstGeom prst="rect">
            <a:avLst/>
          </a:prstGeom>
          <a:noFill/>
          <a:ln w="0" algn="ctr">
            <a:solidFill>
              <a:schemeClr val="accent1"/>
            </a:solidFill>
            <a:miter lim="800000"/>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31" name="Line 7"/>
          <p:cNvSpPr>
            <a:spLocks noChangeShapeType="1"/>
          </p:cNvSpPr>
          <p:nvPr/>
        </p:nvSpPr>
        <p:spPr bwMode="auto">
          <a:xfrm>
            <a:off x="468313" y="6481763"/>
            <a:ext cx="8424862" cy="0"/>
          </a:xfrm>
          <a:prstGeom prst="line">
            <a:avLst/>
          </a:prstGeom>
          <a:noFill/>
          <a:ln w="0">
            <a:solidFill>
              <a:schemeClr val="tx2"/>
            </a:solidFill>
            <a:round/>
            <a:headEnd/>
            <a:tailEnd/>
          </a:ln>
          <a:effectLst/>
        </p:spPr>
        <p:txBody>
          <a:bodyPr/>
          <a:lstStyle/>
          <a:p>
            <a:endParaRPr lang="ru-RU"/>
          </a:p>
        </p:txBody>
      </p:sp>
      <p:sp>
        <p:nvSpPr>
          <p:cNvPr id="1032" name="Rectangle 8"/>
          <p:cNvSpPr>
            <a:spLocks noGrp="1" noChangeArrowheads="1"/>
          </p:cNvSpPr>
          <p:nvPr>
            <p:ph type="body" idx="1"/>
          </p:nvPr>
        </p:nvSpPr>
        <p:spPr bwMode="auto">
          <a:xfrm>
            <a:off x="457200" y="1262063"/>
            <a:ext cx="8229600" cy="524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ru-RU" dirty="0" err="1"/>
              <a:t>Образец</a:t>
            </a:r>
            <a:r>
              <a:rPr lang="en-US" altLang="ru-RU" dirty="0"/>
              <a:t> </a:t>
            </a:r>
            <a:r>
              <a:rPr lang="en-US" altLang="ru-RU" dirty="0" err="1"/>
              <a:t>текста</a:t>
            </a:r>
            <a:endParaRPr lang="en-US" altLang="ru-RU" dirty="0"/>
          </a:p>
          <a:p>
            <a:pPr lvl="1"/>
            <a:r>
              <a:rPr lang="en-US" altLang="ru-RU" dirty="0" err="1"/>
              <a:t>Второй</a:t>
            </a:r>
            <a:r>
              <a:rPr lang="en-US" altLang="ru-RU" dirty="0"/>
              <a:t> </a:t>
            </a:r>
            <a:r>
              <a:rPr lang="en-US" altLang="ru-RU" dirty="0" err="1"/>
              <a:t>уровень</a:t>
            </a:r>
            <a:endParaRPr lang="en-US" altLang="ru-RU" dirty="0"/>
          </a:p>
          <a:p>
            <a:pPr lvl="2"/>
            <a:r>
              <a:rPr lang="en-US" altLang="ru-RU" dirty="0" err="1"/>
              <a:t>Третий</a:t>
            </a:r>
            <a:r>
              <a:rPr lang="en-US" altLang="ru-RU" dirty="0"/>
              <a:t> </a:t>
            </a:r>
            <a:r>
              <a:rPr lang="en-US" altLang="ru-RU" dirty="0" err="1"/>
              <a:t>уровень</a:t>
            </a:r>
            <a:endParaRPr lang="en-US" altLang="ru-RU" dirty="0"/>
          </a:p>
          <a:p>
            <a:pPr lvl="3"/>
            <a:r>
              <a:rPr lang="en-US" altLang="ru-RU" dirty="0" err="1"/>
              <a:t>Четвертый</a:t>
            </a:r>
            <a:r>
              <a:rPr lang="en-US" altLang="ru-RU" dirty="0"/>
              <a:t> </a:t>
            </a:r>
            <a:r>
              <a:rPr lang="en-US" altLang="ru-RU" dirty="0" err="1"/>
              <a:t>уровень</a:t>
            </a:r>
            <a:endParaRPr lang="en-US" altLang="ru-RU" dirty="0"/>
          </a:p>
          <a:p>
            <a:pPr lvl="4"/>
            <a:r>
              <a:rPr lang="en-US" altLang="ru-RU" dirty="0" err="1"/>
              <a:t>Пятый</a:t>
            </a:r>
            <a:r>
              <a:rPr lang="en-US" altLang="ru-RU" dirty="0"/>
              <a:t> </a:t>
            </a:r>
            <a:r>
              <a:rPr lang="en-US" altLang="ru-RU" dirty="0" err="1"/>
              <a:t>уровень</a:t>
            </a:r>
            <a:endParaRPr lang="en-US" altLang="ru-RU" dirty="0"/>
          </a:p>
        </p:txBody>
      </p:sp>
      <p:sp>
        <p:nvSpPr>
          <p:cNvPr id="4107" name="Rectangle 11"/>
          <p:cNvSpPr>
            <a:spLocks noGrp="1" noChangeArrowheads="1"/>
          </p:cNvSpPr>
          <p:nvPr>
            <p:ph type="sldNum" sz="quarter" idx="4"/>
          </p:nvPr>
        </p:nvSpPr>
        <p:spPr bwMode="auto">
          <a:xfrm>
            <a:off x="3505200" y="6448425"/>
            <a:ext cx="2133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b="1">
                <a:latin typeface="Verdana" pitchFamily="34" charset="0"/>
              </a:defRPr>
            </a:lvl1pPr>
          </a:lstStyle>
          <a:p>
            <a:fld id="{AA257E95-089B-4A64-B7AB-E2BEB9EA9F75}" type="slidenum">
              <a:rPr lang="en-US" altLang="ru-RU"/>
              <a:pPr/>
              <a:t>‹#›</a:t>
            </a:fld>
            <a:endParaRPr lang="en-US" altLang="ru-RU"/>
          </a:p>
        </p:txBody>
      </p:sp>
      <p:graphicFrame>
        <p:nvGraphicFramePr>
          <p:cNvPr id="1034" name="Object 12"/>
          <p:cNvGraphicFramePr>
            <a:graphicFrameLocks noChangeAspect="1"/>
          </p:cNvGraphicFramePr>
          <p:nvPr/>
        </p:nvGraphicFramePr>
        <p:xfrm>
          <a:off x="0" y="0"/>
          <a:ext cx="971550" cy="1042988"/>
        </p:xfrm>
        <a:graphic>
          <a:graphicData uri="http://schemas.openxmlformats.org/presentationml/2006/ole">
            <mc:AlternateContent xmlns:mc="http://schemas.openxmlformats.org/markup-compatibility/2006">
              <mc:Choice xmlns:v="urn:schemas-microsoft-com:vml" Requires="v">
                <p:oleObj name="Image" r:id="rId14" imgW="2539683" imgH="2539683" progId="Photoshop.Image.6">
                  <p:embed/>
                </p:oleObj>
              </mc:Choice>
              <mc:Fallback>
                <p:oleObj name="Image" r:id="rId14" imgW="2539683" imgH="2539683" progId="Photoshop.Image.6">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71550" cy="1042988"/>
                      </a:xfrm>
                      <a:prstGeom prst="rect">
                        <a:avLst/>
                      </a:prstGeom>
                      <a:noFill/>
                      <a:ln>
                        <a:noFill/>
                      </a:ln>
                      <a:extLst>
                        <a:ext uri="{909E8E84-426E-40DD-AFC4-6F175D3DCCD1}">
                          <a14:hiddenFill xmlns:a14="http://schemas.microsoft.com/office/drawing/2010/main">
                            <a:gradFill rotWithShape="1">
                              <a:gsLst>
                                <a:gs pos="0">
                                  <a:srgbClr val="729DD5">
                                    <a:alpha val="39998"/>
                                  </a:srgbClr>
                                </a:gs>
                                <a:gs pos="100000">
                                  <a:srgbClr val="3E78C6"/>
                                </a:gs>
                              </a:gsLst>
                              <a:lin ang="5400000" scaled="1"/>
                            </a:gra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
        <p:nvSpPr>
          <p:cNvPr id="1035" name="Rectangle 13"/>
          <p:cNvSpPr>
            <a:spLocks noChangeArrowheads="1"/>
          </p:cNvSpPr>
          <p:nvPr/>
        </p:nvSpPr>
        <p:spPr bwMode="invGray">
          <a:xfrm>
            <a:off x="1187450" y="908050"/>
            <a:ext cx="7956550" cy="144463"/>
          </a:xfrm>
          <a:prstGeom prst="rect">
            <a:avLst/>
          </a:prstGeom>
          <a:solidFill>
            <a:schemeClr val="tx1"/>
          </a:solidFill>
          <a:ln>
            <a:noFill/>
          </a:ln>
          <a:effectLst/>
          <a:extLst>
            <a:ext uri="{91240B29-F687-4F45-9708-019B960494DF}">
              <a14:hiddenLine xmlns:a14="http://schemas.microsoft.com/office/drawing/2010/main" w="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36" name="Rectangle 14"/>
          <p:cNvSpPr>
            <a:spLocks noChangeArrowheads="1"/>
          </p:cNvSpPr>
          <p:nvPr/>
        </p:nvSpPr>
        <p:spPr bwMode="invGray">
          <a:xfrm>
            <a:off x="971550" y="0"/>
            <a:ext cx="431800" cy="1052513"/>
          </a:xfrm>
          <a:prstGeom prst="rect">
            <a:avLst/>
          </a:prstGeom>
          <a:solidFill>
            <a:schemeClr val="tx1"/>
          </a:solidFill>
          <a:ln>
            <a:noFill/>
          </a:ln>
          <a:effectLst/>
          <a:extLst>
            <a:ext uri="{91240B29-F687-4F45-9708-019B960494DF}">
              <a14:hiddenLine xmlns:a14="http://schemas.microsoft.com/office/drawing/2010/main" w="0" algn="ctr">
                <a:solidFill>
                  <a:schemeClr val="accent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ru-RU" altLang="ru-RU"/>
          </a:p>
        </p:txBody>
      </p:sp>
      <p:sp>
        <p:nvSpPr>
          <p:cNvPr id="1037" name="Rectangle 15"/>
          <p:cNvSpPr>
            <a:spLocks noGrp="1" noChangeArrowheads="1"/>
          </p:cNvSpPr>
          <p:nvPr>
            <p:ph type="title"/>
          </p:nvPr>
        </p:nvSpPr>
        <p:spPr bwMode="black">
          <a:xfrm>
            <a:off x="747713" y="233363"/>
            <a:ext cx="7862887" cy="5635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ru-RU"/>
              <a:t>Образец заголовка</a:t>
            </a:r>
          </a:p>
        </p:txBody>
      </p:sp>
    </p:spTree>
  </p:cSld>
  <p:clrMap bg1="lt1" tx1="dk1" bg2="lt2" tx2="dk2" accent1="accent1" accent2="accent2" accent3="accent3" accent4="accent4" accent5="accent5" accent6="accent6" hlink="hlink" folHlink="folHlink"/>
  <p:sldLayoutIdLst>
    <p:sldLayoutId id="2147483867"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Lst>
  <p:txStyles>
    <p:titleStyle>
      <a:lvl1pPr algn="ctr" rtl="0" eaLnBrk="0" fontAlgn="base" hangingPunct="0">
        <a:spcBef>
          <a:spcPct val="0"/>
        </a:spcBef>
        <a:spcAft>
          <a:spcPct val="0"/>
        </a:spcAft>
        <a:defRPr sz="3200" kern="1200">
          <a:solidFill>
            <a:srgbClr val="F3C43F"/>
          </a:solidFill>
          <a:latin typeface="+mj-lt"/>
          <a:ea typeface="+mj-ea"/>
          <a:cs typeface="+mj-cs"/>
        </a:defRPr>
      </a:lvl1pPr>
      <a:lvl2pPr algn="ctr" rtl="0" eaLnBrk="0" fontAlgn="base" hangingPunct="0">
        <a:spcBef>
          <a:spcPct val="0"/>
        </a:spcBef>
        <a:spcAft>
          <a:spcPct val="0"/>
        </a:spcAft>
        <a:defRPr sz="3200">
          <a:solidFill>
            <a:srgbClr val="F3C43F"/>
          </a:solidFill>
          <a:latin typeface="Verdana" panose="020B0604030504040204" pitchFamily="34" charset="0"/>
        </a:defRPr>
      </a:lvl2pPr>
      <a:lvl3pPr algn="ctr" rtl="0" eaLnBrk="0" fontAlgn="base" hangingPunct="0">
        <a:spcBef>
          <a:spcPct val="0"/>
        </a:spcBef>
        <a:spcAft>
          <a:spcPct val="0"/>
        </a:spcAft>
        <a:defRPr sz="3200">
          <a:solidFill>
            <a:srgbClr val="F3C43F"/>
          </a:solidFill>
          <a:latin typeface="Verdana" panose="020B0604030504040204" pitchFamily="34" charset="0"/>
        </a:defRPr>
      </a:lvl3pPr>
      <a:lvl4pPr algn="ctr" rtl="0" eaLnBrk="0" fontAlgn="base" hangingPunct="0">
        <a:spcBef>
          <a:spcPct val="0"/>
        </a:spcBef>
        <a:spcAft>
          <a:spcPct val="0"/>
        </a:spcAft>
        <a:defRPr sz="3200">
          <a:solidFill>
            <a:srgbClr val="F3C43F"/>
          </a:solidFill>
          <a:latin typeface="Verdana" panose="020B0604030504040204" pitchFamily="34" charset="0"/>
        </a:defRPr>
      </a:lvl4pPr>
      <a:lvl5pPr algn="ctr" rtl="0" eaLnBrk="0" fontAlgn="base" hangingPunct="0">
        <a:spcBef>
          <a:spcPct val="0"/>
        </a:spcBef>
        <a:spcAft>
          <a:spcPct val="0"/>
        </a:spcAft>
        <a:defRPr sz="3200">
          <a:solidFill>
            <a:srgbClr val="F3C43F"/>
          </a:solidFill>
          <a:latin typeface="Verdana" panose="020B0604030504040204" pitchFamily="34" charset="0"/>
        </a:defRPr>
      </a:lvl5pPr>
      <a:lvl6pPr marL="457200" algn="ctr" rtl="0" fontAlgn="base">
        <a:spcBef>
          <a:spcPct val="0"/>
        </a:spcBef>
        <a:spcAft>
          <a:spcPct val="0"/>
        </a:spcAft>
        <a:defRPr sz="3200">
          <a:solidFill>
            <a:srgbClr val="F3C43F"/>
          </a:solidFill>
          <a:latin typeface="Verdana" panose="020B0604030504040204" pitchFamily="34" charset="0"/>
        </a:defRPr>
      </a:lvl6pPr>
      <a:lvl7pPr marL="914400" algn="ctr" rtl="0" fontAlgn="base">
        <a:spcBef>
          <a:spcPct val="0"/>
        </a:spcBef>
        <a:spcAft>
          <a:spcPct val="0"/>
        </a:spcAft>
        <a:defRPr sz="3200">
          <a:solidFill>
            <a:srgbClr val="F3C43F"/>
          </a:solidFill>
          <a:latin typeface="Verdana" panose="020B0604030504040204" pitchFamily="34" charset="0"/>
        </a:defRPr>
      </a:lvl7pPr>
      <a:lvl8pPr marL="1371600" algn="ctr" rtl="0" fontAlgn="base">
        <a:spcBef>
          <a:spcPct val="0"/>
        </a:spcBef>
        <a:spcAft>
          <a:spcPct val="0"/>
        </a:spcAft>
        <a:defRPr sz="3200">
          <a:solidFill>
            <a:srgbClr val="F3C43F"/>
          </a:solidFill>
          <a:latin typeface="Verdana" panose="020B0604030504040204" pitchFamily="34" charset="0"/>
        </a:defRPr>
      </a:lvl8pPr>
      <a:lvl9pPr marL="1828800" algn="ctr" rtl="0" fontAlgn="base">
        <a:spcBef>
          <a:spcPct val="0"/>
        </a:spcBef>
        <a:spcAft>
          <a:spcPct val="0"/>
        </a:spcAft>
        <a:defRPr sz="3200">
          <a:solidFill>
            <a:srgbClr val="F3C43F"/>
          </a:solidFill>
          <a:latin typeface="Verdana" panose="020B0604030504040204" pitchFamily="34" charset="0"/>
        </a:defRPr>
      </a:lvl9pPr>
    </p:titleStyle>
    <p:bodyStyle>
      <a:lvl1pPr marL="0" indent="0" algn="l" rtl="0" eaLnBrk="0" fontAlgn="base" hangingPunct="0">
        <a:spcBef>
          <a:spcPct val="20000"/>
        </a:spcBef>
        <a:spcAft>
          <a:spcPct val="0"/>
        </a:spcAft>
        <a:buClr>
          <a:schemeClr val="hlink"/>
        </a:buClr>
        <a:buFont typeface="Wingdings" pitchFamily="2" charset="2"/>
        <a:buNone/>
        <a:defRPr sz="2400" kern="1200">
          <a:solidFill>
            <a:schemeClr val="tx1"/>
          </a:solidFill>
          <a:latin typeface="+mn-lt"/>
          <a:ea typeface="+mn-ea"/>
          <a:cs typeface="+mn-cs"/>
        </a:defRPr>
      </a:lvl1pPr>
      <a:lvl2pPr marL="457200" indent="0" algn="l" rtl="0" eaLnBrk="0" fontAlgn="base" hangingPunct="0">
        <a:spcBef>
          <a:spcPct val="20000"/>
        </a:spcBef>
        <a:spcAft>
          <a:spcPct val="0"/>
        </a:spcAft>
        <a:buClr>
          <a:schemeClr val="accent1"/>
        </a:buClr>
        <a:buFont typeface="Wingdings" pitchFamily="2" charset="2"/>
        <a:buNone/>
        <a:defRPr sz="20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el.is/c++draf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learn.microsoft.com/ru-ru/cpp/preprocessor/hash-line-directive-c-cpp?view=msvc-170" TargetMode="External"/><Relationship Id="rId3" Type="http://schemas.openxmlformats.org/officeDocument/2006/relationships/hyperlink" Target="https://learn.microsoft.com/ru-ru/cpp/preprocessor/hash-if-hash-elif-hash-else-and-hash-endif-directives-c-cpp?view=msvc-170" TargetMode="External"/><Relationship Id="rId7" Type="http://schemas.openxmlformats.org/officeDocument/2006/relationships/hyperlink" Target="https://learn.microsoft.com/ru-ru/cpp/preprocessor/hash-include-directive-c-cpp?view=msvc-170" TargetMode="External"/><Relationship Id="rId2" Type="http://schemas.openxmlformats.org/officeDocument/2006/relationships/hyperlink" Target="https://learn.microsoft.com/ru-ru/cpp/preprocessor/hash-define-directive-c-cpp?view=msvc-170" TargetMode="External"/><Relationship Id="rId1" Type="http://schemas.openxmlformats.org/officeDocument/2006/relationships/slideLayout" Target="../slideLayouts/slideLayout2.xml"/><Relationship Id="rId6" Type="http://schemas.openxmlformats.org/officeDocument/2006/relationships/hyperlink" Target="https://learn.microsoft.com/ru-ru/cpp/preprocessor/hash-import-directive-cpp?view=msvc-170" TargetMode="External"/><Relationship Id="rId11" Type="http://schemas.openxmlformats.org/officeDocument/2006/relationships/hyperlink" Target="https://learn.microsoft.com/ru-ru/cpp/preprocessor/hash-using-directive-cpp?view=msvc-170" TargetMode="External"/><Relationship Id="rId5" Type="http://schemas.openxmlformats.org/officeDocument/2006/relationships/hyperlink" Target="https://learn.microsoft.com/ru-ru/cpp/preprocessor/hash-ifdef-and-hash-ifndef-directives-c-cpp?view=msvc-170" TargetMode="External"/><Relationship Id="rId10" Type="http://schemas.openxmlformats.org/officeDocument/2006/relationships/hyperlink" Target="https://learn.microsoft.com/ru-ru/cpp/preprocessor/hash-undef-directive-c-cpp?view=msvc-170" TargetMode="External"/><Relationship Id="rId4" Type="http://schemas.openxmlformats.org/officeDocument/2006/relationships/hyperlink" Target="https://learn.microsoft.com/ru-ru/cpp/preprocessor/hash-error-directive-c-cpp?view=msvc-170" TargetMode="External"/><Relationship Id="rId9" Type="http://schemas.openxmlformats.org/officeDocument/2006/relationships/hyperlink" Target="https://learn.microsoft.com/ru-ru/cpp/preprocessor/pragma-directives-and-the-pragma-keyword?view=msvc-17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2" Type="http://schemas.openxmlformats.org/officeDocument/2006/relationships/hyperlink" Target="https://learn.microsoft.com/ru-ru/cpp/preprocessor/predefined-macros?view=msvc-170" TargetMode="External"/><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4427538" y="1916113"/>
            <a:ext cx="3494087" cy="1524000"/>
          </a:xfrm>
        </p:spPr>
        <p:txBody>
          <a:bodyPr/>
          <a:lstStyle/>
          <a:p>
            <a:pPr eaLnBrk="1" hangingPunct="1"/>
            <a:r>
              <a:rPr lang="en-US" altLang="ru-RU" sz="7200"/>
              <a:t>C++</a:t>
            </a:r>
            <a:endParaRPr lang="ru-RU" altLang="ru-RU" sz="7200"/>
          </a:p>
        </p:txBody>
      </p:sp>
      <p:pic>
        <p:nvPicPr>
          <p:cNvPr id="5123" name="Picture 4" descr="http://cppstudio.com/wp-content/images/article/bits-and-bytes-on-a-blue-background.jpg"/>
          <p:cNvPicPr>
            <a:picLocks noChangeAspect="1" noChangeArrowheads="1"/>
          </p:cNvPicPr>
          <p:nvPr/>
        </p:nvPicPr>
        <p:blipFill>
          <a:blip r:embed="rId2"/>
          <a:srcRect/>
          <a:stretch>
            <a:fillRect/>
          </a:stretch>
        </p:blipFill>
        <p:spPr bwMode="auto">
          <a:xfrm>
            <a:off x="539750" y="404813"/>
            <a:ext cx="2808288" cy="2808287"/>
          </a:xfrm>
          <a:prstGeom prst="rect">
            <a:avLst/>
          </a:prstGeom>
          <a:noFill/>
          <a:ln w="9525">
            <a:noFill/>
            <a:miter lim="800000"/>
            <a:headEnd/>
            <a:tailEnd/>
          </a:ln>
        </p:spPr>
      </p:pic>
      <p:sp>
        <p:nvSpPr>
          <p:cNvPr id="5124" name="Прямоугольник 1"/>
          <p:cNvSpPr>
            <a:spLocks noChangeArrowheads="1"/>
          </p:cNvSpPr>
          <p:nvPr/>
        </p:nvSpPr>
        <p:spPr bwMode="auto">
          <a:xfrm>
            <a:off x="3851275" y="5229225"/>
            <a:ext cx="5148263" cy="1570038"/>
          </a:xfrm>
          <a:prstGeom prst="rect">
            <a:avLst/>
          </a:prstGeom>
          <a:noFill/>
          <a:ln w="9525">
            <a:noFill/>
            <a:miter lim="800000"/>
            <a:headEnd/>
            <a:tailEnd/>
          </a:ln>
        </p:spPr>
        <p:txBody>
          <a:bodyPr>
            <a:spAutoFit/>
          </a:bodyPr>
          <a:lstStyle/>
          <a:p>
            <a:pPr algn="just"/>
            <a:r>
              <a:rPr lang="ru-RU" altLang="ru-RU">
                <a:latin typeface="Times New Roman" pitchFamily="18" charset="0"/>
                <a:cs typeface="Times New Roman" pitchFamily="18" charset="0"/>
              </a:rPr>
              <a:t>       </a:t>
            </a:r>
            <a:r>
              <a:rPr lang="ru-RU" altLang="ru-RU" sz="2400">
                <a:latin typeface="Monotype Corsiva" pitchFamily="66" charset="0"/>
                <a:cs typeface="Times New Roman" pitchFamily="18" charset="0"/>
              </a:rPr>
              <a:t>Единственный способ изучать новый язык программирования - писать на нем программы. </a:t>
            </a:r>
          </a:p>
          <a:p>
            <a:pPr algn="r"/>
            <a:r>
              <a:rPr lang="ru-RU" altLang="ru-RU" sz="2400">
                <a:latin typeface="Monotype Corsiva" pitchFamily="66" charset="0"/>
                <a:cs typeface="Times New Roman" pitchFamily="18" charset="0"/>
              </a:rPr>
              <a:t>Брайэн Керниган</a:t>
            </a:r>
            <a:endParaRPr lang="ru-RU" altLang="ru-RU" sz="2400">
              <a:latin typeface="Monotype Corsiva" pitchFamily="66"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Заголовок 1"/>
          <p:cNvSpPr>
            <a:spLocks noGrp="1"/>
          </p:cNvSpPr>
          <p:nvPr>
            <p:ph type="title"/>
          </p:nvPr>
        </p:nvSpPr>
        <p:spPr/>
        <p:txBody>
          <a:bodyPr/>
          <a:lstStyle/>
          <a:p>
            <a:r>
              <a:rPr lang="ru-RU" altLang="ru-RU" b="1"/>
              <a:t>История языка Си++</a:t>
            </a:r>
          </a:p>
        </p:txBody>
      </p:sp>
      <p:sp>
        <p:nvSpPr>
          <p:cNvPr id="6147" name="Объект 2"/>
          <p:cNvSpPr>
            <a:spLocks noGrp="1"/>
          </p:cNvSpPr>
          <p:nvPr>
            <p:ph idx="1"/>
          </p:nvPr>
        </p:nvSpPr>
        <p:spPr>
          <a:xfrm>
            <a:off x="457200" y="1262063"/>
            <a:ext cx="8435975" cy="2887662"/>
          </a:xfrm>
        </p:spPr>
        <p:txBody>
          <a:bodyPr/>
          <a:lstStyle/>
          <a:p>
            <a:pPr marL="0" indent="0" algn="just">
              <a:buFont typeface="Wingdings" pitchFamily="2" charset="2"/>
              <a:buNone/>
            </a:pPr>
            <a:r>
              <a:rPr lang="ru-RU" altLang="ru-RU" sz="2400"/>
              <a:t>     Язык Си++ был разработан в начале 1980-х гг. Бьерном Страуструпом из компании AT&amp;T Bell Laboratories. Си++  основан на языке Си. Два символа "++« в названии –  это игра слов, символами "++"  в языке Си обозначается операция инкремента (увеличение значения переменной на 1). </a:t>
            </a:r>
          </a:p>
        </p:txBody>
      </p:sp>
      <p:sp>
        <p:nvSpPr>
          <p:cNvPr id="6149" name="TextBox 4"/>
          <p:cNvSpPr txBox="1">
            <a:spLocks noChangeArrowheads="1"/>
          </p:cNvSpPr>
          <p:nvPr/>
        </p:nvSpPr>
        <p:spPr bwMode="auto">
          <a:xfrm>
            <a:off x="1156048" y="4581128"/>
            <a:ext cx="7427168" cy="954107"/>
          </a:xfrm>
          <a:prstGeom prst="rect">
            <a:avLst/>
          </a:prstGeom>
          <a:noFill/>
          <a:ln w="9525">
            <a:noFill/>
            <a:miter lim="800000"/>
            <a:headEnd/>
            <a:tailEnd/>
          </a:ln>
        </p:spPr>
        <p:txBody>
          <a:bodyPr wrap="square">
            <a:spAutoFit/>
          </a:bodyPr>
          <a:lstStyle/>
          <a:p>
            <a:r>
              <a:rPr lang="ru-RU" sz="2800"/>
              <a:t>Текущий стандарт языка можно найти по ссылке </a:t>
            </a:r>
            <a:r>
              <a:rPr lang="ru-RU" sz="2800">
                <a:hlinkClick r:id="rId2"/>
              </a:rPr>
              <a:t>https://eel.is/c++draft/</a:t>
            </a:r>
            <a:endParaRPr lang="ru-RU" altLang="ru-RU" sz="28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Заголовок 1"/>
          <p:cNvSpPr>
            <a:spLocks noGrp="1"/>
          </p:cNvSpPr>
          <p:nvPr>
            <p:ph type="title"/>
          </p:nvPr>
        </p:nvSpPr>
        <p:spPr/>
        <p:txBody>
          <a:bodyPr/>
          <a:lstStyle/>
          <a:p>
            <a:r>
              <a:rPr lang="ru-RU" altLang="ru-RU" b="1"/>
              <a:t>История языка Си++</a:t>
            </a:r>
          </a:p>
        </p:txBody>
      </p:sp>
      <p:sp>
        <p:nvSpPr>
          <p:cNvPr id="7172" name="Объект 2"/>
          <p:cNvSpPr>
            <a:spLocks noGrp="1"/>
          </p:cNvSpPr>
          <p:nvPr>
            <p:ph idx="1"/>
          </p:nvPr>
        </p:nvSpPr>
        <p:spPr>
          <a:xfrm>
            <a:off x="457200" y="1262063"/>
            <a:ext cx="8435975" cy="3175000"/>
          </a:xfrm>
        </p:spPr>
        <p:txBody>
          <a:bodyPr/>
          <a:lstStyle/>
          <a:p>
            <a:pPr marL="0" indent="0" algn="just">
              <a:buFont typeface="Wingdings" pitchFamily="2" charset="2"/>
              <a:buNone/>
            </a:pPr>
            <a:r>
              <a:rPr lang="ru-RU" altLang="ru-RU" sz="2400"/>
              <a:t>    Таким образом, Си++ был задуман как язык Си с расширенными возможностями.  Большая часть языка Си вошла в Си++ как подмножество, поэтому многие программы на Си можно скомпилировать (т.е. превратить в набор низкоуровневых команд, которые компьютер может непосредственно выполнять) с помощью компилятора Си++.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ru-RU" altLang="ru-RU" sz="4000" b="1"/>
              <a:t>Состав языка</a:t>
            </a:r>
          </a:p>
        </p:txBody>
      </p:sp>
      <p:sp>
        <p:nvSpPr>
          <p:cNvPr id="8195" name="Rectangle 3"/>
          <p:cNvSpPr>
            <a:spLocks noGrp="1" noChangeArrowheads="1"/>
          </p:cNvSpPr>
          <p:nvPr>
            <p:ph type="body" idx="1"/>
          </p:nvPr>
        </p:nvSpPr>
        <p:spPr/>
        <p:txBody>
          <a:bodyPr/>
          <a:lstStyle/>
          <a:p>
            <a:pPr algn="just" eaLnBrk="1" hangingPunct="1"/>
            <a:r>
              <a:rPr lang="ru-RU" altLang="ru-RU" sz="2400"/>
              <a:t>В тексте на любом естественном языке можно выделить четыре основных элемента: символы, слова, словосочетания и предложения. </a:t>
            </a:r>
            <a:endParaRPr lang="en-US" altLang="ru-RU" sz="2400"/>
          </a:p>
          <a:p>
            <a:pPr algn="just" eaLnBrk="1" hangingPunct="1"/>
            <a:r>
              <a:rPr lang="ru-RU" altLang="ru-RU" sz="2400"/>
              <a:t>Подобные элементы содержит и алгоритмический язык, только слова называют лексемами (элементарными конструкциями), словосочетания — выражениями, а предложения — операторами. </a:t>
            </a:r>
            <a:endParaRPr lang="en-US" altLang="ru-RU"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title"/>
          </p:nvPr>
        </p:nvSpPr>
        <p:spPr>
          <a:noFill/>
        </p:spPr>
        <p:txBody>
          <a:bodyPr/>
          <a:lstStyle/>
          <a:p>
            <a:pPr eaLnBrk="1" hangingPunct="1"/>
            <a:r>
              <a:rPr lang="ru-RU" altLang="ru-RU" sz="2800" b="1"/>
              <a:t>Состав языка</a:t>
            </a:r>
          </a:p>
        </p:txBody>
      </p:sp>
      <p:pic>
        <p:nvPicPr>
          <p:cNvPr id="9219" name="Объект 2"/>
          <p:cNvPicPr>
            <a:picLocks noGrp="1" noChangeAspect="1"/>
          </p:cNvPicPr>
          <p:nvPr>
            <p:ph idx="1"/>
          </p:nvPr>
        </p:nvPicPr>
        <p:blipFill>
          <a:blip r:embed="rId2"/>
          <a:srcRect l="9460" t="9554" r="23396"/>
          <a:stretch>
            <a:fillRect/>
          </a:stretch>
        </p:blipFill>
        <p:spPr>
          <a:xfrm>
            <a:off x="1331913" y="2997200"/>
            <a:ext cx="5903912" cy="3408363"/>
          </a:xfrm>
        </p:spPr>
      </p:pic>
      <p:sp>
        <p:nvSpPr>
          <p:cNvPr id="9220" name="Прямоугольник 4"/>
          <p:cNvSpPr>
            <a:spLocks noChangeArrowheads="1"/>
          </p:cNvSpPr>
          <p:nvPr/>
        </p:nvSpPr>
        <p:spPr bwMode="auto">
          <a:xfrm>
            <a:off x="468313" y="1412875"/>
            <a:ext cx="7991475" cy="1816100"/>
          </a:xfrm>
          <a:prstGeom prst="rect">
            <a:avLst/>
          </a:prstGeom>
          <a:noFill/>
          <a:ln w="9525">
            <a:noFill/>
            <a:miter lim="800000"/>
            <a:headEnd/>
            <a:tailEnd/>
          </a:ln>
        </p:spPr>
        <p:txBody>
          <a:bodyPr>
            <a:spAutoFit/>
          </a:bodyPr>
          <a:lstStyle/>
          <a:p>
            <a:pPr algn="just"/>
            <a:r>
              <a:rPr lang="ru-RU" altLang="ru-RU" sz="2800"/>
              <a:t>    Лексемы образуются из символов, выражения — из лексем и символов, а операторы — из символов, выражений и лексем.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ru-RU" altLang="ru-RU" sz="2800" b="1"/>
              <a:t>Состав языка</a:t>
            </a:r>
          </a:p>
        </p:txBody>
      </p:sp>
      <p:sp>
        <p:nvSpPr>
          <p:cNvPr id="10243" name="Rectangle 3"/>
          <p:cNvSpPr>
            <a:spLocks noGrp="1" noChangeArrowheads="1"/>
          </p:cNvSpPr>
          <p:nvPr>
            <p:ph type="body" idx="1"/>
          </p:nvPr>
        </p:nvSpPr>
        <p:spPr/>
        <p:txBody>
          <a:bodyPr/>
          <a:lstStyle/>
          <a:p>
            <a:pPr eaLnBrk="1" hangingPunct="1"/>
            <a:r>
              <a:rPr lang="ru-RU" altLang="ru-RU"/>
              <a:t>Операторы бывают исполняемые и неисполняемые. </a:t>
            </a:r>
            <a:endParaRPr lang="ru-RU" altLang="ru-RU" i="1"/>
          </a:p>
          <a:p>
            <a:pPr eaLnBrk="1" hangingPunct="1"/>
            <a:r>
              <a:rPr lang="ru-RU" altLang="ru-RU" i="1"/>
              <a:t>Исполняемые операторы</a:t>
            </a:r>
            <a:r>
              <a:rPr lang="ru-RU" altLang="ru-RU"/>
              <a:t> задают действия над данными. </a:t>
            </a:r>
            <a:endParaRPr lang="ru-RU" altLang="ru-RU" i="1"/>
          </a:p>
          <a:p>
            <a:pPr eaLnBrk="1" hangingPunct="1"/>
            <a:r>
              <a:rPr lang="ru-RU" altLang="ru-RU" i="1"/>
              <a:t>Неисполняемые операторы</a:t>
            </a:r>
            <a:r>
              <a:rPr lang="ru-RU" altLang="ru-RU"/>
              <a:t> служат для описания данных, поэтому их часто называют операторами описания или просто описаниями.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Рисунок 1"/>
          <p:cNvPicPr>
            <a:picLocks noChangeAspect="1"/>
          </p:cNvPicPr>
          <p:nvPr/>
        </p:nvPicPr>
        <p:blipFill>
          <a:blip r:embed="rId2"/>
          <a:srcRect/>
          <a:stretch>
            <a:fillRect/>
          </a:stretch>
        </p:blipFill>
        <p:spPr bwMode="auto">
          <a:xfrm>
            <a:off x="5313363" y="1557338"/>
            <a:ext cx="3830637" cy="4376737"/>
          </a:xfrm>
          <a:prstGeom prst="rect">
            <a:avLst/>
          </a:prstGeom>
          <a:noFill/>
          <a:ln w="9525">
            <a:noFill/>
            <a:miter lim="800000"/>
            <a:headEnd/>
            <a:tailEnd/>
          </a:ln>
        </p:spPr>
      </p:pic>
      <p:sp>
        <p:nvSpPr>
          <p:cNvPr id="11267" name="Rectangle 3"/>
          <p:cNvSpPr>
            <a:spLocks noGrp="1" noChangeArrowheads="1"/>
          </p:cNvSpPr>
          <p:nvPr>
            <p:ph type="body" idx="1"/>
          </p:nvPr>
        </p:nvSpPr>
        <p:spPr>
          <a:xfrm>
            <a:off x="468313" y="1870075"/>
            <a:ext cx="5338762" cy="3751263"/>
          </a:xfrm>
        </p:spPr>
        <p:txBody>
          <a:bodyPr/>
          <a:lstStyle/>
          <a:p>
            <a:pPr algn="just" eaLnBrk="1" hangingPunct="1">
              <a:lnSpc>
                <a:spcPct val="90000"/>
              </a:lnSpc>
            </a:pPr>
            <a:r>
              <a:rPr lang="ru-RU" altLang="ru-RU" sz="2400"/>
              <a:t>Принято исходный код программ на C++ сохранять с расширением .cpp после имени файла (происходит такая идея от названия «C Plus Plus» и от того, что во многих операционных системах знак плюс нельзя использовать в именах файлов и каталогов).</a:t>
            </a:r>
          </a:p>
        </p:txBody>
      </p:sp>
      <p:sp>
        <p:nvSpPr>
          <p:cNvPr id="11268" name="Rectangle 4"/>
          <p:cNvSpPr>
            <a:spLocks noGrp="1" noChangeArrowheads="1"/>
          </p:cNvSpPr>
          <p:nvPr>
            <p:ph type="title"/>
          </p:nvPr>
        </p:nvSpPr>
        <p:spPr>
          <a:noFill/>
        </p:spPr>
        <p:txBody>
          <a:bodyPr/>
          <a:lstStyle/>
          <a:p>
            <a:pPr eaLnBrk="1" hangingPunct="1"/>
            <a:r>
              <a:rPr lang="ru-RU" altLang="ru-RU" sz="2800" b="1"/>
              <a:t>Состав языка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p:txBody>
          <a:bodyPr/>
          <a:lstStyle/>
          <a:p>
            <a:pPr algn="just" eaLnBrk="1" hangingPunct="1">
              <a:lnSpc>
                <a:spcPct val="90000"/>
              </a:lnSpc>
            </a:pPr>
            <a:r>
              <a:rPr lang="ru-RU" altLang="ru-RU" sz="2400" dirty="0"/>
              <a:t>Для C++ существует масса IDE. Внутри IDE (интегрированной среды разработки) процесс компиляции и запуска автоматизирован и, как правило, скрыт от разработчика. Но эти процессы всё равно, происходят каждый раз при попытке запустить программу, притом строго в рассмотренной нами последовательности, т.е. самое минимальное изменение в программном коде требует </a:t>
            </a:r>
            <a:r>
              <a:rPr lang="ru-RU" altLang="ru-RU" sz="2400" dirty="0" err="1"/>
              <a:t>пересохранения</a:t>
            </a:r>
            <a:r>
              <a:rPr lang="ru-RU" altLang="ru-RU" sz="2400" dirty="0"/>
              <a:t> файла с исходным кодом, перекомпиляции и перезапуска программы.</a:t>
            </a:r>
          </a:p>
          <a:p>
            <a:pPr algn="just" eaLnBrk="1" hangingPunct="1">
              <a:lnSpc>
                <a:spcPct val="90000"/>
              </a:lnSpc>
            </a:pPr>
            <a:endParaRPr lang="ru-RU" altLang="ru-RU" sz="2400" dirty="0"/>
          </a:p>
        </p:txBody>
      </p:sp>
      <p:sp>
        <p:nvSpPr>
          <p:cNvPr id="12291" name="Rectangle 4"/>
          <p:cNvSpPr>
            <a:spLocks noGrp="1" noChangeArrowheads="1"/>
          </p:cNvSpPr>
          <p:nvPr>
            <p:ph type="title"/>
          </p:nvPr>
        </p:nvSpPr>
        <p:spPr>
          <a:noFill/>
        </p:spPr>
        <p:txBody>
          <a:bodyPr/>
          <a:lstStyle/>
          <a:p>
            <a:pPr eaLnBrk="1" hangingPunct="1"/>
            <a:r>
              <a:rPr lang="ru-RU" altLang="ru-RU" sz="2800" b="1"/>
              <a:t>Состав языка</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type="body" idx="1"/>
          </p:nvPr>
        </p:nvSpPr>
        <p:spPr/>
        <p:txBody>
          <a:bodyPr/>
          <a:lstStyle/>
          <a:p>
            <a:pPr algn="just" eaLnBrk="1" hangingPunct="1">
              <a:lnSpc>
                <a:spcPct val="90000"/>
              </a:lnSpc>
            </a:pPr>
            <a:r>
              <a:rPr lang="ru-RU" altLang="ru-RU" sz="2400"/>
              <a:t>Перед тем, как создаётся исполняемый код, программа анализируется отладчиком, который ищет в исходном коде существующие и потенциальные ошибки. Если ошибок не найдено, то команда make ничего не выведет на экран в результате своей работы, иначе — будет представлена информация об ошибках с указанием строк, в которых они присутствуют. Пока ошибки не будут исправлены, исполнимый файл не будет создан (или не обновлён, если существовал ранее).</a:t>
            </a:r>
          </a:p>
          <a:p>
            <a:pPr algn="just" eaLnBrk="1" hangingPunct="1">
              <a:lnSpc>
                <a:spcPct val="90000"/>
              </a:lnSpc>
            </a:pPr>
            <a:endParaRPr lang="ru-RU" altLang="ru-RU" sz="2400"/>
          </a:p>
        </p:txBody>
      </p:sp>
      <p:sp>
        <p:nvSpPr>
          <p:cNvPr id="13315" name="Rectangle 4"/>
          <p:cNvSpPr>
            <a:spLocks noGrp="1" noChangeArrowheads="1"/>
          </p:cNvSpPr>
          <p:nvPr>
            <p:ph type="title"/>
          </p:nvPr>
        </p:nvSpPr>
        <p:spPr>
          <a:noFill/>
        </p:spPr>
        <p:txBody>
          <a:bodyPr/>
          <a:lstStyle/>
          <a:p>
            <a:pPr eaLnBrk="1" hangingPunct="1"/>
            <a:r>
              <a:rPr lang="ru-RU" altLang="ru-RU" sz="2800" b="1"/>
              <a:t>Состав языка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ru-RU" altLang="ru-RU" sz="2800" b="1"/>
              <a:t>Алфавит языка</a:t>
            </a:r>
            <a:br>
              <a:rPr lang="ru-RU" altLang="ru-RU" sz="2800" b="1"/>
            </a:br>
            <a:endParaRPr lang="ru-RU" altLang="ru-RU" sz="2800" b="1"/>
          </a:p>
        </p:txBody>
      </p:sp>
      <p:sp>
        <p:nvSpPr>
          <p:cNvPr id="14339" name="Rectangle 3"/>
          <p:cNvSpPr>
            <a:spLocks noGrp="1" noChangeArrowheads="1"/>
          </p:cNvSpPr>
          <p:nvPr>
            <p:ph type="body" idx="1"/>
          </p:nvPr>
        </p:nvSpPr>
        <p:spPr/>
        <p:txBody>
          <a:bodyPr/>
          <a:lstStyle/>
          <a:p>
            <a:pPr marL="533400" indent="-533400" eaLnBrk="1" hangingPunct="1">
              <a:buFont typeface="Wingdings" pitchFamily="2" charset="2"/>
              <a:buNone/>
            </a:pPr>
            <a:r>
              <a:rPr lang="ru-RU" altLang="ru-RU"/>
              <a:t>Алфавит С++ включает:</a:t>
            </a:r>
          </a:p>
          <a:p>
            <a:pPr marL="533400" indent="-533400" eaLnBrk="1" hangingPunct="1">
              <a:buFont typeface="Wingdings" pitchFamily="2" charset="2"/>
              <a:buAutoNum type="arabicPeriod"/>
            </a:pPr>
            <a:r>
              <a:rPr lang="ru-RU" altLang="ru-RU"/>
              <a:t>прописные и строчные латинские буквы и знак подчеркивания;</a:t>
            </a:r>
          </a:p>
          <a:p>
            <a:pPr marL="533400" indent="-533400" eaLnBrk="1" hangingPunct="1">
              <a:buFont typeface="Wingdings" pitchFamily="2" charset="2"/>
              <a:buAutoNum type="arabicPeriod"/>
            </a:pPr>
            <a:r>
              <a:rPr lang="ru-RU" altLang="ru-RU"/>
              <a:t>арабские цифры от 0 до 9;</a:t>
            </a:r>
          </a:p>
          <a:p>
            <a:pPr marL="533400" indent="-533400" eaLnBrk="1" hangingPunct="1">
              <a:buFont typeface="Wingdings" pitchFamily="2" charset="2"/>
              <a:buAutoNum type="arabicPeriod"/>
            </a:pPr>
            <a:r>
              <a:rPr lang="ru-RU" altLang="ru-RU"/>
              <a:t>специальные знаки, например, {, %, # и т.д.</a:t>
            </a:r>
          </a:p>
          <a:p>
            <a:pPr marL="533400" indent="-533400" eaLnBrk="1" hangingPunct="1">
              <a:buFont typeface="Wingdings" pitchFamily="2" charset="2"/>
              <a:buAutoNum type="arabicPeriod"/>
            </a:pPr>
            <a:r>
              <a:rPr lang="ru-RU" altLang="ru-RU"/>
              <a:t>пробельные символы: пробел, символы табуляции, символы перехода на новую строку.</a:t>
            </a:r>
          </a:p>
          <a:p>
            <a:pPr marL="533400" indent="-533400" eaLnBrk="1" hangingPunct="1"/>
            <a:endParaRPr lang="ru-RU" alt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1"/>
          </p:nvPr>
        </p:nvSpPr>
        <p:spPr/>
        <p:txBody>
          <a:bodyPr/>
          <a:lstStyle/>
          <a:p>
            <a:pPr eaLnBrk="1" hangingPunct="1">
              <a:lnSpc>
                <a:spcPct val="90000"/>
              </a:lnSpc>
              <a:buFont typeface="Wingdings" pitchFamily="2" charset="2"/>
              <a:buNone/>
            </a:pPr>
            <a:r>
              <a:rPr lang="ru-RU" altLang="ru-RU"/>
              <a:t>Из символов алфавита формируются </a:t>
            </a:r>
            <a:r>
              <a:rPr lang="ru-RU" altLang="ru-RU" i="1"/>
              <a:t>лексемы</a:t>
            </a:r>
            <a:r>
              <a:rPr lang="ru-RU" altLang="ru-RU"/>
              <a:t> языка:</a:t>
            </a:r>
          </a:p>
          <a:p>
            <a:pPr eaLnBrk="1" hangingPunct="1">
              <a:lnSpc>
                <a:spcPct val="90000"/>
              </a:lnSpc>
            </a:pPr>
            <a:r>
              <a:rPr lang="ru-RU" altLang="ru-RU"/>
              <a:t>идентификаторы;</a:t>
            </a:r>
          </a:p>
          <a:p>
            <a:pPr eaLnBrk="1" hangingPunct="1">
              <a:lnSpc>
                <a:spcPct val="90000"/>
              </a:lnSpc>
            </a:pPr>
            <a:r>
              <a:rPr lang="ru-RU" altLang="ru-RU"/>
              <a:t>ключевые (зарезервированные) слова;</a:t>
            </a:r>
          </a:p>
          <a:p>
            <a:pPr eaLnBrk="1" hangingPunct="1">
              <a:lnSpc>
                <a:spcPct val="90000"/>
              </a:lnSpc>
            </a:pPr>
            <a:r>
              <a:rPr lang="ru-RU" altLang="ru-RU"/>
              <a:t>знаки операций;</a:t>
            </a:r>
          </a:p>
          <a:p>
            <a:pPr eaLnBrk="1" hangingPunct="1">
              <a:lnSpc>
                <a:spcPct val="90000"/>
              </a:lnSpc>
            </a:pPr>
            <a:r>
              <a:rPr lang="ru-RU" altLang="ru-RU"/>
              <a:t>константы;</a:t>
            </a:r>
          </a:p>
          <a:p>
            <a:pPr eaLnBrk="1" hangingPunct="1">
              <a:lnSpc>
                <a:spcPct val="90000"/>
              </a:lnSpc>
            </a:pPr>
            <a:r>
              <a:rPr lang="ru-RU" altLang="ru-RU"/>
              <a:t>разделители (скобки, точка, запятая, пробельные символы).</a:t>
            </a:r>
          </a:p>
        </p:txBody>
      </p:sp>
      <p:sp>
        <p:nvSpPr>
          <p:cNvPr id="15363" name="Rectangle 4"/>
          <p:cNvSpPr>
            <a:spLocks noGrp="1" noChangeArrowheads="1"/>
          </p:cNvSpPr>
          <p:nvPr>
            <p:ph type="title"/>
          </p:nvPr>
        </p:nvSpPr>
        <p:spPr>
          <a:noFill/>
        </p:spPr>
        <p:txBody>
          <a:bodyPr/>
          <a:lstStyle/>
          <a:p>
            <a:pPr eaLnBrk="1" hangingPunct="1"/>
            <a:r>
              <a:rPr lang="ru-RU" altLang="ru-RU" sz="2800" b="1"/>
              <a:t>Алфавит языка</a:t>
            </a:r>
            <a:br>
              <a:rPr lang="ru-RU" altLang="ru-RU" sz="2800" b="1"/>
            </a:br>
            <a:endParaRPr lang="ru-RU" altLang="ru-RU" sz="28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2DA11C-1C1A-D1B3-BB66-88C266F81F9A}"/>
              </a:ext>
            </a:extLst>
          </p:cNvPr>
          <p:cNvSpPr>
            <a:spLocks noGrp="1"/>
          </p:cNvSpPr>
          <p:nvPr>
            <p:ph type="title"/>
          </p:nvPr>
        </p:nvSpPr>
        <p:spPr/>
        <p:txBody>
          <a:bodyPr/>
          <a:lstStyle/>
          <a:p>
            <a:r>
              <a:rPr lang="ru-RU" b="1" dirty="0"/>
              <a:t>Структура программы</a:t>
            </a:r>
            <a:br>
              <a:rPr lang="ru-RU" b="1" dirty="0"/>
            </a:br>
            <a:endParaRPr lang="ru-RU" dirty="0"/>
          </a:p>
        </p:txBody>
      </p:sp>
      <p:sp>
        <p:nvSpPr>
          <p:cNvPr id="3" name="Объект 2">
            <a:extLst>
              <a:ext uri="{FF2B5EF4-FFF2-40B4-BE49-F238E27FC236}">
                <a16:creationId xmlns:a16="http://schemas.microsoft.com/office/drawing/2014/main" id="{8CF06AF1-51CE-FC00-B8F4-D45EAB5DB098}"/>
              </a:ext>
            </a:extLst>
          </p:cNvPr>
          <p:cNvSpPr>
            <a:spLocks noGrp="1"/>
          </p:cNvSpPr>
          <p:nvPr>
            <p:ph idx="1"/>
          </p:nvPr>
        </p:nvSpPr>
        <p:spPr/>
        <p:txBody>
          <a:bodyPr/>
          <a:lstStyle/>
          <a:p>
            <a:pPr marL="0" indent="0">
              <a:buNone/>
            </a:pPr>
            <a:r>
              <a:rPr lang="ru-RU" b="1" dirty="0"/>
              <a:t>Инструкции</a:t>
            </a:r>
          </a:p>
          <a:p>
            <a:pPr marL="0" indent="0">
              <a:buNone/>
            </a:pPr>
            <a:r>
              <a:rPr lang="ru-RU" dirty="0"/>
              <a:t>Программа на С++ состоит из набора инструкций. Каждая инструкция (</a:t>
            </a:r>
            <a:r>
              <a:rPr lang="ru-RU" dirty="0" err="1"/>
              <a:t>statement</a:t>
            </a:r>
            <a:r>
              <a:rPr lang="ru-RU" dirty="0"/>
              <a:t>) выполняет определенное действие. В конце инструкции в языке C++ ставится точка с запятой (;). Данный знак указывает компилятору на завершение инструкции. Например:</a:t>
            </a:r>
          </a:p>
          <a:p>
            <a:pPr marL="0" indent="0">
              <a:buNone/>
            </a:pPr>
            <a:endParaRPr lang="ru-RU" b="0" i="0" dirty="0">
              <a:solidFill>
                <a:srgbClr val="000000"/>
              </a:solidFill>
              <a:effectLst/>
              <a:latin typeface="SFMono-Regular"/>
            </a:endParaRPr>
          </a:p>
          <a:p>
            <a:pPr marL="0" indent="0">
              <a:buNone/>
            </a:pPr>
            <a:r>
              <a:rPr lang="de-CH" b="0" i="0" dirty="0" err="1">
                <a:solidFill>
                  <a:srgbClr val="000000"/>
                </a:solidFill>
                <a:effectLst/>
                <a:latin typeface="SFMono-Regular"/>
              </a:rPr>
              <a:t>std</a:t>
            </a:r>
            <a:r>
              <a:rPr lang="de-CH" b="0" i="0" dirty="0">
                <a:solidFill>
                  <a:srgbClr val="000000"/>
                </a:solidFill>
                <a:effectLst/>
                <a:latin typeface="SFMono-Regular"/>
              </a:rPr>
              <a:t>::</a:t>
            </a:r>
            <a:r>
              <a:rPr lang="de-CH" b="0" i="0" dirty="0" err="1">
                <a:solidFill>
                  <a:srgbClr val="000000"/>
                </a:solidFill>
                <a:effectLst/>
                <a:latin typeface="SFMono-Regular"/>
              </a:rPr>
              <a:t>cout</a:t>
            </a:r>
            <a:r>
              <a:rPr lang="de-CH" b="0" i="0" dirty="0">
                <a:solidFill>
                  <a:srgbClr val="000000"/>
                </a:solidFill>
                <a:effectLst/>
                <a:latin typeface="SFMono-Regular"/>
              </a:rPr>
              <a:t> &lt;&lt; </a:t>
            </a:r>
            <a:r>
              <a:rPr lang="de-CH" b="0" i="0" dirty="0">
                <a:solidFill>
                  <a:srgbClr val="DB003E"/>
                </a:solidFill>
                <a:effectLst/>
                <a:latin typeface="SFMono-Regular"/>
              </a:rPr>
              <a:t>"Hello World!"</a:t>
            </a:r>
            <a:r>
              <a:rPr lang="de-CH" b="0" i="0" dirty="0">
                <a:solidFill>
                  <a:srgbClr val="000000"/>
                </a:solidFill>
                <a:effectLst/>
                <a:latin typeface="SFMono-Regular"/>
              </a:rPr>
              <a:t>;</a:t>
            </a:r>
            <a:endParaRPr lang="ru-RU" dirty="0"/>
          </a:p>
        </p:txBody>
      </p:sp>
    </p:spTree>
    <p:extLst>
      <p:ext uri="{BB962C8B-B14F-4D97-AF65-F5344CB8AC3E}">
        <p14:creationId xmlns:p14="http://schemas.microsoft.com/office/powerpoint/2010/main" val="3575603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4FA1A4-8541-CC63-D639-8332B6AF8135}"/>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217F6466-0915-1877-7C70-B446027A1704}"/>
              </a:ext>
            </a:extLst>
          </p:cNvPr>
          <p:cNvSpPr>
            <a:spLocks noGrp="1"/>
          </p:cNvSpPr>
          <p:nvPr>
            <p:ph idx="1"/>
          </p:nvPr>
        </p:nvSpPr>
        <p:spPr/>
        <p:txBody>
          <a:bodyPr/>
          <a:lstStyle/>
          <a:p>
            <a:pPr algn="l">
              <a:buNone/>
            </a:pPr>
            <a:r>
              <a:rPr lang="ru-RU" b="0" i="0" dirty="0">
                <a:effectLst/>
                <a:latin typeface="-apple-system"/>
              </a:rPr>
              <a:t>Каждая программа на языке С++ должна иметь как минимум одну функцию - функцию </a:t>
            </a:r>
            <a:r>
              <a:rPr lang="ru-RU" b="1" i="0" dirty="0" err="1">
                <a:effectLst/>
                <a:latin typeface="-apple-system"/>
              </a:rPr>
              <a:t>main</a:t>
            </a:r>
            <a:r>
              <a:rPr lang="ru-RU" b="1" i="0" dirty="0">
                <a:effectLst/>
                <a:latin typeface="-apple-system"/>
              </a:rPr>
              <a:t>()</a:t>
            </a:r>
            <a:r>
              <a:rPr lang="ru-RU" b="0" i="0" dirty="0">
                <a:effectLst/>
                <a:latin typeface="-apple-system"/>
              </a:rPr>
              <a:t>. Именно с этой функции начинается выполнение приложения. Ее имя </a:t>
            </a:r>
            <a:r>
              <a:rPr lang="ru-RU" b="1" i="0" dirty="0" err="1">
                <a:effectLst/>
                <a:latin typeface="-apple-system"/>
              </a:rPr>
              <a:t>main</a:t>
            </a:r>
            <a:r>
              <a:rPr lang="ru-RU" b="0" i="0" dirty="0">
                <a:effectLst/>
                <a:latin typeface="-apple-system"/>
              </a:rPr>
              <a:t> фиксировано и для всех программ на С++ всегда одинаково.</a:t>
            </a:r>
          </a:p>
          <a:p>
            <a:pPr algn="l">
              <a:buNone/>
            </a:pPr>
            <a:r>
              <a:rPr lang="ru-RU" b="0" i="0" dirty="0">
                <a:effectLst/>
                <a:latin typeface="-apple-system"/>
              </a:rPr>
              <a:t>Функция также является блоком кода, поэтому ее тело обрамляется фигурными скобками, между которыми определяется набор инструкций.</a:t>
            </a:r>
          </a:p>
          <a:p>
            <a:pPr algn="l">
              <a:buNone/>
            </a:pPr>
            <a:r>
              <a:rPr lang="ru-RU" b="0" i="0" dirty="0">
                <a:effectLst/>
                <a:latin typeface="-apple-system"/>
              </a:rPr>
              <a:t>В частности, при создании первой программы использовалась следующая функция </a:t>
            </a:r>
            <a:r>
              <a:rPr lang="ru-RU" b="0" i="0" dirty="0" err="1">
                <a:effectLst/>
                <a:latin typeface="-apple-system"/>
              </a:rPr>
              <a:t>main</a:t>
            </a:r>
            <a:r>
              <a:rPr lang="ru-RU" b="0" i="0" dirty="0">
                <a:effectLst/>
                <a:latin typeface="-apple-system"/>
              </a:rPr>
              <a:t>:</a:t>
            </a:r>
          </a:p>
          <a:p>
            <a:pPr marL="0" indent="0">
              <a:buNone/>
            </a:pPr>
            <a:endParaRPr lang="ru-RU" dirty="0"/>
          </a:p>
        </p:txBody>
      </p:sp>
    </p:spTree>
    <p:extLst>
      <p:ext uri="{BB962C8B-B14F-4D97-AF65-F5344CB8AC3E}">
        <p14:creationId xmlns:p14="http://schemas.microsoft.com/office/powerpoint/2010/main" val="2536214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74CF8F-FDC8-83FF-A079-C033D2438078}"/>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18A49D18-6002-77DB-D360-CB6D23D8375B}"/>
              </a:ext>
            </a:extLst>
          </p:cNvPr>
          <p:cNvSpPr>
            <a:spLocks noGrp="1"/>
          </p:cNvSpPr>
          <p:nvPr>
            <p:ph idx="1"/>
          </p:nvPr>
        </p:nvSpPr>
        <p:spPr/>
        <p:txBody>
          <a:bodyPr/>
          <a:lstStyle/>
          <a:p>
            <a:pPr algn="l" fontAlgn="base">
              <a:lnSpc>
                <a:spcPts val="1575"/>
              </a:lnSpc>
              <a:buNone/>
            </a:pPr>
            <a:r>
              <a:rPr lang="de-CH" sz="2000" b="0" i="0" dirty="0">
                <a:solidFill>
                  <a:srgbClr val="808080"/>
                </a:solidFill>
                <a:effectLst/>
                <a:latin typeface="SFMono-Regular"/>
              </a:rPr>
              <a:t>#include &lt;</a:t>
            </a:r>
            <a:r>
              <a:rPr lang="de-CH" sz="2000" b="0" i="0" dirty="0" err="1">
                <a:solidFill>
                  <a:srgbClr val="808080"/>
                </a:solidFill>
                <a:effectLst/>
                <a:latin typeface="SFMono-Regular"/>
              </a:rPr>
              <a:t>iostream</a:t>
            </a:r>
            <a:r>
              <a:rPr lang="de-CH" sz="2000" b="0" i="0" dirty="0">
                <a:solidFill>
                  <a:srgbClr val="808080"/>
                </a:solidFill>
                <a:effectLst/>
                <a:latin typeface="SFMono-Regular"/>
              </a:rPr>
              <a:t>&gt;               // </a:t>
            </a:r>
            <a:r>
              <a:rPr lang="ru-RU" sz="2000" b="0" i="0" dirty="0">
                <a:solidFill>
                  <a:srgbClr val="808080"/>
                </a:solidFill>
                <a:effectLst/>
                <a:latin typeface="SFMono-Regular"/>
              </a:rPr>
              <a:t>подключаем заголовочный файл </a:t>
            </a:r>
            <a:r>
              <a:rPr lang="de-CH" sz="2000" b="0" i="0" dirty="0" err="1">
                <a:solidFill>
                  <a:srgbClr val="808080"/>
                </a:solidFill>
                <a:effectLst/>
                <a:latin typeface="SFMono-Regular"/>
              </a:rPr>
              <a:t>iostream</a:t>
            </a:r>
            <a:endParaRPr lang="de-CH" sz="2000" b="0" i="0" dirty="0">
              <a:solidFill>
                <a:srgbClr val="000000"/>
              </a:solidFill>
              <a:effectLst/>
              <a:latin typeface="SFMono-Regular"/>
            </a:endParaRPr>
          </a:p>
          <a:p>
            <a:pPr algn="l" fontAlgn="base">
              <a:lnSpc>
                <a:spcPts val="1575"/>
              </a:lnSpc>
              <a:buNone/>
            </a:pPr>
            <a:r>
              <a:rPr lang="de-CH" sz="2000" b="0" i="0" dirty="0">
                <a:solidFill>
                  <a:srgbClr val="000000"/>
                </a:solidFill>
                <a:effectLst/>
                <a:latin typeface="SFMono-Regular"/>
              </a:rPr>
              <a:t>  </a:t>
            </a:r>
          </a:p>
          <a:p>
            <a:pPr algn="l" fontAlgn="base">
              <a:lnSpc>
                <a:spcPts val="1575"/>
              </a:lnSpc>
              <a:buNone/>
            </a:pPr>
            <a:r>
              <a:rPr lang="de-CH" sz="2000" b="1" i="0" dirty="0">
                <a:solidFill>
                  <a:srgbClr val="808080"/>
                </a:solidFill>
                <a:effectLst/>
                <a:latin typeface="SFMono-Regular"/>
              </a:rPr>
              <a:t>int</a:t>
            </a:r>
            <a:r>
              <a:rPr lang="de-CH" sz="2000" b="0" i="0" dirty="0">
                <a:solidFill>
                  <a:srgbClr val="000000"/>
                </a:solidFill>
                <a:effectLst/>
                <a:latin typeface="SFMono-Regular"/>
              </a:rPr>
              <a:t> </a:t>
            </a:r>
            <a:r>
              <a:rPr lang="de-CH" sz="2000" b="0" i="0" dirty="0" err="1">
                <a:solidFill>
                  <a:srgbClr val="000000"/>
                </a:solidFill>
                <a:effectLst/>
                <a:latin typeface="SFMono-Regular"/>
              </a:rPr>
              <a:t>main</a:t>
            </a:r>
            <a:r>
              <a:rPr lang="de-CH" sz="2000" b="0" i="0" dirty="0">
                <a:solidFill>
                  <a:srgbClr val="000000"/>
                </a:solidFill>
                <a:effectLst/>
                <a:latin typeface="SFMono-Regular"/>
              </a:rPr>
              <a:t>()                          </a:t>
            </a:r>
            <a:r>
              <a:rPr lang="ru-RU" sz="2000" b="0" i="0" dirty="0">
                <a:solidFill>
                  <a:srgbClr val="000000"/>
                </a:solidFill>
                <a:effectLst/>
                <a:latin typeface="SFMono-Regular"/>
              </a:rPr>
              <a:t>		</a:t>
            </a:r>
            <a:r>
              <a:rPr lang="de-CH" sz="2000" b="0" i="0" dirty="0">
                <a:solidFill>
                  <a:srgbClr val="008200"/>
                </a:solidFill>
                <a:effectLst/>
                <a:latin typeface="SFMono-Regular"/>
              </a:rPr>
              <a:t>// </a:t>
            </a:r>
            <a:r>
              <a:rPr lang="ru-RU" sz="2000" b="0" i="0" dirty="0">
                <a:solidFill>
                  <a:srgbClr val="008200"/>
                </a:solidFill>
                <a:effectLst/>
                <a:latin typeface="SFMono-Regular"/>
              </a:rPr>
              <a:t>определяем функцию </a:t>
            </a:r>
            <a:r>
              <a:rPr lang="de-CH" sz="2000" b="0" i="0" dirty="0" err="1">
                <a:solidFill>
                  <a:srgbClr val="008200"/>
                </a:solidFill>
                <a:effectLst/>
                <a:latin typeface="SFMono-Regular"/>
              </a:rPr>
              <a:t>main</a:t>
            </a:r>
            <a:endParaRPr lang="de-CH" sz="2000" b="0" i="0" dirty="0">
              <a:solidFill>
                <a:srgbClr val="000000"/>
              </a:solidFill>
              <a:effectLst/>
              <a:latin typeface="SFMono-Regular"/>
            </a:endParaRPr>
          </a:p>
          <a:p>
            <a:pPr algn="l" fontAlgn="base">
              <a:lnSpc>
                <a:spcPts val="1575"/>
              </a:lnSpc>
              <a:buNone/>
            </a:pPr>
            <a:r>
              <a:rPr lang="de-CH" sz="2000" b="0" i="0" dirty="0">
                <a:solidFill>
                  <a:srgbClr val="000000"/>
                </a:solidFill>
                <a:effectLst/>
                <a:latin typeface="SFMono-Regular"/>
              </a:rPr>
              <a:t>{                                   </a:t>
            </a:r>
            <a:r>
              <a:rPr lang="ru-RU" sz="2000" b="0" i="0" dirty="0">
                <a:solidFill>
                  <a:srgbClr val="000000"/>
                </a:solidFill>
                <a:effectLst/>
                <a:latin typeface="SFMono-Regular"/>
              </a:rPr>
              <a:t>		</a:t>
            </a:r>
            <a:r>
              <a:rPr lang="de-CH" sz="2000" b="0" i="0" dirty="0">
                <a:solidFill>
                  <a:srgbClr val="008200"/>
                </a:solidFill>
                <a:effectLst/>
                <a:latin typeface="SFMono-Regular"/>
              </a:rPr>
              <a:t>// </a:t>
            </a:r>
            <a:r>
              <a:rPr lang="ru-RU" sz="2000" b="0" i="0" dirty="0">
                <a:solidFill>
                  <a:srgbClr val="008200"/>
                </a:solidFill>
                <a:effectLst/>
                <a:latin typeface="SFMono-Regular"/>
              </a:rPr>
              <a:t>начало функции</a:t>
            </a:r>
            <a:endParaRPr lang="ru-RU" sz="2000" b="0" i="0" dirty="0">
              <a:solidFill>
                <a:srgbClr val="000000"/>
              </a:solidFill>
              <a:effectLst/>
              <a:latin typeface="SFMono-Regular"/>
            </a:endParaRPr>
          </a:p>
          <a:p>
            <a:pPr algn="l" fontAlgn="base">
              <a:lnSpc>
                <a:spcPts val="1575"/>
              </a:lnSpc>
              <a:buNone/>
            </a:pPr>
            <a:r>
              <a:rPr lang="ru-RU" sz="2000" b="0" i="0" dirty="0">
                <a:solidFill>
                  <a:srgbClr val="000000"/>
                </a:solidFill>
                <a:effectLst/>
                <a:latin typeface="SFMono-Regular"/>
              </a:rPr>
              <a:t>    </a:t>
            </a:r>
            <a:r>
              <a:rPr lang="de-CH" sz="2000" b="0" i="0" dirty="0" err="1">
                <a:solidFill>
                  <a:srgbClr val="000000"/>
                </a:solidFill>
                <a:effectLst/>
                <a:latin typeface="SFMono-Regular"/>
              </a:rPr>
              <a:t>std</a:t>
            </a:r>
            <a:r>
              <a:rPr lang="de-CH" sz="2000" b="0" i="0" dirty="0">
                <a:solidFill>
                  <a:srgbClr val="000000"/>
                </a:solidFill>
                <a:effectLst/>
                <a:latin typeface="SFMono-Regular"/>
              </a:rPr>
              <a:t>::</a:t>
            </a:r>
            <a:r>
              <a:rPr lang="de-CH" sz="2000" b="0" i="0" dirty="0" err="1">
                <a:solidFill>
                  <a:srgbClr val="000000"/>
                </a:solidFill>
                <a:effectLst/>
                <a:latin typeface="SFMono-Regular"/>
              </a:rPr>
              <a:t>cout</a:t>
            </a:r>
            <a:r>
              <a:rPr lang="de-CH" sz="2000" b="0" i="0" dirty="0">
                <a:solidFill>
                  <a:srgbClr val="000000"/>
                </a:solidFill>
                <a:effectLst/>
                <a:latin typeface="SFMono-Regular"/>
              </a:rPr>
              <a:t> &lt;&lt; </a:t>
            </a:r>
            <a:r>
              <a:rPr lang="de-CH" sz="2000" b="0" i="0" dirty="0">
                <a:solidFill>
                  <a:srgbClr val="DB003E"/>
                </a:solidFill>
                <a:effectLst/>
                <a:latin typeface="SFMono-Regular"/>
              </a:rPr>
              <a:t>"Hello World!"</a:t>
            </a:r>
            <a:r>
              <a:rPr lang="de-CH" sz="2000" b="0" i="0" dirty="0">
                <a:solidFill>
                  <a:srgbClr val="000000"/>
                </a:solidFill>
                <a:effectLst/>
                <a:latin typeface="SFMono-Regular"/>
              </a:rPr>
              <a:t>;   </a:t>
            </a:r>
            <a:r>
              <a:rPr lang="ru-RU" sz="2000" b="0" i="0" dirty="0">
                <a:solidFill>
                  <a:srgbClr val="000000"/>
                </a:solidFill>
                <a:effectLst/>
                <a:latin typeface="SFMono-Regular"/>
              </a:rPr>
              <a:t>	</a:t>
            </a:r>
            <a:r>
              <a:rPr lang="de-CH" sz="2000" b="0" i="0" dirty="0">
                <a:solidFill>
                  <a:srgbClr val="008200"/>
                </a:solidFill>
                <a:effectLst/>
                <a:latin typeface="SFMono-Regular"/>
              </a:rPr>
              <a:t>// </a:t>
            </a:r>
            <a:r>
              <a:rPr lang="ru-RU" sz="2000" b="0" i="0" dirty="0">
                <a:solidFill>
                  <a:srgbClr val="008200"/>
                </a:solidFill>
                <a:effectLst/>
                <a:latin typeface="SFMono-Regular"/>
              </a:rPr>
              <a:t>выводим строку на консоль</a:t>
            </a:r>
            <a:endParaRPr lang="ru-RU" sz="2000" b="0" i="0" dirty="0">
              <a:solidFill>
                <a:srgbClr val="000000"/>
              </a:solidFill>
              <a:effectLst/>
              <a:latin typeface="SFMono-Regular"/>
            </a:endParaRPr>
          </a:p>
          <a:p>
            <a:pPr algn="l" fontAlgn="base">
              <a:lnSpc>
                <a:spcPts val="1575"/>
              </a:lnSpc>
              <a:buNone/>
            </a:pPr>
            <a:r>
              <a:rPr lang="ru-RU" sz="2000" b="0" i="0" dirty="0">
                <a:solidFill>
                  <a:srgbClr val="000000"/>
                </a:solidFill>
                <a:effectLst/>
                <a:latin typeface="SFMono-Regular"/>
              </a:rPr>
              <a:t>    </a:t>
            </a:r>
            <a:r>
              <a:rPr lang="de-CH" sz="2000" b="1" i="0" dirty="0" err="1">
                <a:solidFill>
                  <a:srgbClr val="006699"/>
                </a:solidFill>
                <a:effectLst/>
                <a:latin typeface="SFMono-Regular"/>
              </a:rPr>
              <a:t>return</a:t>
            </a:r>
            <a:r>
              <a:rPr lang="de-CH" sz="2000" b="0" i="0" dirty="0">
                <a:solidFill>
                  <a:srgbClr val="000000"/>
                </a:solidFill>
                <a:effectLst/>
                <a:latin typeface="SFMono-Regular"/>
              </a:rPr>
              <a:t> 0;                       </a:t>
            </a:r>
            <a:r>
              <a:rPr lang="ru-RU" sz="2000" b="0" i="0" dirty="0">
                <a:solidFill>
                  <a:srgbClr val="000000"/>
                </a:solidFill>
                <a:effectLst/>
                <a:latin typeface="SFMono-Regular"/>
              </a:rPr>
              <a:t>		</a:t>
            </a:r>
            <a:r>
              <a:rPr lang="de-CH" sz="2000" b="0" i="0" dirty="0">
                <a:solidFill>
                  <a:srgbClr val="008200"/>
                </a:solidFill>
                <a:effectLst/>
                <a:latin typeface="SFMono-Regular"/>
              </a:rPr>
              <a:t>// </a:t>
            </a:r>
            <a:r>
              <a:rPr lang="ru-RU" sz="2000" b="0" i="0" dirty="0">
                <a:solidFill>
                  <a:srgbClr val="008200"/>
                </a:solidFill>
                <a:effectLst/>
                <a:latin typeface="SFMono-Regular"/>
              </a:rPr>
              <a:t>выходим из функции</a:t>
            </a:r>
            <a:endParaRPr lang="ru-RU" sz="2000" b="0" i="0" dirty="0">
              <a:solidFill>
                <a:srgbClr val="000000"/>
              </a:solidFill>
              <a:effectLst/>
              <a:latin typeface="SFMono-Regular"/>
            </a:endParaRPr>
          </a:p>
          <a:p>
            <a:pPr algn="l" fontAlgn="base">
              <a:lnSpc>
                <a:spcPts val="1575"/>
              </a:lnSpc>
              <a:buNone/>
            </a:pPr>
            <a:r>
              <a:rPr lang="ru-RU" sz="2000" b="0" i="0" dirty="0">
                <a:solidFill>
                  <a:srgbClr val="000000"/>
                </a:solidFill>
                <a:effectLst/>
                <a:latin typeface="SFMono-Regular"/>
              </a:rPr>
              <a:t>}                                   		</a:t>
            </a:r>
            <a:r>
              <a:rPr lang="ru-RU" sz="2000" b="0" i="0" dirty="0">
                <a:solidFill>
                  <a:srgbClr val="008200"/>
                </a:solidFill>
                <a:effectLst/>
                <a:latin typeface="SFMono-Regular"/>
              </a:rPr>
              <a:t>// конец функции</a:t>
            </a:r>
          </a:p>
          <a:p>
            <a:pPr algn="l" fontAlgn="base">
              <a:lnSpc>
                <a:spcPts val="1575"/>
              </a:lnSpc>
              <a:buNone/>
            </a:pPr>
            <a:endParaRPr lang="ru-RU" sz="2000" dirty="0">
              <a:solidFill>
                <a:srgbClr val="008200"/>
              </a:solidFill>
              <a:latin typeface="SFMono-Regular"/>
            </a:endParaRPr>
          </a:p>
          <a:p>
            <a:pPr algn="l" fontAlgn="base">
              <a:lnSpc>
                <a:spcPts val="1575"/>
              </a:lnSpc>
              <a:buNone/>
            </a:pPr>
            <a:endParaRPr lang="ru-RU" sz="2000" b="0" i="0" dirty="0">
              <a:solidFill>
                <a:srgbClr val="008200"/>
              </a:solidFill>
              <a:effectLst/>
              <a:latin typeface="SFMono-Regular"/>
            </a:endParaRPr>
          </a:p>
          <a:p>
            <a:pPr algn="l" fontAlgn="base">
              <a:lnSpc>
                <a:spcPts val="1575"/>
              </a:lnSpc>
              <a:buNone/>
            </a:pPr>
            <a:endParaRPr lang="ru-RU" sz="2000" b="0" i="0" dirty="0">
              <a:solidFill>
                <a:srgbClr val="000000"/>
              </a:solidFill>
              <a:effectLst/>
              <a:latin typeface="SFMono-Regular"/>
            </a:endParaRPr>
          </a:p>
          <a:p>
            <a:pPr marL="0" indent="0">
              <a:buNone/>
            </a:pPr>
            <a:r>
              <a:rPr lang="ru-RU" sz="2000" dirty="0"/>
              <a:t>Определение </a:t>
            </a:r>
            <a:r>
              <a:rPr lang="ru-RU" sz="2000" dirty="0" err="1"/>
              <a:t>функии</a:t>
            </a:r>
            <a:r>
              <a:rPr lang="ru-RU" sz="2000" dirty="0"/>
              <a:t> </a:t>
            </a:r>
            <a:r>
              <a:rPr lang="ru-RU" sz="2000" dirty="0" err="1"/>
              <a:t>main</a:t>
            </a:r>
            <a:r>
              <a:rPr lang="ru-RU" sz="2000" dirty="0"/>
              <a:t> начинается с возвращаемого типа. Функция </a:t>
            </a:r>
            <a:r>
              <a:rPr lang="ru-RU" sz="2000" dirty="0" err="1"/>
              <a:t>main</a:t>
            </a:r>
            <a:r>
              <a:rPr lang="ru-RU" sz="2000" dirty="0"/>
              <a:t> в любом случае должна возвращать число. Поэтому ее определение начинается с ключевого слова </a:t>
            </a:r>
            <a:r>
              <a:rPr lang="ru-RU" sz="2000" b="1" dirty="0" err="1"/>
              <a:t>int</a:t>
            </a:r>
            <a:r>
              <a:rPr lang="ru-RU" sz="2000" dirty="0"/>
              <a:t>.</a:t>
            </a:r>
          </a:p>
        </p:txBody>
      </p:sp>
    </p:spTree>
    <p:extLst>
      <p:ext uri="{BB962C8B-B14F-4D97-AF65-F5344CB8AC3E}">
        <p14:creationId xmlns:p14="http://schemas.microsoft.com/office/powerpoint/2010/main" val="2663265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57EA45-ECB5-3FF3-D2B7-4E4008CC5FEE}"/>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3B06BEC1-180A-8610-4994-0FB97A3B6624}"/>
              </a:ext>
            </a:extLst>
          </p:cNvPr>
          <p:cNvSpPr>
            <a:spLocks noGrp="1"/>
          </p:cNvSpPr>
          <p:nvPr>
            <p:ph idx="1"/>
          </p:nvPr>
        </p:nvSpPr>
        <p:spPr>
          <a:xfrm>
            <a:off x="564356" y="1196752"/>
            <a:ext cx="8229600" cy="5248275"/>
          </a:xfrm>
        </p:spPr>
        <p:txBody>
          <a:bodyPr/>
          <a:lstStyle/>
          <a:p>
            <a:pPr marL="0" indent="0">
              <a:buNone/>
            </a:pPr>
            <a:r>
              <a:rPr lang="ru-RU" b="1" dirty="0"/>
              <a:t>Директивы препроцессора</a:t>
            </a:r>
          </a:p>
          <a:p>
            <a:pPr marL="0" indent="0">
              <a:buNone/>
            </a:pPr>
            <a:r>
              <a:rPr lang="ru-RU" sz="2400" dirty="0"/>
              <a:t>В примере выше на консоль выводится строка, но чтобы использовать вывод на консоль, необходимо в начале файла с исходным кодом подключать библиотеку </a:t>
            </a:r>
            <a:r>
              <a:rPr lang="ru-RU" sz="2400" dirty="0" err="1"/>
              <a:t>iostream</a:t>
            </a:r>
            <a:r>
              <a:rPr lang="ru-RU" sz="2400" dirty="0"/>
              <a:t> с помощью директивы </a:t>
            </a:r>
            <a:r>
              <a:rPr lang="ru-RU" sz="2400" b="1" dirty="0" err="1"/>
              <a:t>include</a:t>
            </a:r>
            <a:r>
              <a:rPr lang="ru-RU" sz="2400" dirty="0"/>
              <a:t>.</a:t>
            </a:r>
          </a:p>
          <a:p>
            <a:pPr marL="0" indent="0">
              <a:buNone/>
            </a:pPr>
            <a:endParaRPr lang="ru-RU" dirty="0"/>
          </a:p>
          <a:p>
            <a:pPr algn="l" fontAlgn="base">
              <a:lnSpc>
                <a:spcPts val="1575"/>
              </a:lnSpc>
              <a:buNone/>
            </a:pPr>
            <a:r>
              <a:rPr lang="de-CH" sz="2000" b="0" i="0" dirty="0">
                <a:solidFill>
                  <a:srgbClr val="808080"/>
                </a:solidFill>
                <a:effectLst/>
                <a:latin typeface="SFMono-Regular"/>
              </a:rPr>
              <a:t>#include &lt;</a:t>
            </a:r>
            <a:r>
              <a:rPr lang="de-CH" sz="2000" b="0" i="0" dirty="0" err="1">
                <a:solidFill>
                  <a:srgbClr val="808080"/>
                </a:solidFill>
                <a:effectLst/>
                <a:latin typeface="SFMono-Regular"/>
              </a:rPr>
              <a:t>iostream</a:t>
            </a:r>
            <a:r>
              <a:rPr lang="de-CH" sz="2000" b="0" i="0" dirty="0">
                <a:solidFill>
                  <a:srgbClr val="808080"/>
                </a:solidFill>
                <a:effectLst/>
                <a:latin typeface="SFMono-Regular"/>
              </a:rPr>
              <a:t>&gt;               // </a:t>
            </a:r>
            <a:r>
              <a:rPr lang="ru-RU" sz="2000" b="0" i="0" dirty="0">
                <a:solidFill>
                  <a:srgbClr val="808080"/>
                </a:solidFill>
                <a:effectLst/>
                <a:latin typeface="SFMono-Regular"/>
              </a:rPr>
              <a:t>подключаем библиотеку </a:t>
            </a:r>
            <a:r>
              <a:rPr lang="de-CH" sz="2000" b="0" i="0" dirty="0" err="1">
                <a:solidFill>
                  <a:srgbClr val="808080"/>
                </a:solidFill>
                <a:effectLst/>
                <a:latin typeface="SFMono-Regular"/>
              </a:rPr>
              <a:t>iostream</a:t>
            </a:r>
            <a:endParaRPr lang="de-CH" sz="2000" b="0" i="0" dirty="0">
              <a:solidFill>
                <a:srgbClr val="000000"/>
              </a:solidFill>
              <a:effectLst/>
              <a:latin typeface="SFMono-Regular"/>
            </a:endParaRPr>
          </a:p>
          <a:p>
            <a:pPr algn="l" fontAlgn="base">
              <a:lnSpc>
                <a:spcPts val="1575"/>
              </a:lnSpc>
              <a:buNone/>
            </a:pPr>
            <a:r>
              <a:rPr lang="de-CH" sz="2000" b="0" i="0" dirty="0">
                <a:solidFill>
                  <a:srgbClr val="000000"/>
                </a:solidFill>
                <a:effectLst/>
                <a:latin typeface="SFMono-Regular"/>
              </a:rPr>
              <a:t>  </a:t>
            </a:r>
          </a:p>
          <a:p>
            <a:pPr marL="0" indent="0">
              <a:buNone/>
            </a:pPr>
            <a:endParaRPr lang="ru-RU" dirty="0"/>
          </a:p>
          <a:p>
            <a:pPr marL="0" indent="0">
              <a:buNone/>
            </a:pPr>
            <a:endParaRPr lang="ru-RU" dirty="0"/>
          </a:p>
        </p:txBody>
      </p:sp>
    </p:spTree>
    <p:extLst>
      <p:ext uri="{BB962C8B-B14F-4D97-AF65-F5344CB8AC3E}">
        <p14:creationId xmlns:p14="http://schemas.microsoft.com/office/powerpoint/2010/main" val="723323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EFCA90-3F4D-A47E-690A-562E23C687D8}"/>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821573BE-CC1B-EF42-1D97-95CE8E286753}"/>
              </a:ext>
            </a:extLst>
          </p:cNvPr>
          <p:cNvSpPr>
            <a:spLocks noGrp="1"/>
          </p:cNvSpPr>
          <p:nvPr>
            <p:ph idx="1"/>
          </p:nvPr>
        </p:nvSpPr>
        <p:spPr/>
        <p:txBody>
          <a:bodyPr/>
          <a:lstStyle/>
          <a:p>
            <a:pPr marL="0" indent="0">
              <a:buNone/>
            </a:pPr>
            <a:r>
              <a:rPr lang="ru-RU" sz="2000" dirty="0"/>
              <a:t>Директива </a:t>
            </a:r>
            <a:r>
              <a:rPr lang="ru-RU" sz="2000" dirty="0" err="1"/>
              <a:t>include</a:t>
            </a:r>
            <a:r>
              <a:rPr lang="ru-RU" sz="2000" dirty="0"/>
              <a:t> является директивой препроцессора. Каждая директива препроцессора размещается на одной строке. И в отличие от обычных </a:t>
            </a:r>
            <a:r>
              <a:rPr lang="ru-RU" sz="2000" dirty="0" err="1"/>
              <a:t>инструкциий</a:t>
            </a:r>
            <a:r>
              <a:rPr lang="ru-RU" sz="2000" dirty="0"/>
              <a:t> языка C++, которые завершаются точкой с запятой ; , признаком завершения препроцессорной директивы является перевод на новую строку. Кроме того, директива должна начинаться со знака решетки #. Непосредственно директива "</a:t>
            </a:r>
            <a:r>
              <a:rPr lang="ru-RU" sz="2000" dirty="0" err="1"/>
              <a:t>include</a:t>
            </a:r>
            <a:r>
              <a:rPr lang="ru-RU" sz="2000" dirty="0"/>
              <a:t>" определяет, какие файлы и библиотеки надо подключить в данном месте в код программы.</a:t>
            </a:r>
          </a:p>
          <a:p>
            <a:pPr marL="0" indent="0">
              <a:buNone/>
            </a:pPr>
            <a:endParaRPr lang="ru-RU" sz="2000" dirty="0"/>
          </a:p>
          <a:p>
            <a:pPr marL="0" indent="0">
              <a:buNone/>
            </a:pPr>
            <a:endParaRPr lang="ru-RU" sz="2000" dirty="0"/>
          </a:p>
        </p:txBody>
      </p:sp>
    </p:spTree>
    <p:extLst>
      <p:ext uri="{BB962C8B-B14F-4D97-AF65-F5344CB8AC3E}">
        <p14:creationId xmlns:p14="http://schemas.microsoft.com/office/powerpoint/2010/main" val="1531840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CB83FE-F662-9C55-9D52-17AC054B5F97}"/>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2CF2785F-CF4F-A5CF-F125-F21093A7A1B8}"/>
              </a:ext>
            </a:extLst>
          </p:cNvPr>
          <p:cNvSpPr>
            <a:spLocks noGrp="1"/>
          </p:cNvSpPr>
          <p:nvPr>
            <p:ph idx="1"/>
          </p:nvPr>
        </p:nvSpPr>
        <p:spPr>
          <a:xfrm>
            <a:off x="457200" y="1262063"/>
            <a:ext cx="8229600" cy="1086817"/>
          </a:xfrm>
        </p:spPr>
        <p:txBody>
          <a:bodyPr/>
          <a:lstStyle/>
          <a:p>
            <a:pPr marL="0" indent="0">
              <a:buNone/>
            </a:pPr>
            <a:r>
              <a:rPr lang="en-US" dirty="0" err="1"/>
              <a:t>Препроцессор</a:t>
            </a:r>
            <a:r>
              <a:rPr lang="en-US" dirty="0"/>
              <a:t> </a:t>
            </a:r>
            <a:r>
              <a:rPr lang="en-US" dirty="0" err="1"/>
              <a:t>распознает</a:t>
            </a:r>
            <a:r>
              <a:rPr lang="en-US" dirty="0"/>
              <a:t> </a:t>
            </a:r>
            <a:r>
              <a:rPr lang="en-US" dirty="0" err="1"/>
              <a:t>следующие</a:t>
            </a:r>
            <a:r>
              <a:rPr lang="en-US" dirty="0"/>
              <a:t> </a:t>
            </a:r>
            <a:r>
              <a:rPr lang="en-US" dirty="0" err="1"/>
              <a:t>директивы</a:t>
            </a:r>
            <a:r>
              <a:rPr lang="en-US" dirty="0"/>
              <a:t>:</a:t>
            </a:r>
          </a:p>
          <a:p>
            <a:pPr marL="0" indent="0">
              <a:buNone/>
            </a:pPr>
            <a:endParaRPr lang="ru-RU" dirty="0"/>
          </a:p>
        </p:txBody>
      </p:sp>
      <p:sp>
        <p:nvSpPr>
          <p:cNvPr id="5" name="TextBox 4">
            <a:extLst>
              <a:ext uri="{FF2B5EF4-FFF2-40B4-BE49-F238E27FC236}">
                <a16:creationId xmlns:a16="http://schemas.microsoft.com/office/drawing/2014/main" id="{D7578D1E-10D8-66A5-89BB-5F455735B522}"/>
              </a:ext>
            </a:extLst>
          </p:cNvPr>
          <p:cNvSpPr txBox="1"/>
          <p:nvPr/>
        </p:nvSpPr>
        <p:spPr>
          <a:xfrm>
            <a:off x="1619672" y="2819292"/>
            <a:ext cx="5406751" cy="2015069"/>
          </a:xfrm>
          <a:prstGeom prst="rect">
            <a:avLst/>
          </a:prstGeom>
          <a:noFill/>
        </p:spPr>
        <p:txBody>
          <a:bodyPr wrap="square" numCol="4" spcCol="324000" rtlCol="0">
            <a:spAutoFit/>
          </a:bodyPr>
          <a:lstStyle/>
          <a:p>
            <a:r>
              <a:rPr lang="en-US" dirty="0">
                <a:hlinkClick r:id="rId2">
                  <a:extLst>
                    <a:ext uri="{A12FA001-AC4F-418D-AE19-62706E023703}">
                      <ahyp:hlinkClr xmlns:ahyp="http://schemas.microsoft.com/office/drawing/2018/hyperlinkcolor" val="tx"/>
                    </a:ext>
                  </a:extLst>
                </a:hlinkClick>
              </a:rPr>
              <a:t>#define</a:t>
            </a:r>
            <a:br>
              <a:rPr lang="en-US" dirty="0"/>
            </a:br>
            <a:r>
              <a:rPr lang="en-US" dirty="0">
                <a:hlinkClick r:id="rId3">
                  <a:extLst>
                    <a:ext uri="{A12FA001-AC4F-418D-AE19-62706E023703}">
                      <ahyp:hlinkClr xmlns:ahyp="http://schemas.microsoft.com/office/drawing/2018/hyperlinkcolor" val="tx"/>
                    </a:ext>
                  </a:extLst>
                </a:hlinkClick>
              </a:rPr>
              <a:t>#elif</a:t>
            </a:r>
            <a:br>
              <a:rPr lang="en-US" dirty="0"/>
            </a:br>
            <a:r>
              <a:rPr lang="en-US" dirty="0">
                <a:hlinkClick r:id="rId3">
                  <a:extLst>
                    <a:ext uri="{A12FA001-AC4F-418D-AE19-62706E023703}">
                      <ahyp:hlinkClr xmlns:ahyp="http://schemas.microsoft.com/office/drawing/2018/hyperlinkcolor" val="tx"/>
                    </a:ext>
                  </a:extLst>
                </a:hlinkClick>
              </a:rPr>
              <a:t>#else</a:t>
            </a:r>
            <a:br>
              <a:rPr lang="en-US" dirty="0"/>
            </a:br>
            <a:r>
              <a:rPr lang="en-US" dirty="0">
                <a:hlinkClick r:id="rId3">
                  <a:extLst>
                    <a:ext uri="{A12FA001-AC4F-418D-AE19-62706E023703}">
                      <ahyp:hlinkClr xmlns:ahyp="http://schemas.microsoft.com/office/drawing/2018/hyperlinkcolor" val="tx"/>
                    </a:ext>
                  </a:extLst>
                </a:hlinkClick>
              </a:rPr>
              <a:t>#endif</a:t>
            </a:r>
            <a:endParaRPr lang="en-US" dirty="0"/>
          </a:p>
          <a:p>
            <a:r>
              <a:rPr lang="en-US" dirty="0">
                <a:hlinkClick r:id="rId4">
                  <a:extLst>
                    <a:ext uri="{A12FA001-AC4F-418D-AE19-62706E023703}">
                      <ahyp:hlinkClr xmlns:ahyp="http://schemas.microsoft.com/office/drawing/2018/hyperlinkcolor" val="tx"/>
                    </a:ext>
                  </a:extLst>
                </a:hlinkClick>
              </a:rPr>
              <a:t>#error</a:t>
            </a:r>
            <a:br>
              <a:rPr lang="en-US" dirty="0"/>
            </a:br>
            <a:r>
              <a:rPr lang="en-US" dirty="0">
                <a:hlinkClick r:id="rId3">
                  <a:extLst>
                    <a:ext uri="{A12FA001-AC4F-418D-AE19-62706E023703}">
                      <ahyp:hlinkClr xmlns:ahyp="http://schemas.microsoft.com/office/drawing/2018/hyperlinkcolor" val="tx"/>
                    </a:ext>
                  </a:extLst>
                </a:hlinkClick>
              </a:rPr>
              <a:t>#if</a:t>
            </a:r>
            <a:br>
              <a:rPr lang="en-US" dirty="0"/>
            </a:br>
            <a:r>
              <a:rPr lang="en-US" dirty="0">
                <a:hlinkClick r:id="rId5">
                  <a:extLst>
                    <a:ext uri="{A12FA001-AC4F-418D-AE19-62706E023703}">
                      <ahyp:hlinkClr xmlns:ahyp="http://schemas.microsoft.com/office/drawing/2018/hyperlinkcolor" val="tx"/>
                    </a:ext>
                  </a:extLst>
                </a:hlinkClick>
              </a:rPr>
              <a:t>#ifdef</a:t>
            </a:r>
            <a:br>
              <a:rPr lang="en-US" dirty="0"/>
            </a:br>
            <a:r>
              <a:rPr lang="en-US" dirty="0">
                <a:hlinkClick r:id="rId5">
                  <a:extLst>
                    <a:ext uri="{A12FA001-AC4F-418D-AE19-62706E023703}">
                      <ahyp:hlinkClr xmlns:ahyp="http://schemas.microsoft.com/office/drawing/2018/hyperlinkcolor" val="tx"/>
                    </a:ext>
                  </a:extLst>
                </a:hlinkClick>
              </a:rPr>
              <a:t>#ifndef</a:t>
            </a:r>
            <a:endParaRPr lang="en-US" dirty="0"/>
          </a:p>
          <a:p>
            <a:r>
              <a:rPr lang="en-US" dirty="0">
                <a:hlinkClick r:id="rId6">
                  <a:extLst>
                    <a:ext uri="{A12FA001-AC4F-418D-AE19-62706E023703}">
                      <ahyp:hlinkClr xmlns:ahyp="http://schemas.microsoft.com/office/drawing/2018/hyperlinkcolor" val="tx"/>
                    </a:ext>
                  </a:extLst>
                </a:hlinkClick>
              </a:rPr>
              <a:t>#import</a:t>
            </a:r>
            <a:br>
              <a:rPr lang="en-US" dirty="0"/>
            </a:br>
            <a:r>
              <a:rPr lang="en-US" dirty="0">
                <a:hlinkClick r:id="rId7">
                  <a:extLst>
                    <a:ext uri="{A12FA001-AC4F-418D-AE19-62706E023703}">
                      <ahyp:hlinkClr xmlns:ahyp="http://schemas.microsoft.com/office/drawing/2018/hyperlinkcolor" val="tx"/>
                    </a:ext>
                  </a:extLst>
                </a:hlinkClick>
              </a:rPr>
              <a:t>#include</a:t>
            </a:r>
            <a:br>
              <a:rPr lang="en-US" dirty="0"/>
            </a:br>
            <a:r>
              <a:rPr lang="en-US" dirty="0">
                <a:hlinkClick r:id="rId8">
                  <a:extLst>
                    <a:ext uri="{A12FA001-AC4F-418D-AE19-62706E023703}">
                      <ahyp:hlinkClr xmlns:ahyp="http://schemas.microsoft.com/office/drawing/2018/hyperlinkcolor" val="tx"/>
                    </a:ext>
                  </a:extLst>
                </a:hlinkClick>
              </a:rPr>
              <a:t>#line</a:t>
            </a:r>
            <a:endParaRPr lang="en-US" dirty="0"/>
          </a:p>
          <a:p>
            <a:r>
              <a:rPr lang="en-US" dirty="0">
                <a:hlinkClick r:id="rId9">
                  <a:extLst>
                    <a:ext uri="{A12FA001-AC4F-418D-AE19-62706E023703}">
                      <ahyp:hlinkClr xmlns:ahyp="http://schemas.microsoft.com/office/drawing/2018/hyperlinkcolor" val="tx"/>
                    </a:ext>
                  </a:extLst>
                </a:hlinkClick>
              </a:rPr>
              <a:t>#pragma</a:t>
            </a:r>
            <a:br>
              <a:rPr lang="en-US" dirty="0"/>
            </a:br>
            <a:r>
              <a:rPr lang="en-US" dirty="0">
                <a:hlinkClick r:id="rId10">
                  <a:extLst>
                    <a:ext uri="{A12FA001-AC4F-418D-AE19-62706E023703}">
                      <ahyp:hlinkClr xmlns:ahyp="http://schemas.microsoft.com/office/drawing/2018/hyperlinkcolor" val="tx"/>
                    </a:ext>
                  </a:extLst>
                </a:hlinkClick>
              </a:rPr>
              <a:t>#undef</a:t>
            </a:r>
            <a:br>
              <a:rPr lang="en-US" dirty="0"/>
            </a:br>
            <a:r>
              <a:rPr lang="en-US" dirty="0">
                <a:hlinkClick r:id="rId11">
                  <a:extLst>
                    <a:ext uri="{A12FA001-AC4F-418D-AE19-62706E023703}">
                      <ahyp:hlinkClr xmlns:ahyp="http://schemas.microsoft.com/office/drawing/2018/hyperlinkcolor" val="tx"/>
                    </a:ext>
                  </a:extLst>
                </a:hlinkClick>
              </a:rPr>
              <a:t>#using</a:t>
            </a:r>
            <a:endParaRPr lang="en-US" dirty="0"/>
          </a:p>
          <a:p>
            <a:endParaRPr lang="ru-RU" dirty="0"/>
          </a:p>
        </p:txBody>
      </p:sp>
    </p:spTree>
    <p:extLst>
      <p:ext uri="{BB962C8B-B14F-4D97-AF65-F5344CB8AC3E}">
        <p14:creationId xmlns:p14="http://schemas.microsoft.com/office/powerpoint/2010/main" val="4126694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C6A3A4-379F-061C-5021-104C2E2D9384}"/>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221E5541-61C9-1FC5-136C-17A31B44A70A}"/>
              </a:ext>
            </a:extLst>
          </p:cNvPr>
          <p:cNvSpPr>
            <a:spLocks noGrp="1"/>
          </p:cNvSpPr>
          <p:nvPr>
            <p:ph idx="1"/>
          </p:nvPr>
        </p:nvSpPr>
        <p:spPr/>
        <p:txBody>
          <a:bodyPr/>
          <a:lstStyle/>
          <a:p>
            <a:pPr marL="0" indent="0">
              <a:buNone/>
            </a:pPr>
            <a:r>
              <a:rPr lang="ru-RU" b="1" dirty="0"/>
              <a:t>Комментарии</a:t>
            </a:r>
          </a:p>
          <a:p>
            <a:pPr marL="0" indent="0">
              <a:buNone/>
            </a:pPr>
            <a:r>
              <a:rPr lang="ru-RU" sz="2000" dirty="0"/>
              <a:t>Исходный код может содержать комментарии. Комментарии позволяют понять смысл программы, что делают те или иные ее части. При компиляции комментарии игнорируются и не оказывают никакого влияние на работу приложения и на его размер.</a:t>
            </a:r>
          </a:p>
          <a:p>
            <a:pPr marL="0" indent="0">
              <a:buNone/>
            </a:pPr>
            <a:r>
              <a:rPr lang="ru-RU" sz="2000" dirty="0"/>
              <a:t>В языке C++ есть два типа комментариев: однострочный и многострочный. Однострочный комментарий размещается на одной строке после двойного слеша //:</a:t>
            </a:r>
          </a:p>
          <a:p>
            <a:pPr marL="0" indent="0">
              <a:buNone/>
            </a:pPr>
            <a:endParaRPr lang="ru-RU" sz="2000" dirty="0"/>
          </a:p>
          <a:p>
            <a:pPr algn="l" fontAlgn="base">
              <a:lnSpc>
                <a:spcPts val="1575"/>
              </a:lnSpc>
              <a:buNone/>
            </a:pPr>
            <a:r>
              <a:rPr lang="de-CH" sz="1800" b="0" i="0" dirty="0">
                <a:solidFill>
                  <a:srgbClr val="808080"/>
                </a:solidFill>
                <a:effectLst/>
                <a:latin typeface="SFMono-Regular"/>
              </a:rPr>
              <a:t>#include &lt;</a:t>
            </a:r>
            <a:r>
              <a:rPr lang="de-CH" sz="1800" b="0" i="0" dirty="0" err="1">
                <a:solidFill>
                  <a:srgbClr val="808080"/>
                </a:solidFill>
                <a:effectLst/>
                <a:latin typeface="SFMono-Regular"/>
              </a:rPr>
              <a:t>iostream</a:t>
            </a:r>
            <a:r>
              <a:rPr lang="de-CH" sz="1800" b="0" i="0" dirty="0">
                <a:solidFill>
                  <a:srgbClr val="808080"/>
                </a:solidFill>
                <a:effectLst/>
                <a:latin typeface="SFMono-Regular"/>
              </a:rPr>
              <a:t>&gt;               </a:t>
            </a:r>
            <a:r>
              <a:rPr lang="ru-RU" sz="1800" b="0" i="0" dirty="0">
                <a:solidFill>
                  <a:srgbClr val="808080"/>
                </a:solidFill>
                <a:effectLst/>
                <a:latin typeface="SFMono-Regular"/>
              </a:rPr>
              <a:t>		</a:t>
            </a:r>
            <a:r>
              <a:rPr lang="de-CH" sz="1800" b="0" i="0" dirty="0">
                <a:solidFill>
                  <a:srgbClr val="808080"/>
                </a:solidFill>
                <a:effectLst/>
                <a:latin typeface="SFMono-Regular"/>
              </a:rPr>
              <a:t>// </a:t>
            </a:r>
            <a:r>
              <a:rPr lang="ru-RU" sz="1800" b="0" i="0" dirty="0">
                <a:solidFill>
                  <a:srgbClr val="808080"/>
                </a:solidFill>
                <a:effectLst/>
                <a:latin typeface="SFMono-Regular"/>
              </a:rPr>
              <a:t>подключаем библиотеку </a:t>
            </a:r>
            <a:r>
              <a:rPr lang="de-CH" sz="1800" b="0" i="0" dirty="0" err="1">
                <a:solidFill>
                  <a:srgbClr val="808080"/>
                </a:solidFill>
                <a:effectLst/>
                <a:latin typeface="SFMono-Regular"/>
              </a:rPr>
              <a:t>iostream</a:t>
            </a:r>
            <a:endParaRPr lang="de-CH" sz="1800" b="0" i="0" dirty="0">
              <a:solidFill>
                <a:srgbClr val="000000"/>
              </a:solidFill>
              <a:effectLst/>
              <a:latin typeface="SFMono-Regular"/>
            </a:endParaRPr>
          </a:p>
          <a:p>
            <a:pPr algn="l" fontAlgn="base">
              <a:lnSpc>
                <a:spcPts val="1575"/>
              </a:lnSpc>
              <a:buNone/>
            </a:pPr>
            <a:r>
              <a:rPr lang="de-CH" sz="1800" b="0" i="0" dirty="0">
                <a:solidFill>
                  <a:srgbClr val="000000"/>
                </a:solidFill>
                <a:effectLst/>
                <a:latin typeface="SFMono-Regular"/>
              </a:rPr>
              <a:t>  </a:t>
            </a:r>
          </a:p>
          <a:p>
            <a:pPr algn="l" fontAlgn="base">
              <a:lnSpc>
                <a:spcPts val="1575"/>
              </a:lnSpc>
              <a:buNone/>
            </a:pPr>
            <a:r>
              <a:rPr lang="de-CH" sz="1800" b="1" i="0" dirty="0">
                <a:solidFill>
                  <a:srgbClr val="808080"/>
                </a:solidFill>
                <a:effectLst/>
                <a:latin typeface="SFMono-Regular"/>
              </a:rPr>
              <a:t>int</a:t>
            </a:r>
            <a:r>
              <a:rPr lang="de-CH" sz="1800" b="0" i="0" dirty="0">
                <a:solidFill>
                  <a:srgbClr val="000000"/>
                </a:solidFill>
                <a:effectLst/>
                <a:latin typeface="SFMono-Regular"/>
              </a:rPr>
              <a:t> </a:t>
            </a:r>
            <a:r>
              <a:rPr lang="de-CH" sz="1800" b="0" i="0" dirty="0" err="1">
                <a:solidFill>
                  <a:srgbClr val="000000"/>
                </a:solidFill>
                <a:effectLst/>
                <a:latin typeface="SFMono-Regular"/>
              </a:rPr>
              <a:t>main</a:t>
            </a:r>
            <a:r>
              <a:rPr lang="de-CH" sz="1800" b="0" i="0" dirty="0">
                <a:solidFill>
                  <a:srgbClr val="000000"/>
                </a:solidFill>
                <a:effectLst/>
                <a:latin typeface="SFMono-Regular"/>
              </a:rPr>
              <a:t>()                          </a:t>
            </a:r>
            <a:r>
              <a:rPr lang="ru-RU" sz="1800" b="0" i="0" dirty="0">
                <a:solidFill>
                  <a:srgbClr val="000000"/>
                </a:solidFill>
                <a:effectLst/>
                <a:latin typeface="SFMono-Regular"/>
              </a:rPr>
              <a:t>		</a:t>
            </a:r>
            <a:r>
              <a:rPr lang="de-CH" sz="1800" b="0" i="0" dirty="0">
                <a:solidFill>
                  <a:srgbClr val="008200"/>
                </a:solidFill>
                <a:effectLst/>
                <a:latin typeface="SFMono-Regular"/>
              </a:rPr>
              <a:t>// </a:t>
            </a:r>
            <a:r>
              <a:rPr lang="ru-RU" sz="1800" b="0" i="0" dirty="0">
                <a:solidFill>
                  <a:srgbClr val="008200"/>
                </a:solidFill>
                <a:effectLst/>
                <a:latin typeface="SFMono-Regular"/>
              </a:rPr>
              <a:t>определяем функцию </a:t>
            </a:r>
            <a:r>
              <a:rPr lang="de-CH" sz="1800" b="0" i="0" dirty="0" err="1">
                <a:solidFill>
                  <a:srgbClr val="008200"/>
                </a:solidFill>
                <a:effectLst/>
                <a:latin typeface="SFMono-Regular"/>
              </a:rPr>
              <a:t>main</a:t>
            </a:r>
            <a:endParaRPr lang="de-CH" sz="1800" b="0" i="0" dirty="0">
              <a:solidFill>
                <a:srgbClr val="000000"/>
              </a:solidFill>
              <a:effectLst/>
              <a:latin typeface="SFMono-Regular"/>
            </a:endParaRPr>
          </a:p>
          <a:p>
            <a:pPr algn="l" fontAlgn="base">
              <a:lnSpc>
                <a:spcPts val="1575"/>
              </a:lnSpc>
              <a:buNone/>
            </a:pPr>
            <a:r>
              <a:rPr lang="de-CH" sz="1800" b="0" i="0" dirty="0">
                <a:solidFill>
                  <a:srgbClr val="000000"/>
                </a:solidFill>
                <a:effectLst/>
                <a:latin typeface="SFMono-Regular"/>
              </a:rPr>
              <a:t>{                                   </a:t>
            </a:r>
            <a:r>
              <a:rPr lang="ru-RU" sz="1800" b="0" i="0" dirty="0">
                <a:solidFill>
                  <a:srgbClr val="000000"/>
                </a:solidFill>
                <a:effectLst/>
                <a:latin typeface="SFMono-Regular"/>
              </a:rPr>
              <a:t>		</a:t>
            </a:r>
            <a:r>
              <a:rPr lang="de-CH" sz="1800" b="0" i="0" dirty="0">
                <a:solidFill>
                  <a:srgbClr val="008200"/>
                </a:solidFill>
                <a:effectLst/>
                <a:latin typeface="SFMono-Regular"/>
              </a:rPr>
              <a:t>// </a:t>
            </a:r>
            <a:r>
              <a:rPr lang="ru-RU" sz="1800" b="0" i="0" dirty="0">
                <a:solidFill>
                  <a:srgbClr val="008200"/>
                </a:solidFill>
                <a:effectLst/>
                <a:latin typeface="SFMono-Regular"/>
              </a:rPr>
              <a:t>начало функции</a:t>
            </a:r>
            <a:endParaRPr lang="ru-RU" sz="1800" b="0" i="0" dirty="0">
              <a:solidFill>
                <a:srgbClr val="000000"/>
              </a:solidFill>
              <a:effectLst/>
              <a:latin typeface="SFMono-Regular"/>
            </a:endParaRPr>
          </a:p>
          <a:p>
            <a:pPr algn="l" fontAlgn="base">
              <a:lnSpc>
                <a:spcPts val="1575"/>
              </a:lnSpc>
              <a:buNone/>
            </a:pPr>
            <a:r>
              <a:rPr lang="ru-RU" sz="1800" b="0" i="0" dirty="0">
                <a:solidFill>
                  <a:srgbClr val="000000"/>
                </a:solidFill>
                <a:effectLst/>
                <a:latin typeface="SFMono-Regular"/>
              </a:rPr>
              <a:t>    </a:t>
            </a:r>
            <a:r>
              <a:rPr lang="de-CH" sz="1800" b="0" i="0" dirty="0" err="1">
                <a:solidFill>
                  <a:srgbClr val="000000"/>
                </a:solidFill>
                <a:effectLst/>
                <a:latin typeface="SFMono-Regular"/>
              </a:rPr>
              <a:t>std</a:t>
            </a:r>
            <a:r>
              <a:rPr lang="de-CH" sz="1800" b="0" i="0" dirty="0">
                <a:solidFill>
                  <a:srgbClr val="000000"/>
                </a:solidFill>
                <a:effectLst/>
                <a:latin typeface="SFMono-Regular"/>
              </a:rPr>
              <a:t>::</a:t>
            </a:r>
            <a:r>
              <a:rPr lang="de-CH" sz="1800" b="0" i="0" dirty="0" err="1">
                <a:solidFill>
                  <a:srgbClr val="000000"/>
                </a:solidFill>
                <a:effectLst/>
                <a:latin typeface="SFMono-Regular"/>
              </a:rPr>
              <a:t>cout</a:t>
            </a:r>
            <a:r>
              <a:rPr lang="de-CH" sz="1800" b="0" i="0" dirty="0">
                <a:solidFill>
                  <a:srgbClr val="000000"/>
                </a:solidFill>
                <a:effectLst/>
                <a:latin typeface="SFMono-Regular"/>
              </a:rPr>
              <a:t> &lt;&lt; </a:t>
            </a:r>
            <a:r>
              <a:rPr lang="de-CH" sz="1800" b="0" i="0" dirty="0">
                <a:solidFill>
                  <a:srgbClr val="DB003E"/>
                </a:solidFill>
                <a:effectLst/>
                <a:latin typeface="SFMono-Regular"/>
              </a:rPr>
              <a:t>"Hello World!"</a:t>
            </a:r>
            <a:r>
              <a:rPr lang="de-CH" sz="1800" b="0" i="0" dirty="0">
                <a:solidFill>
                  <a:srgbClr val="000000"/>
                </a:solidFill>
                <a:effectLst/>
                <a:latin typeface="SFMono-Regular"/>
              </a:rPr>
              <a:t>;   </a:t>
            </a:r>
            <a:r>
              <a:rPr lang="ru-RU" sz="1800" b="0" i="0" dirty="0">
                <a:solidFill>
                  <a:srgbClr val="000000"/>
                </a:solidFill>
                <a:effectLst/>
                <a:latin typeface="SFMono-Regular"/>
              </a:rPr>
              <a:t>	</a:t>
            </a:r>
            <a:r>
              <a:rPr lang="de-CH" sz="1800" b="0" i="0" dirty="0">
                <a:solidFill>
                  <a:srgbClr val="008200"/>
                </a:solidFill>
                <a:effectLst/>
                <a:latin typeface="SFMono-Regular"/>
              </a:rPr>
              <a:t>// </a:t>
            </a:r>
            <a:r>
              <a:rPr lang="ru-RU" sz="1800" b="0" i="0" dirty="0">
                <a:solidFill>
                  <a:srgbClr val="008200"/>
                </a:solidFill>
                <a:effectLst/>
                <a:latin typeface="SFMono-Regular"/>
              </a:rPr>
              <a:t>выводим строку на консоль</a:t>
            </a:r>
            <a:endParaRPr lang="ru-RU" sz="1800" b="0" i="0" dirty="0">
              <a:solidFill>
                <a:srgbClr val="000000"/>
              </a:solidFill>
              <a:effectLst/>
              <a:latin typeface="SFMono-Regular"/>
            </a:endParaRPr>
          </a:p>
          <a:p>
            <a:pPr algn="l" fontAlgn="base">
              <a:lnSpc>
                <a:spcPts val="1575"/>
              </a:lnSpc>
              <a:buNone/>
            </a:pPr>
            <a:r>
              <a:rPr lang="ru-RU" sz="1800" b="0" i="0" dirty="0">
                <a:solidFill>
                  <a:srgbClr val="000000"/>
                </a:solidFill>
                <a:effectLst/>
                <a:latin typeface="SFMono-Regular"/>
              </a:rPr>
              <a:t>    </a:t>
            </a:r>
            <a:r>
              <a:rPr lang="de-CH" sz="1800" b="1" i="0" dirty="0" err="1">
                <a:solidFill>
                  <a:srgbClr val="006699"/>
                </a:solidFill>
                <a:effectLst/>
                <a:latin typeface="SFMono-Regular"/>
              </a:rPr>
              <a:t>return</a:t>
            </a:r>
            <a:r>
              <a:rPr lang="de-CH" sz="1800" b="0" i="0" dirty="0">
                <a:solidFill>
                  <a:srgbClr val="000000"/>
                </a:solidFill>
                <a:effectLst/>
                <a:latin typeface="SFMono-Regular"/>
              </a:rPr>
              <a:t> 0;                       </a:t>
            </a:r>
            <a:r>
              <a:rPr lang="ru-RU" sz="1800" b="0" i="0" dirty="0">
                <a:solidFill>
                  <a:srgbClr val="000000"/>
                </a:solidFill>
                <a:effectLst/>
                <a:latin typeface="SFMono-Regular"/>
              </a:rPr>
              <a:t>		</a:t>
            </a:r>
            <a:r>
              <a:rPr lang="de-CH" sz="1800" b="0" i="0" dirty="0">
                <a:solidFill>
                  <a:srgbClr val="008200"/>
                </a:solidFill>
                <a:effectLst/>
                <a:latin typeface="SFMono-Regular"/>
              </a:rPr>
              <a:t>// </a:t>
            </a:r>
            <a:r>
              <a:rPr lang="ru-RU" sz="1800" b="0" i="0" dirty="0">
                <a:solidFill>
                  <a:srgbClr val="008200"/>
                </a:solidFill>
                <a:effectLst/>
                <a:latin typeface="SFMono-Regular"/>
              </a:rPr>
              <a:t>выходим из функции</a:t>
            </a:r>
            <a:endParaRPr lang="ru-RU" sz="1800" b="0" i="0" dirty="0">
              <a:solidFill>
                <a:srgbClr val="000000"/>
              </a:solidFill>
              <a:effectLst/>
              <a:latin typeface="SFMono-Regular"/>
            </a:endParaRPr>
          </a:p>
          <a:p>
            <a:pPr algn="l" fontAlgn="base">
              <a:lnSpc>
                <a:spcPts val="1575"/>
              </a:lnSpc>
              <a:buNone/>
            </a:pPr>
            <a:r>
              <a:rPr lang="ru-RU" sz="1800" b="0" i="0" dirty="0">
                <a:solidFill>
                  <a:srgbClr val="000000"/>
                </a:solidFill>
                <a:effectLst/>
                <a:latin typeface="SFMono-Regular"/>
              </a:rPr>
              <a:t>}                                   		</a:t>
            </a:r>
            <a:r>
              <a:rPr lang="ru-RU" sz="1800" b="0" i="0" dirty="0">
                <a:solidFill>
                  <a:srgbClr val="008200"/>
                </a:solidFill>
                <a:effectLst/>
                <a:latin typeface="SFMono-Regular"/>
              </a:rPr>
              <a:t>// конец функции</a:t>
            </a:r>
            <a:endParaRPr lang="ru-RU" sz="1800" b="0" i="0" dirty="0">
              <a:solidFill>
                <a:srgbClr val="000000"/>
              </a:solidFill>
              <a:effectLst/>
              <a:latin typeface="SFMono-Regular"/>
            </a:endParaRPr>
          </a:p>
          <a:p>
            <a:endParaRPr lang="ru-RU" dirty="0"/>
          </a:p>
        </p:txBody>
      </p:sp>
    </p:spTree>
    <p:extLst>
      <p:ext uri="{BB962C8B-B14F-4D97-AF65-F5344CB8AC3E}">
        <p14:creationId xmlns:p14="http://schemas.microsoft.com/office/powerpoint/2010/main" val="23431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FED096-8F26-5AE0-608F-082DD3A18642}"/>
              </a:ext>
            </a:extLst>
          </p:cNvPr>
          <p:cNvSpPr>
            <a:spLocks noGrp="1"/>
          </p:cNvSpPr>
          <p:nvPr>
            <p:ph type="title"/>
          </p:nvPr>
        </p:nvSpPr>
        <p:spPr/>
        <p:txBody>
          <a:bodyPr/>
          <a:lstStyle/>
          <a:p>
            <a:r>
              <a:rPr lang="ru-RU" b="1" dirty="0"/>
              <a:t>Структура программы</a:t>
            </a:r>
            <a:endParaRPr lang="ru-RU" dirty="0"/>
          </a:p>
        </p:txBody>
      </p:sp>
      <p:sp>
        <p:nvSpPr>
          <p:cNvPr id="3" name="Объект 2">
            <a:extLst>
              <a:ext uri="{FF2B5EF4-FFF2-40B4-BE49-F238E27FC236}">
                <a16:creationId xmlns:a16="http://schemas.microsoft.com/office/drawing/2014/main" id="{944AB9B8-4886-BF89-BBB7-331D11B481AE}"/>
              </a:ext>
            </a:extLst>
          </p:cNvPr>
          <p:cNvSpPr>
            <a:spLocks noGrp="1"/>
          </p:cNvSpPr>
          <p:nvPr>
            <p:ph idx="1"/>
          </p:nvPr>
        </p:nvSpPr>
        <p:spPr/>
        <p:txBody>
          <a:bodyPr/>
          <a:lstStyle/>
          <a:p>
            <a:pPr marL="0" indent="0">
              <a:buNone/>
            </a:pPr>
            <a:r>
              <a:rPr lang="ru-RU" sz="2000" dirty="0"/>
              <a:t>Многострочный комментарий заключается между символами /* текст комментария */. Он может размещаться на нескольких строках. Например:</a:t>
            </a:r>
          </a:p>
          <a:p>
            <a:pPr marL="0" indent="0">
              <a:buNone/>
            </a:pPr>
            <a:endParaRPr lang="ru-RU" sz="2000" dirty="0"/>
          </a:p>
          <a:p>
            <a:pPr algn="l" fontAlgn="base">
              <a:lnSpc>
                <a:spcPts val="1575"/>
              </a:lnSpc>
              <a:buNone/>
            </a:pPr>
            <a:r>
              <a:rPr lang="de-CH" sz="1400" b="0" i="0" dirty="0">
                <a:solidFill>
                  <a:srgbClr val="808080"/>
                </a:solidFill>
                <a:effectLst/>
                <a:latin typeface="SFMono-Regular"/>
              </a:rPr>
              <a:t>#include &lt;</a:t>
            </a:r>
            <a:r>
              <a:rPr lang="de-CH" sz="1400" b="0" i="0" dirty="0" err="1">
                <a:solidFill>
                  <a:srgbClr val="808080"/>
                </a:solidFill>
                <a:effectLst/>
                <a:latin typeface="SFMono-Regular"/>
              </a:rPr>
              <a:t>iostream</a:t>
            </a:r>
            <a:r>
              <a:rPr lang="de-CH" sz="1400" b="0" i="0" dirty="0">
                <a:solidFill>
                  <a:srgbClr val="808080"/>
                </a:solidFill>
                <a:effectLst/>
                <a:latin typeface="SFMono-Regular"/>
              </a:rPr>
              <a:t>&gt;</a:t>
            </a:r>
            <a:endParaRPr lang="de-CH" sz="1400" b="0" i="0" dirty="0">
              <a:solidFill>
                <a:srgbClr val="000000"/>
              </a:solidFill>
              <a:effectLst/>
              <a:latin typeface="SFMono-Regular"/>
            </a:endParaRPr>
          </a:p>
          <a:p>
            <a:pPr algn="l" fontAlgn="base">
              <a:lnSpc>
                <a:spcPts val="1575"/>
              </a:lnSpc>
              <a:buNone/>
            </a:pPr>
            <a:r>
              <a:rPr lang="de-CH" sz="1400" b="0" i="0" dirty="0">
                <a:solidFill>
                  <a:srgbClr val="008200"/>
                </a:solidFill>
                <a:effectLst/>
                <a:latin typeface="SFMono-Regular"/>
              </a:rPr>
              <a:t>/*</a:t>
            </a:r>
            <a:endParaRPr lang="de-CH" sz="1400" b="0" i="0" dirty="0">
              <a:solidFill>
                <a:srgbClr val="000000"/>
              </a:solidFill>
              <a:effectLst/>
              <a:latin typeface="SFMono-Regular"/>
            </a:endParaRPr>
          </a:p>
          <a:p>
            <a:pPr algn="l" fontAlgn="base">
              <a:lnSpc>
                <a:spcPts val="1575"/>
              </a:lnSpc>
              <a:buNone/>
            </a:pPr>
            <a:r>
              <a:rPr lang="de-CH" sz="1400" b="0" i="0" dirty="0">
                <a:solidFill>
                  <a:srgbClr val="000000"/>
                </a:solidFill>
                <a:effectLst/>
                <a:latin typeface="SFMono-Regular"/>
              </a:rPr>
              <a:t>    </a:t>
            </a:r>
            <a:r>
              <a:rPr lang="ru-RU" sz="1400" b="0" i="0" dirty="0">
                <a:solidFill>
                  <a:srgbClr val="008200"/>
                </a:solidFill>
                <a:effectLst/>
                <a:latin typeface="SFMono-Regular"/>
              </a:rPr>
              <a:t>Определение функции </a:t>
            </a:r>
            <a:r>
              <a:rPr lang="de-CH" sz="1400" b="0" i="0" dirty="0">
                <a:solidFill>
                  <a:srgbClr val="008200"/>
                </a:solidFill>
                <a:effectLst/>
                <a:latin typeface="SFMono-Regular"/>
              </a:rPr>
              <a:t>Main</a:t>
            </a:r>
            <a:endParaRPr lang="de-CH" sz="1400" b="0" i="0" dirty="0">
              <a:solidFill>
                <a:srgbClr val="000000"/>
              </a:solidFill>
              <a:effectLst/>
              <a:latin typeface="SFMono-Regular"/>
            </a:endParaRPr>
          </a:p>
          <a:p>
            <a:pPr algn="l" fontAlgn="base">
              <a:lnSpc>
                <a:spcPts val="1575"/>
              </a:lnSpc>
              <a:buNone/>
            </a:pPr>
            <a:r>
              <a:rPr lang="de-CH" sz="1400" b="0" i="0" dirty="0">
                <a:solidFill>
                  <a:srgbClr val="000000"/>
                </a:solidFill>
                <a:effectLst/>
                <a:latin typeface="SFMono-Regular"/>
              </a:rPr>
              <a:t>    </a:t>
            </a:r>
            <a:r>
              <a:rPr lang="ru-RU" sz="1400" b="0" i="0" dirty="0">
                <a:solidFill>
                  <a:srgbClr val="008200"/>
                </a:solidFill>
                <a:effectLst/>
                <a:latin typeface="SFMono-Regular"/>
              </a:rPr>
              <a:t>Выводит на консоль строку </a:t>
            </a:r>
            <a:r>
              <a:rPr lang="de-CH" sz="1400" b="0" i="0" dirty="0">
                <a:solidFill>
                  <a:srgbClr val="008200"/>
                </a:solidFill>
                <a:effectLst/>
                <a:latin typeface="SFMono-Regular"/>
              </a:rPr>
              <a:t>Hello World!</a:t>
            </a:r>
            <a:endParaRPr lang="de-CH" sz="1400" b="0" i="0" dirty="0">
              <a:solidFill>
                <a:srgbClr val="000000"/>
              </a:solidFill>
              <a:effectLst/>
              <a:latin typeface="SFMono-Regular"/>
            </a:endParaRPr>
          </a:p>
          <a:p>
            <a:pPr algn="l" fontAlgn="base">
              <a:lnSpc>
                <a:spcPts val="1575"/>
              </a:lnSpc>
              <a:buNone/>
            </a:pPr>
            <a:r>
              <a:rPr lang="de-CH" sz="1400" b="0" i="0" dirty="0">
                <a:solidFill>
                  <a:srgbClr val="008200"/>
                </a:solidFill>
                <a:effectLst/>
                <a:latin typeface="SFMono-Regular"/>
              </a:rPr>
              <a:t>*/</a:t>
            </a:r>
            <a:endParaRPr lang="de-CH" sz="1400" b="0" i="0" dirty="0">
              <a:solidFill>
                <a:srgbClr val="000000"/>
              </a:solidFill>
              <a:effectLst/>
              <a:latin typeface="SFMono-Regular"/>
            </a:endParaRPr>
          </a:p>
          <a:p>
            <a:pPr algn="l" fontAlgn="base">
              <a:lnSpc>
                <a:spcPts val="1575"/>
              </a:lnSpc>
              <a:buNone/>
            </a:pPr>
            <a:r>
              <a:rPr lang="de-CH" sz="1400" b="1" i="0" dirty="0">
                <a:solidFill>
                  <a:srgbClr val="808080"/>
                </a:solidFill>
                <a:effectLst/>
                <a:latin typeface="SFMono-Regular"/>
              </a:rPr>
              <a:t>int</a:t>
            </a:r>
            <a:r>
              <a:rPr lang="de-CH" sz="1400" b="0" i="0" dirty="0">
                <a:solidFill>
                  <a:srgbClr val="000000"/>
                </a:solidFill>
                <a:effectLst/>
                <a:latin typeface="SFMono-Regular"/>
              </a:rPr>
              <a:t> </a:t>
            </a:r>
            <a:r>
              <a:rPr lang="de-CH" sz="1400" b="0" i="0" dirty="0" err="1">
                <a:solidFill>
                  <a:srgbClr val="000000"/>
                </a:solidFill>
                <a:effectLst/>
                <a:latin typeface="SFMono-Regular"/>
              </a:rPr>
              <a:t>main</a:t>
            </a:r>
            <a:r>
              <a:rPr lang="de-CH" sz="1400" b="0" i="0" dirty="0">
                <a:solidFill>
                  <a:srgbClr val="000000"/>
                </a:solidFill>
                <a:effectLst/>
                <a:latin typeface="SFMono-Regular"/>
              </a:rPr>
              <a:t>()</a:t>
            </a:r>
          </a:p>
          <a:p>
            <a:pPr algn="l" fontAlgn="base">
              <a:lnSpc>
                <a:spcPts val="1575"/>
              </a:lnSpc>
              <a:buNone/>
            </a:pPr>
            <a:r>
              <a:rPr lang="de-CH" sz="1400" b="0" i="0" dirty="0">
                <a:solidFill>
                  <a:srgbClr val="000000"/>
                </a:solidFill>
                <a:effectLst/>
                <a:latin typeface="SFMono-Regular"/>
              </a:rPr>
              <a:t>{</a:t>
            </a:r>
          </a:p>
          <a:p>
            <a:pPr algn="l" fontAlgn="base">
              <a:lnSpc>
                <a:spcPts val="1575"/>
              </a:lnSpc>
              <a:buNone/>
            </a:pPr>
            <a:r>
              <a:rPr lang="de-CH" sz="1400" b="0" i="0" dirty="0">
                <a:solidFill>
                  <a:srgbClr val="000000"/>
                </a:solidFill>
                <a:effectLst/>
                <a:latin typeface="SFMono-Regular"/>
              </a:rPr>
              <a:t>    </a:t>
            </a:r>
            <a:r>
              <a:rPr lang="de-CH" sz="1400" b="0" i="0" dirty="0" err="1">
                <a:solidFill>
                  <a:srgbClr val="000000"/>
                </a:solidFill>
                <a:effectLst/>
                <a:latin typeface="SFMono-Regular"/>
              </a:rPr>
              <a:t>std</a:t>
            </a:r>
            <a:r>
              <a:rPr lang="de-CH" sz="1400" b="0" i="0" dirty="0">
                <a:solidFill>
                  <a:srgbClr val="000000"/>
                </a:solidFill>
                <a:effectLst/>
                <a:latin typeface="SFMono-Regular"/>
              </a:rPr>
              <a:t>::</a:t>
            </a:r>
            <a:r>
              <a:rPr lang="de-CH" sz="1400" b="0" i="0" dirty="0" err="1">
                <a:solidFill>
                  <a:srgbClr val="000000"/>
                </a:solidFill>
                <a:effectLst/>
                <a:latin typeface="SFMono-Regular"/>
              </a:rPr>
              <a:t>cout</a:t>
            </a:r>
            <a:r>
              <a:rPr lang="de-CH" sz="1400" b="0" i="0" dirty="0">
                <a:solidFill>
                  <a:srgbClr val="000000"/>
                </a:solidFill>
                <a:effectLst/>
                <a:latin typeface="SFMono-Regular"/>
              </a:rPr>
              <a:t> &lt;&lt; </a:t>
            </a:r>
            <a:r>
              <a:rPr lang="de-CH" sz="1400" b="0" i="0" dirty="0">
                <a:solidFill>
                  <a:srgbClr val="DB003E"/>
                </a:solidFill>
                <a:effectLst/>
                <a:latin typeface="SFMono-Regular"/>
              </a:rPr>
              <a:t>"Hello World!"</a:t>
            </a:r>
            <a:r>
              <a:rPr lang="de-CH" sz="1400" b="0" i="0" dirty="0">
                <a:solidFill>
                  <a:srgbClr val="000000"/>
                </a:solidFill>
                <a:effectLst/>
                <a:latin typeface="SFMono-Regular"/>
              </a:rPr>
              <a:t>; </a:t>
            </a:r>
            <a:r>
              <a:rPr lang="de-CH" sz="1400" b="0" i="0" dirty="0">
                <a:solidFill>
                  <a:srgbClr val="008200"/>
                </a:solidFill>
                <a:effectLst/>
                <a:latin typeface="SFMono-Regular"/>
              </a:rPr>
              <a:t>// </a:t>
            </a:r>
            <a:r>
              <a:rPr lang="ru-RU" sz="1400" b="0" i="0" dirty="0">
                <a:solidFill>
                  <a:srgbClr val="008200"/>
                </a:solidFill>
                <a:effectLst/>
                <a:latin typeface="SFMono-Regular"/>
              </a:rPr>
              <a:t>вывод строки на консоль</a:t>
            </a:r>
            <a:endParaRPr lang="ru-RU" sz="1400" b="0" i="0" dirty="0">
              <a:solidFill>
                <a:srgbClr val="000000"/>
              </a:solidFill>
              <a:effectLst/>
              <a:latin typeface="SFMono-Regular"/>
            </a:endParaRPr>
          </a:p>
          <a:p>
            <a:pPr algn="l" fontAlgn="base">
              <a:lnSpc>
                <a:spcPts val="1575"/>
              </a:lnSpc>
              <a:buNone/>
            </a:pPr>
            <a:r>
              <a:rPr lang="ru-RU" sz="1400" b="0" i="0" dirty="0">
                <a:solidFill>
                  <a:srgbClr val="000000"/>
                </a:solidFill>
                <a:effectLst/>
                <a:latin typeface="SFMono-Regular"/>
              </a:rPr>
              <a:t>    </a:t>
            </a:r>
            <a:r>
              <a:rPr lang="de-CH" sz="1400" b="1" i="0" dirty="0" err="1">
                <a:solidFill>
                  <a:srgbClr val="006699"/>
                </a:solidFill>
                <a:effectLst/>
                <a:latin typeface="SFMono-Regular"/>
              </a:rPr>
              <a:t>return</a:t>
            </a:r>
            <a:r>
              <a:rPr lang="de-CH" sz="1400" b="0" i="0" dirty="0">
                <a:solidFill>
                  <a:srgbClr val="000000"/>
                </a:solidFill>
                <a:effectLst/>
                <a:latin typeface="SFMono-Regular"/>
              </a:rPr>
              <a:t> 0;</a:t>
            </a:r>
          </a:p>
          <a:p>
            <a:pPr algn="l" fontAlgn="base">
              <a:lnSpc>
                <a:spcPts val="1575"/>
              </a:lnSpc>
              <a:buNone/>
            </a:pPr>
            <a:r>
              <a:rPr lang="de-CH" sz="1400" b="0" i="0" dirty="0">
                <a:solidFill>
                  <a:srgbClr val="000000"/>
                </a:solidFill>
                <a:effectLst/>
                <a:latin typeface="SFMono-Regular"/>
              </a:rPr>
              <a:t>}</a:t>
            </a:r>
          </a:p>
          <a:p>
            <a:pPr marL="0" indent="0">
              <a:buNone/>
            </a:pPr>
            <a:endParaRPr lang="ru-RU" sz="2000" dirty="0"/>
          </a:p>
        </p:txBody>
      </p:sp>
    </p:spTree>
    <p:extLst>
      <p:ext uri="{BB962C8B-B14F-4D97-AF65-F5344CB8AC3E}">
        <p14:creationId xmlns:p14="http://schemas.microsoft.com/office/powerpoint/2010/main" val="954037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A48F2A-1A26-46F4-ACAA-062B443407E3}"/>
              </a:ext>
            </a:extLst>
          </p:cNvPr>
          <p:cNvSpPr>
            <a:spLocks noGrp="1"/>
          </p:cNvSpPr>
          <p:nvPr>
            <p:ph type="title"/>
          </p:nvPr>
        </p:nvSpPr>
        <p:spPr/>
        <p:txBody>
          <a:bodyPr/>
          <a:lstStyle/>
          <a:p>
            <a:r>
              <a:rPr lang="ru-RU" b="1" dirty="0"/>
              <a:t>Компиляция</a:t>
            </a:r>
            <a:endParaRPr lang="ru-RU" dirty="0"/>
          </a:p>
        </p:txBody>
      </p:sp>
      <p:sp>
        <p:nvSpPr>
          <p:cNvPr id="3" name="Объект 2">
            <a:extLst>
              <a:ext uri="{FF2B5EF4-FFF2-40B4-BE49-F238E27FC236}">
                <a16:creationId xmlns:a16="http://schemas.microsoft.com/office/drawing/2014/main" id="{AD677807-4B55-EDE3-1D97-2024A3FE1165}"/>
              </a:ext>
            </a:extLst>
          </p:cNvPr>
          <p:cNvSpPr>
            <a:spLocks noGrp="1"/>
          </p:cNvSpPr>
          <p:nvPr>
            <p:ph idx="1"/>
          </p:nvPr>
        </p:nvSpPr>
        <p:spPr/>
        <p:txBody>
          <a:bodyPr/>
          <a:lstStyle/>
          <a:p>
            <a:pPr marL="0" indent="0">
              <a:buNone/>
            </a:pPr>
            <a:r>
              <a:rPr lang="ru-RU" sz="1800" dirty="0"/>
              <a:t>Создание исполняемого файла из исходного кода на C++ в общем случае состоит из трех этапов:</a:t>
            </a:r>
          </a:p>
          <a:p>
            <a:pPr marL="0" indent="0">
              <a:buNone/>
            </a:pPr>
            <a:endParaRPr lang="ru-RU" sz="1800" dirty="0"/>
          </a:p>
          <a:p>
            <a:pPr marL="0" indent="0">
              <a:buNone/>
            </a:pPr>
            <a:r>
              <a:rPr lang="ru-RU" sz="1800" dirty="0"/>
              <a:t>Препроцессор обрабатывает все директивы препроцессора (например, директиву #include)</a:t>
            </a:r>
          </a:p>
          <a:p>
            <a:pPr marL="0" indent="0">
              <a:buNone/>
            </a:pPr>
            <a:endParaRPr lang="ru-RU" sz="1800" dirty="0"/>
          </a:p>
          <a:p>
            <a:pPr marL="0" indent="0">
              <a:buNone/>
            </a:pPr>
            <a:r>
              <a:rPr lang="ru-RU" sz="1800" dirty="0"/>
              <a:t>Компилятор обрабатывает каждый файл с исходным кодом и создает из него объектный файл, который содержит машинный код. Например, код может разбросан по нескольким файлам с исходным кодом, и для каждого файла создается свой объектный файл</a:t>
            </a:r>
          </a:p>
          <a:p>
            <a:pPr marL="0" indent="0">
              <a:buNone/>
            </a:pPr>
            <a:endParaRPr lang="ru-RU" sz="1800" dirty="0"/>
          </a:p>
          <a:p>
            <a:pPr marL="0" indent="0">
              <a:buNone/>
            </a:pPr>
            <a:r>
              <a:rPr lang="ru-RU" sz="1800" dirty="0"/>
              <a:t>Компоновщик (он же линкер/линковщик) объединяет все объектные файлы в единую программу. Данный процесс называется компоновкой/линковкой</a:t>
            </a:r>
          </a:p>
          <a:p>
            <a:pPr marL="0" indent="0">
              <a:buNone/>
            </a:pPr>
            <a:endParaRPr lang="ru-RU" sz="1800" dirty="0"/>
          </a:p>
        </p:txBody>
      </p:sp>
    </p:spTree>
    <p:extLst>
      <p:ext uri="{BB962C8B-B14F-4D97-AF65-F5344CB8AC3E}">
        <p14:creationId xmlns:p14="http://schemas.microsoft.com/office/powerpoint/2010/main" val="2371606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7159CD-925B-9BED-19B6-F89366540886}"/>
              </a:ext>
            </a:extLst>
          </p:cNvPr>
          <p:cNvSpPr>
            <a:spLocks noGrp="1"/>
          </p:cNvSpPr>
          <p:nvPr>
            <p:ph type="title"/>
          </p:nvPr>
        </p:nvSpPr>
        <p:spPr/>
        <p:txBody>
          <a:bodyPr/>
          <a:lstStyle/>
          <a:p>
            <a:r>
              <a:rPr lang="ru-RU" b="1" dirty="0"/>
              <a:t>Компиляция</a:t>
            </a:r>
            <a:endParaRPr lang="ru-RU" dirty="0"/>
          </a:p>
        </p:txBody>
      </p:sp>
      <p:sp>
        <p:nvSpPr>
          <p:cNvPr id="3" name="Объект 2">
            <a:extLst>
              <a:ext uri="{FF2B5EF4-FFF2-40B4-BE49-F238E27FC236}">
                <a16:creationId xmlns:a16="http://schemas.microsoft.com/office/drawing/2014/main" id="{1E30EA17-204F-6B5C-D0E8-5E37F6688A16}"/>
              </a:ext>
            </a:extLst>
          </p:cNvPr>
          <p:cNvSpPr>
            <a:spLocks noGrp="1"/>
          </p:cNvSpPr>
          <p:nvPr>
            <p:ph idx="1"/>
          </p:nvPr>
        </p:nvSpPr>
        <p:spPr/>
        <p:txBody>
          <a:bodyPr/>
          <a:lstStyle/>
          <a:p>
            <a:pPr marL="0" indent="0" algn="ctr">
              <a:buNone/>
            </a:pPr>
            <a:r>
              <a:rPr lang="ru-RU" sz="2400" dirty="0"/>
              <a:t>Например, если у нас исходный код находится в трех файлах .</a:t>
            </a:r>
            <a:r>
              <a:rPr lang="ru-RU" sz="2400" dirty="0" err="1"/>
              <a:t>cpp</a:t>
            </a:r>
            <a:endParaRPr lang="ru-RU" sz="2400" dirty="0"/>
          </a:p>
        </p:txBody>
      </p:sp>
      <p:sp>
        <p:nvSpPr>
          <p:cNvPr id="4" name="AutoShape 2" descr="процесс компиляции и компоновки в C++">
            <a:extLst>
              <a:ext uri="{FF2B5EF4-FFF2-40B4-BE49-F238E27FC236}">
                <a16:creationId xmlns:a16="http://schemas.microsoft.com/office/drawing/2014/main" id="{BE546900-F543-72C2-36B7-500AA032166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 name="Рисунок 5">
            <a:extLst>
              <a:ext uri="{FF2B5EF4-FFF2-40B4-BE49-F238E27FC236}">
                <a16:creationId xmlns:a16="http://schemas.microsoft.com/office/drawing/2014/main" id="{684B03FC-611B-49B2-D6E5-03DFA979E2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6939" y="2492896"/>
            <a:ext cx="3350121" cy="3780117"/>
          </a:xfrm>
          <a:prstGeom prst="rect">
            <a:avLst/>
          </a:prstGeom>
        </p:spPr>
      </p:pic>
    </p:spTree>
    <p:extLst>
      <p:ext uri="{BB962C8B-B14F-4D97-AF65-F5344CB8AC3E}">
        <p14:creationId xmlns:p14="http://schemas.microsoft.com/office/powerpoint/2010/main" val="678602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457200" y="1262063"/>
            <a:ext cx="8686800" cy="5248275"/>
          </a:xfrm>
        </p:spPr>
        <p:txBody>
          <a:bodyPr/>
          <a:lstStyle/>
          <a:p>
            <a:pPr marL="381000" indent="-381000" eaLnBrk="1" hangingPunct="1">
              <a:buFont typeface="Wingdings" pitchFamily="2" charset="2"/>
              <a:buNone/>
            </a:pPr>
            <a:r>
              <a:rPr lang="ru-RU" altLang="ru-RU"/>
              <a:t>Для хранения данных в C++ используются различные сущности, наиболее простыми из них являются литералы, константы и переменные.</a:t>
            </a:r>
          </a:p>
          <a:p>
            <a:pPr marL="381000" indent="-381000" eaLnBrk="1" hangingPunct="1">
              <a:buFont typeface="Wingdings" pitchFamily="2" charset="2"/>
              <a:buNone/>
            </a:pPr>
            <a:r>
              <a:rPr lang="ru-RU" altLang="ru-RU" b="1"/>
              <a:t>Литералом</a:t>
            </a:r>
            <a:r>
              <a:rPr lang="ru-RU" altLang="ru-RU"/>
              <a:t> называется явно указанное в исходном коде программы значение определенного типа.</a:t>
            </a:r>
          </a:p>
          <a:p>
            <a:pPr marL="381000" indent="-381000" eaLnBrk="1" hangingPunct="1">
              <a:buFont typeface="Wingdings" pitchFamily="2" charset="2"/>
              <a:buNone/>
            </a:pPr>
            <a:r>
              <a:rPr lang="ru-RU" altLang="ru-RU"/>
              <a:t>cout &lt;&lt; 1024; // </a:t>
            </a:r>
            <a:r>
              <a:rPr lang="ru-RU" altLang="ru-RU" i="1">
                <a:latin typeface="Times New Roman" pitchFamily="18" charset="0"/>
                <a:cs typeface="Times New Roman" pitchFamily="18" charset="0"/>
              </a:rPr>
              <a:t>выводим на экран целочисленный литерал </a:t>
            </a:r>
          </a:p>
          <a:p>
            <a:pPr marL="381000" indent="-381000" eaLnBrk="1" hangingPunct="1">
              <a:buFont typeface="Wingdings" pitchFamily="2" charset="2"/>
              <a:buNone/>
            </a:pPr>
            <a:r>
              <a:rPr lang="ru-RU" altLang="ru-RU"/>
              <a:t>cout &lt;&lt; "mir"; // </a:t>
            </a:r>
            <a:r>
              <a:rPr lang="ru-RU" altLang="ru-RU" i="1">
                <a:latin typeface="Times New Roman" pitchFamily="18" charset="0"/>
                <a:cs typeface="Times New Roman" pitchFamily="18" charset="0"/>
              </a:rPr>
              <a:t>выводим на экран строковый литерал</a:t>
            </a:r>
          </a:p>
          <a:p>
            <a:pPr marL="381000" indent="-381000" eaLnBrk="1" hangingPunct="1">
              <a:buFont typeface="Wingdings" pitchFamily="2" charset="2"/>
              <a:buNone/>
            </a:pPr>
            <a:endParaRPr lang="ru-RU" altLang="ru-RU"/>
          </a:p>
        </p:txBody>
      </p:sp>
      <p:sp>
        <p:nvSpPr>
          <p:cNvPr id="17411" name="Rectangle 4"/>
          <p:cNvSpPr>
            <a:spLocks noGrp="1" noChangeArrowheads="1"/>
          </p:cNvSpPr>
          <p:nvPr>
            <p:ph type="title"/>
          </p:nvPr>
        </p:nvSpPr>
        <p:spPr>
          <a:noFill/>
        </p:spPr>
        <p:txBody>
          <a:bodyPr/>
          <a:lstStyle/>
          <a:p>
            <a:pPr eaLnBrk="1" hangingPunct="1"/>
            <a:br>
              <a:rPr lang="ru-RU" altLang="ru-RU" sz="2800" b="1"/>
            </a:br>
            <a:endParaRPr lang="ru-RU" altLang="ru-RU" sz="28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p:txBody>
          <a:bodyPr/>
          <a:lstStyle/>
          <a:p>
            <a:pPr marL="0" indent="0">
              <a:buNone/>
            </a:pPr>
            <a:r>
              <a:rPr lang="ru-RU" sz="2000" dirty="0"/>
              <a:t>Для хранения данных в программе в языке C++ используются </a:t>
            </a:r>
            <a:r>
              <a:rPr lang="ru-RU" sz="2000" b="1" dirty="0"/>
              <a:t>переменные</a:t>
            </a:r>
            <a:r>
              <a:rPr lang="ru-RU" sz="2000" dirty="0"/>
              <a:t>.</a:t>
            </a:r>
          </a:p>
          <a:p>
            <a:pPr marL="0" indent="0">
              <a:buNone/>
            </a:pPr>
            <a:r>
              <a:rPr lang="ru-RU" sz="2000" dirty="0"/>
              <a:t>Фактически переменная представляет </a:t>
            </a:r>
            <a:r>
              <a:rPr lang="ru-RU" sz="2000" dirty="0" err="1"/>
              <a:t>именнованный</a:t>
            </a:r>
            <a:r>
              <a:rPr lang="ru-RU" sz="2000" dirty="0"/>
              <a:t> участок памяти. Переменная имеет тип, имя и значение. Тип определяет, какие именно данные может хранить переменная.</a:t>
            </a:r>
          </a:p>
          <a:p>
            <a:pPr marL="0" indent="0">
              <a:buNone/>
            </a:pPr>
            <a:r>
              <a:rPr lang="ru-RU" sz="2000" dirty="0"/>
              <a:t>Перед использованием любую переменную надо определить. Синтаксис определения переменной выглядит следующим образом:</a:t>
            </a:r>
          </a:p>
          <a:p>
            <a:pPr marL="0" indent="0">
              <a:buNone/>
            </a:pPr>
            <a:endParaRPr lang="ru-RU" sz="2000" dirty="0"/>
          </a:p>
          <a:p>
            <a:pPr marL="0" indent="0">
              <a:buNone/>
            </a:pPr>
            <a:r>
              <a:rPr lang="ru-RU" sz="2000" b="1" dirty="0" err="1"/>
              <a:t>тип_переменной</a:t>
            </a:r>
            <a:r>
              <a:rPr lang="ru-RU" sz="2000" b="1" dirty="0"/>
              <a:t> </a:t>
            </a:r>
            <a:r>
              <a:rPr lang="ru-RU" sz="2000" b="1" dirty="0" err="1"/>
              <a:t>имя_переменной</a:t>
            </a:r>
            <a:r>
              <a:rPr lang="ru-RU" sz="2000" b="1" dirty="0"/>
              <a:t>;</a:t>
            </a:r>
          </a:p>
        </p:txBody>
      </p:sp>
      <p:sp>
        <p:nvSpPr>
          <p:cNvPr id="18435" name="Rectangle 4"/>
          <p:cNvSpPr>
            <a:spLocks noGrp="1" noChangeArrowheads="1"/>
          </p:cNvSpPr>
          <p:nvPr>
            <p:ph type="title"/>
          </p:nvPr>
        </p:nvSpPr>
        <p:spPr>
          <a:xfrm>
            <a:off x="755650" y="188913"/>
            <a:ext cx="7862888" cy="563562"/>
          </a:xfrm>
          <a:noFill/>
        </p:spPr>
        <p:txBody>
          <a:bodyPr/>
          <a:lstStyle/>
          <a:p>
            <a:pPr eaLnBrk="1" hangingPunct="1"/>
            <a:r>
              <a:rPr lang="ru-RU" altLang="ru-RU" sz="2800" b="1" dirty="0"/>
              <a:t>Переменные</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F4EC81-DAF2-1E7B-FF21-3253D820E98D}"/>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FE694B37-E969-949E-538B-06F826337A36}"/>
              </a:ext>
            </a:extLst>
          </p:cNvPr>
          <p:cNvSpPr>
            <a:spLocks noGrp="1"/>
          </p:cNvSpPr>
          <p:nvPr>
            <p:ph idx="1"/>
          </p:nvPr>
        </p:nvSpPr>
        <p:spPr/>
        <p:txBody>
          <a:bodyPr/>
          <a:lstStyle/>
          <a:p>
            <a:pPr marL="0" indent="0">
              <a:buNone/>
            </a:pPr>
            <a:r>
              <a:rPr lang="ru-RU" sz="1800" dirty="0"/>
              <a:t>Именование переменных</a:t>
            </a:r>
          </a:p>
          <a:p>
            <a:pPr marL="0" indent="0">
              <a:buNone/>
            </a:pPr>
            <a:r>
              <a:rPr lang="ru-RU" sz="1800" dirty="0"/>
              <a:t>Имя переменной последовательность алфавитных-цифровых символов и знака подчеркивания _. При этом имя переменной должно начинаться с алфавитного символа или подчеркивания.</a:t>
            </a:r>
          </a:p>
          <a:p>
            <a:pPr marL="0" indent="0">
              <a:buNone/>
            </a:pPr>
            <a:endParaRPr lang="ru-RU" sz="1800" dirty="0"/>
          </a:p>
          <a:p>
            <a:pPr marL="0" indent="0">
              <a:buNone/>
            </a:pPr>
            <a:r>
              <a:rPr lang="ru-RU" sz="1800" dirty="0"/>
              <a:t>Кроме того, в качестве имени переменной нельзя использовать ключевые слова языке C++, например, </a:t>
            </a:r>
            <a:r>
              <a:rPr lang="ru-RU" sz="1800" dirty="0" err="1"/>
              <a:t>for</a:t>
            </a:r>
            <a:r>
              <a:rPr lang="ru-RU" sz="1800" dirty="0"/>
              <a:t> или </a:t>
            </a:r>
            <a:r>
              <a:rPr lang="ru-RU" sz="1800" dirty="0" err="1"/>
              <a:t>if</a:t>
            </a:r>
            <a:r>
              <a:rPr lang="ru-RU" sz="1800" dirty="0"/>
              <a:t>. Но таких слов не так много, и по ходу освоения C++ вы </a:t>
            </a:r>
            <a:r>
              <a:rPr lang="ru-RU" sz="1800" dirty="0" err="1"/>
              <a:t>соориентируетесь</a:t>
            </a:r>
            <a:r>
              <a:rPr lang="ru-RU" sz="1800" dirty="0"/>
              <a:t>, какие слова являются ключевыми.</a:t>
            </a:r>
          </a:p>
          <a:p>
            <a:pPr marL="0" indent="0">
              <a:buNone/>
            </a:pPr>
            <a:endParaRPr lang="ru-RU" sz="1800" dirty="0"/>
          </a:p>
        </p:txBody>
      </p:sp>
    </p:spTree>
    <p:extLst>
      <p:ext uri="{BB962C8B-B14F-4D97-AF65-F5344CB8AC3E}">
        <p14:creationId xmlns:p14="http://schemas.microsoft.com/office/powerpoint/2010/main" val="3809179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ABB831-8001-E388-75FD-5402595A5E2F}"/>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44B0A91D-D63F-0F05-F2FC-0D181040B852}"/>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Следует отметить, что при этом не рекомендуются следующие именования:</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endParaRPr kumimoji="0" lang="ru-RU" sz="1800" b="0" i="0" u="none" strike="noStrike" kern="1200" cap="none" spc="0" normalizeH="0" baseline="0" noProof="0" dirty="0">
              <a:ln>
                <a:noFill/>
              </a:ln>
              <a:solidFill>
                <a:srgbClr val="1A1A70"/>
              </a:solidFill>
              <a:effectLst/>
              <a:uLnTx/>
              <a:uFillTx/>
              <a:latin typeface="Verdana"/>
              <a:ea typeface="+mn-ea"/>
              <a:cs typeface="+mn-cs"/>
            </a:endParaRPr>
          </a:p>
          <a:p>
            <a:pPr>
              <a:buClr>
                <a:srgbClr val="90B54D"/>
              </a:buClr>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имена, которые начинаются с двух подчеркиваний</a:t>
            </a:r>
          </a:p>
          <a:p>
            <a:pPr>
              <a:buClr>
                <a:srgbClr val="90B54D"/>
              </a:buClr>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имена, которые начинаются с подчеркивания, за которым идет заглавный алфавитный символ</a:t>
            </a:r>
          </a:p>
          <a:p>
            <a:pPr>
              <a:buClr>
                <a:srgbClr val="90B54D"/>
              </a:buClr>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имена в глобальной области (вне функции </a:t>
            </a:r>
            <a:r>
              <a:rPr kumimoji="0" lang="ru-RU" sz="1800" b="0" i="0" u="none" strike="noStrike" kern="1200" cap="none" spc="0" normalizeH="0" baseline="0" noProof="0" dirty="0" err="1">
                <a:ln>
                  <a:noFill/>
                </a:ln>
                <a:solidFill>
                  <a:srgbClr val="1A1A70"/>
                </a:solidFill>
                <a:effectLst/>
                <a:uLnTx/>
                <a:uFillTx/>
                <a:latin typeface="Verdana"/>
                <a:ea typeface="+mn-ea"/>
                <a:cs typeface="+mn-cs"/>
              </a:rPr>
              <a:t>main</a:t>
            </a:r>
            <a:r>
              <a:rPr kumimoji="0" lang="ru-RU" sz="1800" b="0" i="0" u="none" strike="noStrike" kern="1200" cap="none" spc="0" normalizeH="0" baseline="0" noProof="0" dirty="0">
                <a:ln>
                  <a:noFill/>
                </a:ln>
                <a:solidFill>
                  <a:srgbClr val="1A1A70"/>
                </a:solidFill>
                <a:effectLst/>
                <a:uLnTx/>
                <a:uFillTx/>
                <a:latin typeface="Verdana"/>
                <a:ea typeface="+mn-ea"/>
                <a:cs typeface="+mn-cs"/>
              </a:rPr>
              <a:t>), которые начинаются с подчеркивания</a:t>
            </a:r>
          </a:p>
          <a:p>
            <a:pPr marL="0" indent="0">
              <a:buClr>
                <a:srgbClr val="90B54D"/>
              </a:buClr>
              <a:buNone/>
              <a:defRPr/>
            </a:pPr>
            <a:endParaRPr kumimoji="0" lang="ru-RU" sz="1800" b="0" i="0" u="none" strike="noStrike" kern="1200" cap="none" spc="0" normalizeH="0" baseline="0" noProof="0" dirty="0">
              <a:ln>
                <a:noFill/>
              </a:ln>
              <a:solidFill>
                <a:srgbClr val="1A1A70"/>
              </a:solidFill>
              <a:effectLst/>
              <a:uLnTx/>
              <a:uFillTx/>
              <a:latin typeface="Verdana"/>
              <a:ea typeface="+mn-ea"/>
              <a:cs typeface="+mn-cs"/>
            </a:endParaRPr>
          </a:p>
          <a:p>
            <a:pPr marL="0" indent="0">
              <a:buClr>
                <a:srgbClr val="90B54D"/>
              </a:buClr>
              <a:buNone/>
              <a:defRPr/>
            </a:pPr>
            <a:r>
              <a:rPr kumimoji="0" lang="ru-RU" sz="1800" b="0" i="0" u="none" strike="noStrike" kern="1200" cap="none" spc="0" normalizeH="0" baseline="0" noProof="0" dirty="0">
                <a:ln>
                  <a:noFill/>
                </a:ln>
                <a:solidFill>
                  <a:srgbClr val="1A1A70"/>
                </a:solidFill>
                <a:effectLst/>
                <a:uLnTx/>
                <a:uFillTx/>
                <a:latin typeface="Verdana"/>
                <a:ea typeface="+mn-ea"/>
                <a:cs typeface="+mn-cs"/>
              </a:rPr>
              <a:t>Дело в том, что при подобных именах повышается вероятность, что подобные названия будут конфликтовать с именами (например, именами переменных), которые генерирует компилятор или которые определены в подключаемых стандартных модулях C++. Поэтому некоторые вообще не рекомендуют начинать имя с символа подчеркивания</a:t>
            </a:r>
          </a:p>
          <a:p>
            <a:pPr marL="0" indent="0">
              <a:buNone/>
            </a:pPr>
            <a:endParaRPr lang="ru-RU" dirty="0"/>
          </a:p>
        </p:txBody>
      </p:sp>
    </p:spTree>
    <p:extLst>
      <p:ext uri="{BB962C8B-B14F-4D97-AF65-F5344CB8AC3E}">
        <p14:creationId xmlns:p14="http://schemas.microsoft.com/office/powerpoint/2010/main" val="550590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9AC011-F551-2816-9715-E83F76B88EE1}"/>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F2BC633A-C7C6-C288-554C-05CD238D0B72}"/>
              </a:ext>
            </a:extLst>
          </p:cNvPr>
          <p:cNvSpPr>
            <a:spLocks noGrp="1"/>
          </p:cNvSpPr>
          <p:nvPr>
            <p:ph idx="1"/>
          </p:nvPr>
        </p:nvSpPr>
        <p:spPr/>
        <p:txBody>
          <a:bodyPr/>
          <a:lstStyle/>
          <a:p>
            <a:pPr marL="0" indent="0">
              <a:buNone/>
            </a:pPr>
            <a:r>
              <a:rPr lang="ru-RU" b="1" dirty="0"/>
              <a:t>Определение переменной</a:t>
            </a:r>
          </a:p>
          <a:p>
            <a:pPr marL="0" indent="0">
              <a:buNone/>
            </a:pPr>
            <a:r>
              <a:rPr lang="ru-RU" sz="2000" dirty="0"/>
              <a:t>В общем случае переменная определяется в следующем виде:</a:t>
            </a:r>
          </a:p>
          <a:p>
            <a:pPr marL="0" indent="0">
              <a:buNone/>
            </a:pPr>
            <a:endParaRPr lang="ru-RU" sz="2000" b="1" dirty="0"/>
          </a:p>
          <a:p>
            <a:pPr marL="0" indent="0">
              <a:buNone/>
            </a:pPr>
            <a:r>
              <a:rPr lang="ru-RU" sz="2000" b="1" dirty="0" err="1"/>
              <a:t>тип_переменной</a:t>
            </a:r>
            <a:r>
              <a:rPr lang="ru-RU" sz="2000" b="1" dirty="0"/>
              <a:t> </a:t>
            </a:r>
            <a:r>
              <a:rPr lang="ru-RU" sz="2000" b="1" dirty="0" err="1"/>
              <a:t>имя_переменной</a:t>
            </a:r>
            <a:r>
              <a:rPr lang="ru-RU" sz="2000" b="1" dirty="0"/>
              <a:t>;</a:t>
            </a:r>
          </a:p>
          <a:p>
            <a:pPr marL="0" indent="0">
              <a:buNone/>
            </a:pPr>
            <a:endParaRPr lang="ru-RU" sz="2000" b="1" dirty="0"/>
          </a:p>
          <a:p>
            <a:pPr marL="0" indent="0">
              <a:buNone/>
            </a:pPr>
            <a:r>
              <a:rPr lang="ru-RU" sz="2000" dirty="0"/>
              <a:t>Например, простейшее определение переменной:</a:t>
            </a:r>
          </a:p>
          <a:p>
            <a:pPr marL="0" indent="0">
              <a:buNone/>
            </a:pPr>
            <a:endParaRPr lang="ru-RU" sz="2000" dirty="0"/>
          </a:p>
          <a:p>
            <a:pPr marL="0" indent="0">
              <a:buNone/>
            </a:pPr>
            <a:r>
              <a:rPr lang="de-CH" sz="2000" b="1" dirty="0"/>
              <a:t>int</a:t>
            </a:r>
            <a:r>
              <a:rPr lang="de-CH" sz="2400" dirty="0"/>
              <a:t> </a:t>
            </a:r>
            <a:r>
              <a:rPr lang="de-CH" sz="2000" dirty="0" err="1"/>
              <a:t>age</a:t>
            </a:r>
            <a:r>
              <a:rPr lang="de-CH" sz="2400" dirty="0"/>
              <a:t>;</a:t>
            </a:r>
            <a:endParaRPr lang="ru-RU" sz="2400" dirty="0"/>
          </a:p>
          <a:p>
            <a:pPr marL="0" indent="0">
              <a:buNone/>
            </a:pPr>
            <a:endParaRPr lang="ru-RU" sz="2400" dirty="0"/>
          </a:p>
          <a:p>
            <a:pPr marL="0" indent="0">
              <a:buNone/>
            </a:pPr>
            <a:r>
              <a:rPr lang="ru-RU" sz="2000" dirty="0"/>
              <a:t>Здесь определена переменная </a:t>
            </a:r>
            <a:r>
              <a:rPr lang="ru-RU" sz="2000" dirty="0" err="1"/>
              <a:t>age</a:t>
            </a:r>
            <a:r>
              <a:rPr lang="ru-RU" sz="2000" dirty="0"/>
              <a:t>, которая имеет тип </a:t>
            </a:r>
            <a:r>
              <a:rPr lang="ru-RU" sz="2000" b="1" dirty="0" err="1"/>
              <a:t>int</a:t>
            </a:r>
            <a:r>
              <a:rPr lang="ru-RU" sz="2000" dirty="0"/>
              <a:t>. Поскольку определение переменной представляет собой инструкцию, то после него ставится точка с запятой.</a:t>
            </a:r>
          </a:p>
          <a:p>
            <a:pPr marL="0" indent="0">
              <a:buNone/>
            </a:pPr>
            <a:endParaRPr lang="ru-RU" sz="1800" dirty="0"/>
          </a:p>
          <a:p>
            <a:pPr marL="0" indent="0">
              <a:buNone/>
            </a:pPr>
            <a:endParaRPr lang="ru-RU" sz="1600" b="1" dirty="0"/>
          </a:p>
          <a:p>
            <a:endParaRPr lang="ru-RU" dirty="0"/>
          </a:p>
        </p:txBody>
      </p:sp>
    </p:spTree>
    <p:extLst>
      <p:ext uri="{BB962C8B-B14F-4D97-AF65-F5344CB8AC3E}">
        <p14:creationId xmlns:p14="http://schemas.microsoft.com/office/powerpoint/2010/main" val="2388198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1BA7A6-DCCA-DDEB-0A23-7B4FE1345E8E}"/>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6814AC55-B71B-43EF-0BDD-D3A8E27B1EFA}"/>
              </a:ext>
            </a:extLst>
          </p:cNvPr>
          <p:cNvSpPr>
            <a:spLocks noGrp="1"/>
          </p:cNvSpPr>
          <p:nvPr>
            <p:ph idx="1"/>
          </p:nvPr>
        </p:nvSpPr>
        <p:spPr/>
        <p:txBody>
          <a:bodyPr/>
          <a:lstStyle/>
          <a:p>
            <a:pPr marL="0" indent="0">
              <a:buNone/>
            </a:pPr>
            <a:r>
              <a:rPr lang="ru-RU" sz="2000" dirty="0"/>
              <a:t>Также стоит учитывать, что C++ - </a:t>
            </a:r>
            <a:r>
              <a:rPr lang="ru-RU" sz="2000" dirty="0" err="1"/>
              <a:t>регистрозависимый</a:t>
            </a:r>
            <a:r>
              <a:rPr lang="ru-RU" sz="2000" dirty="0"/>
              <a:t> язык, а это значит, что регистр символов имеет большое значение. То есть в следующем коде будут определяться две разные переменные:</a:t>
            </a:r>
          </a:p>
          <a:p>
            <a:pPr marL="0" indent="0">
              <a:buNone/>
            </a:pPr>
            <a:endParaRPr lang="ru-RU" sz="1600" dirty="0"/>
          </a:p>
          <a:p>
            <a:pPr marL="0" indent="0">
              <a:buNone/>
            </a:pPr>
            <a:r>
              <a:rPr lang="de-CH" sz="2000" b="1" dirty="0"/>
              <a:t>int</a:t>
            </a:r>
            <a:r>
              <a:rPr lang="de-CH" sz="2000" dirty="0"/>
              <a:t> </a:t>
            </a:r>
            <a:r>
              <a:rPr lang="de-CH" sz="2000" dirty="0" err="1"/>
              <a:t>age</a:t>
            </a:r>
            <a:r>
              <a:rPr lang="de-CH" sz="2000" dirty="0"/>
              <a:t>;</a:t>
            </a:r>
          </a:p>
          <a:p>
            <a:pPr marL="0" indent="0">
              <a:buNone/>
            </a:pPr>
            <a:r>
              <a:rPr lang="de-CH" sz="2000" b="1" dirty="0"/>
              <a:t>int</a:t>
            </a:r>
            <a:r>
              <a:rPr lang="de-CH" sz="2000" dirty="0"/>
              <a:t> Age;</a:t>
            </a:r>
          </a:p>
          <a:p>
            <a:pPr marL="0" indent="0">
              <a:buNone/>
            </a:pPr>
            <a:endParaRPr lang="ru-RU" sz="1800" dirty="0"/>
          </a:p>
          <a:p>
            <a:pPr marL="0" indent="0">
              <a:buNone/>
            </a:pPr>
            <a:r>
              <a:rPr lang="ru-RU" sz="2000" dirty="0"/>
              <a:t>Поэтому переменная </a:t>
            </a:r>
            <a:r>
              <a:rPr lang="ru-RU" sz="2000" dirty="0" err="1"/>
              <a:t>Age</a:t>
            </a:r>
            <a:r>
              <a:rPr lang="ru-RU" sz="2000" dirty="0"/>
              <a:t> не будет представлять то же самое, что и переменная </a:t>
            </a:r>
            <a:r>
              <a:rPr lang="ru-RU" sz="2000" dirty="0" err="1"/>
              <a:t>age</a:t>
            </a:r>
            <a:r>
              <a:rPr lang="ru-RU" sz="2000" dirty="0"/>
              <a:t>.</a:t>
            </a:r>
          </a:p>
          <a:p>
            <a:pPr marL="0" indent="0">
              <a:buNone/>
            </a:pPr>
            <a:r>
              <a:rPr lang="ru-RU" sz="2000" dirty="0"/>
              <a:t>Также нельзя объявить больше одной переменной с одним и тем же именем, например:</a:t>
            </a:r>
          </a:p>
          <a:p>
            <a:pPr marL="0" indent="0">
              <a:buNone/>
            </a:pPr>
            <a:r>
              <a:rPr lang="de-CH" sz="2000" b="1" dirty="0"/>
              <a:t>int</a:t>
            </a:r>
            <a:r>
              <a:rPr lang="de-CH" sz="2000" dirty="0"/>
              <a:t> </a:t>
            </a:r>
            <a:r>
              <a:rPr lang="de-CH" sz="2000" dirty="0" err="1"/>
              <a:t>age</a:t>
            </a:r>
            <a:r>
              <a:rPr lang="de-CH" sz="2000" dirty="0"/>
              <a:t>;</a:t>
            </a:r>
          </a:p>
          <a:p>
            <a:pPr marL="0" indent="0">
              <a:buNone/>
            </a:pPr>
            <a:r>
              <a:rPr lang="de-CH" sz="2000" b="1" dirty="0"/>
              <a:t>int</a:t>
            </a:r>
            <a:r>
              <a:rPr lang="de-CH" sz="2000" dirty="0"/>
              <a:t> </a:t>
            </a:r>
            <a:r>
              <a:rPr lang="de-CH" sz="2000" dirty="0" err="1"/>
              <a:t>age</a:t>
            </a:r>
            <a:r>
              <a:rPr lang="de-CH" sz="2000" dirty="0"/>
              <a:t>;</a:t>
            </a:r>
          </a:p>
          <a:p>
            <a:pPr marL="0" indent="0">
              <a:buNone/>
            </a:pPr>
            <a:r>
              <a:rPr lang="ru-RU" sz="1800" dirty="0"/>
              <a:t>Подобное определение вызовет ошибку на этапе компиляции</a:t>
            </a:r>
            <a:r>
              <a:rPr lang="ru-RU" dirty="0"/>
              <a:t>.</a:t>
            </a:r>
            <a:endParaRPr lang="ru-RU" sz="2000" dirty="0"/>
          </a:p>
        </p:txBody>
      </p:sp>
    </p:spTree>
    <p:extLst>
      <p:ext uri="{BB962C8B-B14F-4D97-AF65-F5344CB8AC3E}">
        <p14:creationId xmlns:p14="http://schemas.microsoft.com/office/powerpoint/2010/main" val="2306714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BAF3F4-D8FA-F9FF-A0D1-7683F9C6F6F7}"/>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3E6C4D5C-B7AD-4B9F-A5E5-E2BA2614007A}"/>
              </a:ext>
            </a:extLst>
          </p:cNvPr>
          <p:cNvSpPr>
            <a:spLocks noGrp="1"/>
          </p:cNvSpPr>
          <p:nvPr>
            <p:ph idx="1"/>
          </p:nvPr>
        </p:nvSpPr>
        <p:spPr/>
        <p:txBody>
          <a:bodyPr/>
          <a:lstStyle/>
          <a:p>
            <a:pPr marL="0" indent="0">
              <a:buNone/>
            </a:pPr>
            <a:r>
              <a:rPr lang="ru-RU" sz="2400" b="1" dirty="0"/>
              <a:t>Инициализация</a:t>
            </a:r>
            <a:endParaRPr lang="ru-RU" b="1" dirty="0"/>
          </a:p>
          <a:p>
            <a:pPr marL="0" indent="0">
              <a:buNone/>
            </a:pPr>
            <a:r>
              <a:rPr lang="ru-RU" sz="2000" dirty="0"/>
              <a:t>После определения переменной можно присвоить некоторое значение. Присвоение переменной начального значения называется </a:t>
            </a:r>
            <a:r>
              <a:rPr lang="ru-RU" sz="2000" b="1" dirty="0"/>
              <a:t>инициализацией</a:t>
            </a:r>
            <a:r>
              <a:rPr lang="ru-RU" sz="2000" dirty="0"/>
              <a:t>. В C++ есть три вида инициализации:</a:t>
            </a:r>
          </a:p>
          <a:p>
            <a:pPr marL="0" indent="0">
              <a:buNone/>
            </a:pPr>
            <a:endParaRPr lang="ru-RU" sz="2000" dirty="0"/>
          </a:p>
          <a:p>
            <a:r>
              <a:rPr lang="ru-RU" sz="2000" b="1" dirty="0"/>
              <a:t>Нотация присваивания</a:t>
            </a:r>
            <a:r>
              <a:rPr lang="ru-RU" sz="2000" dirty="0"/>
              <a:t> (</a:t>
            </a:r>
            <a:r>
              <a:rPr lang="ru-RU" sz="2000" dirty="0" err="1"/>
              <a:t>assignment</a:t>
            </a:r>
            <a:r>
              <a:rPr lang="ru-RU" sz="2000" dirty="0"/>
              <a:t> </a:t>
            </a:r>
            <a:r>
              <a:rPr lang="ru-RU" sz="2000" dirty="0" err="1"/>
              <a:t>notation</a:t>
            </a:r>
            <a:r>
              <a:rPr lang="ru-RU" sz="2000" dirty="0"/>
              <a:t>)</a:t>
            </a:r>
          </a:p>
          <a:p>
            <a:r>
              <a:rPr lang="ru-RU" sz="2000" b="1" dirty="0"/>
              <a:t>Функциональная нотация</a:t>
            </a:r>
            <a:r>
              <a:rPr lang="ru-RU" sz="2000" dirty="0"/>
              <a:t> (</a:t>
            </a:r>
            <a:r>
              <a:rPr lang="ru-RU" sz="2000" dirty="0" err="1"/>
              <a:t>functional</a:t>
            </a:r>
            <a:r>
              <a:rPr lang="ru-RU" sz="2000" dirty="0"/>
              <a:t> </a:t>
            </a:r>
            <a:r>
              <a:rPr lang="ru-RU" sz="2000" dirty="0" err="1"/>
              <a:t>notation</a:t>
            </a:r>
            <a:r>
              <a:rPr lang="ru-RU" sz="2000" dirty="0"/>
              <a:t>)</a:t>
            </a:r>
          </a:p>
          <a:p>
            <a:r>
              <a:rPr lang="ru-RU" sz="2000" b="1" dirty="0"/>
              <a:t>Инициализация в фигурных скобках</a:t>
            </a:r>
            <a:r>
              <a:rPr lang="ru-RU" sz="2000" dirty="0"/>
              <a:t> (</a:t>
            </a:r>
            <a:r>
              <a:rPr lang="ru-RU" sz="2000" dirty="0" err="1"/>
              <a:t>braced</a:t>
            </a:r>
            <a:r>
              <a:rPr lang="ru-RU" sz="2000" dirty="0"/>
              <a:t> </a:t>
            </a:r>
            <a:r>
              <a:rPr lang="ru-RU" sz="2000" dirty="0" err="1"/>
              <a:t>initialization</a:t>
            </a:r>
            <a:r>
              <a:rPr lang="ru-RU" sz="2000" dirty="0"/>
              <a:t>)</a:t>
            </a:r>
          </a:p>
          <a:p>
            <a:pPr marL="0" indent="0">
              <a:buNone/>
            </a:pPr>
            <a:endParaRPr lang="ru-RU" sz="2000" dirty="0"/>
          </a:p>
          <a:p>
            <a:pPr marL="0" indent="0">
              <a:buNone/>
            </a:pPr>
            <a:endParaRPr lang="ru-RU" dirty="0"/>
          </a:p>
        </p:txBody>
      </p:sp>
    </p:spTree>
    <p:extLst>
      <p:ext uri="{BB962C8B-B14F-4D97-AF65-F5344CB8AC3E}">
        <p14:creationId xmlns:p14="http://schemas.microsoft.com/office/powerpoint/2010/main" val="3800907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E3894A-AF62-564C-5802-EA48015DECE8}"/>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D9FEF300-BB82-2EC4-97F5-D6967EA98B6A}"/>
              </a:ext>
            </a:extLst>
          </p:cNvPr>
          <p:cNvSpPr>
            <a:spLocks noGrp="1"/>
          </p:cNvSpPr>
          <p:nvPr>
            <p:ph idx="1"/>
          </p:nvPr>
        </p:nvSpPr>
        <p:spPr/>
        <p:txBody>
          <a:bodyPr/>
          <a:lstStyle/>
          <a:p>
            <a:pPr marL="0" indent="0">
              <a:buNone/>
            </a:pPr>
            <a:r>
              <a:rPr lang="ru-RU" b="1" dirty="0"/>
              <a:t>Нотация присваивания</a:t>
            </a:r>
          </a:p>
          <a:p>
            <a:pPr marL="0" indent="0">
              <a:buNone/>
            </a:pPr>
            <a:endParaRPr lang="ru-RU" b="1" dirty="0"/>
          </a:p>
          <a:p>
            <a:pPr marL="0" indent="0">
              <a:buNone/>
            </a:pPr>
            <a:r>
              <a:rPr lang="ru-RU" sz="2000" dirty="0"/>
              <a:t>Суть </a:t>
            </a:r>
            <a:r>
              <a:rPr lang="ru-RU" sz="2000" dirty="0" err="1"/>
              <a:t>нотациия</a:t>
            </a:r>
            <a:r>
              <a:rPr lang="ru-RU" sz="2000" dirty="0"/>
              <a:t> присваивания - с помощью оператора присваивания (знак "равно" или =) переменной передаем некоторое значение:</a:t>
            </a:r>
          </a:p>
          <a:p>
            <a:pPr marL="0" indent="0">
              <a:buNone/>
            </a:pPr>
            <a:endParaRPr lang="ru-RU" sz="2000" dirty="0"/>
          </a:p>
          <a:p>
            <a:pPr marL="1436688" indent="0">
              <a:buNone/>
            </a:pPr>
            <a:r>
              <a:rPr lang="de-CH" sz="2000" b="1" dirty="0"/>
              <a:t>int</a:t>
            </a:r>
            <a:r>
              <a:rPr lang="de-CH" sz="2000" dirty="0"/>
              <a:t> </a:t>
            </a:r>
            <a:r>
              <a:rPr lang="de-CH" sz="2000" dirty="0" err="1"/>
              <a:t>age</a:t>
            </a:r>
            <a:r>
              <a:rPr lang="de-CH" sz="2000" dirty="0"/>
              <a:t>;</a:t>
            </a:r>
          </a:p>
          <a:p>
            <a:pPr marL="1436688" indent="0">
              <a:buNone/>
            </a:pPr>
            <a:r>
              <a:rPr lang="de-CH" sz="2000" dirty="0" err="1"/>
              <a:t>age</a:t>
            </a:r>
            <a:r>
              <a:rPr lang="de-CH" sz="2000" dirty="0"/>
              <a:t> = 20;</a:t>
            </a:r>
          </a:p>
          <a:p>
            <a:pPr marL="0" indent="0" algn="ctr">
              <a:buNone/>
            </a:pPr>
            <a:endParaRPr lang="ru-RU" sz="2000" dirty="0"/>
          </a:p>
          <a:p>
            <a:pPr marL="0" indent="0">
              <a:buNone/>
            </a:pPr>
            <a:br>
              <a:rPr lang="ru-RU" dirty="0"/>
            </a:br>
            <a:endParaRPr lang="ru-RU" b="1" dirty="0"/>
          </a:p>
          <a:p>
            <a:endParaRPr lang="ru-RU" dirty="0"/>
          </a:p>
        </p:txBody>
      </p:sp>
    </p:spTree>
    <p:extLst>
      <p:ext uri="{BB962C8B-B14F-4D97-AF65-F5344CB8AC3E}">
        <p14:creationId xmlns:p14="http://schemas.microsoft.com/office/powerpoint/2010/main" val="1202983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C0B0D3-B910-6613-04C3-E8694A4CD9EA}"/>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B1EF3073-7E81-AEA1-40DD-519F39537557}"/>
              </a:ext>
            </a:extLst>
          </p:cNvPr>
          <p:cNvSpPr>
            <a:spLocks noGrp="1"/>
          </p:cNvSpPr>
          <p:nvPr>
            <p:ph idx="1"/>
          </p:nvPr>
        </p:nvSpPr>
        <p:spPr/>
        <p:txBody>
          <a:bodyPr/>
          <a:lstStyle/>
          <a:p>
            <a:pPr marL="0" indent="0">
              <a:buNone/>
            </a:pPr>
            <a:r>
              <a:rPr lang="ru-RU" b="1" dirty="0"/>
              <a:t>Инициализация в фигурных скобках</a:t>
            </a:r>
          </a:p>
          <a:p>
            <a:pPr marL="0" indent="0">
              <a:buNone/>
            </a:pPr>
            <a:endParaRPr lang="ru-RU" sz="2000" b="1" dirty="0"/>
          </a:p>
          <a:p>
            <a:pPr marL="0" indent="0">
              <a:buNone/>
            </a:pPr>
            <a:r>
              <a:rPr lang="ru-RU" sz="2000" dirty="0"/>
              <a:t>При инициализации </a:t>
            </a:r>
            <a:r>
              <a:rPr lang="ru-RU" sz="2000" dirty="0" err="1"/>
              <a:t>braced</a:t>
            </a:r>
            <a:r>
              <a:rPr lang="ru-RU" sz="2000" dirty="0"/>
              <a:t> </a:t>
            </a:r>
            <a:r>
              <a:rPr lang="ru-RU" sz="2000" dirty="0" err="1"/>
              <a:t>initialization</a:t>
            </a:r>
            <a:r>
              <a:rPr lang="ru-RU" sz="2000" dirty="0"/>
              <a:t> после названия переменной в фигурных скобках указывается ее значение:</a:t>
            </a:r>
          </a:p>
          <a:p>
            <a:pPr marL="0" indent="0">
              <a:buNone/>
            </a:pPr>
            <a:endParaRPr lang="ru-RU" sz="2000" b="1" dirty="0"/>
          </a:p>
          <a:p>
            <a:pPr marL="0" indent="0" algn="ctr">
              <a:buNone/>
            </a:pPr>
            <a:r>
              <a:rPr lang="en-US" sz="2000" b="1" dirty="0"/>
              <a:t>int age {38};   // braced initialization</a:t>
            </a:r>
            <a:endParaRPr lang="ru-RU" sz="2000" b="1" dirty="0"/>
          </a:p>
        </p:txBody>
      </p:sp>
    </p:spTree>
    <p:extLst>
      <p:ext uri="{BB962C8B-B14F-4D97-AF65-F5344CB8AC3E}">
        <p14:creationId xmlns:p14="http://schemas.microsoft.com/office/powerpoint/2010/main" val="1756869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210AEC-85FD-E359-DB68-97792CA65683}"/>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BBA5BB5A-CC0E-B0C6-986E-4224D8A0FEEA}"/>
              </a:ext>
            </a:extLst>
          </p:cNvPr>
          <p:cNvSpPr>
            <a:spLocks noGrp="1"/>
          </p:cNvSpPr>
          <p:nvPr>
            <p:ph idx="1"/>
          </p:nvPr>
        </p:nvSpPr>
        <p:spPr/>
        <p:txBody>
          <a:bodyPr/>
          <a:lstStyle/>
          <a:p>
            <a:pPr marL="0" indent="0">
              <a:buNone/>
            </a:pPr>
            <a:r>
              <a:rPr lang="ru-RU" b="1" dirty="0"/>
              <a:t>Функциональная нотация</a:t>
            </a:r>
          </a:p>
          <a:p>
            <a:pPr marL="0" indent="0">
              <a:buNone/>
            </a:pPr>
            <a:r>
              <a:rPr lang="ru-RU" sz="2000" dirty="0"/>
              <a:t>При функциональной нотации после названия переменной в круглых скобках указывается ее значение:</a:t>
            </a:r>
          </a:p>
          <a:p>
            <a:pPr marL="0" indent="0">
              <a:buNone/>
            </a:pPr>
            <a:endParaRPr lang="ru-RU" sz="2000" b="1" dirty="0"/>
          </a:p>
          <a:p>
            <a:pPr marL="895350" indent="0">
              <a:buNone/>
            </a:pPr>
            <a:r>
              <a:rPr lang="en-US" sz="2000" b="1" dirty="0"/>
              <a:t>int age (38);   // functional notation</a:t>
            </a:r>
            <a:endParaRPr lang="ru-RU" sz="2000" b="1" dirty="0"/>
          </a:p>
          <a:p>
            <a:pPr marL="0" indent="0">
              <a:buNone/>
            </a:pPr>
            <a:r>
              <a:rPr lang="ru-RU" sz="2000" dirty="0"/>
              <a:t>Во всех трех случаях присваиваемое переменной значение может представлять сложное вычисляемое выражение. Например:</a:t>
            </a:r>
          </a:p>
          <a:p>
            <a:pPr marL="895350" indent="0">
              <a:buNone/>
            </a:pPr>
            <a:r>
              <a:rPr lang="en-US" sz="2000" b="1" dirty="0"/>
              <a:t>int age1 {22 + 5};</a:t>
            </a:r>
          </a:p>
          <a:p>
            <a:pPr marL="895350" indent="0">
              <a:buNone/>
            </a:pPr>
            <a:r>
              <a:rPr lang="en-US" sz="2000" b="1" dirty="0"/>
              <a:t>int age2 (22 + 5);</a:t>
            </a:r>
          </a:p>
          <a:p>
            <a:pPr marL="895350" indent="0">
              <a:buNone/>
            </a:pPr>
            <a:r>
              <a:rPr lang="en-US" sz="2000" b="1" dirty="0"/>
              <a:t>int age3 = 22 + 5;</a:t>
            </a:r>
            <a:endParaRPr lang="ru-RU" sz="2000" b="1" dirty="0"/>
          </a:p>
          <a:p>
            <a:pPr marL="0" indent="0">
              <a:buNone/>
            </a:pPr>
            <a:r>
              <a:rPr lang="ru-RU" sz="2000" dirty="0"/>
              <a:t>Можно сразу инициализировать несколько переменных:</a:t>
            </a:r>
            <a:endParaRPr lang="ru-RU" sz="1600" b="1" dirty="0"/>
          </a:p>
          <a:p>
            <a:pPr marL="895350" indent="0">
              <a:buNone/>
            </a:pPr>
            <a:r>
              <a:rPr lang="en-US" sz="2000" b="1" dirty="0"/>
              <a:t>int age1 {22}, age2 (23), age3 = 24;</a:t>
            </a:r>
            <a:endParaRPr lang="ru-RU" sz="2000" b="1" dirty="0"/>
          </a:p>
        </p:txBody>
      </p:sp>
    </p:spTree>
    <p:extLst>
      <p:ext uri="{BB962C8B-B14F-4D97-AF65-F5344CB8AC3E}">
        <p14:creationId xmlns:p14="http://schemas.microsoft.com/office/powerpoint/2010/main" val="2100184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3F7817B-D6F7-2685-6E26-A1A3A9362D68}"/>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DA712C32-AD0B-5D74-0626-56701C63D149}"/>
              </a:ext>
            </a:extLst>
          </p:cNvPr>
          <p:cNvSpPr>
            <a:spLocks noGrp="1"/>
          </p:cNvSpPr>
          <p:nvPr>
            <p:ph idx="1"/>
          </p:nvPr>
        </p:nvSpPr>
        <p:spPr/>
        <p:txBody>
          <a:bodyPr/>
          <a:lstStyle/>
          <a:p>
            <a:pPr marL="0" indent="0">
              <a:buNone/>
            </a:pPr>
            <a:r>
              <a:rPr lang="ru-RU" sz="1600" dirty="0"/>
              <a:t>В большинстве случаев все три варианта инициализации эквивалентны. Однако инициализация в фигурных скобках немного безопаснее, когда применяется сужающее преобразование. В общем случае ожидается, что переменной передается значение, которое соответствует ее типу. Если же это не так, то компилятор попытается преобразовать присваиваемое значение в тип переменной. Сужающее преобразование изменяет значение одного типа на тип с более ограниченным диапазоном значений. Таким образом, преобразование может привести к потере информации. Возьмем следующий пример:</a:t>
            </a:r>
          </a:p>
          <a:p>
            <a:pPr marL="0" indent="0">
              <a:buNone/>
            </a:pPr>
            <a:endParaRPr lang="ru-RU" sz="1600" dirty="0"/>
          </a:p>
          <a:p>
            <a:pPr marL="0" indent="0">
              <a:buNone/>
            </a:pPr>
            <a:r>
              <a:rPr lang="en-US" sz="1600" dirty="0"/>
              <a:t>#include &lt;iostream&gt;</a:t>
            </a:r>
          </a:p>
          <a:p>
            <a:pPr marL="0" indent="0">
              <a:buNone/>
            </a:pPr>
            <a:r>
              <a:rPr lang="en-US" sz="1600" dirty="0"/>
              <a:t>  </a:t>
            </a:r>
          </a:p>
          <a:p>
            <a:pPr marL="0" indent="0">
              <a:buNone/>
            </a:pPr>
            <a:r>
              <a:rPr lang="en-US" sz="1600" dirty="0"/>
              <a:t>int main()</a:t>
            </a:r>
          </a:p>
          <a:p>
            <a:pPr marL="0" indent="0">
              <a:buNone/>
            </a:pPr>
            <a:r>
              <a:rPr lang="en-US" sz="1600" dirty="0"/>
              <a:t>{</a:t>
            </a:r>
          </a:p>
          <a:p>
            <a:pPr marL="0" indent="0">
              <a:buNone/>
            </a:pPr>
            <a:r>
              <a:rPr lang="en-US" sz="1600" dirty="0"/>
              <a:t>    int age1 (23.5);</a:t>
            </a:r>
          </a:p>
          <a:p>
            <a:pPr marL="0" indent="0">
              <a:buNone/>
            </a:pPr>
            <a:r>
              <a:rPr lang="en-US" sz="1600" dirty="0"/>
              <a:t>    int age2 = 24.5;</a:t>
            </a:r>
          </a:p>
          <a:p>
            <a:pPr marL="0" indent="0">
              <a:buNone/>
            </a:pPr>
            <a:r>
              <a:rPr lang="en-US" sz="1600" dirty="0"/>
              <a:t>    std::</a:t>
            </a:r>
            <a:r>
              <a:rPr lang="en-US" sz="1600" dirty="0" err="1"/>
              <a:t>cout</a:t>
            </a:r>
            <a:r>
              <a:rPr lang="en-US" sz="1600" dirty="0"/>
              <a:t>&lt;&lt;"Age1 = " &lt;&lt; age1 &lt;&lt; "\n";</a:t>
            </a:r>
            <a:r>
              <a:rPr lang="ru-RU" sz="1600" dirty="0"/>
              <a:t> //23</a:t>
            </a:r>
            <a:endParaRPr lang="en-US" sz="1600" dirty="0"/>
          </a:p>
          <a:p>
            <a:pPr marL="0" indent="0">
              <a:buNone/>
            </a:pPr>
            <a:r>
              <a:rPr lang="en-US" sz="1600" dirty="0"/>
              <a:t>    std::</a:t>
            </a:r>
            <a:r>
              <a:rPr lang="en-US" sz="1600" dirty="0" err="1"/>
              <a:t>cout</a:t>
            </a:r>
            <a:r>
              <a:rPr lang="en-US" sz="1600" dirty="0"/>
              <a:t>&lt;&lt;"Age2 = " &lt;&lt; age2 &lt;&lt; "\n";</a:t>
            </a:r>
            <a:r>
              <a:rPr lang="ru-RU" sz="1600" dirty="0"/>
              <a:t> //24</a:t>
            </a:r>
            <a:endParaRPr lang="en-US" sz="1600" dirty="0"/>
          </a:p>
          <a:p>
            <a:pPr marL="0" indent="0">
              <a:buNone/>
            </a:pPr>
            <a:r>
              <a:rPr lang="en-US" sz="1600" dirty="0"/>
              <a:t>}</a:t>
            </a:r>
            <a:endParaRPr lang="ru-RU" sz="1600" dirty="0"/>
          </a:p>
        </p:txBody>
      </p:sp>
    </p:spTree>
    <p:extLst>
      <p:ext uri="{BB962C8B-B14F-4D97-AF65-F5344CB8AC3E}">
        <p14:creationId xmlns:p14="http://schemas.microsoft.com/office/powerpoint/2010/main" val="719620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BEC49E-AE42-2F39-FEE0-D0715AC1E140}"/>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6AE3A28C-4180-A16A-C827-A7FBCB81C0B1}"/>
              </a:ext>
            </a:extLst>
          </p:cNvPr>
          <p:cNvSpPr>
            <a:spLocks noGrp="1"/>
          </p:cNvSpPr>
          <p:nvPr>
            <p:ph idx="1"/>
          </p:nvPr>
        </p:nvSpPr>
        <p:spPr/>
        <p:txBody>
          <a:bodyPr/>
          <a:lstStyle/>
          <a:p>
            <a:pPr marL="0" indent="0">
              <a:buNone/>
            </a:pPr>
            <a:r>
              <a:rPr lang="ru-RU" sz="2000" dirty="0"/>
              <a:t>Теперь возьмем пример с инициализацией через фигурные скобки</a:t>
            </a:r>
            <a:r>
              <a:rPr lang="ru-RU" dirty="0"/>
              <a:t>:</a:t>
            </a:r>
          </a:p>
          <a:p>
            <a:pPr marL="0" indent="0">
              <a:buNone/>
            </a:pPr>
            <a:endParaRPr lang="ru-RU" dirty="0"/>
          </a:p>
          <a:p>
            <a:pPr algn="l" fontAlgn="base">
              <a:lnSpc>
                <a:spcPts val="1575"/>
              </a:lnSpc>
              <a:buNone/>
            </a:pPr>
            <a:r>
              <a:rPr lang="en-US" b="0" i="0" dirty="0">
                <a:solidFill>
                  <a:srgbClr val="808080"/>
                </a:solidFill>
                <a:effectLst/>
                <a:latin typeface="SFMono-Regular"/>
              </a:rPr>
              <a:t>#include &lt;iostream&gt;</a:t>
            </a:r>
            <a:endParaRPr lang="en-US" b="0" i="0" dirty="0">
              <a:solidFill>
                <a:srgbClr val="000000"/>
              </a:solidFill>
              <a:effectLst/>
              <a:latin typeface="SFMono-Regular"/>
            </a:endParaRPr>
          </a:p>
          <a:p>
            <a:pPr algn="l" fontAlgn="base">
              <a:lnSpc>
                <a:spcPts val="1575"/>
              </a:lnSpc>
              <a:buNone/>
            </a:pPr>
            <a:r>
              <a:rPr lang="en-US" b="0" i="0" dirty="0">
                <a:solidFill>
                  <a:srgbClr val="000000"/>
                </a:solidFill>
                <a:effectLst/>
                <a:latin typeface="SFMono-Regular"/>
              </a:rPr>
              <a:t>  </a:t>
            </a:r>
          </a:p>
          <a:p>
            <a:pPr algn="l" fontAlgn="base">
              <a:buNone/>
            </a:pPr>
            <a:r>
              <a:rPr lang="en-US" b="1" i="0" dirty="0">
                <a:solidFill>
                  <a:srgbClr val="808080"/>
                </a:solidFill>
                <a:effectLst/>
                <a:latin typeface="SFMono-Regular"/>
              </a:rPr>
              <a:t>int</a:t>
            </a:r>
            <a:r>
              <a:rPr lang="en-US" b="0" i="0" dirty="0">
                <a:solidFill>
                  <a:srgbClr val="000000"/>
                </a:solidFill>
                <a:effectLst/>
                <a:latin typeface="SFMono-Regular"/>
              </a:rPr>
              <a:t> main()</a:t>
            </a:r>
          </a:p>
          <a:p>
            <a:pPr algn="l" fontAlgn="base">
              <a:buNone/>
            </a:pPr>
            <a:r>
              <a:rPr lang="en-US" b="0" i="0" dirty="0">
                <a:solidFill>
                  <a:srgbClr val="000000"/>
                </a:solidFill>
                <a:effectLst/>
                <a:latin typeface="SFMono-Regular"/>
              </a:rPr>
              <a:t>{</a:t>
            </a:r>
          </a:p>
          <a:p>
            <a:pPr algn="l" fontAlgn="base">
              <a:buNone/>
            </a:pPr>
            <a:r>
              <a:rPr lang="en-US" b="0" i="0" dirty="0">
                <a:solidFill>
                  <a:srgbClr val="000000"/>
                </a:solidFill>
                <a:effectLst/>
                <a:latin typeface="SFMono-Regular"/>
              </a:rPr>
              <a:t>    </a:t>
            </a:r>
            <a:r>
              <a:rPr lang="en-US" b="1" i="0" dirty="0">
                <a:solidFill>
                  <a:srgbClr val="808080"/>
                </a:solidFill>
                <a:effectLst/>
                <a:latin typeface="SFMono-Regular"/>
              </a:rPr>
              <a:t>int</a:t>
            </a:r>
            <a:r>
              <a:rPr lang="en-US" b="0" i="0" dirty="0">
                <a:solidFill>
                  <a:srgbClr val="000000"/>
                </a:solidFill>
                <a:effectLst/>
                <a:latin typeface="SFMono-Regular"/>
              </a:rPr>
              <a:t> age {22.5};</a:t>
            </a:r>
            <a:r>
              <a:rPr lang="ru-RU" b="0" i="0" dirty="0">
                <a:solidFill>
                  <a:srgbClr val="000000"/>
                </a:solidFill>
                <a:effectLst/>
                <a:latin typeface="SFMono-Regular"/>
              </a:rPr>
              <a:t>  //ошибка времени компиляции</a:t>
            </a:r>
            <a:endParaRPr lang="en-US" b="0" i="0" dirty="0">
              <a:solidFill>
                <a:srgbClr val="000000"/>
              </a:solidFill>
              <a:effectLst/>
              <a:latin typeface="SFMono-Regular"/>
            </a:endParaRPr>
          </a:p>
          <a:p>
            <a:pPr algn="l" fontAlgn="base">
              <a:buNone/>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&lt;&lt;</a:t>
            </a:r>
            <a:r>
              <a:rPr lang="en-US" b="0" i="0" dirty="0">
                <a:solidFill>
                  <a:srgbClr val="DB003E"/>
                </a:solidFill>
                <a:effectLst/>
                <a:latin typeface="SFMono-Regular"/>
              </a:rPr>
              <a:t>"Age = "</a:t>
            </a:r>
            <a:r>
              <a:rPr lang="en-US" b="0" i="0" dirty="0">
                <a:solidFill>
                  <a:srgbClr val="000000"/>
                </a:solidFill>
                <a:effectLst/>
                <a:latin typeface="SFMono-Regular"/>
              </a:rPr>
              <a:t> &lt;&lt; age &lt;&lt; </a:t>
            </a:r>
            <a:r>
              <a:rPr lang="en-US" b="0" i="0" dirty="0">
                <a:solidFill>
                  <a:srgbClr val="DB003E"/>
                </a:solidFill>
                <a:effectLst/>
                <a:latin typeface="SFMono-Regular"/>
              </a:rPr>
              <a:t>"\n"</a:t>
            </a:r>
            <a:r>
              <a:rPr lang="en-US" b="0" i="0" dirty="0">
                <a:solidFill>
                  <a:srgbClr val="000000"/>
                </a:solidFill>
                <a:effectLst/>
                <a:latin typeface="SFMono-Regular"/>
              </a:rPr>
              <a:t>;</a:t>
            </a:r>
          </a:p>
          <a:p>
            <a:pPr algn="l" fontAlgn="base">
              <a:buNone/>
            </a:pPr>
            <a:r>
              <a:rPr lang="en-US" b="0" i="0" dirty="0">
                <a:solidFill>
                  <a:srgbClr val="000000"/>
                </a:solidFill>
                <a:effectLst/>
                <a:latin typeface="SFMono-Regular"/>
              </a:rPr>
              <a:t>}</a:t>
            </a:r>
          </a:p>
          <a:p>
            <a:pPr marL="0" indent="0">
              <a:buNone/>
            </a:pPr>
            <a:endParaRPr lang="ru-RU" dirty="0"/>
          </a:p>
        </p:txBody>
      </p:sp>
    </p:spTree>
    <p:extLst>
      <p:ext uri="{BB962C8B-B14F-4D97-AF65-F5344CB8AC3E}">
        <p14:creationId xmlns:p14="http://schemas.microsoft.com/office/powerpoint/2010/main" val="3876863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4A1E47-1BFD-05AF-6561-503BDFE793C4}"/>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D18175A5-A07A-F1D8-C3A9-81A182ADF1AC}"/>
              </a:ext>
            </a:extLst>
          </p:cNvPr>
          <p:cNvSpPr>
            <a:spLocks noGrp="1"/>
          </p:cNvSpPr>
          <p:nvPr>
            <p:ph idx="1"/>
          </p:nvPr>
        </p:nvSpPr>
        <p:spPr/>
        <p:txBody>
          <a:bodyPr/>
          <a:lstStyle/>
          <a:p>
            <a:pPr marL="0" indent="0">
              <a:buNone/>
            </a:pPr>
            <a:r>
              <a:rPr lang="ru-RU" sz="2400" b="1" dirty="0"/>
              <a:t>Инициализация</a:t>
            </a:r>
            <a:r>
              <a:rPr lang="ru-RU" b="1" dirty="0"/>
              <a:t> </a:t>
            </a:r>
            <a:r>
              <a:rPr lang="ru-RU" sz="2400" b="1" dirty="0"/>
              <a:t>нулем</a:t>
            </a:r>
          </a:p>
          <a:p>
            <a:pPr marL="0" indent="0">
              <a:buNone/>
            </a:pPr>
            <a:endParaRPr lang="ru-RU" sz="2400" b="1" dirty="0"/>
          </a:p>
          <a:p>
            <a:pPr marL="0" indent="0">
              <a:buNone/>
            </a:pPr>
            <a:r>
              <a:rPr lang="ru-RU" sz="2000" dirty="0"/>
              <a:t>При инициализации в фигурных скобках можно опустить значение:</a:t>
            </a:r>
          </a:p>
          <a:p>
            <a:pPr marL="0" indent="0">
              <a:buNone/>
            </a:pPr>
            <a:endParaRPr lang="ru-RU" sz="2000" b="1" dirty="0"/>
          </a:p>
          <a:p>
            <a:pPr marL="1166813" indent="0">
              <a:buNone/>
            </a:pPr>
            <a:r>
              <a:rPr lang="de-CH" sz="2000" b="1" dirty="0"/>
              <a:t>int </a:t>
            </a:r>
            <a:r>
              <a:rPr lang="de-CH" sz="2000" b="1" dirty="0" err="1"/>
              <a:t>counter</a:t>
            </a:r>
            <a:r>
              <a:rPr lang="de-CH" sz="2000" b="1" dirty="0"/>
              <a:t> {};</a:t>
            </a:r>
            <a:endParaRPr lang="ru-RU" sz="2000" b="1" dirty="0"/>
          </a:p>
          <a:p>
            <a:pPr marL="1166813" indent="0">
              <a:buNone/>
            </a:pPr>
            <a:endParaRPr lang="ru-RU" sz="2000" b="1" dirty="0"/>
          </a:p>
          <a:p>
            <a:pPr marL="0" indent="0">
              <a:buNone/>
            </a:pPr>
            <a:r>
              <a:rPr lang="ru-RU" sz="2000" dirty="0"/>
              <a:t>В этом случае переменная будет инициализироваться нулем и фактически будет аналогично коду:</a:t>
            </a:r>
          </a:p>
          <a:p>
            <a:pPr marL="0" indent="0">
              <a:buNone/>
            </a:pPr>
            <a:endParaRPr lang="ru-RU" sz="2000" dirty="0"/>
          </a:p>
          <a:p>
            <a:pPr marL="0" indent="1166813">
              <a:buNone/>
              <a:tabLst>
                <a:tab pos="1073150" algn="l"/>
              </a:tabLst>
            </a:pPr>
            <a:r>
              <a:rPr lang="de-CH" sz="2000" b="1" dirty="0"/>
              <a:t>int</a:t>
            </a:r>
            <a:r>
              <a:rPr lang="de-CH" sz="2000" dirty="0"/>
              <a:t> </a:t>
            </a:r>
            <a:r>
              <a:rPr lang="de-CH" sz="2000" dirty="0" err="1"/>
              <a:t>counter</a:t>
            </a:r>
            <a:r>
              <a:rPr lang="de-CH" sz="2000" dirty="0"/>
              <a:t> {0};</a:t>
            </a:r>
            <a:endParaRPr lang="ru-RU" sz="1600" dirty="0"/>
          </a:p>
          <a:p>
            <a:pPr marL="0" indent="0">
              <a:buNone/>
            </a:pPr>
            <a:endParaRPr lang="ru-RU" dirty="0"/>
          </a:p>
        </p:txBody>
      </p:sp>
    </p:spTree>
    <p:extLst>
      <p:ext uri="{BB962C8B-B14F-4D97-AF65-F5344CB8AC3E}">
        <p14:creationId xmlns:p14="http://schemas.microsoft.com/office/powerpoint/2010/main" val="545840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DCC4F9-BACA-AE3E-AD19-E3C5FCB2EA7B}"/>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C787F3FA-5FCE-0681-0842-0C6ADE8B4ACB}"/>
              </a:ext>
            </a:extLst>
          </p:cNvPr>
          <p:cNvSpPr>
            <a:spLocks noGrp="1"/>
          </p:cNvSpPr>
          <p:nvPr>
            <p:ph idx="1"/>
          </p:nvPr>
        </p:nvSpPr>
        <p:spPr/>
        <p:txBody>
          <a:bodyPr/>
          <a:lstStyle/>
          <a:p>
            <a:pPr marL="0" indent="0">
              <a:buNone/>
            </a:pPr>
            <a:r>
              <a:rPr lang="ru-RU" sz="2400" b="1" dirty="0"/>
              <a:t>Инициализация по умолчанию</a:t>
            </a:r>
          </a:p>
          <a:p>
            <a:pPr marL="0" indent="0" algn="l">
              <a:buNone/>
            </a:pPr>
            <a:r>
              <a:rPr lang="ru-RU" sz="2000" b="0" i="0" dirty="0">
                <a:effectLst/>
                <a:latin typeface="-apple-system"/>
              </a:rPr>
              <a:t>Если переменную не инициализировать, то происходит ее инициализация по умолчанию. И переменная получает некоторое значение по умолчанию, которое зависит от места, где эта переменная определена.</a:t>
            </a:r>
          </a:p>
          <a:p>
            <a:pPr marL="0" indent="0" algn="l">
              <a:buNone/>
            </a:pPr>
            <a:r>
              <a:rPr lang="ru-RU" sz="2000" b="0" i="0" dirty="0">
                <a:effectLst/>
                <a:latin typeface="-apple-system"/>
              </a:rPr>
              <a:t>Если переменная, которая представляет встроенный тип (например, тип </a:t>
            </a:r>
            <a:r>
              <a:rPr lang="ru-RU" sz="2000" b="0" i="0" dirty="0" err="1">
                <a:effectLst/>
                <a:latin typeface="-apple-system"/>
              </a:rPr>
              <a:t>int</a:t>
            </a:r>
            <a:r>
              <a:rPr lang="ru-RU" sz="2000" b="0" i="0" dirty="0">
                <a:effectLst/>
                <a:latin typeface="-apple-system"/>
              </a:rPr>
              <a:t>), определена внутри функции, то она получает неопределенное значение. Если переменная встроенного типа определена вне функции, то она получает то значение по умолчанию, которое соответствует ее типу. Для числовых типов это число 0. Например:</a:t>
            </a:r>
          </a:p>
          <a:p>
            <a:pPr algn="l" fontAlgn="base">
              <a:lnSpc>
                <a:spcPts val="1575"/>
              </a:lnSpc>
              <a:buNone/>
            </a:pPr>
            <a:r>
              <a:rPr lang="en-US" sz="1400" b="0" i="0" dirty="0">
                <a:solidFill>
                  <a:srgbClr val="808080"/>
                </a:solidFill>
                <a:effectLst/>
                <a:latin typeface="SFMono-Regular"/>
              </a:rPr>
              <a:t>#include &lt;iostream&gt;</a:t>
            </a:r>
            <a:endParaRPr lang="en-US" sz="1400" b="0" i="0" dirty="0">
              <a:solidFill>
                <a:srgbClr val="000000"/>
              </a:solidFill>
              <a:effectLst/>
              <a:latin typeface="SFMono-Regular"/>
            </a:endParaRPr>
          </a:p>
          <a:p>
            <a:pPr algn="l" fontAlgn="base">
              <a:lnSpc>
                <a:spcPts val="1575"/>
              </a:lnSpc>
              <a:buNone/>
            </a:pPr>
            <a:r>
              <a:rPr lang="en-US" sz="1400" b="1" i="0" dirty="0">
                <a:solidFill>
                  <a:srgbClr val="808080"/>
                </a:solidFill>
                <a:effectLst/>
                <a:latin typeface="SFMono-Regular"/>
              </a:rPr>
              <a:t>int</a:t>
            </a:r>
            <a:r>
              <a:rPr lang="en-US" sz="1400" b="0" i="0" dirty="0">
                <a:solidFill>
                  <a:srgbClr val="000000"/>
                </a:solidFill>
                <a:effectLst/>
                <a:latin typeface="SFMono-Regular"/>
              </a:rPr>
              <a:t> x;</a:t>
            </a:r>
          </a:p>
          <a:p>
            <a:pPr algn="l" fontAlgn="base">
              <a:lnSpc>
                <a:spcPts val="1575"/>
              </a:lnSpc>
              <a:buNone/>
            </a:pPr>
            <a:r>
              <a:rPr lang="en-US" sz="1400" b="1" i="0" dirty="0">
                <a:solidFill>
                  <a:srgbClr val="808080"/>
                </a:solidFill>
                <a:effectLst/>
                <a:latin typeface="SFMono-Regular"/>
              </a:rPr>
              <a:t>int</a:t>
            </a:r>
            <a:r>
              <a:rPr lang="en-US" sz="1400" b="0" i="0" dirty="0">
                <a:solidFill>
                  <a:srgbClr val="000000"/>
                </a:solidFill>
                <a:effectLst/>
                <a:latin typeface="SFMono-Regular"/>
              </a:rPr>
              <a:t> main()</a:t>
            </a:r>
          </a:p>
          <a:p>
            <a:pPr algn="l" fontAlgn="base">
              <a:lnSpc>
                <a:spcPts val="1575"/>
              </a:lnSpc>
              <a:buNone/>
            </a:pPr>
            <a:r>
              <a:rPr lang="en-US" sz="1400" b="0" i="0" dirty="0">
                <a:solidFill>
                  <a:srgbClr val="000000"/>
                </a:solidFill>
                <a:effectLst/>
                <a:latin typeface="SFMono-Regular"/>
              </a:rPr>
              <a:t>{</a:t>
            </a:r>
          </a:p>
          <a:p>
            <a:pPr algn="l" fontAlgn="base">
              <a:lnSpc>
                <a:spcPts val="1575"/>
              </a:lnSpc>
              <a:buNone/>
            </a:pPr>
            <a:r>
              <a:rPr lang="en-US" sz="1400" b="0" i="0" dirty="0">
                <a:solidFill>
                  <a:srgbClr val="000000"/>
                </a:solidFill>
                <a:effectLst/>
                <a:latin typeface="SFMono-Regular"/>
              </a:rPr>
              <a:t>    </a:t>
            </a:r>
            <a:r>
              <a:rPr lang="en-US" sz="1400" b="1" i="0" dirty="0">
                <a:solidFill>
                  <a:srgbClr val="808080"/>
                </a:solidFill>
                <a:effectLst/>
                <a:latin typeface="SFMono-Regular"/>
              </a:rPr>
              <a:t>int</a:t>
            </a:r>
            <a:r>
              <a:rPr lang="en-US" sz="1400" b="0" i="0" dirty="0">
                <a:solidFill>
                  <a:srgbClr val="000000"/>
                </a:solidFill>
                <a:effectLst/>
                <a:latin typeface="SFMono-Regular"/>
              </a:rPr>
              <a:t> y;</a:t>
            </a:r>
          </a:p>
          <a:p>
            <a:pPr algn="l" fontAlgn="base">
              <a:lnSpc>
                <a:spcPts val="1575"/>
              </a:lnSpc>
              <a:buNone/>
            </a:pPr>
            <a:r>
              <a:rPr lang="en-US" sz="1400" b="0" i="0" dirty="0">
                <a:solidFill>
                  <a:srgbClr val="000000"/>
                </a:solidFill>
                <a:effectLst/>
                <a:latin typeface="SFMono-Regular"/>
              </a:rPr>
              <a:t>    std::</a:t>
            </a:r>
            <a:r>
              <a:rPr lang="en-US" sz="1400" b="0" i="0" dirty="0" err="1">
                <a:solidFill>
                  <a:srgbClr val="000000"/>
                </a:solidFill>
                <a:effectLst/>
                <a:latin typeface="SFMono-Regular"/>
              </a:rPr>
              <a:t>cout</a:t>
            </a:r>
            <a:r>
              <a:rPr lang="en-US" sz="1400" b="0" i="0" dirty="0">
                <a:solidFill>
                  <a:srgbClr val="000000"/>
                </a:solidFill>
                <a:effectLst/>
                <a:latin typeface="SFMono-Regular"/>
              </a:rPr>
              <a:t> &lt;&lt;</a:t>
            </a:r>
            <a:r>
              <a:rPr lang="en-US" sz="1400" b="0" i="0" dirty="0">
                <a:solidFill>
                  <a:srgbClr val="DB003E"/>
                </a:solidFill>
                <a:effectLst/>
                <a:latin typeface="SFMono-Regular"/>
              </a:rPr>
              <a:t>"X = "</a:t>
            </a:r>
            <a:r>
              <a:rPr lang="en-US" sz="1400" b="0" i="0" dirty="0">
                <a:solidFill>
                  <a:srgbClr val="000000"/>
                </a:solidFill>
                <a:effectLst/>
                <a:latin typeface="SFMono-Regular"/>
              </a:rPr>
              <a:t> &lt;&lt; x &lt;&lt; </a:t>
            </a:r>
            <a:r>
              <a:rPr lang="en-US" sz="1400" b="0" i="0" dirty="0">
                <a:solidFill>
                  <a:srgbClr val="DB003E"/>
                </a:solidFill>
                <a:effectLst/>
                <a:latin typeface="SFMono-Regular"/>
              </a:rPr>
              <a:t>"\n"</a:t>
            </a:r>
            <a:r>
              <a:rPr lang="en-US" sz="1400" b="0" i="0" dirty="0">
                <a:solidFill>
                  <a:srgbClr val="000000"/>
                </a:solidFill>
                <a:effectLst/>
                <a:latin typeface="SFMono-Regular"/>
              </a:rPr>
              <a:t>;</a:t>
            </a:r>
            <a:r>
              <a:rPr lang="ru-RU" sz="1400" b="0" i="0" dirty="0">
                <a:solidFill>
                  <a:srgbClr val="000000"/>
                </a:solidFill>
                <a:effectLst/>
                <a:latin typeface="SFMono-Regular"/>
              </a:rPr>
              <a:t>	</a:t>
            </a:r>
            <a:r>
              <a:rPr lang="ru-RU" sz="1400" b="0" i="0" dirty="0">
                <a:solidFill>
                  <a:srgbClr val="00B050"/>
                </a:solidFill>
                <a:effectLst/>
                <a:latin typeface="SFMono-Regular"/>
              </a:rPr>
              <a:t>//0</a:t>
            </a:r>
            <a:endParaRPr lang="en-US" sz="1400" b="0" i="0" dirty="0">
              <a:solidFill>
                <a:srgbClr val="00B050"/>
              </a:solidFill>
              <a:effectLst/>
              <a:latin typeface="SFMono-Regular"/>
            </a:endParaRPr>
          </a:p>
          <a:p>
            <a:pPr algn="l" fontAlgn="base">
              <a:lnSpc>
                <a:spcPts val="1575"/>
              </a:lnSpc>
              <a:buNone/>
            </a:pPr>
            <a:r>
              <a:rPr lang="en-US" sz="1400" b="0" i="0" dirty="0">
                <a:solidFill>
                  <a:srgbClr val="000000"/>
                </a:solidFill>
                <a:effectLst/>
                <a:latin typeface="SFMono-Regular"/>
              </a:rPr>
              <a:t>    std::</a:t>
            </a:r>
            <a:r>
              <a:rPr lang="en-US" sz="1400" b="0" i="0" dirty="0" err="1">
                <a:solidFill>
                  <a:srgbClr val="000000"/>
                </a:solidFill>
                <a:effectLst/>
                <a:latin typeface="SFMono-Regular"/>
              </a:rPr>
              <a:t>cout</a:t>
            </a:r>
            <a:r>
              <a:rPr lang="en-US" sz="1400" b="0" i="0" dirty="0">
                <a:solidFill>
                  <a:srgbClr val="000000"/>
                </a:solidFill>
                <a:effectLst/>
                <a:latin typeface="SFMono-Regular"/>
              </a:rPr>
              <a:t> &lt;&lt;</a:t>
            </a:r>
            <a:r>
              <a:rPr lang="en-US" sz="1400" b="0" i="0" dirty="0">
                <a:solidFill>
                  <a:srgbClr val="DB003E"/>
                </a:solidFill>
                <a:effectLst/>
                <a:latin typeface="SFMono-Regular"/>
              </a:rPr>
              <a:t>"Y = "</a:t>
            </a:r>
            <a:r>
              <a:rPr lang="en-US" sz="1400" b="0" i="0" dirty="0">
                <a:solidFill>
                  <a:srgbClr val="000000"/>
                </a:solidFill>
                <a:effectLst/>
                <a:latin typeface="SFMono-Regular"/>
              </a:rPr>
              <a:t> &lt;&lt; y;</a:t>
            </a:r>
            <a:r>
              <a:rPr lang="ru-RU" sz="1400" b="0" i="0" dirty="0">
                <a:solidFill>
                  <a:srgbClr val="000000"/>
                </a:solidFill>
                <a:effectLst/>
                <a:latin typeface="SFMono-Regular"/>
              </a:rPr>
              <a:t>		</a:t>
            </a:r>
            <a:r>
              <a:rPr lang="ru-RU" sz="1400" b="0" i="0" dirty="0">
                <a:solidFill>
                  <a:srgbClr val="00B050"/>
                </a:solidFill>
                <a:effectLst/>
                <a:latin typeface="SFMono-Regular"/>
              </a:rPr>
              <a:t>//0</a:t>
            </a:r>
            <a:endParaRPr lang="en-US" sz="1400" b="0" i="0" dirty="0">
              <a:solidFill>
                <a:srgbClr val="00B050"/>
              </a:solidFill>
              <a:effectLst/>
              <a:latin typeface="SFMono-Regular"/>
            </a:endParaRPr>
          </a:p>
          <a:p>
            <a:pPr algn="l" fontAlgn="base">
              <a:lnSpc>
                <a:spcPts val="1575"/>
              </a:lnSpc>
              <a:buNone/>
            </a:pPr>
            <a:r>
              <a:rPr lang="en-US" sz="1400" b="0" i="0" dirty="0">
                <a:solidFill>
                  <a:srgbClr val="000000"/>
                </a:solidFill>
                <a:effectLst/>
                <a:latin typeface="SFMono-Regular"/>
              </a:rPr>
              <a:t>}</a:t>
            </a:r>
          </a:p>
          <a:p>
            <a:pPr marL="0" indent="0" algn="l">
              <a:buNone/>
            </a:pPr>
            <a:endParaRPr lang="ru-RU" sz="2000" b="0" i="0" dirty="0">
              <a:effectLst/>
              <a:latin typeface="-apple-system"/>
            </a:endParaRPr>
          </a:p>
          <a:p>
            <a:pPr marL="0" indent="0">
              <a:buNone/>
            </a:pPr>
            <a:endParaRPr lang="ru-RU" sz="2400" b="1" dirty="0"/>
          </a:p>
        </p:txBody>
      </p:sp>
    </p:spTree>
    <p:extLst>
      <p:ext uri="{BB962C8B-B14F-4D97-AF65-F5344CB8AC3E}">
        <p14:creationId xmlns:p14="http://schemas.microsoft.com/office/powerpoint/2010/main" val="1417476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30E245-D347-8078-54E6-823E78F9A36B}"/>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F6B01B5A-C043-F2D3-39C1-4C8A51954ED8}"/>
              </a:ext>
            </a:extLst>
          </p:cNvPr>
          <p:cNvSpPr>
            <a:spLocks noGrp="1"/>
          </p:cNvSpPr>
          <p:nvPr>
            <p:ph idx="1"/>
          </p:nvPr>
        </p:nvSpPr>
        <p:spPr/>
        <p:txBody>
          <a:bodyPr/>
          <a:lstStyle/>
          <a:p>
            <a:pPr marL="0" indent="0">
              <a:buNone/>
            </a:pPr>
            <a:r>
              <a:rPr lang="ru-RU" sz="2000" dirty="0"/>
              <a:t>Переменная x определена вне функции, и поэтому она получит значение по умолчанию - число 0.</a:t>
            </a:r>
          </a:p>
          <a:p>
            <a:pPr marL="0" indent="0">
              <a:buNone/>
            </a:pPr>
            <a:r>
              <a:rPr lang="ru-RU" sz="2000" dirty="0"/>
              <a:t>Гораздо сложнее дело обстоит с переменной y, которая определена внутри функции </a:t>
            </a:r>
            <a:r>
              <a:rPr lang="ru-RU" sz="2000" dirty="0" err="1"/>
              <a:t>main</a:t>
            </a:r>
            <a:r>
              <a:rPr lang="ru-RU" sz="2000" dirty="0"/>
              <a:t> - ее значение будет неопределенным, и многое будет зависеть от используемого компилятора. В частности, вывод программы, скомпилированной с помощью компилятора G++, может выглядеть следующим образом:</a:t>
            </a:r>
          </a:p>
          <a:p>
            <a:pPr marL="0" indent="0">
              <a:buNone/>
            </a:pPr>
            <a:endParaRPr lang="ru-RU" sz="2000" dirty="0"/>
          </a:p>
          <a:p>
            <a:pPr marL="0" indent="0">
              <a:buNone/>
            </a:pPr>
            <a:r>
              <a:rPr lang="ru-RU" sz="2000" dirty="0"/>
              <a:t>А в Visual Studio отсутствие значения переменной y вызовет ошибку компиляции.</a:t>
            </a:r>
          </a:p>
          <a:p>
            <a:pPr marL="0" indent="0">
              <a:buNone/>
            </a:pPr>
            <a:endParaRPr lang="ru-RU" dirty="0"/>
          </a:p>
        </p:txBody>
      </p:sp>
    </p:spTree>
    <p:extLst>
      <p:ext uri="{BB962C8B-B14F-4D97-AF65-F5344CB8AC3E}">
        <p14:creationId xmlns:p14="http://schemas.microsoft.com/office/powerpoint/2010/main" val="3477717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228E93-2AE2-F1D5-0850-A035D47471C6}"/>
              </a:ext>
            </a:extLst>
          </p:cNvPr>
          <p:cNvSpPr>
            <a:spLocks noGrp="1"/>
          </p:cNvSpPr>
          <p:nvPr>
            <p:ph type="title"/>
          </p:nvPr>
        </p:nvSpPr>
        <p:spPr/>
        <p:txBody>
          <a:bodyPr/>
          <a:lstStyle/>
          <a:p>
            <a:r>
              <a:rPr lang="ru-RU" altLang="ru-RU" b="1" dirty="0"/>
              <a:t>Переменные</a:t>
            </a:r>
            <a:endParaRPr lang="ru-RU" dirty="0"/>
          </a:p>
        </p:txBody>
      </p:sp>
      <p:sp>
        <p:nvSpPr>
          <p:cNvPr id="3" name="Объект 2">
            <a:extLst>
              <a:ext uri="{FF2B5EF4-FFF2-40B4-BE49-F238E27FC236}">
                <a16:creationId xmlns:a16="http://schemas.microsoft.com/office/drawing/2014/main" id="{3F496547-4F94-75C3-CBD1-05ECBD86CED0}"/>
              </a:ext>
            </a:extLst>
          </p:cNvPr>
          <p:cNvSpPr>
            <a:spLocks noGrp="1"/>
          </p:cNvSpPr>
          <p:nvPr>
            <p:ph idx="1"/>
          </p:nvPr>
        </p:nvSpPr>
        <p:spPr/>
        <p:txBody>
          <a:bodyPr/>
          <a:lstStyle/>
          <a:p>
            <a:pPr marL="0" indent="0">
              <a:buNone/>
            </a:pPr>
            <a:r>
              <a:rPr lang="ru-RU" b="1" dirty="0"/>
              <a:t>Изменение значения</a:t>
            </a:r>
          </a:p>
          <a:p>
            <a:pPr marL="0" indent="0">
              <a:buNone/>
            </a:pPr>
            <a:r>
              <a:rPr lang="ru-RU" sz="2000" dirty="0"/>
              <a:t>Ключевой особенностью переменных является то, что мы можем изменять их значения:</a:t>
            </a:r>
          </a:p>
          <a:p>
            <a:pPr marL="0" indent="0">
              <a:buNone/>
            </a:pPr>
            <a:endParaRPr lang="ru-RU" dirty="0"/>
          </a:p>
          <a:p>
            <a:pPr algn="l" fontAlgn="base">
              <a:lnSpc>
                <a:spcPts val="1575"/>
              </a:lnSpc>
              <a:buNone/>
            </a:pPr>
            <a:r>
              <a:rPr lang="en-US" b="0" i="0" dirty="0">
                <a:solidFill>
                  <a:srgbClr val="808080"/>
                </a:solidFill>
                <a:effectLst/>
                <a:latin typeface="SFMono-Regular"/>
              </a:rPr>
              <a:t>#include &lt;iostream&gt;</a:t>
            </a:r>
            <a:endParaRPr lang="en-US" b="0" i="0" dirty="0">
              <a:solidFill>
                <a:srgbClr val="000000"/>
              </a:solidFill>
              <a:effectLst/>
              <a:latin typeface="SFMono-Regular"/>
            </a:endParaRPr>
          </a:p>
          <a:p>
            <a:pPr algn="l" fontAlgn="base">
              <a:lnSpc>
                <a:spcPts val="1575"/>
              </a:lnSpc>
              <a:buNone/>
            </a:pPr>
            <a:r>
              <a:rPr lang="en-US" b="0" i="0" dirty="0">
                <a:solidFill>
                  <a:srgbClr val="000000"/>
                </a:solidFill>
                <a:effectLst/>
                <a:latin typeface="SFMono-Regular"/>
              </a:rPr>
              <a:t> </a:t>
            </a:r>
          </a:p>
          <a:p>
            <a:pPr algn="l" fontAlgn="base">
              <a:lnSpc>
                <a:spcPts val="1575"/>
              </a:lnSpc>
              <a:buNone/>
            </a:pPr>
            <a:r>
              <a:rPr lang="en-US" b="1" i="0" dirty="0">
                <a:solidFill>
                  <a:srgbClr val="808080"/>
                </a:solidFill>
                <a:effectLst/>
                <a:latin typeface="SFMono-Regular"/>
              </a:rPr>
              <a:t>int</a:t>
            </a:r>
            <a:r>
              <a:rPr lang="en-US" b="0" i="0" dirty="0">
                <a:solidFill>
                  <a:srgbClr val="000000"/>
                </a:solidFill>
                <a:effectLst/>
                <a:latin typeface="SFMono-Regular"/>
              </a:rPr>
              <a:t> main()</a:t>
            </a:r>
          </a:p>
          <a:p>
            <a:pPr algn="l" fontAlgn="base">
              <a:lnSpc>
                <a:spcPts val="1575"/>
              </a:lnSpc>
              <a:buNone/>
            </a:pPr>
            <a:r>
              <a:rPr lang="en-US" b="0" i="0" dirty="0">
                <a:solidFill>
                  <a:srgbClr val="000000"/>
                </a:solidFill>
                <a:effectLst/>
                <a:latin typeface="SFMono-Regular"/>
              </a:rPr>
              <a:t>{</a:t>
            </a:r>
          </a:p>
          <a:p>
            <a:pPr algn="l" fontAlgn="base">
              <a:lnSpc>
                <a:spcPts val="1575"/>
              </a:lnSpc>
              <a:buNone/>
            </a:pPr>
            <a:r>
              <a:rPr lang="en-US" b="0" i="0" dirty="0">
                <a:solidFill>
                  <a:srgbClr val="000000"/>
                </a:solidFill>
                <a:effectLst/>
                <a:latin typeface="SFMono-Regular"/>
              </a:rPr>
              <a:t>    </a:t>
            </a:r>
            <a:r>
              <a:rPr lang="en-US" b="1" i="0" dirty="0">
                <a:solidFill>
                  <a:srgbClr val="808080"/>
                </a:solidFill>
                <a:effectLst/>
                <a:latin typeface="SFMono-Regular"/>
              </a:rPr>
              <a:t>int</a:t>
            </a:r>
            <a:r>
              <a:rPr lang="en-US" b="0" i="0" dirty="0">
                <a:solidFill>
                  <a:srgbClr val="000000"/>
                </a:solidFill>
                <a:effectLst/>
                <a:latin typeface="SFMono-Regular"/>
              </a:rPr>
              <a:t> age = 22;</a:t>
            </a:r>
          </a:p>
          <a:p>
            <a:pPr algn="l" fontAlgn="base">
              <a:lnSpc>
                <a:spcPts val="1575"/>
              </a:lnSpc>
              <a:buNone/>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 &lt;&lt; </a:t>
            </a:r>
            <a:r>
              <a:rPr lang="en-US" b="0" i="0" dirty="0">
                <a:solidFill>
                  <a:srgbClr val="DB003E"/>
                </a:solidFill>
                <a:effectLst/>
                <a:latin typeface="SFMono-Regular"/>
              </a:rPr>
              <a:t>"Age1 = "</a:t>
            </a:r>
            <a:r>
              <a:rPr lang="en-US" b="0" i="0" dirty="0">
                <a:solidFill>
                  <a:srgbClr val="000000"/>
                </a:solidFill>
                <a:effectLst/>
                <a:latin typeface="SFMono-Regular"/>
              </a:rPr>
              <a:t> &lt;&lt; age &lt;&lt; </a:t>
            </a:r>
            <a:r>
              <a:rPr lang="en-US" b="0" i="0" dirty="0">
                <a:solidFill>
                  <a:srgbClr val="DB003E"/>
                </a:solidFill>
                <a:effectLst/>
                <a:latin typeface="SFMono-Regular"/>
              </a:rPr>
              <a:t>"\n"</a:t>
            </a:r>
            <a:r>
              <a:rPr lang="en-US" b="0" i="0" dirty="0">
                <a:solidFill>
                  <a:srgbClr val="000000"/>
                </a:solidFill>
                <a:effectLst/>
                <a:latin typeface="SFMono-Regular"/>
              </a:rPr>
              <a:t>;</a:t>
            </a:r>
            <a:r>
              <a:rPr lang="ru-RU" b="0" i="0" dirty="0">
                <a:solidFill>
                  <a:srgbClr val="000000"/>
                </a:solidFill>
                <a:effectLst/>
                <a:latin typeface="SFMono-Regular"/>
              </a:rPr>
              <a:t>	</a:t>
            </a:r>
            <a:r>
              <a:rPr lang="ru-RU" b="0" i="0" dirty="0">
                <a:solidFill>
                  <a:srgbClr val="00B050"/>
                </a:solidFill>
                <a:effectLst/>
                <a:latin typeface="SFMono-Regular"/>
              </a:rPr>
              <a:t>//22</a:t>
            </a:r>
            <a:endParaRPr lang="en-US" b="0" i="0" dirty="0">
              <a:solidFill>
                <a:srgbClr val="00B050"/>
              </a:solidFill>
              <a:effectLst/>
              <a:latin typeface="SFMono-Regular"/>
            </a:endParaRPr>
          </a:p>
          <a:p>
            <a:pPr algn="l" fontAlgn="base">
              <a:lnSpc>
                <a:spcPts val="1575"/>
              </a:lnSpc>
              <a:buNone/>
            </a:pPr>
            <a:r>
              <a:rPr lang="en-US" b="0" i="0" dirty="0">
                <a:solidFill>
                  <a:srgbClr val="000000"/>
                </a:solidFill>
                <a:effectLst/>
                <a:latin typeface="SFMono-Regular"/>
              </a:rPr>
              <a:t>    age = 23;</a:t>
            </a:r>
          </a:p>
          <a:p>
            <a:pPr algn="l" fontAlgn="base">
              <a:lnSpc>
                <a:spcPts val="1575"/>
              </a:lnSpc>
              <a:buNone/>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 &lt;&lt; </a:t>
            </a:r>
            <a:r>
              <a:rPr lang="en-US" b="0" i="0" dirty="0">
                <a:solidFill>
                  <a:srgbClr val="DB003E"/>
                </a:solidFill>
                <a:effectLst/>
                <a:latin typeface="SFMono-Regular"/>
              </a:rPr>
              <a:t>"Age2 = "</a:t>
            </a:r>
            <a:r>
              <a:rPr lang="en-US" b="0" i="0" dirty="0">
                <a:solidFill>
                  <a:srgbClr val="000000"/>
                </a:solidFill>
                <a:effectLst/>
                <a:latin typeface="SFMono-Regular"/>
              </a:rPr>
              <a:t> &lt;&lt; age &lt;&lt; </a:t>
            </a:r>
            <a:r>
              <a:rPr lang="en-US" b="0" i="0" dirty="0">
                <a:solidFill>
                  <a:srgbClr val="DB003E"/>
                </a:solidFill>
                <a:effectLst/>
                <a:latin typeface="SFMono-Regular"/>
              </a:rPr>
              <a:t>"\n"</a:t>
            </a:r>
            <a:r>
              <a:rPr lang="en-US" b="0" i="0" dirty="0">
                <a:solidFill>
                  <a:srgbClr val="000000"/>
                </a:solidFill>
                <a:effectLst/>
                <a:latin typeface="SFMono-Regular"/>
              </a:rPr>
              <a:t>;</a:t>
            </a:r>
            <a:r>
              <a:rPr lang="ru-RU" b="0" i="0" dirty="0">
                <a:solidFill>
                  <a:srgbClr val="000000"/>
                </a:solidFill>
                <a:effectLst/>
                <a:latin typeface="SFMono-Regular"/>
              </a:rPr>
              <a:t>	</a:t>
            </a:r>
            <a:r>
              <a:rPr lang="ru-RU" b="0" i="0" dirty="0">
                <a:solidFill>
                  <a:srgbClr val="00B050"/>
                </a:solidFill>
                <a:effectLst/>
                <a:latin typeface="SFMono-Regular"/>
              </a:rPr>
              <a:t>//23</a:t>
            </a:r>
            <a:endParaRPr lang="en-US" b="0" i="0" dirty="0">
              <a:solidFill>
                <a:srgbClr val="00B050"/>
              </a:solidFill>
              <a:effectLst/>
              <a:latin typeface="SFMono-Regular"/>
            </a:endParaRPr>
          </a:p>
          <a:p>
            <a:pPr algn="l" fontAlgn="base">
              <a:lnSpc>
                <a:spcPts val="1575"/>
              </a:lnSpc>
              <a:buNone/>
            </a:pPr>
            <a:r>
              <a:rPr lang="en-US" b="0" i="0" dirty="0">
                <a:solidFill>
                  <a:srgbClr val="000000"/>
                </a:solidFill>
                <a:effectLst/>
                <a:latin typeface="SFMono-Regular"/>
              </a:rPr>
              <a:t>    age = 38;</a:t>
            </a:r>
          </a:p>
          <a:p>
            <a:pPr algn="l" fontAlgn="base">
              <a:lnSpc>
                <a:spcPts val="1575"/>
              </a:lnSpc>
              <a:buNone/>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 &lt;&lt; </a:t>
            </a:r>
            <a:r>
              <a:rPr lang="en-US" b="0" i="0" dirty="0">
                <a:solidFill>
                  <a:srgbClr val="DB003E"/>
                </a:solidFill>
                <a:effectLst/>
                <a:latin typeface="SFMono-Regular"/>
              </a:rPr>
              <a:t>"Age3 = "</a:t>
            </a:r>
            <a:r>
              <a:rPr lang="en-US" b="0" i="0" dirty="0">
                <a:solidFill>
                  <a:srgbClr val="000000"/>
                </a:solidFill>
                <a:effectLst/>
                <a:latin typeface="SFMono-Regular"/>
              </a:rPr>
              <a:t> &lt;&lt; age &lt;&lt; </a:t>
            </a:r>
            <a:r>
              <a:rPr lang="en-US" b="0" i="0" dirty="0">
                <a:solidFill>
                  <a:srgbClr val="DB003E"/>
                </a:solidFill>
                <a:effectLst/>
                <a:latin typeface="SFMono-Regular"/>
              </a:rPr>
              <a:t>"\n"</a:t>
            </a:r>
            <a:r>
              <a:rPr lang="en-US" b="0" i="0" dirty="0">
                <a:solidFill>
                  <a:srgbClr val="000000"/>
                </a:solidFill>
                <a:effectLst/>
                <a:latin typeface="SFMono-Regular"/>
              </a:rPr>
              <a:t>;</a:t>
            </a:r>
            <a:r>
              <a:rPr lang="ru-RU" b="0" i="0" dirty="0">
                <a:solidFill>
                  <a:srgbClr val="000000"/>
                </a:solidFill>
                <a:effectLst/>
                <a:latin typeface="SFMono-Regular"/>
              </a:rPr>
              <a:t>	</a:t>
            </a:r>
            <a:r>
              <a:rPr lang="ru-RU" b="0" i="0" dirty="0">
                <a:solidFill>
                  <a:srgbClr val="00B050"/>
                </a:solidFill>
                <a:effectLst/>
                <a:latin typeface="SFMono-Regular"/>
              </a:rPr>
              <a:t>//38</a:t>
            </a:r>
            <a:endParaRPr lang="en-US" b="0" i="0" dirty="0">
              <a:solidFill>
                <a:srgbClr val="00B050"/>
              </a:solidFill>
              <a:effectLst/>
              <a:latin typeface="SFMono-Regular"/>
            </a:endParaRPr>
          </a:p>
          <a:p>
            <a:pPr algn="l" fontAlgn="base">
              <a:lnSpc>
                <a:spcPts val="1575"/>
              </a:lnSpc>
              <a:buNone/>
            </a:pPr>
            <a:r>
              <a:rPr lang="en-US" b="0" i="0" dirty="0">
                <a:solidFill>
                  <a:srgbClr val="000000"/>
                </a:solidFill>
                <a:effectLst/>
                <a:latin typeface="SFMono-Regular"/>
              </a:rPr>
              <a:t>}</a:t>
            </a:r>
          </a:p>
          <a:p>
            <a:pPr marL="0" indent="0">
              <a:buNone/>
            </a:pPr>
            <a:endParaRPr lang="ru-RU" dirty="0"/>
          </a:p>
        </p:txBody>
      </p:sp>
    </p:spTree>
    <p:extLst>
      <p:ext uri="{BB962C8B-B14F-4D97-AF65-F5344CB8AC3E}">
        <p14:creationId xmlns:p14="http://schemas.microsoft.com/office/powerpoint/2010/main" val="20343176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873196-9A02-4FF1-6C2D-57848049CDDD}"/>
              </a:ext>
            </a:extLst>
          </p:cNvPr>
          <p:cNvSpPr>
            <a:spLocks noGrp="1"/>
          </p:cNvSpPr>
          <p:nvPr>
            <p:ph type="title"/>
          </p:nvPr>
        </p:nvSpPr>
        <p:spPr/>
        <p:txBody>
          <a:bodyPr/>
          <a:lstStyle/>
          <a:p>
            <a:r>
              <a:rPr lang="ru-RU" dirty="0"/>
              <a:t>Константы</a:t>
            </a:r>
          </a:p>
        </p:txBody>
      </p:sp>
      <p:sp>
        <p:nvSpPr>
          <p:cNvPr id="3" name="Объект 2">
            <a:extLst>
              <a:ext uri="{FF2B5EF4-FFF2-40B4-BE49-F238E27FC236}">
                <a16:creationId xmlns:a16="http://schemas.microsoft.com/office/drawing/2014/main" id="{DDC14795-CED2-9E19-B808-F18436864E1B}"/>
              </a:ext>
            </a:extLst>
          </p:cNvPr>
          <p:cNvSpPr>
            <a:spLocks noGrp="1"/>
          </p:cNvSpPr>
          <p:nvPr>
            <p:ph idx="1"/>
          </p:nvPr>
        </p:nvSpPr>
        <p:spPr/>
        <p:txBody>
          <a:bodyPr/>
          <a:lstStyle/>
          <a:p>
            <a:pPr marL="0" indent="0">
              <a:buNone/>
            </a:pPr>
            <a:r>
              <a:rPr lang="ru-RU" sz="2000" dirty="0"/>
              <a:t>Отличительной особенностью переменных является то, что мы можем многократно в течение работы программы изменять их значение</a:t>
            </a:r>
            <a:r>
              <a:rPr lang="ru-RU" dirty="0"/>
              <a:t>:</a:t>
            </a:r>
          </a:p>
          <a:p>
            <a:pPr marL="1708150" indent="0">
              <a:buNone/>
            </a:pPr>
            <a:r>
              <a:rPr lang="pt-BR" sz="1800" b="1" dirty="0"/>
              <a:t>int</a:t>
            </a:r>
            <a:r>
              <a:rPr lang="pt-BR" sz="1800" dirty="0"/>
              <a:t> n {7};</a:t>
            </a:r>
          </a:p>
          <a:p>
            <a:pPr marL="1708150" indent="0">
              <a:buNone/>
            </a:pPr>
            <a:r>
              <a:rPr lang="pt-BR" sz="1800" dirty="0"/>
              <a:t>n = 9;</a:t>
            </a:r>
          </a:p>
          <a:p>
            <a:pPr marL="1708150" indent="0">
              <a:buNone/>
            </a:pPr>
            <a:r>
              <a:rPr lang="pt-BR" sz="1800" dirty="0"/>
              <a:t>n = 5;</a:t>
            </a:r>
          </a:p>
          <a:p>
            <a:pPr marL="0" indent="0">
              <a:buNone/>
            </a:pPr>
            <a:r>
              <a:rPr lang="ru-RU" sz="2000" dirty="0"/>
              <a:t>Но кроме переменных в языке программирования C++ можно определять </a:t>
            </a:r>
            <a:r>
              <a:rPr lang="ru-RU" sz="2000" b="1" dirty="0"/>
              <a:t>константы</a:t>
            </a:r>
            <a:r>
              <a:rPr lang="ru-RU" sz="2000" dirty="0"/>
              <a:t>. Их значение устанавливается один раз и впоследствии мы его не можем изменить.</a:t>
            </a:r>
          </a:p>
          <a:p>
            <a:pPr marL="1614488" indent="0">
              <a:buNone/>
            </a:pPr>
            <a:r>
              <a:rPr lang="de-CH" sz="1600" b="1" dirty="0" err="1"/>
              <a:t>const</a:t>
            </a:r>
            <a:r>
              <a:rPr lang="de-CH" sz="1600" dirty="0"/>
              <a:t> int n {22};</a:t>
            </a:r>
          </a:p>
          <a:p>
            <a:pPr marL="1614488" indent="0">
              <a:buNone/>
            </a:pPr>
            <a:r>
              <a:rPr lang="de-CH" sz="1600" dirty="0">
                <a:solidFill>
                  <a:srgbClr val="00B050"/>
                </a:solidFill>
              </a:rPr>
              <a:t>// </a:t>
            </a:r>
            <a:r>
              <a:rPr lang="ru-RU" sz="1600" dirty="0">
                <a:solidFill>
                  <a:srgbClr val="00B050"/>
                </a:solidFill>
              </a:rPr>
              <a:t>или </a:t>
            </a:r>
          </a:p>
          <a:p>
            <a:pPr marL="1614488" indent="0">
              <a:buNone/>
            </a:pPr>
            <a:r>
              <a:rPr lang="ru-RU" sz="1600" dirty="0">
                <a:solidFill>
                  <a:srgbClr val="00B050"/>
                </a:solidFill>
              </a:rPr>
              <a:t>// </a:t>
            </a:r>
            <a:r>
              <a:rPr lang="de-CH" sz="1600" dirty="0" err="1">
                <a:solidFill>
                  <a:srgbClr val="00B050"/>
                </a:solidFill>
              </a:rPr>
              <a:t>const</a:t>
            </a:r>
            <a:r>
              <a:rPr lang="de-CH" sz="1600" dirty="0">
                <a:solidFill>
                  <a:srgbClr val="00B050"/>
                </a:solidFill>
              </a:rPr>
              <a:t> int n = 22;</a:t>
            </a:r>
            <a:endParaRPr lang="ru-RU" sz="1600" dirty="0">
              <a:solidFill>
                <a:srgbClr val="00B050"/>
              </a:solidFill>
            </a:endParaRPr>
          </a:p>
        </p:txBody>
      </p:sp>
    </p:spTree>
    <p:extLst>
      <p:ext uri="{BB962C8B-B14F-4D97-AF65-F5344CB8AC3E}">
        <p14:creationId xmlns:p14="http://schemas.microsoft.com/office/powerpoint/2010/main" val="771014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627E7-AE66-031E-317B-116EE1CF7D8B}"/>
              </a:ext>
            </a:extLst>
          </p:cNvPr>
          <p:cNvSpPr>
            <a:spLocks noGrp="1"/>
          </p:cNvSpPr>
          <p:nvPr>
            <p:ph type="title"/>
          </p:nvPr>
        </p:nvSpPr>
        <p:spPr/>
        <p:txBody>
          <a:bodyPr/>
          <a:lstStyle/>
          <a:p>
            <a:r>
              <a:rPr lang="ru-RU" dirty="0"/>
              <a:t>Типы данных</a:t>
            </a:r>
          </a:p>
        </p:txBody>
      </p:sp>
      <p:sp>
        <p:nvSpPr>
          <p:cNvPr id="3" name="Объект 2">
            <a:extLst>
              <a:ext uri="{FF2B5EF4-FFF2-40B4-BE49-F238E27FC236}">
                <a16:creationId xmlns:a16="http://schemas.microsoft.com/office/drawing/2014/main" id="{475544D5-D0F2-16B1-9418-AACC706BBFFE}"/>
              </a:ext>
            </a:extLst>
          </p:cNvPr>
          <p:cNvSpPr>
            <a:spLocks noGrp="1"/>
          </p:cNvSpPr>
          <p:nvPr>
            <p:ph idx="1"/>
          </p:nvPr>
        </p:nvSpPr>
        <p:spPr/>
        <p:txBody>
          <a:bodyPr/>
          <a:lstStyle/>
          <a:p>
            <a:pPr marL="0" indent="0" algn="ctr">
              <a:buNone/>
            </a:pPr>
            <a:r>
              <a:rPr lang="ru-RU" sz="2000" b="1" dirty="0"/>
              <a:t>Логический тип</a:t>
            </a:r>
            <a:r>
              <a:rPr lang="en-US" sz="2000" b="1" dirty="0"/>
              <a:t>:</a:t>
            </a:r>
          </a:p>
          <a:p>
            <a:pPr marL="0" indent="0">
              <a:buNone/>
            </a:pPr>
            <a:r>
              <a:rPr lang="ru-RU" sz="2000" dirty="0"/>
              <a:t>Логический тип </a:t>
            </a:r>
            <a:r>
              <a:rPr lang="ru-RU" sz="2000" b="1" dirty="0" err="1"/>
              <a:t>bool</a:t>
            </a:r>
            <a:r>
              <a:rPr lang="ru-RU" sz="2000" dirty="0"/>
              <a:t> может хранить одно из двух значений: </a:t>
            </a:r>
            <a:r>
              <a:rPr lang="ru-RU" sz="2000" b="1" dirty="0" err="1"/>
              <a:t>true</a:t>
            </a:r>
            <a:r>
              <a:rPr lang="ru-RU" sz="2000" dirty="0"/>
              <a:t> (истинно, верно) и </a:t>
            </a:r>
            <a:r>
              <a:rPr lang="ru-RU" sz="2000" b="1" dirty="0" err="1"/>
              <a:t>false</a:t>
            </a:r>
            <a:r>
              <a:rPr lang="ru-RU" sz="2000" dirty="0"/>
              <a:t> (неверно, ложно). Например, определим пару переменных данного типа и выведем их значения на консоль:</a:t>
            </a:r>
            <a:endParaRPr lang="en-US" sz="2000" dirty="0"/>
          </a:p>
          <a:p>
            <a:pPr marL="0" indent="0">
              <a:buNone/>
            </a:pPr>
            <a:r>
              <a:rPr lang="de-CH" sz="2000" b="1" dirty="0"/>
              <a:t>int</a:t>
            </a:r>
            <a:r>
              <a:rPr lang="de-CH" sz="2000" dirty="0"/>
              <a:t> </a:t>
            </a:r>
            <a:r>
              <a:rPr lang="de-CH" sz="2000" dirty="0" err="1"/>
              <a:t>main</a:t>
            </a:r>
            <a:r>
              <a:rPr lang="de-CH" sz="2000" dirty="0"/>
              <a:t>()</a:t>
            </a:r>
          </a:p>
          <a:p>
            <a:pPr marL="0" indent="0">
              <a:buNone/>
            </a:pPr>
            <a:r>
              <a:rPr lang="de-CH" sz="2000" dirty="0"/>
              <a:t>{</a:t>
            </a:r>
          </a:p>
          <a:p>
            <a:pPr marL="0" indent="0">
              <a:buNone/>
            </a:pPr>
            <a:r>
              <a:rPr lang="de-CH" sz="2000" dirty="0"/>
              <a:t>    </a:t>
            </a:r>
            <a:r>
              <a:rPr lang="de-CH" sz="2000" b="1" dirty="0" err="1"/>
              <a:t>bool</a:t>
            </a:r>
            <a:r>
              <a:rPr lang="de-CH" sz="2000" dirty="0"/>
              <a:t> </a:t>
            </a:r>
            <a:r>
              <a:rPr lang="de-CH" sz="2000" dirty="0" err="1"/>
              <a:t>isAlive</a:t>
            </a:r>
            <a:r>
              <a:rPr lang="de-CH" sz="2000" dirty="0"/>
              <a:t> {</a:t>
            </a:r>
            <a:r>
              <a:rPr lang="de-CH" sz="2000" b="1" dirty="0" err="1"/>
              <a:t>true</a:t>
            </a:r>
            <a:r>
              <a:rPr lang="de-CH" sz="2000" dirty="0"/>
              <a:t>};</a:t>
            </a:r>
          </a:p>
          <a:p>
            <a:pPr marL="0" indent="0">
              <a:buNone/>
            </a:pPr>
            <a:r>
              <a:rPr lang="de-CH" sz="2000" dirty="0"/>
              <a:t>    </a:t>
            </a:r>
            <a:r>
              <a:rPr lang="de-CH" sz="2000" b="1" dirty="0" err="1"/>
              <a:t>bool</a:t>
            </a:r>
            <a:r>
              <a:rPr lang="de-CH" sz="2000" dirty="0"/>
              <a:t> </a:t>
            </a:r>
            <a:r>
              <a:rPr lang="de-CH" sz="2000" dirty="0" err="1"/>
              <a:t>isDead</a:t>
            </a:r>
            <a:r>
              <a:rPr lang="de-CH" sz="2000" dirty="0"/>
              <a:t> {</a:t>
            </a:r>
            <a:r>
              <a:rPr lang="de-CH" sz="2000" b="1" dirty="0" err="1"/>
              <a:t>false</a:t>
            </a:r>
            <a:r>
              <a:rPr lang="de-CH" sz="2000" dirty="0"/>
              <a:t>};</a:t>
            </a:r>
          </a:p>
          <a:p>
            <a:pPr marL="0" indent="0">
              <a:buNone/>
            </a:pPr>
            <a:r>
              <a:rPr lang="de-CH" sz="2000" dirty="0"/>
              <a:t>    </a:t>
            </a:r>
            <a:r>
              <a:rPr lang="de-CH" sz="2000" dirty="0" err="1"/>
              <a:t>std</a:t>
            </a:r>
            <a:r>
              <a:rPr lang="de-CH" sz="2000" dirty="0"/>
              <a:t>::</a:t>
            </a:r>
            <a:r>
              <a:rPr lang="de-CH" sz="2000" dirty="0" err="1"/>
              <a:t>cout</a:t>
            </a:r>
            <a:r>
              <a:rPr lang="de-CH" sz="2000" dirty="0"/>
              <a:t> &lt;&lt; "</a:t>
            </a:r>
            <a:r>
              <a:rPr lang="de-CH" sz="2000" dirty="0" err="1"/>
              <a:t>isAlive</a:t>
            </a:r>
            <a:r>
              <a:rPr lang="de-CH" sz="2000" dirty="0"/>
              <a:t>: " &lt;&lt; </a:t>
            </a:r>
            <a:r>
              <a:rPr lang="de-CH" sz="2000" dirty="0" err="1"/>
              <a:t>isAlive</a:t>
            </a:r>
            <a:r>
              <a:rPr lang="de-CH" sz="2000" dirty="0"/>
              <a:t> &lt;&lt; "\n"; </a:t>
            </a:r>
          </a:p>
          <a:p>
            <a:pPr marL="0" indent="0">
              <a:buNone/>
            </a:pPr>
            <a:r>
              <a:rPr lang="de-CH" sz="2000" dirty="0"/>
              <a:t>    </a:t>
            </a:r>
            <a:r>
              <a:rPr lang="de-CH" sz="2000" dirty="0" err="1"/>
              <a:t>std</a:t>
            </a:r>
            <a:r>
              <a:rPr lang="de-CH" sz="2000" dirty="0"/>
              <a:t>::</a:t>
            </a:r>
            <a:r>
              <a:rPr lang="de-CH" sz="2000" dirty="0" err="1"/>
              <a:t>cout</a:t>
            </a:r>
            <a:r>
              <a:rPr lang="de-CH" sz="2000" dirty="0"/>
              <a:t> &lt;&lt; "</a:t>
            </a:r>
            <a:r>
              <a:rPr lang="de-CH" sz="2000" dirty="0" err="1"/>
              <a:t>isDead</a:t>
            </a:r>
            <a:r>
              <a:rPr lang="de-CH" sz="2000" dirty="0"/>
              <a:t>: " &lt;&lt; </a:t>
            </a:r>
            <a:r>
              <a:rPr lang="de-CH" sz="2000" dirty="0" err="1"/>
              <a:t>isDead</a:t>
            </a:r>
            <a:r>
              <a:rPr lang="de-CH" sz="2000" dirty="0"/>
              <a:t> &lt;&lt; "\n"; </a:t>
            </a:r>
          </a:p>
          <a:p>
            <a:pPr marL="0" indent="0">
              <a:buNone/>
            </a:pPr>
            <a:r>
              <a:rPr lang="de-CH" sz="2000" dirty="0"/>
              <a:t>}</a:t>
            </a:r>
          </a:p>
          <a:p>
            <a:pPr marL="0" indent="0">
              <a:buNone/>
            </a:pPr>
            <a:endParaRPr lang="ru-RU" sz="2000" dirty="0"/>
          </a:p>
        </p:txBody>
      </p:sp>
    </p:spTree>
    <p:extLst>
      <p:ext uri="{BB962C8B-B14F-4D97-AF65-F5344CB8AC3E}">
        <p14:creationId xmlns:p14="http://schemas.microsoft.com/office/powerpoint/2010/main" val="1922036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FB1614-6622-05F4-4E67-CBD6F46F505B}"/>
              </a:ext>
            </a:extLst>
          </p:cNvPr>
          <p:cNvSpPr>
            <a:spLocks noGrp="1"/>
          </p:cNvSpPr>
          <p:nvPr>
            <p:ph type="title"/>
          </p:nvPr>
        </p:nvSpPr>
        <p:spPr/>
        <p:txBody>
          <a:bodyPr/>
          <a:lstStyle/>
          <a:p>
            <a:r>
              <a:rPr lang="ru-RU" b="1" dirty="0"/>
              <a:t>Целочисленные типы</a:t>
            </a:r>
            <a:br>
              <a:rPr lang="ru-RU" b="1" dirty="0"/>
            </a:br>
            <a:endParaRPr lang="ru-RU" dirty="0"/>
          </a:p>
        </p:txBody>
      </p:sp>
      <p:sp>
        <p:nvSpPr>
          <p:cNvPr id="3" name="Объект 2">
            <a:extLst>
              <a:ext uri="{FF2B5EF4-FFF2-40B4-BE49-F238E27FC236}">
                <a16:creationId xmlns:a16="http://schemas.microsoft.com/office/drawing/2014/main" id="{1BB6EB92-F350-0A3C-8B69-071EAD4E7F1C}"/>
              </a:ext>
            </a:extLst>
          </p:cNvPr>
          <p:cNvSpPr>
            <a:spLocks noGrp="1"/>
          </p:cNvSpPr>
          <p:nvPr>
            <p:ph idx="1"/>
          </p:nvPr>
        </p:nvSpPr>
        <p:spPr/>
        <p:txBody>
          <a:bodyPr/>
          <a:lstStyle/>
          <a:p>
            <a:pPr marL="0" indent="0">
              <a:buNone/>
            </a:pPr>
            <a:r>
              <a:rPr lang="ru-RU" sz="2000" dirty="0"/>
              <a:t>Целые числа в языке C++ представлены следующими типами:</a:t>
            </a:r>
          </a:p>
          <a:p>
            <a:r>
              <a:rPr lang="ru-RU" sz="1600" b="1" dirty="0" err="1"/>
              <a:t>signed</a:t>
            </a:r>
            <a:r>
              <a:rPr lang="ru-RU" sz="1600" b="1" dirty="0"/>
              <a:t> </a:t>
            </a:r>
            <a:r>
              <a:rPr lang="ru-RU" sz="1600" b="1" dirty="0" err="1"/>
              <a:t>char</a:t>
            </a:r>
            <a:r>
              <a:rPr lang="ru-RU" sz="1600" dirty="0"/>
              <a:t>: представляет один символ. Занимает в памяти 1 байт (8 бит). Может хранить любой значение из диапазона от -128 до 127</a:t>
            </a:r>
          </a:p>
          <a:p>
            <a:endParaRPr lang="ru-RU" sz="1600" dirty="0"/>
          </a:p>
          <a:p>
            <a:r>
              <a:rPr lang="ru-RU" sz="1600" b="1" dirty="0" err="1"/>
              <a:t>unsigned</a:t>
            </a:r>
            <a:r>
              <a:rPr lang="ru-RU" sz="1600" b="1" dirty="0"/>
              <a:t> </a:t>
            </a:r>
            <a:r>
              <a:rPr lang="ru-RU" sz="1600" b="1" dirty="0" err="1"/>
              <a:t>char</a:t>
            </a:r>
            <a:r>
              <a:rPr lang="ru-RU" sz="1600" dirty="0"/>
              <a:t>: представляет один символ. Занимает в памяти 1 байт (8 бит). Может хранить любой значение из диапазона от 0 до 255</a:t>
            </a:r>
          </a:p>
          <a:p>
            <a:endParaRPr lang="ru-RU" sz="1600" dirty="0"/>
          </a:p>
          <a:p>
            <a:r>
              <a:rPr lang="ru-RU" sz="1600" b="1" dirty="0" err="1"/>
              <a:t>char</a:t>
            </a:r>
            <a:r>
              <a:rPr lang="ru-RU" sz="1600" dirty="0"/>
              <a:t>: представляет один символ в кодировке ASCII. Занимает в памяти 1 байт (8 бит). Может хранить любое значение из диапазона от -128 до 127, либо от 0 до 255</a:t>
            </a:r>
          </a:p>
          <a:p>
            <a:pPr marL="400050" lvl="1" indent="0">
              <a:buNone/>
            </a:pPr>
            <a:r>
              <a:rPr lang="ru-RU" sz="1600" dirty="0"/>
              <a:t>Несмотря на то, что данный тип представляет тот же диапазон значений, что и вышеописанный тип </a:t>
            </a:r>
            <a:r>
              <a:rPr lang="ru-RU" sz="1600" dirty="0" err="1"/>
              <a:t>signed</a:t>
            </a:r>
            <a:r>
              <a:rPr lang="ru-RU" sz="1600" dirty="0"/>
              <a:t> </a:t>
            </a:r>
            <a:r>
              <a:rPr lang="ru-RU" sz="1600" dirty="0" err="1"/>
              <a:t>char</a:t>
            </a:r>
            <a:r>
              <a:rPr lang="ru-RU" sz="1600" dirty="0"/>
              <a:t>, но они не эквивалентны. Тип </a:t>
            </a:r>
            <a:r>
              <a:rPr lang="ru-RU" sz="1600" dirty="0" err="1"/>
              <a:t>char</a:t>
            </a:r>
            <a:r>
              <a:rPr lang="ru-RU" sz="1600" dirty="0"/>
              <a:t> предназначен для хранения числового кода символа и в реальности может представлять как </a:t>
            </a:r>
            <a:r>
              <a:rPr lang="ru-RU" sz="1600" dirty="0" err="1"/>
              <a:t>signed</a:t>
            </a:r>
            <a:r>
              <a:rPr lang="ru-RU" sz="1600" dirty="0"/>
              <a:t> </a:t>
            </a:r>
            <a:r>
              <a:rPr lang="ru-RU" sz="1600" dirty="0" err="1"/>
              <a:t>char</a:t>
            </a:r>
            <a:r>
              <a:rPr lang="ru-RU" sz="1600" dirty="0"/>
              <a:t>, так и </a:t>
            </a:r>
            <a:r>
              <a:rPr lang="ru-RU" sz="1600" dirty="0" err="1"/>
              <a:t>unsigned</a:t>
            </a:r>
            <a:r>
              <a:rPr lang="ru-RU" sz="1600" dirty="0"/>
              <a:t> </a:t>
            </a:r>
            <a:r>
              <a:rPr lang="ru-RU" sz="1600" dirty="0" err="1"/>
              <a:t>char</a:t>
            </a:r>
            <a:r>
              <a:rPr lang="ru-RU" sz="1600" dirty="0"/>
              <a:t> в зависимости от конкретного компилятора.</a:t>
            </a:r>
          </a:p>
          <a:p>
            <a:pPr marL="0" indent="0">
              <a:buNone/>
            </a:pPr>
            <a:endParaRPr lang="ru-RU" sz="2000" dirty="0"/>
          </a:p>
        </p:txBody>
      </p:sp>
    </p:spTree>
    <p:extLst>
      <p:ext uri="{BB962C8B-B14F-4D97-AF65-F5344CB8AC3E}">
        <p14:creationId xmlns:p14="http://schemas.microsoft.com/office/powerpoint/2010/main" val="41903235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069BC1-3426-AAB1-5478-5533CEC0AFB5}"/>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AE417E27-14D8-DCF4-0D92-9379E527512A}"/>
              </a:ext>
            </a:extLst>
          </p:cNvPr>
          <p:cNvSpPr>
            <a:spLocks noGrp="1"/>
          </p:cNvSpPr>
          <p:nvPr>
            <p:ph idx="1"/>
          </p:nvPr>
        </p:nvSpPr>
        <p:spPr/>
        <p:txBody>
          <a:bodyPr/>
          <a:lstStyle/>
          <a:p>
            <a:endParaRPr lang="ru-RU" sz="1600" b="1" dirty="0"/>
          </a:p>
          <a:p>
            <a:r>
              <a:rPr lang="de-CH" sz="1600" b="1" dirty="0" err="1"/>
              <a:t>short</a:t>
            </a:r>
            <a:r>
              <a:rPr lang="de-CH" sz="1600" dirty="0"/>
              <a:t>: </a:t>
            </a:r>
            <a:r>
              <a:rPr lang="ru-RU" sz="1600" dirty="0"/>
              <a:t>представляет целое число в диапазоне от –32768 до 32767. Занимает в памяти 2 байта (16 бит).</a:t>
            </a:r>
          </a:p>
          <a:p>
            <a:pPr marL="354013" indent="0">
              <a:buNone/>
            </a:pPr>
            <a:r>
              <a:rPr lang="ru-RU" sz="1600" dirty="0"/>
              <a:t>Данный тип также имеет псевдонимы </a:t>
            </a:r>
            <a:r>
              <a:rPr lang="de-CH" sz="1600" b="1" dirty="0" err="1"/>
              <a:t>short</a:t>
            </a:r>
            <a:r>
              <a:rPr lang="de-CH" sz="1600" b="1" dirty="0"/>
              <a:t> int</a:t>
            </a:r>
            <a:r>
              <a:rPr lang="de-CH" sz="1600" dirty="0"/>
              <a:t>, </a:t>
            </a:r>
            <a:r>
              <a:rPr lang="de-CH" sz="1600" b="1" dirty="0" err="1"/>
              <a:t>signed</a:t>
            </a:r>
            <a:r>
              <a:rPr lang="de-CH" sz="1600" b="1" dirty="0"/>
              <a:t> </a:t>
            </a:r>
            <a:r>
              <a:rPr lang="de-CH" sz="1600" b="1" dirty="0" err="1"/>
              <a:t>short</a:t>
            </a:r>
            <a:r>
              <a:rPr lang="de-CH" sz="1600" b="1" dirty="0"/>
              <a:t> int</a:t>
            </a:r>
            <a:r>
              <a:rPr lang="de-CH" sz="1600" dirty="0"/>
              <a:t>, </a:t>
            </a:r>
            <a:r>
              <a:rPr lang="de-CH" sz="1600" b="1" dirty="0" err="1"/>
              <a:t>signed</a:t>
            </a:r>
            <a:r>
              <a:rPr lang="de-CH" sz="1600" b="1" dirty="0"/>
              <a:t> </a:t>
            </a:r>
            <a:r>
              <a:rPr lang="de-CH" sz="1600" b="1" dirty="0" err="1"/>
              <a:t>short</a:t>
            </a:r>
            <a:r>
              <a:rPr lang="de-CH" sz="1600" dirty="0"/>
              <a:t>.</a:t>
            </a:r>
            <a:endParaRPr lang="ru-RU" sz="1600" dirty="0"/>
          </a:p>
          <a:p>
            <a:pPr marL="354013" indent="0">
              <a:buNone/>
            </a:pPr>
            <a:endParaRPr lang="de-CH" sz="1600" dirty="0"/>
          </a:p>
          <a:p>
            <a:r>
              <a:rPr lang="de-CH" sz="1600" b="1" dirty="0" err="1"/>
              <a:t>unsigned</a:t>
            </a:r>
            <a:r>
              <a:rPr lang="de-CH" sz="1600" b="1" dirty="0"/>
              <a:t> </a:t>
            </a:r>
            <a:r>
              <a:rPr lang="de-CH" sz="1600" b="1" dirty="0" err="1"/>
              <a:t>short</a:t>
            </a:r>
            <a:r>
              <a:rPr lang="de-CH" sz="1600" dirty="0"/>
              <a:t>: </a:t>
            </a:r>
            <a:r>
              <a:rPr lang="ru-RU" sz="1600" dirty="0"/>
              <a:t>представляет целое число в диапазоне от 0 до 65535. Занимает в памяти 2 байта (16 бит).</a:t>
            </a:r>
          </a:p>
          <a:p>
            <a:pPr marL="354013" indent="0">
              <a:buNone/>
            </a:pPr>
            <a:r>
              <a:rPr lang="ru-RU" sz="1600" dirty="0"/>
              <a:t>Данный тип также имеет синоним </a:t>
            </a:r>
            <a:r>
              <a:rPr lang="de-CH" sz="1600" b="1" dirty="0" err="1"/>
              <a:t>unsigned</a:t>
            </a:r>
            <a:r>
              <a:rPr lang="de-CH" sz="1600" b="1" dirty="0"/>
              <a:t> </a:t>
            </a:r>
            <a:r>
              <a:rPr lang="de-CH" sz="1600" b="1" dirty="0" err="1"/>
              <a:t>short</a:t>
            </a:r>
            <a:r>
              <a:rPr lang="de-CH" sz="1600" b="1" dirty="0"/>
              <a:t> int</a:t>
            </a:r>
            <a:r>
              <a:rPr lang="de-CH" sz="1600" dirty="0"/>
              <a:t>.</a:t>
            </a:r>
          </a:p>
          <a:p>
            <a:pPr marL="0" indent="0">
              <a:buNone/>
            </a:pPr>
            <a:br>
              <a:rPr lang="de-CH" dirty="0"/>
            </a:br>
            <a:endParaRPr lang="ru-RU" dirty="0"/>
          </a:p>
        </p:txBody>
      </p:sp>
    </p:spTree>
    <p:extLst>
      <p:ext uri="{BB962C8B-B14F-4D97-AF65-F5344CB8AC3E}">
        <p14:creationId xmlns:p14="http://schemas.microsoft.com/office/powerpoint/2010/main" val="33223906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8AE548-A73E-9C5F-C5CC-81348B75B1F2}"/>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284C75C6-4172-4295-F656-CB93B2F2A0E8}"/>
              </a:ext>
            </a:extLst>
          </p:cNvPr>
          <p:cNvSpPr>
            <a:spLocks noGrp="1"/>
          </p:cNvSpPr>
          <p:nvPr>
            <p:ph idx="1"/>
          </p:nvPr>
        </p:nvSpPr>
        <p:spPr/>
        <p:txBody>
          <a:bodyPr/>
          <a:lstStyle/>
          <a:p>
            <a:pPr marL="354013" indent="0">
              <a:buNone/>
            </a:pPr>
            <a:endParaRPr lang="ru-RU" sz="1600" b="1" dirty="0"/>
          </a:p>
          <a:p>
            <a:pPr marL="354013" indent="0">
              <a:buNone/>
            </a:pPr>
            <a:r>
              <a:rPr lang="ru-RU" sz="1600" b="1" dirty="0" err="1"/>
              <a:t>int</a:t>
            </a:r>
            <a:r>
              <a:rPr lang="ru-RU" sz="1600" dirty="0"/>
              <a:t>: представляет целое число. В зависимости от архитектуры процессора может занимать 2 байта (16 бит) или 4 байта (32 бита). Диапазон предельных значений соответственно также может варьироваться от –32768 до 32767 (при 2 байтах) или от −2 147 483 648 до 2 147 483 647 (при 4 байтах). Но в любом случае размер должен быть больше или равен размеру типа </a:t>
            </a:r>
            <a:r>
              <a:rPr lang="ru-RU" sz="1600" dirty="0" err="1"/>
              <a:t>short</a:t>
            </a:r>
            <a:r>
              <a:rPr lang="ru-RU" sz="1600" dirty="0"/>
              <a:t> и меньше или равен размеру типа </a:t>
            </a:r>
            <a:r>
              <a:rPr lang="ru-RU" sz="1600" dirty="0" err="1"/>
              <a:t>long</a:t>
            </a:r>
            <a:endParaRPr lang="ru-RU" sz="1600" dirty="0"/>
          </a:p>
          <a:p>
            <a:pPr marL="354013" indent="0">
              <a:buNone/>
            </a:pPr>
            <a:endParaRPr lang="ru-RU" sz="1600" dirty="0"/>
          </a:p>
          <a:p>
            <a:pPr marL="354013" indent="0">
              <a:buNone/>
            </a:pPr>
            <a:r>
              <a:rPr lang="ru-RU" sz="1600" dirty="0"/>
              <a:t>Данный тип имеет псевдонимы </a:t>
            </a:r>
            <a:r>
              <a:rPr lang="ru-RU" sz="1600" b="1" dirty="0" err="1"/>
              <a:t>signed</a:t>
            </a:r>
            <a:r>
              <a:rPr lang="ru-RU" sz="1600" b="1" dirty="0"/>
              <a:t> </a:t>
            </a:r>
            <a:r>
              <a:rPr lang="ru-RU" sz="1600" b="1" dirty="0" err="1"/>
              <a:t>int</a:t>
            </a:r>
            <a:r>
              <a:rPr lang="ru-RU" sz="1600" dirty="0"/>
              <a:t> и </a:t>
            </a:r>
            <a:r>
              <a:rPr lang="ru-RU" sz="1600" b="1" dirty="0" err="1"/>
              <a:t>signed</a:t>
            </a:r>
            <a:r>
              <a:rPr lang="ru-RU" sz="1600" dirty="0"/>
              <a:t>.</a:t>
            </a:r>
          </a:p>
          <a:p>
            <a:pPr marL="354013" indent="0">
              <a:buNone/>
            </a:pPr>
            <a:endParaRPr lang="ru-RU" sz="1600" dirty="0"/>
          </a:p>
          <a:p>
            <a:pPr marL="354013" indent="0">
              <a:buNone/>
            </a:pPr>
            <a:r>
              <a:rPr lang="ru-RU" sz="1600" b="1" dirty="0" err="1"/>
              <a:t>unsigned</a:t>
            </a:r>
            <a:r>
              <a:rPr lang="ru-RU" sz="1600" b="1" dirty="0"/>
              <a:t> </a:t>
            </a:r>
            <a:r>
              <a:rPr lang="ru-RU" sz="1600" b="1" dirty="0" err="1"/>
              <a:t>int</a:t>
            </a:r>
            <a:r>
              <a:rPr lang="ru-RU" sz="1600" dirty="0"/>
              <a:t>: представляет положительное целое число. </a:t>
            </a:r>
          </a:p>
          <a:p>
            <a:pPr marL="354013" indent="0">
              <a:buNone/>
            </a:pPr>
            <a:r>
              <a:rPr lang="ru-RU" sz="1600" dirty="0"/>
              <a:t>В зависимости от архитектуры процессора может занимать 2 байта (16 бит) или 4 байта (32 бита), и из-за этого диапазон предельных значений может меняться: от 0 до 65535 (для 2 байт), либо от 0 до 4 294 967 295 (для 4 байт).</a:t>
            </a:r>
          </a:p>
          <a:p>
            <a:pPr marL="354013" indent="0">
              <a:buNone/>
            </a:pPr>
            <a:endParaRPr lang="ru-RU" sz="1600" dirty="0"/>
          </a:p>
          <a:p>
            <a:pPr marL="354013" indent="0">
              <a:buNone/>
            </a:pPr>
            <a:r>
              <a:rPr lang="ru-RU" sz="1600" dirty="0"/>
              <a:t>Имеет псевдоним </a:t>
            </a:r>
            <a:r>
              <a:rPr lang="ru-RU" sz="1600" b="1" dirty="0" err="1"/>
              <a:t>unsigned</a:t>
            </a:r>
            <a:endParaRPr lang="ru-RU" sz="1600" b="1" dirty="0"/>
          </a:p>
        </p:txBody>
      </p:sp>
    </p:spTree>
    <p:extLst>
      <p:ext uri="{BB962C8B-B14F-4D97-AF65-F5344CB8AC3E}">
        <p14:creationId xmlns:p14="http://schemas.microsoft.com/office/powerpoint/2010/main" val="5296398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F73429-4D95-FA6C-93C8-7DEDFA7673E9}"/>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67D2DBA2-C654-F924-36DA-EF0216E5368D}"/>
              </a:ext>
            </a:extLst>
          </p:cNvPr>
          <p:cNvSpPr>
            <a:spLocks noGrp="1"/>
          </p:cNvSpPr>
          <p:nvPr>
            <p:ph idx="1"/>
          </p:nvPr>
        </p:nvSpPr>
        <p:spPr/>
        <p:txBody>
          <a:bodyPr/>
          <a:lstStyle/>
          <a:p>
            <a:pPr marL="447675" indent="0">
              <a:buNone/>
            </a:pPr>
            <a:r>
              <a:rPr lang="ru-RU" sz="1600" b="1" dirty="0" err="1"/>
              <a:t>long</a:t>
            </a:r>
            <a:r>
              <a:rPr lang="ru-RU" sz="1600" b="1" dirty="0"/>
              <a:t>: </a:t>
            </a:r>
            <a:r>
              <a:rPr lang="ru-RU" sz="1600" dirty="0"/>
              <a:t>в зависимости от архитектуры может занимать 4 или 8 байт и представляет целое число в диапазоне от −2 147 483 648 до 2 147 483 647 (при 4 байтах) или от −9 223 372 036 854 775 808 до +9 223 372 036 854 775 807 (при 8 байтах). Занимает в памяти 4 байта (32 бита) или.</a:t>
            </a:r>
          </a:p>
          <a:p>
            <a:pPr marL="447675" indent="0">
              <a:buNone/>
            </a:pPr>
            <a:endParaRPr lang="ru-RU" sz="1600" dirty="0"/>
          </a:p>
          <a:p>
            <a:pPr marL="447675" indent="0">
              <a:buNone/>
            </a:pPr>
            <a:r>
              <a:rPr lang="ru-RU" sz="1600" dirty="0"/>
              <a:t>Имеет псевдонимы </a:t>
            </a:r>
            <a:r>
              <a:rPr lang="ru-RU" sz="1600" b="1" dirty="0" err="1"/>
              <a:t>long</a:t>
            </a:r>
            <a:r>
              <a:rPr lang="ru-RU" sz="1600" b="1" dirty="0"/>
              <a:t> </a:t>
            </a:r>
            <a:r>
              <a:rPr lang="ru-RU" sz="1600" b="1" dirty="0" err="1"/>
              <a:t>int</a:t>
            </a:r>
            <a:r>
              <a:rPr lang="ru-RU" sz="1600" b="1" dirty="0"/>
              <a:t>, </a:t>
            </a:r>
            <a:r>
              <a:rPr lang="ru-RU" sz="1600" b="1" dirty="0" err="1"/>
              <a:t>signed</a:t>
            </a:r>
            <a:r>
              <a:rPr lang="ru-RU" sz="1600" b="1" dirty="0"/>
              <a:t> </a:t>
            </a:r>
            <a:r>
              <a:rPr lang="ru-RU" sz="1600" b="1" dirty="0" err="1"/>
              <a:t>long</a:t>
            </a:r>
            <a:r>
              <a:rPr lang="ru-RU" sz="1600" b="1" dirty="0"/>
              <a:t> </a:t>
            </a:r>
            <a:r>
              <a:rPr lang="ru-RU" sz="1600" b="1" dirty="0" err="1"/>
              <a:t>int</a:t>
            </a:r>
            <a:r>
              <a:rPr lang="ru-RU" sz="1600" b="1" dirty="0"/>
              <a:t> </a:t>
            </a:r>
            <a:r>
              <a:rPr lang="ru-RU" sz="1600" dirty="0"/>
              <a:t>и </a:t>
            </a:r>
            <a:r>
              <a:rPr lang="ru-RU" sz="1600" b="1" dirty="0" err="1"/>
              <a:t>signed</a:t>
            </a:r>
            <a:r>
              <a:rPr lang="ru-RU" sz="1600" b="1" dirty="0"/>
              <a:t> </a:t>
            </a:r>
            <a:r>
              <a:rPr lang="ru-RU" sz="1600" b="1" dirty="0" err="1"/>
              <a:t>long</a:t>
            </a:r>
            <a:endParaRPr lang="ru-RU" sz="1600" b="1" dirty="0"/>
          </a:p>
          <a:p>
            <a:pPr marL="447675" indent="0">
              <a:buNone/>
            </a:pPr>
            <a:endParaRPr lang="ru-RU" sz="1600" dirty="0"/>
          </a:p>
          <a:p>
            <a:pPr marL="447675" indent="0">
              <a:buNone/>
            </a:pPr>
            <a:r>
              <a:rPr lang="ru-RU" sz="1600" b="1" dirty="0" err="1"/>
              <a:t>unsigned</a:t>
            </a:r>
            <a:r>
              <a:rPr lang="ru-RU" sz="1600" b="1" dirty="0"/>
              <a:t> </a:t>
            </a:r>
            <a:r>
              <a:rPr lang="ru-RU" sz="1600" b="1" dirty="0" err="1"/>
              <a:t>long</a:t>
            </a:r>
            <a:r>
              <a:rPr lang="ru-RU" sz="1600" dirty="0"/>
              <a:t>: представляет целое число в диапазоне от 0 до 4 294 967 295. Занимает в памяти 4 байта (32 бита).</a:t>
            </a:r>
          </a:p>
          <a:p>
            <a:pPr marL="447675" indent="0">
              <a:buNone/>
            </a:pPr>
            <a:endParaRPr lang="ru-RU" sz="1600" dirty="0"/>
          </a:p>
          <a:p>
            <a:pPr marL="447675" indent="0">
              <a:buNone/>
            </a:pPr>
            <a:r>
              <a:rPr lang="ru-RU" sz="1600" dirty="0"/>
              <a:t>Имеет синоним </a:t>
            </a:r>
            <a:r>
              <a:rPr lang="ru-RU" sz="1600" b="1" dirty="0" err="1"/>
              <a:t>unsigned</a:t>
            </a:r>
            <a:r>
              <a:rPr lang="ru-RU" sz="1600" b="1" dirty="0"/>
              <a:t> </a:t>
            </a:r>
            <a:r>
              <a:rPr lang="ru-RU" sz="1600" b="1" dirty="0" err="1"/>
              <a:t>long</a:t>
            </a:r>
            <a:r>
              <a:rPr lang="ru-RU" sz="1600" b="1" dirty="0"/>
              <a:t> </a:t>
            </a:r>
            <a:r>
              <a:rPr lang="ru-RU" sz="1600" b="1" dirty="0" err="1"/>
              <a:t>int</a:t>
            </a:r>
            <a:r>
              <a:rPr lang="ru-RU" sz="1600" dirty="0"/>
              <a:t>.</a:t>
            </a:r>
          </a:p>
        </p:txBody>
      </p:sp>
    </p:spTree>
    <p:extLst>
      <p:ext uri="{BB962C8B-B14F-4D97-AF65-F5344CB8AC3E}">
        <p14:creationId xmlns:p14="http://schemas.microsoft.com/office/powerpoint/2010/main" val="38471113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AD04CC-C608-F246-1F84-604B92DACC1E}"/>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98940A57-3DA2-36F6-0B1F-095B4E2F8C0D}"/>
              </a:ext>
            </a:extLst>
          </p:cNvPr>
          <p:cNvSpPr>
            <a:spLocks noGrp="1"/>
          </p:cNvSpPr>
          <p:nvPr>
            <p:ph idx="1"/>
          </p:nvPr>
        </p:nvSpPr>
        <p:spPr/>
        <p:txBody>
          <a:bodyPr/>
          <a:lstStyle/>
          <a:p>
            <a:pPr marL="447675" indent="0">
              <a:buNone/>
            </a:pPr>
            <a:r>
              <a:rPr lang="de-CH" sz="1600" b="1" dirty="0" err="1"/>
              <a:t>long</a:t>
            </a:r>
            <a:r>
              <a:rPr lang="de-CH" sz="1600" b="1" dirty="0"/>
              <a:t> </a:t>
            </a:r>
            <a:r>
              <a:rPr lang="de-CH" sz="1600" b="1" dirty="0" err="1"/>
              <a:t>long</a:t>
            </a:r>
            <a:r>
              <a:rPr lang="de-CH" sz="1600" dirty="0"/>
              <a:t>: </a:t>
            </a:r>
            <a:r>
              <a:rPr lang="ru-RU" sz="1600" dirty="0"/>
              <a:t>представляет целое число в диапазоне от −9 223 372 036 854 775 808 до +9 223 372 036 854 775 807. Занимает в памяти 8 байт (64 бита).</a:t>
            </a:r>
          </a:p>
          <a:p>
            <a:pPr marL="447675" indent="0">
              <a:buNone/>
            </a:pPr>
            <a:endParaRPr lang="ru-RU" sz="1600" dirty="0"/>
          </a:p>
          <a:p>
            <a:pPr marL="447675" indent="0">
              <a:buNone/>
            </a:pPr>
            <a:r>
              <a:rPr lang="ru-RU" sz="1600" dirty="0"/>
              <a:t>Имеет псевдонимы </a:t>
            </a:r>
            <a:r>
              <a:rPr lang="de-CH" sz="1600" b="1" dirty="0" err="1"/>
              <a:t>long</a:t>
            </a:r>
            <a:r>
              <a:rPr lang="de-CH" sz="1600" b="1" dirty="0"/>
              <a:t> </a:t>
            </a:r>
            <a:r>
              <a:rPr lang="de-CH" sz="1600" b="1" dirty="0" err="1"/>
              <a:t>long</a:t>
            </a:r>
            <a:r>
              <a:rPr lang="de-CH" sz="1600" b="1" dirty="0"/>
              <a:t> int</a:t>
            </a:r>
            <a:r>
              <a:rPr lang="de-CH" sz="1600" dirty="0"/>
              <a:t>, </a:t>
            </a:r>
            <a:r>
              <a:rPr lang="de-CH" sz="1600" b="1" dirty="0" err="1"/>
              <a:t>signed</a:t>
            </a:r>
            <a:r>
              <a:rPr lang="de-CH" sz="1600" b="1" dirty="0"/>
              <a:t> </a:t>
            </a:r>
            <a:r>
              <a:rPr lang="de-CH" sz="1600" b="1" dirty="0" err="1"/>
              <a:t>long</a:t>
            </a:r>
            <a:r>
              <a:rPr lang="de-CH" sz="1600" b="1" dirty="0"/>
              <a:t> </a:t>
            </a:r>
            <a:r>
              <a:rPr lang="de-CH" sz="1600" b="1" dirty="0" err="1"/>
              <a:t>long</a:t>
            </a:r>
            <a:r>
              <a:rPr lang="de-CH" sz="1600" b="1" dirty="0"/>
              <a:t> int </a:t>
            </a:r>
            <a:r>
              <a:rPr lang="ru-RU" sz="1600" dirty="0"/>
              <a:t>и </a:t>
            </a:r>
            <a:r>
              <a:rPr lang="de-CH" sz="1600" b="1" dirty="0" err="1"/>
              <a:t>signed</a:t>
            </a:r>
            <a:r>
              <a:rPr lang="de-CH" sz="1600" b="1" dirty="0"/>
              <a:t> </a:t>
            </a:r>
            <a:r>
              <a:rPr lang="de-CH" sz="1600" b="1" dirty="0" err="1"/>
              <a:t>long</a:t>
            </a:r>
            <a:r>
              <a:rPr lang="de-CH" sz="1600" b="1" dirty="0"/>
              <a:t> </a:t>
            </a:r>
            <a:r>
              <a:rPr lang="de-CH" sz="1600" b="1" dirty="0" err="1"/>
              <a:t>long</a:t>
            </a:r>
            <a:r>
              <a:rPr lang="de-CH" sz="1600" dirty="0"/>
              <a:t>.</a:t>
            </a:r>
          </a:p>
          <a:p>
            <a:pPr marL="447675" indent="0">
              <a:buNone/>
            </a:pPr>
            <a:endParaRPr lang="de-CH" sz="1600" dirty="0"/>
          </a:p>
          <a:p>
            <a:pPr marL="447675" indent="0">
              <a:buNone/>
            </a:pPr>
            <a:r>
              <a:rPr lang="de-CH" sz="1600" b="1" dirty="0" err="1"/>
              <a:t>unsigned</a:t>
            </a:r>
            <a:r>
              <a:rPr lang="de-CH" sz="1600" b="1" dirty="0"/>
              <a:t> </a:t>
            </a:r>
            <a:r>
              <a:rPr lang="de-CH" sz="1600" b="1" dirty="0" err="1"/>
              <a:t>long</a:t>
            </a:r>
            <a:r>
              <a:rPr lang="de-CH" sz="1600" b="1" dirty="0"/>
              <a:t> </a:t>
            </a:r>
            <a:r>
              <a:rPr lang="de-CH" sz="1600" b="1" dirty="0" err="1"/>
              <a:t>long</a:t>
            </a:r>
            <a:r>
              <a:rPr lang="de-CH" sz="1600" dirty="0"/>
              <a:t>: </a:t>
            </a:r>
            <a:r>
              <a:rPr lang="ru-RU" sz="1600" dirty="0"/>
              <a:t>представляет целое число в диапазоне от 0 до 18 446 744 073 709 551 615. Занимает в памяти, как правило, 8 байт (64 бита).</a:t>
            </a:r>
          </a:p>
          <a:p>
            <a:pPr marL="447675" indent="0">
              <a:buNone/>
            </a:pPr>
            <a:endParaRPr lang="ru-RU" dirty="0"/>
          </a:p>
          <a:p>
            <a:pPr marL="447675" indent="0">
              <a:buNone/>
            </a:pPr>
            <a:r>
              <a:rPr lang="ru-RU" sz="1600" dirty="0"/>
              <a:t>Имеет псевдоним </a:t>
            </a:r>
            <a:r>
              <a:rPr lang="de-CH" sz="1600" b="1" dirty="0" err="1"/>
              <a:t>unsigned</a:t>
            </a:r>
            <a:r>
              <a:rPr lang="de-CH" sz="1600" b="1" dirty="0"/>
              <a:t> </a:t>
            </a:r>
            <a:r>
              <a:rPr lang="de-CH" sz="1600" b="1" dirty="0" err="1"/>
              <a:t>long</a:t>
            </a:r>
            <a:r>
              <a:rPr lang="de-CH" sz="1600" b="1" dirty="0"/>
              <a:t> </a:t>
            </a:r>
            <a:r>
              <a:rPr lang="de-CH" sz="1600" b="1" dirty="0" err="1"/>
              <a:t>long</a:t>
            </a:r>
            <a:r>
              <a:rPr lang="de-CH" sz="1600" b="1" dirty="0"/>
              <a:t> int</a:t>
            </a:r>
            <a:r>
              <a:rPr lang="de-CH" sz="1600" dirty="0"/>
              <a:t>.</a:t>
            </a:r>
            <a:endParaRPr lang="ru-RU" sz="1600" dirty="0"/>
          </a:p>
        </p:txBody>
      </p:sp>
    </p:spTree>
    <p:extLst>
      <p:ext uri="{BB962C8B-B14F-4D97-AF65-F5344CB8AC3E}">
        <p14:creationId xmlns:p14="http://schemas.microsoft.com/office/powerpoint/2010/main" val="36789453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D39FFE-97AB-8091-D214-B49855B4698D}"/>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30FF7719-8EBE-C8FD-749F-6BEB53DE1BF2}"/>
              </a:ext>
            </a:extLst>
          </p:cNvPr>
          <p:cNvSpPr>
            <a:spLocks noGrp="1"/>
          </p:cNvSpPr>
          <p:nvPr>
            <p:ph idx="1"/>
          </p:nvPr>
        </p:nvSpPr>
        <p:spPr>
          <a:xfrm>
            <a:off x="457200" y="1262063"/>
            <a:ext cx="8229600" cy="5362574"/>
          </a:xfrm>
        </p:spPr>
        <p:txBody>
          <a:bodyPr/>
          <a:lstStyle/>
          <a:p>
            <a:pPr marL="0" indent="0">
              <a:buNone/>
            </a:pPr>
            <a:r>
              <a:rPr lang="de-CH" sz="1200" dirty="0"/>
              <a:t>#include &lt;</a:t>
            </a:r>
            <a:r>
              <a:rPr lang="de-CH" sz="1200" dirty="0" err="1"/>
              <a:t>iostream</a:t>
            </a:r>
            <a:r>
              <a:rPr lang="de-CH" sz="1200" dirty="0"/>
              <a:t>&gt;</a:t>
            </a:r>
            <a:endParaRPr lang="de-CH" sz="1600" dirty="0"/>
          </a:p>
          <a:p>
            <a:pPr marL="0" indent="0">
              <a:buNone/>
            </a:pPr>
            <a:r>
              <a:rPr lang="de-CH" sz="1200" dirty="0"/>
              <a:t>int </a:t>
            </a:r>
            <a:r>
              <a:rPr lang="de-CH" sz="1200" dirty="0" err="1"/>
              <a:t>main</a:t>
            </a:r>
            <a:r>
              <a:rPr lang="de-CH" sz="1200" dirty="0"/>
              <a:t>()</a:t>
            </a:r>
          </a:p>
          <a:p>
            <a:pPr marL="0" indent="0">
              <a:buNone/>
            </a:pPr>
            <a:r>
              <a:rPr lang="de-CH" sz="1200" dirty="0"/>
              <a:t>{</a:t>
            </a:r>
          </a:p>
          <a:p>
            <a:pPr marL="0" indent="0">
              <a:buNone/>
            </a:pPr>
            <a:r>
              <a:rPr lang="de-CH" sz="1200" dirty="0"/>
              <a:t>    </a:t>
            </a:r>
            <a:r>
              <a:rPr lang="de-CH" sz="1200" dirty="0" err="1"/>
              <a:t>signed</a:t>
            </a:r>
            <a:r>
              <a:rPr lang="de-CH" sz="1200" dirty="0"/>
              <a:t> </a:t>
            </a:r>
            <a:r>
              <a:rPr lang="de-CH" sz="1200" dirty="0" err="1"/>
              <a:t>char</a:t>
            </a:r>
            <a:r>
              <a:rPr lang="de-CH" sz="1200" dirty="0"/>
              <a:t> num1{ -64 };</a:t>
            </a:r>
          </a:p>
          <a:p>
            <a:pPr marL="0" indent="0">
              <a:buNone/>
            </a:pPr>
            <a:r>
              <a:rPr lang="de-CH" sz="1200" dirty="0"/>
              <a:t>    </a:t>
            </a:r>
            <a:r>
              <a:rPr lang="de-CH" sz="1200" dirty="0" err="1"/>
              <a:t>unsigned</a:t>
            </a:r>
            <a:r>
              <a:rPr lang="de-CH" sz="1200" dirty="0"/>
              <a:t> </a:t>
            </a:r>
            <a:r>
              <a:rPr lang="de-CH" sz="1200" dirty="0" err="1"/>
              <a:t>char</a:t>
            </a:r>
            <a:r>
              <a:rPr lang="de-CH" sz="1200" dirty="0"/>
              <a:t> num2{ 64 };</a:t>
            </a:r>
          </a:p>
          <a:p>
            <a:pPr marL="0" indent="0">
              <a:buNone/>
            </a:pPr>
            <a:r>
              <a:rPr lang="de-CH" sz="1200" dirty="0"/>
              <a:t>    </a:t>
            </a:r>
            <a:r>
              <a:rPr lang="de-CH" sz="1200" dirty="0" err="1"/>
              <a:t>short</a:t>
            </a:r>
            <a:r>
              <a:rPr lang="de-CH" sz="1200" dirty="0"/>
              <a:t> num3{ -88 };</a:t>
            </a:r>
          </a:p>
          <a:p>
            <a:pPr marL="0" indent="0">
              <a:buNone/>
            </a:pPr>
            <a:r>
              <a:rPr lang="de-CH" sz="1200" dirty="0"/>
              <a:t>    </a:t>
            </a:r>
            <a:r>
              <a:rPr lang="de-CH" sz="1200" dirty="0" err="1"/>
              <a:t>unsigned</a:t>
            </a:r>
            <a:r>
              <a:rPr lang="de-CH" sz="1200" dirty="0"/>
              <a:t> </a:t>
            </a:r>
            <a:r>
              <a:rPr lang="de-CH" sz="1200" dirty="0" err="1"/>
              <a:t>short</a:t>
            </a:r>
            <a:r>
              <a:rPr lang="de-CH" sz="1200" dirty="0"/>
              <a:t> num4{ 88 };</a:t>
            </a:r>
          </a:p>
          <a:p>
            <a:pPr marL="0" indent="0">
              <a:buNone/>
            </a:pPr>
            <a:r>
              <a:rPr lang="de-CH" sz="1200" dirty="0"/>
              <a:t>    int num5{ -1024 };</a:t>
            </a:r>
          </a:p>
          <a:p>
            <a:pPr marL="0" indent="0">
              <a:buNone/>
            </a:pPr>
            <a:r>
              <a:rPr lang="de-CH" sz="1200" dirty="0"/>
              <a:t>    </a:t>
            </a:r>
            <a:r>
              <a:rPr lang="de-CH" sz="1200" dirty="0" err="1"/>
              <a:t>unsigned</a:t>
            </a:r>
            <a:r>
              <a:rPr lang="de-CH" sz="1200" dirty="0"/>
              <a:t> int num6{ 1024 };</a:t>
            </a:r>
          </a:p>
          <a:p>
            <a:pPr marL="0" indent="0">
              <a:buNone/>
            </a:pPr>
            <a:r>
              <a:rPr lang="de-CH" sz="1200" dirty="0"/>
              <a:t>    </a:t>
            </a:r>
            <a:r>
              <a:rPr lang="de-CH" sz="1200" dirty="0" err="1"/>
              <a:t>long</a:t>
            </a:r>
            <a:r>
              <a:rPr lang="de-CH" sz="1200" dirty="0"/>
              <a:t> num7{ -2048 };</a:t>
            </a:r>
          </a:p>
          <a:p>
            <a:pPr marL="0" indent="0">
              <a:buNone/>
            </a:pPr>
            <a:r>
              <a:rPr lang="de-CH" sz="1200" dirty="0"/>
              <a:t>    </a:t>
            </a:r>
            <a:r>
              <a:rPr lang="de-CH" sz="1200" dirty="0" err="1"/>
              <a:t>unsigned</a:t>
            </a:r>
            <a:r>
              <a:rPr lang="de-CH" sz="1200" dirty="0"/>
              <a:t> </a:t>
            </a:r>
            <a:r>
              <a:rPr lang="de-CH" sz="1200" dirty="0" err="1"/>
              <a:t>long</a:t>
            </a:r>
            <a:r>
              <a:rPr lang="de-CH" sz="1200" dirty="0"/>
              <a:t> num8{ 2048 };</a:t>
            </a:r>
          </a:p>
          <a:p>
            <a:pPr marL="0" indent="0">
              <a:buNone/>
            </a:pPr>
            <a:r>
              <a:rPr lang="de-CH" sz="1200" dirty="0"/>
              <a:t>    </a:t>
            </a:r>
            <a:r>
              <a:rPr lang="de-CH" sz="1200" dirty="0" err="1"/>
              <a:t>long</a:t>
            </a:r>
            <a:r>
              <a:rPr lang="de-CH" sz="1200" dirty="0"/>
              <a:t> </a:t>
            </a:r>
            <a:r>
              <a:rPr lang="de-CH" sz="1200" dirty="0" err="1"/>
              <a:t>long</a:t>
            </a:r>
            <a:r>
              <a:rPr lang="de-CH" sz="1200" dirty="0"/>
              <a:t> num9{ -4096 };</a:t>
            </a:r>
          </a:p>
          <a:p>
            <a:pPr marL="0" indent="0">
              <a:buNone/>
            </a:pPr>
            <a:r>
              <a:rPr lang="de-CH" sz="1200" dirty="0"/>
              <a:t>    </a:t>
            </a:r>
            <a:r>
              <a:rPr lang="de-CH" sz="1200" dirty="0" err="1"/>
              <a:t>unsigned</a:t>
            </a:r>
            <a:r>
              <a:rPr lang="de-CH" sz="1200" dirty="0"/>
              <a:t> </a:t>
            </a:r>
            <a:r>
              <a:rPr lang="de-CH" sz="1200" dirty="0" err="1"/>
              <a:t>long</a:t>
            </a:r>
            <a:r>
              <a:rPr lang="de-CH" sz="1200" dirty="0"/>
              <a:t> </a:t>
            </a:r>
            <a:r>
              <a:rPr lang="de-CH" sz="1200" dirty="0" err="1"/>
              <a:t>long</a:t>
            </a:r>
            <a:r>
              <a:rPr lang="de-CH" sz="1200" dirty="0"/>
              <a:t> num10{ 4096 };</a:t>
            </a:r>
          </a:p>
          <a:p>
            <a:pPr marL="0" indent="0">
              <a:buNone/>
            </a:pPr>
            <a:r>
              <a:rPr lang="de-CH" sz="1200" dirty="0"/>
              <a:t>    </a:t>
            </a:r>
            <a:r>
              <a:rPr lang="de-CH" sz="1200" dirty="0" err="1"/>
              <a:t>std</a:t>
            </a:r>
            <a:r>
              <a:rPr lang="de-CH" sz="1200" dirty="0"/>
              <a:t>::</a:t>
            </a:r>
            <a:r>
              <a:rPr lang="de-CH" sz="1200" dirty="0" err="1"/>
              <a:t>cout</a:t>
            </a:r>
            <a:r>
              <a:rPr lang="de-CH" sz="1200" dirty="0"/>
              <a:t> &lt;&lt; "num1 = " &lt;&lt; num1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"num2 = " &lt;&lt; num2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"num3 = " &lt;&lt; num3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"num4 = " &lt;&lt; num4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"num5 = " &lt;&lt; num5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"num6 = " &lt;&lt; num6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"num7 = " &lt;&lt; num7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"num8 = " &lt;&lt; num8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"num9 = " &lt;&lt; num9 &lt;&lt; </a:t>
            </a:r>
            <a:r>
              <a:rPr lang="de-CH" sz="1200" dirty="0" err="1"/>
              <a:t>std</a:t>
            </a:r>
            <a:r>
              <a:rPr lang="de-CH" sz="1200" dirty="0"/>
              <a:t>::</a:t>
            </a:r>
            <a:r>
              <a:rPr lang="de-CH" sz="1200" dirty="0" err="1"/>
              <a:t>endl</a:t>
            </a:r>
            <a:r>
              <a:rPr lang="de-CH" sz="1200" dirty="0"/>
              <a:t>;</a:t>
            </a:r>
          </a:p>
          <a:p>
            <a:pPr marL="0" indent="0">
              <a:buNone/>
            </a:pPr>
            <a:r>
              <a:rPr lang="de-CH" sz="1200" dirty="0"/>
              <a:t>    </a:t>
            </a:r>
            <a:r>
              <a:rPr lang="de-CH" sz="1200" dirty="0" err="1"/>
              <a:t>std</a:t>
            </a:r>
            <a:r>
              <a:rPr lang="de-CH" sz="1200" dirty="0"/>
              <a:t>::</a:t>
            </a:r>
            <a:r>
              <a:rPr lang="de-CH" sz="1200" dirty="0" err="1"/>
              <a:t>cout</a:t>
            </a:r>
            <a:r>
              <a:rPr lang="de-CH" sz="1200" dirty="0"/>
              <a:t> &lt;&lt; "num10 = " &lt;&lt; num10 &lt;&lt; </a:t>
            </a:r>
            <a:r>
              <a:rPr lang="de-CH" sz="1200" dirty="0" err="1"/>
              <a:t>std</a:t>
            </a:r>
            <a:r>
              <a:rPr lang="de-CH" sz="1200" dirty="0"/>
              <a:t>::</a:t>
            </a:r>
            <a:r>
              <a:rPr lang="de-CH" sz="1200" dirty="0" err="1"/>
              <a:t>endl</a:t>
            </a:r>
            <a:r>
              <a:rPr lang="de-CH" sz="1200" dirty="0"/>
              <a:t>;</a:t>
            </a:r>
          </a:p>
          <a:p>
            <a:pPr marL="0" indent="0">
              <a:buNone/>
            </a:pPr>
            <a:r>
              <a:rPr lang="de-CH" sz="1200" dirty="0"/>
              <a:t>}</a:t>
            </a:r>
            <a:endParaRPr lang="ru-RU" sz="1200" dirty="0"/>
          </a:p>
        </p:txBody>
      </p:sp>
      <p:pic>
        <p:nvPicPr>
          <p:cNvPr id="5" name="Рисунок 4">
            <a:extLst>
              <a:ext uri="{FF2B5EF4-FFF2-40B4-BE49-F238E27FC236}">
                <a16:creationId xmlns:a16="http://schemas.microsoft.com/office/drawing/2014/main" id="{2C4B096E-D102-1B52-8AD2-0B79D5311D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6056" y="1357023"/>
            <a:ext cx="3372321" cy="4143953"/>
          </a:xfrm>
          <a:prstGeom prst="rect">
            <a:avLst/>
          </a:prstGeom>
        </p:spPr>
      </p:pic>
    </p:spTree>
    <p:extLst>
      <p:ext uri="{BB962C8B-B14F-4D97-AF65-F5344CB8AC3E}">
        <p14:creationId xmlns:p14="http://schemas.microsoft.com/office/powerpoint/2010/main" val="2245004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84D3A0-5413-CEA2-74DD-5F173CFB6AAF}"/>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6C9C0003-2B9C-B226-D673-0421B9403A0A}"/>
              </a:ext>
            </a:extLst>
          </p:cNvPr>
          <p:cNvSpPr>
            <a:spLocks noGrp="1"/>
          </p:cNvSpPr>
          <p:nvPr>
            <p:ph idx="1"/>
          </p:nvPr>
        </p:nvSpPr>
        <p:spPr/>
        <p:txBody>
          <a:bodyPr/>
          <a:lstStyle/>
          <a:p>
            <a:pPr marL="354013" indent="0">
              <a:buNone/>
            </a:pPr>
            <a:endParaRPr lang="en-US" sz="2000" dirty="0"/>
          </a:p>
          <a:p>
            <a:pPr marL="354013" indent="0">
              <a:buNone/>
            </a:pPr>
            <a:endParaRPr lang="en-US" sz="2000" dirty="0"/>
          </a:p>
          <a:p>
            <a:pPr marL="354013" indent="0">
              <a:buNone/>
            </a:pPr>
            <a:r>
              <a:rPr lang="ru-RU" sz="2000" dirty="0"/>
              <a:t>Но стоит отметить, что все целочисленные литералы по умолчанию представляют тип </a:t>
            </a:r>
            <a:r>
              <a:rPr lang="ru-RU" sz="2000" b="1" dirty="0" err="1"/>
              <a:t>int</a:t>
            </a:r>
            <a:r>
              <a:rPr lang="ru-RU" sz="2000" dirty="0"/>
              <a:t>. Так, выше переменным разных типов присваивались различные числа - 64, -64, 88, -88, 1024 и т.д. Но все эти целочисленные литералы представляют тип </a:t>
            </a:r>
            <a:r>
              <a:rPr lang="ru-RU" sz="2000" b="1" dirty="0" err="1"/>
              <a:t>int</a:t>
            </a:r>
            <a:r>
              <a:rPr lang="ru-RU" sz="2000" dirty="0"/>
              <a:t>.</a:t>
            </a:r>
          </a:p>
        </p:txBody>
      </p:sp>
    </p:spTree>
    <p:extLst>
      <p:ext uri="{BB962C8B-B14F-4D97-AF65-F5344CB8AC3E}">
        <p14:creationId xmlns:p14="http://schemas.microsoft.com/office/powerpoint/2010/main" val="2768275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EFD7F7-A5D4-D93C-5BFE-71BB1DD60164}"/>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61781F59-A178-E0EF-4BB4-66BCF7408168}"/>
              </a:ext>
            </a:extLst>
          </p:cNvPr>
          <p:cNvSpPr>
            <a:spLocks noGrp="1"/>
          </p:cNvSpPr>
          <p:nvPr>
            <p:ph idx="1"/>
          </p:nvPr>
        </p:nvSpPr>
        <p:spPr/>
        <p:txBody>
          <a:bodyPr/>
          <a:lstStyle/>
          <a:p>
            <a:pPr marL="354013" indent="0">
              <a:buNone/>
            </a:pPr>
            <a:r>
              <a:rPr lang="ru-RU" sz="1600" dirty="0"/>
              <a:t>Однако мы можем использовать целочисленные литералы и других типов. Целочисленные литералы без знака (которые представляют </a:t>
            </a:r>
            <a:r>
              <a:rPr lang="ru-RU" sz="1600" b="1" dirty="0" err="1"/>
              <a:t>unsigned</a:t>
            </a:r>
            <a:r>
              <a:rPr lang="ru-RU" sz="1600" dirty="0"/>
              <a:t>-типы) имеют суффикс </a:t>
            </a:r>
            <a:r>
              <a:rPr lang="ru-RU" sz="1600" b="1" dirty="0"/>
              <a:t>u</a:t>
            </a:r>
            <a:r>
              <a:rPr lang="ru-RU" sz="1600" dirty="0"/>
              <a:t> или </a:t>
            </a:r>
            <a:r>
              <a:rPr lang="ru-RU" sz="1600" b="1" dirty="0"/>
              <a:t>U</a:t>
            </a:r>
            <a:r>
              <a:rPr lang="ru-RU" sz="1600" dirty="0"/>
              <a:t>. Литералы типов </a:t>
            </a:r>
            <a:r>
              <a:rPr lang="ru-RU" sz="1600" b="1" dirty="0" err="1"/>
              <a:t>long</a:t>
            </a:r>
            <a:r>
              <a:rPr lang="ru-RU" sz="1600" dirty="0"/>
              <a:t> и </a:t>
            </a:r>
            <a:r>
              <a:rPr lang="ru-RU" sz="1600" b="1" dirty="0" err="1"/>
              <a:t>long</a:t>
            </a:r>
            <a:r>
              <a:rPr lang="ru-RU" sz="1600" b="1" dirty="0"/>
              <a:t> </a:t>
            </a:r>
            <a:r>
              <a:rPr lang="ru-RU" sz="1600" b="1" dirty="0" err="1"/>
              <a:t>long</a:t>
            </a:r>
            <a:r>
              <a:rPr lang="ru-RU" sz="1600" dirty="0"/>
              <a:t> имеют суффиксы </a:t>
            </a:r>
            <a:r>
              <a:rPr lang="ru-RU" sz="1600" b="1" dirty="0"/>
              <a:t>L</a:t>
            </a:r>
            <a:r>
              <a:rPr lang="ru-RU" sz="1600" dirty="0"/>
              <a:t>/</a:t>
            </a:r>
            <a:r>
              <a:rPr lang="ru-RU" sz="1600" b="1" dirty="0"/>
              <a:t>l</a:t>
            </a:r>
            <a:r>
              <a:rPr lang="ru-RU" sz="1600" dirty="0"/>
              <a:t> и </a:t>
            </a:r>
            <a:r>
              <a:rPr lang="ru-RU" sz="1600" b="1" dirty="0"/>
              <a:t>LL</a:t>
            </a:r>
            <a:r>
              <a:rPr lang="ru-RU" sz="1600" dirty="0"/>
              <a:t>/</a:t>
            </a:r>
            <a:r>
              <a:rPr lang="ru-RU" sz="1600" b="1" dirty="0" err="1"/>
              <a:t>ll</a:t>
            </a:r>
            <a:r>
              <a:rPr lang="ru-RU" sz="1600" dirty="0"/>
              <a:t> соответственно:</a:t>
            </a:r>
            <a:endParaRPr lang="en-US" sz="1600" dirty="0"/>
          </a:p>
          <a:p>
            <a:pPr marL="354013" indent="0">
              <a:buNone/>
            </a:pPr>
            <a:endParaRPr lang="en-US" sz="1600" dirty="0"/>
          </a:p>
          <a:p>
            <a:pPr marL="354013" indent="0">
              <a:buNone/>
            </a:pPr>
            <a:r>
              <a:rPr lang="de-CH" sz="1600" dirty="0"/>
              <a:t>int </a:t>
            </a:r>
            <a:r>
              <a:rPr lang="de-CH" sz="1600" dirty="0" err="1"/>
              <a:t>main</a:t>
            </a:r>
            <a:r>
              <a:rPr lang="de-CH" sz="1600" dirty="0"/>
              <a:t>()</a:t>
            </a:r>
          </a:p>
          <a:p>
            <a:pPr marL="354013" indent="0">
              <a:buNone/>
            </a:pPr>
            <a:r>
              <a:rPr lang="de-CH" sz="1600" dirty="0"/>
              <a:t>{</a:t>
            </a:r>
          </a:p>
          <a:p>
            <a:pPr marL="354013" indent="0">
              <a:buNone/>
            </a:pPr>
            <a:r>
              <a:rPr lang="de-CH" sz="1600" dirty="0"/>
              <a:t>    </a:t>
            </a:r>
            <a:r>
              <a:rPr lang="de-CH" sz="1600" dirty="0" err="1"/>
              <a:t>unsigned</a:t>
            </a:r>
            <a:r>
              <a:rPr lang="de-CH" sz="1600" dirty="0"/>
              <a:t> int num6{ 1024U };         	</a:t>
            </a:r>
            <a:r>
              <a:rPr lang="de-CH" sz="1600" dirty="0">
                <a:solidFill>
                  <a:srgbClr val="00B050"/>
                </a:solidFill>
              </a:rPr>
              <a:t>// U - </a:t>
            </a:r>
            <a:r>
              <a:rPr lang="de-CH" sz="1600" dirty="0" err="1">
                <a:solidFill>
                  <a:srgbClr val="00B050"/>
                </a:solidFill>
              </a:rPr>
              <a:t>unsigned</a:t>
            </a:r>
            <a:r>
              <a:rPr lang="de-CH" sz="1600" dirty="0">
                <a:solidFill>
                  <a:srgbClr val="00B050"/>
                </a:solidFill>
              </a:rPr>
              <a:t> int</a:t>
            </a:r>
          </a:p>
          <a:p>
            <a:pPr marL="354013" indent="0">
              <a:buNone/>
            </a:pPr>
            <a:r>
              <a:rPr lang="de-CH" sz="1600" dirty="0"/>
              <a:t>    </a:t>
            </a:r>
            <a:r>
              <a:rPr lang="de-CH" sz="1600" dirty="0" err="1"/>
              <a:t>long</a:t>
            </a:r>
            <a:r>
              <a:rPr lang="de-CH" sz="1600" dirty="0"/>
              <a:t> num7{ -2048L };                	</a:t>
            </a:r>
            <a:r>
              <a:rPr lang="de-CH" sz="1600" dirty="0">
                <a:solidFill>
                  <a:srgbClr val="00B050"/>
                </a:solidFill>
              </a:rPr>
              <a:t>// L - </a:t>
            </a:r>
            <a:r>
              <a:rPr lang="de-CH" sz="1600" dirty="0" err="1">
                <a:solidFill>
                  <a:srgbClr val="00B050"/>
                </a:solidFill>
              </a:rPr>
              <a:t>long</a:t>
            </a:r>
            <a:endParaRPr lang="de-CH" sz="1600" dirty="0">
              <a:solidFill>
                <a:srgbClr val="00B050"/>
              </a:solidFill>
            </a:endParaRPr>
          </a:p>
          <a:p>
            <a:pPr marL="354013" indent="0">
              <a:buNone/>
            </a:pPr>
            <a:r>
              <a:rPr lang="de-CH" sz="1600" dirty="0"/>
              <a:t>    </a:t>
            </a:r>
            <a:r>
              <a:rPr lang="de-CH" sz="1600" dirty="0" err="1"/>
              <a:t>unsigned</a:t>
            </a:r>
            <a:r>
              <a:rPr lang="de-CH" sz="1600" dirty="0"/>
              <a:t> </a:t>
            </a:r>
            <a:r>
              <a:rPr lang="de-CH" sz="1600" dirty="0" err="1"/>
              <a:t>long</a:t>
            </a:r>
            <a:r>
              <a:rPr lang="de-CH" sz="1600" dirty="0"/>
              <a:t> num8{ 2048UL };       	</a:t>
            </a:r>
            <a:r>
              <a:rPr lang="de-CH" sz="1600" dirty="0">
                <a:solidFill>
                  <a:srgbClr val="00B050"/>
                </a:solidFill>
              </a:rPr>
              <a:t>// UL - </a:t>
            </a:r>
            <a:r>
              <a:rPr lang="de-CH" sz="1600" dirty="0" err="1">
                <a:solidFill>
                  <a:srgbClr val="00B050"/>
                </a:solidFill>
              </a:rPr>
              <a:t>unsigned</a:t>
            </a:r>
            <a:r>
              <a:rPr lang="de-CH" sz="1600" dirty="0">
                <a:solidFill>
                  <a:srgbClr val="00B050"/>
                </a:solidFill>
              </a:rPr>
              <a:t> </a:t>
            </a:r>
            <a:r>
              <a:rPr lang="de-CH" sz="1600" dirty="0" err="1">
                <a:solidFill>
                  <a:srgbClr val="00B050"/>
                </a:solidFill>
              </a:rPr>
              <a:t>long</a:t>
            </a:r>
            <a:endParaRPr lang="de-CH" sz="1600" dirty="0">
              <a:solidFill>
                <a:srgbClr val="00B050"/>
              </a:solidFill>
            </a:endParaRPr>
          </a:p>
          <a:p>
            <a:pPr marL="354013" indent="0">
              <a:buNone/>
            </a:pPr>
            <a:r>
              <a:rPr lang="de-CH" sz="1600" dirty="0"/>
              <a:t>    </a:t>
            </a:r>
            <a:r>
              <a:rPr lang="de-CH" sz="1600" dirty="0" err="1"/>
              <a:t>long</a:t>
            </a:r>
            <a:r>
              <a:rPr lang="de-CH" sz="1600" dirty="0"/>
              <a:t> </a:t>
            </a:r>
            <a:r>
              <a:rPr lang="de-CH" sz="1600" dirty="0" err="1"/>
              <a:t>long</a:t>
            </a:r>
            <a:r>
              <a:rPr lang="de-CH" sz="1600" dirty="0"/>
              <a:t> num9{ -4096LL };          	</a:t>
            </a:r>
            <a:r>
              <a:rPr lang="de-CH" sz="1600" dirty="0">
                <a:solidFill>
                  <a:srgbClr val="00B050"/>
                </a:solidFill>
              </a:rPr>
              <a:t>// LL - </a:t>
            </a:r>
            <a:r>
              <a:rPr lang="de-CH" sz="1600" dirty="0" err="1">
                <a:solidFill>
                  <a:srgbClr val="00B050"/>
                </a:solidFill>
              </a:rPr>
              <a:t>long</a:t>
            </a:r>
            <a:r>
              <a:rPr lang="de-CH" sz="1600" dirty="0">
                <a:solidFill>
                  <a:srgbClr val="00B050"/>
                </a:solidFill>
              </a:rPr>
              <a:t> </a:t>
            </a:r>
            <a:r>
              <a:rPr lang="de-CH" sz="1600" dirty="0" err="1">
                <a:solidFill>
                  <a:srgbClr val="00B050"/>
                </a:solidFill>
              </a:rPr>
              <a:t>long</a:t>
            </a:r>
            <a:endParaRPr lang="de-CH" sz="1600" dirty="0">
              <a:solidFill>
                <a:srgbClr val="00B050"/>
              </a:solidFill>
            </a:endParaRPr>
          </a:p>
          <a:p>
            <a:pPr marL="354013" indent="0">
              <a:buNone/>
            </a:pPr>
            <a:r>
              <a:rPr lang="de-CH" sz="1600" dirty="0"/>
              <a:t>    </a:t>
            </a:r>
            <a:r>
              <a:rPr lang="de-CH" sz="1600" dirty="0" err="1"/>
              <a:t>unsigned</a:t>
            </a:r>
            <a:r>
              <a:rPr lang="de-CH" sz="1600" dirty="0"/>
              <a:t> </a:t>
            </a:r>
            <a:r>
              <a:rPr lang="de-CH" sz="1600" dirty="0" err="1"/>
              <a:t>long</a:t>
            </a:r>
            <a:r>
              <a:rPr lang="de-CH" sz="1600" dirty="0"/>
              <a:t> </a:t>
            </a:r>
            <a:r>
              <a:rPr lang="de-CH" sz="1600" dirty="0" err="1"/>
              <a:t>long</a:t>
            </a:r>
            <a:r>
              <a:rPr lang="de-CH" sz="1600" dirty="0"/>
              <a:t> num10{ 4096ULL }; </a:t>
            </a:r>
            <a:r>
              <a:rPr lang="de-CH" sz="1600" dirty="0">
                <a:solidFill>
                  <a:srgbClr val="00B050"/>
                </a:solidFill>
              </a:rPr>
              <a:t>// ULL - </a:t>
            </a:r>
            <a:r>
              <a:rPr lang="de-CH" sz="1600" dirty="0" err="1">
                <a:solidFill>
                  <a:srgbClr val="00B050"/>
                </a:solidFill>
              </a:rPr>
              <a:t>unsigned</a:t>
            </a:r>
            <a:r>
              <a:rPr lang="de-CH" sz="1600" dirty="0">
                <a:solidFill>
                  <a:srgbClr val="00B050"/>
                </a:solidFill>
              </a:rPr>
              <a:t> </a:t>
            </a:r>
            <a:r>
              <a:rPr lang="de-CH" sz="1600" dirty="0" err="1">
                <a:solidFill>
                  <a:srgbClr val="00B050"/>
                </a:solidFill>
              </a:rPr>
              <a:t>long</a:t>
            </a:r>
            <a:r>
              <a:rPr lang="de-CH" sz="1600" dirty="0">
                <a:solidFill>
                  <a:srgbClr val="00B050"/>
                </a:solidFill>
              </a:rPr>
              <a:t> </a:t>
            </a:r>
            <a:r>
              <a:rPr lang="de-CH" sz="1600" dirty="0" err="1">
                <a:solidFill>
                  <a:srgbClr val="00B050"/>
                </a:solidFill>
              </a:rPr>
              <a:t>long</a:t>
            </a:r>
            <a:endParaRPr lang="de-CH" sz="1600" dirty="0">
              <a:solidFill>
                <a:srgbClr val="00B050"/>
              </a:solidFill>
            </a:endParaRPr>
          </a:p>
          <a:p>
            <a:pPr marL="354013" indent="0">
              <a:buNone/>
            </a:pPr>
            <a:r>
              <a:rPr lang="de-CH" sz="1600" dirty="0"/>
              <a:t>    </a:t>
            </a:r>
            <a:r>
              <a:rPr lang="de-CH" sz="1600" dirty="0" err="1"/>
              <a:t>std</a:t>
            </a:r>
            <a:r>
              <a:rPr lang="de-CH" sz="1600" dirty="0"/>
              <a:t>::</a:t>
            </a:r>
            <a:r>
              <a:rPr lang="de-CH" sz="1600" dirty="0" err="1"/>
              <a:t>cout</a:t>
            </a:r>
            <a:r>
              <a:rPr lang="de-CH" sz="1600" dirty="0"/>
              <a:t> &lt;&lt; "num6 = " &lt;&lt; num6 &lt;&lt; </a:t>
            </a:r>
            <a:r>
              <a:rPr lang="de-CH" sz="1600" dirty="0" err="1"/>
              <a:t>std</a:t>
            </a:r>
            <a:r>
              <a:rPr lang="de-CH" sz="1600" dirty="0"/>
              <a:t>::</a:t>
            </a:r>
            <a:r>
              <a:rPr lang="de-CH" sz="1600" dirty="0" err="1"/>
              <a:t>endl</a:t>
            </a:r>
            <a:r>
              <a:rPr lang="de-CH" sz="1600" dirty="0"/>
              <a:t>;</a:t>
            </a:r>
          </a:p>
          <a:p>
            <a:pPr marL="354013" indent="0">
              <a:buNone/>
            </a:pPr>
            <a:r>
              <a:rPr lang="de-CH" sz="1600" dirty="0"/>
              <a:t>    </a:t>
            </a:r>
            <a:r>
              <a:rPr lang="de-CH" sz="1600" dirty="0" err="1"/>
              <a:t>std</a:t>
            </a:r>
            <a:r>
              <a:rPr lang="de-CH" sz="1600" dirty="0"/>
              <a:t>::</a:t>
            </a:r>
            <a:r>
              <a:rPr lang="de-CH" sz="1600" dirty="0" err="1"/>
              <a:t>cout</a:t>
            </a:r>
            <a:r>
              <a:rPr lang="de-CH" sz="1600" dirty="0"/>
              <a:t> &lt;&lt; "num7 = " &lt;&lt; num7 &lt;&lt; </a:t>
            </a:r>
            <a:r>
              <a:rPr lang="de-CH" sz="1600" dirty="0" err="1"/>
              <a:t>std</a:t>
            </a:r>
            <a:r>
              <a:rPr lang="de-CH" sz="1600" dirty="0"/>
              <a:t>::</a:t>
            </a:r>
            <a:r>
              <a:rPr lang="de-CH" sz="1600" dirty="0" err="1"/>
              <a:t>endl</a:t>
            </a:r>
            <a:r>
              <a:rPr lang="de-CH" sz="1600" dirty="0"/>
              <a:t>;</a:t>
            </a:r>
          </a:p>
          <a:p>
            <a:pPr marL="354013" indent="0">
              <a:buNone/>
            </a:pPr>
            <a:r>
              <a:rPr lang="de-CH" sz="1600" dirty="0"/>
              <a:t>    </a:t>
            </a:r>
            <a:r>
              <a:rPr lang="de-CH" sz="1600" dirty="0" err="1"/>
              <a:t>std</a:t>
            </a:r>
            <a:r>
              <a:rPr lang="de-CH" sz="1600" dirty="0"/>
              <a:t>::</a:t>
            </a:r>
            <a:r>
              <a:rPr lang="de-CH" sz="1600" dirty="0" err="1"/>
              <a:t>cout</a:t>
            </a:r>
            <a:r>
              <a:rPr lang="de-CH" sz="1600" dirty="0"/>
              <a:t> &lt;&lt; "num8 = " &lt;&lt; num8 &lt;&lt; </a:t>
            </a:r>
            <a:r>
              <a:rPr lang="de-CH" sz="1600" dirty="0" err="1"/>
              <a:t>std</a:t>
            </a:r>
            <a:r>
              <a:rPr lang="de-CH" sz="1600" dirty="0"/>
              <a:t>::</a:t>
            </a:r>
            <a:r>
              <a:rPr lang="de-CH" sz="1600" dirty="0" err="1"/>
              <a:t>endl</a:t>
            </a:r>
            <a:r>
              <a:rPr lang="de-CH" sz="1600" dirty="0"/>
              <a:t>;</a:t>
            </a:r>
          </a:p>
          <a:p>
            <a:pPr marL="354013" indent="0">
              <a:buNone/>
            </a:pPr>
            <a:r>
              <a:rPr lang="de-CH" sz="1600" dirty="0"/>
              <a:t>    </a:t>
            </a:r>
            <a:r>
              <a:rPr lang="de-CH" sz="1600" dirty="0" err="1"/>
              <a:t>std</a:t>
            </a:r>
            <a:r>
              <a:rPr lang="de-CH" sz="1600" dirty="0"/>
              <a:t>::</a:t>
            </a:r>
            <a:r>
              <a:rPr lang="de-CH" sz="1600" dirty="0" err="1"/>
              <a:t>cout</a:t>
            </a:r>
            <a:r>
              <a:rPr lang="de-CH" sz="1600" dirty="0"/>
              <a:t> &lt;&lt; "num9 = " &lt;&lt; num9 &lt;&lt; </a:t>
            </a:r>
            <a:r>
              <a:rPr lang="de-CH" sz="1600" dirty="0" err="1"/>
              <a:t>std</a:t>
            </a:r>
            <a:r>
              <a:rPr lang="de-CH" sz="1600" dirty="0"/>
              <a:t>::</a:t>
            </a:r>
            <a:r>
              <a:rPr lang="de-CH" sz="1600" dirty="0" err="1"/>
              <a:t>endl</a:t>
            </a:r>
            <a:r>
              <a:rPr lang="de-CH" sz="1600" dirty="0"/>
              <a:t>;</a:t>
            </a:r>
          </a:p>
          <a:p>
            <a:pPr marL="354013" indent="0">
              <a:buNone/>
            </a:pPr>
            <a:r>
              <a:rPr lang="de-CH" sz="1600" dirty="0"/>
              <a:t>    </a:t>
            </a:r>
            <a:r>
              <a:rPr lang="de-CH" sz="1600" dirty="0" err="1"/>
              <a:t>std</a:t>
            </a:r>
            <a:r>
              <a:rPr lang="de-CH" sz="1600" dirty="0"/>
              <a:t>::</a:t>
            </a:r>
            <a:r>
              <a:rPr lang="de-CH" sz="1600" dirty="0" err="1"/>
              <a:t>cout</a:t>
            </a:r>
            <a:r>
              <a:rPr lang="de-CH" sz="1600" dirty="0"/>
              <a:t> &lt;&lt; "num10 = " &lt;&lt; num10 &lt;&lt; </a:t>
            </a:r>
            <a:r>
              <a:rPr lang="de-CH" sz="1600" dirty="0" err="1"/>
              <a:t>std</a:t>
            </a:r>
            <a:r>
              <a:rPr lang="de-CH" sz="1600" dirty="0"/>
              <a:t>::</a:t>
            </a:r>
            <a:r>
              <a:rPr lang="de-CH" sz="1600" dirty="0" err="1"/>
              <a:t>endl</a:t>
            </a:r>
            <a:r>
              <a:rPr lang="de-CH" sz="1600" dirty="0"/>
              <a:t>;</a:t>
            </a:r>
          </a:p>
          <a:p>
            <a:pPr marL="354013" indent="0">
              <a:buNone/>
            </a:pPr>
            <a:r>
              <a:rPr lang="de-CH" sz="1600" dirty="0"/>
              <a:t>}</a:t>
            </a:r>
            <a:endParaRPr lang="ru-RU" sz="1600" dirty="0"/>
          </a:p>
        </p:txBody>
      </p:sp>
    </p:spTree>
    <p:extLst>
      <p:ext uri="{BB962C8B-B14F-4D97-AF65-F5344CB8AC3E}">
        <p14:creationId xmlns:p14="http://schemas.microsoft.com/office/powerpoint/2010/main" val="3105151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2DBEEC-1564-FA19-D203-8AC9FA5B7508}"/>
              </a:ext>
            </a:extLst>
          </p:cNvPr>
          <p:cNvSpPr>
            <a:spLocks noGrp="1"/>
          </p:cNvSpPr>
          <p:nvPr>
            <p:ph type="title"/>
          </p:nvPr>
        </p:nvSpPr>
        <p:spPr/>
        <p:txBody>
          <a:bodyPr/>
          <a:lstStyle/>
          <a:p>
            <a:r>
              <a:rPr lang="ru-RU" b="1" dirty="0"/>
              <a:t>Целочисленные типы</a:t>
            </a:r>
            <a:endParaRPr lang="ru-RU" dirty="0"/>
          </a:p>
        </p:txBody>
      </p:sp>
      <p:sp>
        <p:nvSpPr>
          <p:cNvPr id="3" name="Объект 2">
            <a:extLst>
              <a:ext uri="{FF2B5EF4-FFF2-40B4-BE49-F238E27FC236}">
                <a16:creationId xmlns:a16="http://schemas.microsoft.com/office/drawing/2014/main" id="{395AB5C0-216F-DC34-038A-796272B57630}"/>
              </a:ext>
            </a:extLst>
          </p:cNvPr>
          <p:cNvSpPr>
            <a:spLocks noGrp="1"/>
          </p:cNvSpPr>
          <p:nvPr>
            <p:ph idx="1"/>
          </p:nvPr>
        </p:nvSpPr>
        <p:spPr/>
        <p:txBody>
          <a:bodyPr/>
          <a:lstStyle/>
          <a:p>
            <a:pPr marL="354013" indent="0">
              <a:buNone/>
            </a:pPr>
            <a:r>
              <a:rPr lang="ru-RU" sz="2000" dirty="0"/>
              <a:t>Если число большое, то при вводе мы можем где-то ошибиться. Чтобы упростить читабельность чисел, начиная со стандарта C++14 в язык была добавлена возможность разделения разрядов числа с помощью одинарной кавычки ‘</a:t>
            </a:r>
            <a:endParaRPr lang="en-US" sz="2000" dirty="0"/>
          </a:p>
          <a:p>
            <a:pPr marL="354013" indent="0">
              <a:buNone/>
            </a:pPr>
            <a:endParaRPr lang="en-US" sz="2000" dirty="0"/>
          </a:p>
          <a:p>
            <a:pPr marL="354013" indent="0">
              <a:buNone/>
            </a:pPr>
            <a:r>
              <a:rPr lang="de-CH" sz="2000" dirty="0"/>
              <a:t>#include &lt;</a:t>
            </a:r>
            <a:r>
              <a:rPr lang="de-CH" sz="2000" dirty="0" err="1"/>
              <a:t>iostream</a:t>
            </a:r>
            <a:r>
              <a:rPr lang="de-CH" sz="2000" dirty="0"/>
              <a:t>&gt;</a:t>
            </a:r>
          </a:p>
          <a:p>
            <a:pPr marL="354013" indent="0">
              <a:buNone/>
            </a:pPr>
            <a:r>
              <a:rPr lang="de-CH" sz="2000" dirty="0"/>
              <a:t> </a:t>
            </a:r>
          </a:p>
          <a:p>
            <a:pPr marL="354013" indent="0">
              <a:buNone/>
            </a:pPr>
            <a:r>
              <a:rPr lang="de-CH" sz="2000" b="1" dirty="0"/>
              <a:t>int</a:t>
            </a:r>
            <a:r>
              <a:rPr lang="de-CH" sz="2000" dirty="0"/>
              <a:t> </a:t>
            </a:r>
            <a:r>
              <a:rPr lang="de-CH" sz="2000" dirty="0" err="1"/>
              <a:t>main</a:t>
            </a:r>
            <a:r>
              <a:rPr lang="de-CH" sz="2000" dirty="0"/>
              <a:t>()</a:t>
            </a:r>
          </a:p>
          <a:p>
            <a:pPr marL="354013" indent="0">
              <a:buNone/>
            </a:pPr>
            <a:r>
              <a:rPr lang="de-CH" sz="2000" dirty="0"/>
              <a:t>{</a:t>
            </a:r>
          </a:p>
          <a:p>
            <a:pPr marL="354013" indent="0">
              <a:buNone/>
            </a:pPr>
            <a:r>
              <a:rPr lang="de-CH" sz="2000" dirty="0"/>
              <a:t>    int </a:t>
            </a:r>
            <a:r>
              <a:rPr lang="de-CH" sz="2000" dirty="0" err="1"/>
              <a:t>num</a:t>
            </a:r>
            <a:r>
              <a:rPr lang="de-CH" sz="2000" dirty="0"/>
              <a:t>{ 1'234'567'890 };</a:t>
            </a:r>
          </a:p>
          <a:p>
            <a:pPr marL="354013" indent="0">
              <a:buNone/>
            </a:pPr>
            <a:r>
              <a:rPr lang="de-CH" sz="2000" dirty="0"/>
              <a:t>    </a:t>
            </a:r>
            <a:r>
              <a:rPr lang="de-CH" sz="2000" dirty="0" err="1"/>
              <a:t>std</a:t>
            </a:r>
            <a:r>
              <a:rPr lang="de-CH" sz="2000" dirty="0"/>
              <a:t>::</a:t>
            </a:r>
            <a:r>
              <a:rPr lang="de-CH" sz="2000" dirty="0" err="1"/>
              <a:t>cout</a:t>
            </a:r>
            <a:r>
              <a:rPr lang="de-CH" sz="2000" dirty="0"/>
              <a:t> &lt;&lt; "</a:t>
            </a:r>
            <a:r>
              <a:rPr lang="de-CH" sz="2000" dirty="0" err="1"/>
              <a:t>num</a:t>
            </a:r>
            <a:r>
              <a:rPr lang="de-CH" sz="2000" dirty="0"/>
              <a:t> = " &lt;&lt; </a:t>
            </a:r>
            <a:r>
              <a:rPr lang="de-CH" sz="2000" dirty="0" err="1"/>
              <a:t>num</a:t>
            </a:r>
            <a:r>
              <a:rPr lang="de-CH" sz="2000" dirty="0"/>
              <a:t> &lt;&lt; "\n";   </a:t>
            </a:r>
          </a:p>
          <a:p>
            <a:pPr marL="354013" indent="0">
              <a:buNone/>
            </a:pPr>
            <a:r>
              <a:rPr lang="de-CH" sz="2000" dirty="0"/>
              <a:t>	</a:t>
            </a:r>
            <a:r>
              <a:rPr lang="de-CH" sz="2000" dirty="0">
                <a:solidFill>
                  <a:srgbClr val="00B050"/>
                </a:solidFill>
              </a:rPr>
              <a:t>// </a:t>
            </a:r>
            <a:r>
              <a:rPr lang="de-CH" sz="2000" dirty="0" err="1">
                <a:solidFill>
                  <a:srgbClr val="00B050"/>
                </a:solidFill>
              </a:rPr>
              <a:t>num</a:t>
            </a:r>
            <a:r>
              <a:rPr lang="de-CH" sz="2000" dirty="0">
                <a:solidFill>
                  <a:srgbClr val="00B050"/>
                </a:solidFill>
              </a:rPr>
              <a:t> = 1234567890</a:t>
            </a:r>
          </a:p>
          <a:p>
            <a:pPr marL="354013" indent="0">
              <a:buNone/>
            </a:pPr>
            <a:r>
              <a:rPr lang="de-CH" sz="2000" dirty="0"/>
              <a:t>}</a:t>
            </a:r>
            <a:endParaRPr lang="ru-RU" sz="2000" dirty="0"/>
          </a:p>
        </p:txBody>
      </p:sp>
    </p:spTree>
    <p:extLst>
      <p:ext uri="{BB962C8B-B14F-4D97-AF65-F5344CB8AC3E}">
        <p14:creationId xmlns:p14="http://schemas.microsoft.com/office/powerpoint/2010/main" val="23169140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4CC00-FCF8-68E9-3DA6-82DEA2E58391}"/>
              </a:ext>
            </a:extLst>
          </p:cNvPr>
          <p:cNvSpPr>
            <a:spLocks noGrp="1"/>
          </p:cNvSpPr>
          <p:nvPr>
            <p:ph type="title"/>
          </p:nvPr>
        </p:nvSpPr>
        <p:spPr/>
        <p:txBody>
          <a:bodyPr/>
          <a:lstStyle/>
          <a:p>
            <a:r>
              <a:rPr lang="ru-RU" b="1" dirty="0"/>
              <a:t>Целочисленные типы</a:t>
            </a:r>
          </a:p>
        </p:txBody>
      </p:sp>
      <p:sp>
        <p:nvSpPr>
          <p:cNvPr id="3" name="Объект 2">
            <a:extLst>
              <a:ext uri="{FF2B5EF4-FFF2-40B4-BE49-F238E27FC236}">
                <a16:creationId xmlns:a16="http://schemas.microsoft.com/office/drawing/2014/main" id="{2DC099BD-2C69-2819-B0C0-3A7FCAE001CF}"/>
              </a:ext>
            </a:extLst>
          </p:cNvPr>
          <p:cNvSpPr>
            <a:spLocks noGrp="1"/>
          </p:cNvSpPr>
          <p:nvPr>
            <p:ph idx="1"/>
          </p:nvPr>
        </p:nvSpPr>
        <p:spPr/>
        <p:txBody>
          <a:bodyPr/>
          <a:lstStyle/>
          <a:p>
            <a:pPr marL="354013" indent="0">
              <a:buNone/>
            </a:pPr>
            <a:r>
              <a:rPr lang="ru-RU" sz="2000" b="1" dirty="0"/>
              <a:t>Различные системы исчисления</a:t>
            </a:r>
          </a:p>
          <a:p>
            <a:pPr marL="354013" indent="0">
              <a:buNone/>
            </a:pPr>
            <a:endParaRPr lang="de-CH" sz="1600" dirty="0"/>
          </a:p>
          <a:p>
            <a:pPr marL="354013" indent="0">
              <a:buNone/>
            </a:pPr>
            <a:r>
              <a:rPr lang="ru-RU" sz="1600" b="1" dirty="0"/>
              <a:t>Шестнадцатеричное число</a:t>
            </a:r>
          </a:p>
          <a:p>
            <a:pPr marL="354013" indent="0">
              <a:buNone/>
            </a:pPr>
            <a:endParaRPr lang="de-CH" sz="1600" b="1" dirty="0"/>
          </a:p>
          <a:p>
            <a:pPr marL="354013" indent="0">
              <a:buNone/>
            </a:pPr>
            <a:r>
              <a:rPr lang="de-CH" sz="1600" b="1" dirty="0"/>
              <a:t>int</a:t>
            </a:r>
            <a:r>
              <a:rPr lang="de-CH" sz="1600" dirty="0"/>
              <a:t> num1{ 0x1A};        	</a:t>
            </a:r>
            <a:r>
              <a:rPr lang="de-CH" sz="1600" dirty="0">
                <a:solidFill>
                  <a:srgbClr val="00B050"/>
                </a:solidFill>
              </a:rPr>
              <a:t>// 26 - </a:t>
            </a:r>
            <a:r>
              <a:rPr lang="ru-RU" sz="1600" dirty="0">
                <a:solidFill>
                  <a:srgbClr val="00B050"/>
                </a:solidFill>
              </a:rPr>
              <a:t>в десятичной</a:t>
            </a:r>
          </a:p>
          <a:p>
            <a:pPr marL="354013" indent="0">
              <a:buNone/>
            </a:pPr>
            <a:r>
              <a:rPr lang="de-CH" sz="1600" b="1" dirty="0"/>
              <a:t>int</a:t>
            </a:r>
            <a:r>
              <a:rPr lang="de-CH" sz="1600" dirty="0"/>
              <a:t> num2{ 0xFF };       	</a:t>
            </a:r>
            <a:r>
              <a:rPr lang="de-CH" sz="1600" dirty="0">
                <a:solidFill>
                  <a:srgbClr val="00B050"/>
                </a:solidFill>
              </a:rPr>
              <a:t>// 255 - </a:t>
            </a:r>
            <a:r>
              <a:rPr lang="ru-RU" sz="1600" dirty="0">
                <a:solidFill>
                  <a:srgbClr val="00B050"/>
                </a:solidFill>
              </a:rPr>
              <a:t>в десятичной</a:t>
            </a:r>
          </a:p>
          <a:p>
            <a:pPr marL="354013" indent="0">
              <a:buNone/>
            </a:pPr>
            <a:r>
              <a:rPr lang="de-CH" sz="1600" b="1" dirty="0"/>
              <a:t>int</a:t>
            </a:r>
            <a:r>
              <a:rPr lang="de-CH" sz="1600" dirty="0"/>
              <a:t> num3{ 0xFFFFFF };   	</a:t>
            </a:r>
            <a:r>
              <a:rPr lang="de-CH" sz="1600" dirty="0">
                <a:solidFill>
                  <a:srgbClr val="00B050"/>
                </a:solidFill>
              </a:rPr>
              <a:t>//16777215 - </a:t>
            </a:r>
            <a:r>
              <a:rPr lang="ru-RU" sz="1600" dirty="0">
                <a:solidFill>
                  <a:srgbClr val="00B050"/>
                </a:solidFill>
              </a:rPr>
              <a:t>в десятичной</a:t>
            </a:r>
          </a:p>
          <a:p>
            <a:pPr marL="354013" indent="0">
              <a:buNone/>
            </a:pPr>
            <a:endParaRPr lang="ru-RU" sz="1600" dirty="0">
              <a:solidFill>
                <a:srgbClr val="00B050"/>
              </a:solidFill>
            </a:endParaRPr>
          </a:p>
          <a:p>
            <a:pPr marL="354013" indent="0">
              <a:buNone/>
            </a:pPr>
            <a:r>
              <a:rPr lang="ru-RU" sz="1600" b="1" dirty="0"/>
              <a:t>Восьмеричное число</a:t>
            </a:r>
          </a:p>
          <a:p>
            <a:pPr marL="354013" indent="0">
              <a:buNone/>
            </a:pPr>
            <a:endParaRPr lang="ru-RU" sz="1600" b="1" dirty="0"/>
          </a:p>
          <a:p>
            <a:pPr marL="354013" indent="0">
              <a:buNone/>
            </a:pPr>
            <a:r>
              <a:rPr lang="ru-RU" sz="1600" b="1" dirty="0" err="1"/>
              <a:t>int</a:t>
            </a:r>
            <a:r>
              <a:rPr lang="ru-RU" sz="1600" dirty="0"/>
              <a:t> num1{ 034};        </a:t>
            </a:r>
            <a:r>
              <a:rPr lang="ru-RU" sz="1600" dirty="0">
                <a:solidFill>
                  <a:srgbClr val="00B050"/>
                </a:solidFill>
              </a:rPr>
              <a:t>// 26 - в десятичной</a:t>
            </a:r>
          </a:p>
          <a:p>
            <a:pPr marL="354013" indent="0">
              <a:buNone/>
            </a:pPr>
            <a:r>
              <a:rPr lang="ru-RU" sz="1600" b="1" dirty="0" err="1"/>
              <a:t>int</a:t>
            </a:r>
            <a:r>
              <a:rPr lang="ru-RU" sz="1600" dirty="0"/>
              <a:t> num2{ 0377 };       </a:t>
            </a:r>
            <a:r>
              <a:rPr lang="ru-RU" sz="1600" dirty="0">
                <a:solidFill>
                  <a:srgbClr val="00B050"/>
                </a:solidFill>
              </a:rPr>
              <a:t>// 255 - в десятичной</a:t>
            </a:r>
          </a:p>
          <a:p>
            <a:pPr marL="354013" indent="0">
              <a:buNone/>
            </a:pPr>
            <a:endParaRPr lang="ru-RU" sz="1600" b="1" dirty="0"/>
          </a:p>
          <a:p>
            <a:pPr marL="354013" indent="0">
              <a:buNone/>
            </a:pPr>
            <a:r>
              <a:rPr lang="ru-RU" sz="1600" b="1" dirty="0"/>
              <a:t>Бинарные литералы</a:t>
            </a:r>
          </a:p>
          <a:p>
            <a:pPr marL="354013" indent="0">
              <a:buNone/>
            </a:pPr>
            <a:r>
              <a:rPr lang="ru-RU" sz="1600" b="1" dirty="0" err="1"/>
              <a:t>int</a:t>
            </a:r>
            <a:r>
              <a:rPr lang="ru-RU" sz="1600" b="1" dirty="0"/>
              <a:t> </a:t>
            </a:r>
            <a:r>
              <a:rPr lang="ru-RU" sz="1600" dirty="0"/>
              <a:t>num1{ 0b11010};         </a:t>
            </a:r>
            <a:r>
              <a:rPr lang="ru-RU" sz="1600" dirty="0">
                <a:solidFill>
                  <a:srgbClr val="00B050"/>
                </a:solidFill>
              </a:rPr>
              <a:t>// 26 - в десятичной</a:t>
            </a:r>
          </a:p>
          <a:p>
            <a:pPr marL="354013" indent="0">
              <a:buNone/>
            </a:pPr>
            <a:r>
              <a:rPr lang="ru-RU" sz="1600" b="1" dirty="0" err="1"/>
              <a:t>int</a:t>
            </a:r>
            <a:r>
              <a:rPr lang="ru-RU" sz="1600" dirty="0"/>
              <a:t> num2{ 0b11111111 };     </a:t>
            </a:r>
            <a:r>
              <a:rPr lang="ru-RU" sz="1600" dirty="0">
                <a:solidFill>
                  <a:srgbClr val="00B050"/>
                </a:solidFill>
              </a:rPr>
              <a:t>// 255 - в десятичной</a:t>
            </a:r>
          </a:p>
          <a:p>
            <a:pPr marL="354013" indent="0">
              <a:buNone/>
            </a:pPr>
            <a:endParaRPr lang="ru-RU" sz="1600" dirty="0"/>
          </a:p>
        </p:txBody>
      </p:sp>
    </p:spTree>
    <p:extLst>
      <p:ext uri="{BB962C8B-B14F-4D97-AF65-F5344CB8AC3E}">
        <p14:creationId xmlns:p14="http://schemas.microsoft.com/office/powerpoint/2010/main" val="14226321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DA794E-0A2D-768F-4DB2-F5074A0E2D63}"/>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2A0C9346-2F63-1CD8-A9DC-5E673A564D2C}"/>
              </a:ext>
            </a:extLst>
          </p:cNvPr>
          <p:cNvSpPr>
            <a:spLocks noGrp="1"/>
          </p:cNvSpPr>
          <p:nvPr>
            <p:ph idx="1"/>
          </p:nvPr>
        </p:nvSpPr>
        <p:spPr/>
        <p:txBody>
          <a:bodyPr/>
          <a:lstStyle/>
          <a:p>
            <a:pPr marL="177800" indent="0">
              <a:buNone/>
            </a:pPr>
            <a:r>
              <a:rPr lang="ru-RU" sz="2000" dirty="0"/>
              <a:t>Для хранения дробных чисел в C++ применяются числа с плавающей точкой. Число с плавающей точкой состоит из двух частей: мантиссы и показателя степени. Оба могут быть как положительными, так и отрицательными. Величина числа – это мантисса, умноженная на десять в степени экспоненты.</a:t>
            </a:r>
          </a:p>
          <a:p>
            <a:pPr marL="177800" indent="0">
              <a:buNone/>
            </a:pPr>
            <a:endParaRPr lang="ru-RU" sz="2000" dirty="0"/>
          </a:p>
          <a:p>
            <a:pPr marL="177800" indent="0">
              <a:buNone/>
            </a:pPr>
            <a:r>
              <a:rPr lang="ru-RU" sz="2000" dirty="0"/>
              <a:t>Например, число 365 может быть записано в виде числа с плавающей точкой следующим образом:</a:t>
            </a:r>
          </a:p>
          <a:p>
            <a:pPr marL="177800" indent="0" algn="ctr">
              <a:buNone/>
            </a:pPr>
            <a:r>
              <a:rPr lang="de-CH" sz="2000" dirty="0"/>
              <a:t>3.650000E02</a:t>
            </a:r>
            <a:endParaRPr lang="ru-RU" sz="2000" dirty="0"/>
          </a:p>
          <a:p>
            <a:pPr marL="177800" indent="0" algn="ctr">
              <a:buNone/>
            </a:pPr>
            <a:r>
              <a:rPr lang="de-CH" sz="2000" dirty="0"/>
              <a:t>3.650000 × 10</a:t>
            </a:r>
            <a:r>
              <a:rPr lang="de-CH" sz="2000" baseline="30000" dirty="0"/>
              <a:t>2</a:t>
            </a:r>
            <a:r>
              <a:rPr lang="de-CH" sz="2000" dirty="0"/>
              <a:t> = 365</a:t>
            </a:r>
            <a:endParaRPr lang="ru-RU" sz="2000" dirty="0"/>
          </a:p>
          <a:p>
            <a:pPr marL="177800" indent="0" algn="ctr">
              <a:buNone/>
            </a:pPr>
            <a:endParaRPr lang="ru-RU" sz="1000" dirty="0"/>
          </a:p>
          <a:p>
            <a:pPr marL="177800" indent="0" algn="ctr">
              <a:buNone/>
            </a:pPr>
            <a:r>
              <a:rPr lang="de-CH" sz="2000" dirty="0"/>
              <a:t>-3.650000E-03</a:t>
            </a:r>
            <a:endParaRPr lang="ru-RU" sz="2000" dirty="0"/>
          </a:p>
          <a:p>
            <a:pPr marL="177800" indent="0" algn="ctr">
              <a:buNone/>
            </a:pPr>
            <a:r>
              <a:rPr lang="ru-RU" sz="2000" dirty="0"/>
              <a:t>–3.65 × 10</a:t>
            </a:r>
            <a:r>
              <a:rPr lang="ru-RU" sz="2000" baseline="30000" dirty="0"/>
              <a:t>-3  </a:t>
            </a:r>
            <a:r>
              <a:rPr lang="ru-RU" sz="2000" dirty="0"/>
              <a:t>=-0.00365</a:t>
            </a:r>
            <a:endParaRPr lang="de-CH" sz="2000" dirty="0"/>
          </a:p>
          <a:p>
            <a:pPr marL="177800" indent="0" algn="ctr">
              <a:buNone/>
            </a:pPr>
            <a:endParaRPr lang="de-CH" sz="2000" dirty="0"/>
          </a:p>
          <a:p>
            <a:pPr marL="177800" indent="0">
              <a:buNone/>
            </a:pPr>
            <a:endParaRPr lang="ru-RU" sz="2000" dirty="0"/>
          </a:p>
        </p:txBody>
      </p:sp>
    </p:spTree>
    <p:extLst>
      <p:ext uri="{BB962C8B-B14F-4D97-AF65-F5344CB8AC3E}">
        <p14:creationId xmlns:p14="http://schemas.microsoft.com/office/powerpoint/2010/main" val="3028512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E8EE95-C56C-ED60-BAD6-ED0DA58E609C}"/>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8E864C05-B34B-B1FE-51AD-8DD609988DFA}"/>
              </a:ext>
            </a:extLst>
          </p:cNvPr>
          <p:cNvSpPr>
            <a:spLocks noGrp="1"/>
          </p:cNvSpPr>
          <p:nvPr>
            <p:ph idx="1"/>
          </p:nvPr>
        </p:nvSpPr>
        <p:spPr/>
        <p:txBody>
          <a:bodyPr/>
          <a:lstStyle/>
          <a:p>
            <a:r>
              <a:rPr lang="ru-RU" sz="2000" b="1" dirty="0" err="1"/>
              <a:t>float</a:t>
            </a:r>
            <a:r>
              <a:rPr lang="ru-RU" sz="2000" dirty="0"/>
              <a:t>: представляет вещественное число одинарной точности с плавающей точкой в диапазоне +/- 3.4E-38 до 3.4E+38. В памяти занимает 4 байта (32 бита)</a:t>
            </a:r>
          </a:p>
          <a:p>
            <a:endParaRPr lang="ru-RU" sz="2000" dirty="0"/>
          </a:p>
          <a:p>
            <a:r>
              <a:rPr lang="ru-RU" sz="2000" b="1" dirty="0" err="1"/>
              <a:t>double</a:t>
            </a:r>
            <a:r>
              <a:rPr lang="ru-RU" sz="2000" dirty="0"/>
              <a:t>: представляет вещественное число двойной точности с плавающей точкой в диапазоне +/- 1.7E-308 до 1.7E+308. В памяти занимает 8 байт (64 бита)</a:t>
            </a:r>
          </a:p>
          <a:p>
            <a:endParaRPr lang="ru-RU" sz="2000" dirty="0"/>
          </a:p>
          <a:p>
            <a:r>
              <a:rPr lang="ru-RU" sz="2000" b="1" dirty="0" err="1"/>
              <a:t>long</a:t>
            </a:r>
            <a:r>
              <a:rPr lang="ru-RU" sz="2000" b="1" dirty="0"/>
              <a:t> </a:t>
            </a:r>
            <a:r>
              <a:rPr lang="ru-RU" sz="2000" b="1" dirty="0" err="1"/>
              <a:t>double</a:t>
            </a:r>
            <a:r>
              <a:rPr lang="ru-RU" sz="2000" dirty="0"/>
              <a:t>: представляет вещественное число двойной точности с плавающей точкой не менее 8 байт (64 бит). В зависимости от размера занимаемой памяти может отличаться диапазон допустимых значений.</a:t>
            </a:r>
          </a:p>
          <a:p>
            <a:pPr marL="0" indent="0">
              <a:buNone/>
            </a:pPr>
            <a:endParaRPr lang="ru-RU" dirty="0"/>
          </a:p>
        </p:txBody>
      </p:sp>
    </p:spTree>
    <p:extLst>
      <p:ext uri="{BB962C8B-B14F-4D97-AF65-F5344CB8AC3E}">
        <p14:creationId xmlns:p14="http://schemas.microsoft.com/office/powerpoint/2010/main" val="38884104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19D1E1-AD47-166B-E5A6-43D1454A23CE}"/>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DE51CEE4-CA50-DDE2-C29E-386F52FD805C}"/>
              </a:ext>
            </a:extLst>
          </p:cNvPr>
          <p:cNvSpPr>
            <a:spLocks noGrp="1"/>
          </p:cNvSpPr>
          <p:nvPr>
            <p:ph idx="1"/>
          </p:nvPr>
        </p:nvSpPr>
        <p:spPr/>
        <p:txBody>
          <a:bodyPr/>
          <a:lstStyle/>
          <a:p>
            <a:pPr marL="0" indent="0">
              <a:buNone/>
            </a:pPr>
            <a:r>
              <a:rPr lang="ru-RU" sz="1800" dirty="0"/>
              <a:t>В своем внутреннем бинарном представлении каждое число с плавающей запятой состоит из одного бита знака, за которым следует фиксированное количество битов для показателя степени и набор битов для хранения мантиссы. В числах </a:t>
            </a:r>
            <a:r>
              <a:rPr lang="ru-RU" sz="1800" dirty="0" err="1"/>
              <a:t>float</a:t>
            </a:r>
            <a:r>
              <a:rPr lang="ru-RU" sz="1800" dirty="0"/>
              <a:t> 1 бит предназначен для хранения знака, 8 бит для экспоненты и 23 для мантиссы, что в сумме дает 32 бита. Мантисса позволяет определить точность числа в виде 7 десятичных знаков.</a:t>
            </a:r>
          </a:p>
          <a:p>
            <a:pPr marL="0" indent="0">
              <a:buNone/>
            </a:pPr>
            <a:endParaRPr lang="ru-RU" sz="1800" dirty="0"/>
          </a:p>
          <a:p>
            <a:pPr marL="0" indent="0">
              <a:buNone/>
            </a:pPr>
            <a:r>
              <a:rPr lang="ru-RU" sz="1800" dirty="0"/>
              <a:t>В числах </a:t>
            </a:r>
            <a:r>
              <a:rPr lang="ru-RU" sz="1800" dirty="0" err="1"/>
              <a:t>double</a:t>
            </a:r>
            <a:r>
              <a:rPr lang="ru-RU" sz="1800" dirty="0"/>
              <a:t>: 1 знаковый бит, 11 бит для экспоненты и 52 бит для мантиссы, то есть в сумме 64 бита. 52-разрядная мантисса позволяет определить точность до 16 десятичных знаков.</a:t>
            </a:r>
          </a:p>
          <a:p>
            <a:pPr marL="0" indent="0">
              <a:buNone/>
            </a:pPr>
            <a:endParaRPr lang="ru-RU" sz="1800" dirty="0"/>
          </a:p>
          <a:p>
            <a:pPr marL="0" indent="0">
              <a:buNone/>
            </a:pPr>
            <a:endParaRPr lang="ru-RU" sz="1800" dirty="0"/>
          </a:p>
        </p:txBody>
      </p:sp>
    </p:spTree>
    <p:extLst>
      <p:ext uri="{BB962C8B-B14F-4D97-AF65-F5344CB8AC3E}">
        <p14:creationId xmlns:p14="http://schemas.microsoft.com/office/powerpoint/2010/main" val="9289854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729CD7-AF40-F677-F9F8-D847E027F7DB}"/>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4B975315-F4B4-B90A-8338-12FD019AA8E5}"/>
              </a:ext>
            </a:extLst>
          </p:cNvPr>
          <p:cNvSpPr>
            <a:spLocks noGrp="1"/>
          </p:cNvSpPr>
          <p:nvPr>
            <p:ph idx="1"/>
          </p:nvPr>
        </p:nvSpPr>
        <p:spPr/>
        <p:txBody>
          <a:bodyPr/>
          <a:lstStyle/>
          <a:p>
            <a:pPr marL="354013" indent="0">
              <a:buNone/>
            </a:pPr>
            <a:r>
              <a:rPr lang="ru-RU" sz="2000" dirty="0"/>
              <a:t>Для типа </a:t>
            </a:r>
            <a:r>
              <a:rPr lang="ru-RU" sz="2000" b="1" dirty="0" err="1"/>
              <a:t>long</a:t>
            </a:r>
            <a:r>
              <a:rPr lang="ru-RU" sz="2000" b="1" dirty="0"/>
              <a:t> </a:t>
            </a:r>
            <a:r>
              <a:rPr lang="ru-RU" sz="2000" b="1" dirty="0" err="1"/>
              <a:t>double</a:t>
            </a:r>
            <a:r>
              <a:rPr lang="ru-RU" sz="2000" b="1" dirty="0"/>
              <a:t> </a:t>
            </a:r>
            <a:r>
              <a:rPr lang="ru-RU" sz="2000" dirty="0"/>
              <a:t>расклад зависит от конкретного компилятора и реализации этого типа данных. Большинство компиляторов предоставляют точность до 18 - 19 десятичных знаков (64-битная мантисса), в других же (как например, в Microsoft Visual C++) </a:t>
            </a:r>
            <a:r>
              <a:rPr lang="ru-RU" sz="2000" dirty="0" err="1"/>
              <a:t>long</a:t>
            </a:r>
            <a:r>
              <a:rPr lang="ru-RU" sz="2000" dirty="0"/>
              <a:t> </a:t>
            </a:r>
            <a:r>
              <a:rPr lang="ru-RU" sz="2000" dirty="0" err="1"/>
              <a:t>double</a:t>
            </a:r>
            <a:r>
              <a:rPr lang="ru-RU" sz="2000" dirty="0"/>
              <a:t> аналогичен типу </a:t>
            </a:r>
            <a:r>
              <a:rPr lang="ru-RU" sz="2000" dirty="0" err="1"/>
              <a:t>double</a:t>
            </a:r>
            <a:r>
              <a:rPr lang="ru-RU" sz="2000" dirty="0"/>
              <a:t>.</a:t>
            </a:r>
          </a:p>
          <a:p>
            <a:pPr marL="354013" indent="0">
              <a:buNone/>
            </a:pPr>
            <a:endParaRPr lang="ru-RU" sz="2000" dirty="0"/>
          </a:p>
          <a:p>
            <a:pPr marL="354013" indent="0">
              <a:buNone/>
            </a:pPr>
            <a:r>
              <a:rPr lang="ru-RU" sz="2000" dirty="0"/>
              <a:t>Однако хотя такая запись позволяет определить очень большой диапазон чисел, не все эти числа могут быть представлены с полной точностью; числа с плавающей запятой в целом являются приблизительными представления точного числа. Например, число 1254311179 выглядело бы так: 1.254311E09. Однако если перейти к десятичной записи, то это будет 1254311000. А это не то же самое, что и 1254311179, поскольку мы потеряли три младших разряда.</a:t>
            </a:r>
          </a:p>
        </p:txBody>
      </p:sp>
    </p:spTree>
    <p:extLst>
      <p:ext uri="{BB962C8B-B14F-4D97-AF65-F5344CB8AC3E}">
        <p14:creationId xmlns:p14="http://schemas.microsoft.com/office/powerpoint/2010/main" val="634727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CDAE23-1AEF-6A59-DA82-6E91C944EC1E}"/>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409BF483-6B99-0963-041B-507253F947A0}"/>
              </a:ext>
            </a:extLst>
          </p:cNvPr>
          <p:cNvSpPr>
            <a:spLocks noGrp="1"/>
          </p:cNvSpPr>
          <p:nvPr>
            <p:ph idx="1"/>
          </p:nvPr>
        </p:nvSpPr>
        <p:spPr/>
        <p:txBody>
          <a:bodyPr/>
          <a:lstStyle/>
          <a:p>
            <a:pPr marL="354013" indent="0">
              <a:buNone/>
            </a:pPr>
            <a:r>
              <a:rPr lang="ru-RU" sz="2000" dirty="0"/>
              <a:t>В C++ литералы чисел с плавающими точками представлены дробными числами, которые в качестве разделителя целой и дробной частей применяют точку:</a:t>
            </a:r>
          </a:p>
          <a:p>
            <a:pPr marL="0" indent="0">
              <a:buNone/>
            </a:pPr>
            <a:endParaRPr lang="ru-RU" sz="2000" dirty="0"/>
          </a:p>
          <a:p>
            <a:pPr marL="0" indent="0" algn="ctr">
              <a:buNone/>
            </a:pPr>
            <a:r>
              <a:rPr lang="de-CH" sz="2000" b="1" dirty="0"/>
              <a:t>double</a:t>
            </a:r>
            <a:r>
              <a:rPr lang="de-CH" sz="2000" dirty="0"/>
              <a:t> </a:t>
            </a:r>
            <a:r>
              <a:rPr lang="de-CH" sz="2000" dirty="0" err="1"/>
              <a:t>num</a:t>
            </a:r>
            <a:r>
              <a:rPr lang="de-CH" sz="2000" dirty="0"/>
              <a:t> {10.45};</a:t>
            </a:r>
            <a:endParaRPr lang="ru-RU" sz="2000" dirty="0"/>
          </a:p>
          <a:p>
            <a:pPr marL="0" indent="0" algn="ctr">
              <a:buNone/>
            </a:pPr>
            <a:endParaRPr lang="ru-RU" sz="2000" dirty="0"/>
          </a:p>
          <a:p>
            <a:pPr marL="354013" indent="0">
              <a:buNone/>
            </a:pPr>
            <a:r>
              <a:rPr lang="ru-RU" sz="2000" dirty="0"/>
              <a:t>Даже если переменной присваивается целое число, чтобы показать, что мы присваиваем число с плавающей точкой, применяется точка:</a:t>
            </a:r>
          </a:p>
          <a:p>
            <a:pPr marL="354013" indent="0">
              <a:buNone/>
            </a:pPr>
            <a:endParaRPr lang="ru-RU" sz="2000" dirty="0"/>
          </a:p>
          <a:p>
            <a:pPr marL="354013" indent="0">
              <a:buNone/>
            </a:pPr>
            <a:r>
              <a:rPr lang="ru-RU" sz="2000" b="1" dirty="0" err="1"/>
              <a:t>double</a:t>
            </a:r>
            <a:r>
              <a:rPr lang="ru-RU" sz="2000" dirty="0"/>
              <a:t> num1{ 1 };    </a:t>
            </a:r>
            <a:r>
              <a:rPr lang="ru-RU" sz="2000" dirty="0">
                <a:solidFill>
                  <a:srgbClr val="00B050"/>
                </a:solidFill>
              </a:rPr>
              <a:t>// 1 - целочисленный литерал</a:t>
            </a:r>
          </a:p>
          <a:p>
            <a:pPr marL="354013" indent="0">
              <a:buNone/>
            </a:pPr>
            <a:r>
              <a:rPr lang="ru-RU" sz="2000" b="1" dirty="0" err="1"/>
              <a:t>double</a:t>
            </a:r>
            <a:r>
              <a:rPr lang="ru-RU" sz="2000" dirty="0"/>
              <a:t> num2{ 1. };  </a:t>
            </a:r>
            <a:r>
              <a:rPr lang="ru-RU" sz="2000" dirty="0">
                <a:solidFill>
                  <a:srgbClr val="00B050"/>
                </a:solidFill>
              </a:rPr>
              <a:t>//1. - литерал числа с плавающей 			</a:t>
            </a:r>
            <a:r>
              <a:rPr lang="en-US" sz="2000" dirty="0">
                <a:solidFill>
                  <a:srgbClr val="00B050"/>
                </a:solidFill>
              </a:rPr>
              <a:t>     //</a:t>
            </a:r>
            <a:r>
              <a:rPr lang="ru-RU" sz="2000" dirty="0">
                <a:solidFill>
                  <a:srgbClr val="00B050"/>
                </a:solidFill>
              </a:rPr>
              <a:t>точкой</a:t>
            </a:r>
          </a:p>
        </p:txBody>
      </p:sp>
    </p:spTree>
    <p:extLst>
      <p:ext uri="{BB962C8B-B14F-4D97-AF65-F5344CB8AC3E}">
        <p14:creationId xmlns:p14="http://schemas.microsoft.com/office/powerpoint/2010/main" val="30353986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A43DFF-733F-4891-1CB0-F9AA8B5A984A}"/>
              </a:ext>
            </a:extLst>
          </p:cNvPr>
          <p:cNvSpPr>
            <a:spLocks noGrp="1"/>
          </p:cNvSpPr>
          <p:nvPr>
            <p:ph type="title"/>
          </p:nvPr>
        </p:nvSpPr>
        <p:spPr/>
        <p:txBody>
          <a:bodyPr/>
          <a:lstStyle/>
          <a:p>
            <a:r>
              <a:rPr lang="ru-RU" b="1" dirty="0"/>
              <a:t>Числа с плавающей точкой</a:t>
            </a:r>
            <a:endParaRPr lang="ru-RU" dirty="0"/>
          </a:p>
        </p:txBody>
      </p:sp>
      <p:sp>
        <p:nvSpPr>
          <p:cNvPr id="3" name="Объект 2">
            <a:extLst>
              <a:ext uri="{FF2B5EF4-FFF2-40B4-BE49-F238E27FC236}">
                <a16:creationId xmlns:a16="http://schemas.microsoft.com/office/drawing/2014/main" id="{C8F8E342-14F0-8C05-67DA-21192749BAE9}"/>
              </a:ext>
            </a:extLst>
          </p:cNvPr>
          <p:cNvSpPr>
            <a:spLocks noGrp="1"/>
          </p:cNvSpPr>
          <p:nvPr>
            <p:ph idx="1"/>
          </p:nvPr>
        </p:nvSpPr>
        <p:spPr/>
        <p:txBody>
          <a:bodyPr/>
          <a:lstStyle/>
          <a:p>
            <a:pPr marL="354013" indent="0">
              <a:buNone/>
            </a:pPr>
            <a:r>
              <a:rPr lang="ru-RU" sz="2000" dirty="0"/>
              <a:t>По умолчанию все такие числа с точкой расцениваются как числа типа </a:t>
            </a:r>
            <a:r>
              <a:rPr lang="ru-RU" sz="2000" dirty="0" err="1"/>
              <a:t>double</a:t>
            </a:r>
            <a:r>
              <a:rPr lang="ru-RU" sz="2000" dirty="0"/>
              <a:t>. Чтобы показать, что число представляет другой тип, для </a:t>
            </a:r>
            <a:r>
              <a:rPr lang="ru-RU" sz="2000" dirty="0" err="1"/>
              <a:t>float</a:t>
            </a:r>
            <a:r>
              <a:rPr lang="ru-RU" sz="2000" dirty="0"/>
              <a:t> применяется суффикс f/F, а для </a:t>
            </a:r>
            <a:r>
              <a:rPr lang="ru-RU" sz="2000" dirty="0" err="1"/>
              <a:t>long</a:t>
            </a:r>
            <a:r>
              <a:rPr lang="ru-RU" sz="2000" dirty="0"/>
              <a:t> </a:t>
            </a:r>
            <a:r>
              <a:rPr lang="ru-RU" sz="2000" dirty="0" err="1"/>
              <a:t>double</a:t>
            </a:r>
            <a:r>
              <a:rPr lang="ru-RU" sz="2000" dirty="0"/>
              <a:t> - l/L:</a:t>
            </a:r>
            <a:endParaRPr lang="en-US" sz="2000" dirty="0"/>
          </a:p>
          <a:p>
            <a:pPr marL="354013" indent="0">
              <a:buNone/>
            </a:pPr>
            <a:endParaRPr lang="en-US" sz="2000" dirty="0"/>
          </a:p>
          <a:p>
            <a:pPr marL="354013" indent="0">
              <a:buNone/>
            </a:pPr>
            <a:r>
              <a:rPr lang="en-US" sz="2000" b="1" dirty="0"/>
              <a:t>float</a:t>
            </a:r>
            <a:r>
              <a:rPr lang="en-US" sz="2000" dirty="0"/>
              <a:t> num1{ 10.56f };    </a:t>
            </a:r>
            <a:r>
              <a:rPr lang="en-US" sz="2000" dirty="0">
                <a:solidFill>
                  <a:srgbClr val="00B050"/>
                </a:solidFill>
              </a:rPr>
              <a:t>// float</a:t>
            </a:r>
          </a:p>
          <a:p>
            <a:pPr marL="354013" indent="0">
              <a:buNone/>
            </a:pPr>
            <a:r>
              <a:rPr lang="en-US" sz="2000" b="1" dirty="0"/>
              <a:t>long double </a:t>
            </a:r>
            <a:r>
              <a:rPr lang="en-US" sz="2000" dirty="0"/>
              <a:t>num2{ 10.56l };    </a:t>
            </a:r>
            <a:r>
              <a:rPr lang="en-US" sz="2000" dirty="0">
                <a:solidFill>
                  <a:srgbClr val="00B050"/>
                </a:solidFill>
              </a:rPr>
              <a:t>// long double</a:t>
            </a:r>
          </a:p>
          <a:p>
            <a:pPr marL="354013" indent="0">
              <a:buNone/>
            </a:pPr>
            <a:endParaRPr lang="en-US" sz="2000" dirty="0">
              <a:solidFill>
                <a:srgbClr val="00B050"/>
              </a:solidFill>
            </a:endParaRPr>
          </a:p>
          <a:p>
            <a:pPr marL="354013" indent="0">
              <a:buNone/>
            </a:pPr>
            <a:r>
              <a:rPr lang="pt-BR" sz="2000" b="1" dirty="0"/>
              <a:t>double</a:t>
            </a:r>
            <a:r>
              <a:rPr lang="pt-BR" sz="2000" dirty="0"/>
              <a:t> num1{ 5E3  };        </a:t>
            </a:r>
            <a:r>
              <a:rPr lang="pt-BR" sz="2000" dirty="0">
                <a:solidFill>
                  <a:srgbClr val="00B050"/>
                </a:solidFill>
              </a:rPr>
              <a:t>// 5E3  = 5000.0</a:t>
            </a:r>
          </a:p>
          <a:p>
            <a:pPr marL="354013" indent="0">
              <a:buNone/>
            </a:pPr>
            <a:r>
              <a:rPr lang="pt-BR" sz="2000" b="1" dirty="0"/>
              <a:t>double</a:t>
            </a:r>
            <a:r>
              <a:rPr lang="pt-BR" sz="2000" dirty="0"/>
              <a:t> num2{ 2.5e-3  };    </a:t>
            </a:r>
            <a:r>
              <a:rPr lang="pt-BR" sz="2000" dirty="0">
                <a:solidFill>
                  <a:srgbClr val="00B050"/>
                </a:solidFill>
              </a:rPr>
              <a:t>// 2.5e-3  = 0.0025</a:t>
            </a:r>
            <a:endParaRPr lang="ru-RU" sz="2000" dirty="0">
              <a:solidFill>
                <a:srgbClr val="00B050"/>
              </a:solidFill>
            </a:endParaRPr>
          </a:p>
        </p:txBody>
      </p:sp>
    </p:spTree>
    <p:extLst>
      <p:ext uri="{BB962C8B-B14F-4D97-AF65-F5344CB8AC3E}">
        <p14:creationId xmlns:p14="http://schemas.microsoft.com/office/powerpoint/2010/main" val="37462680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68C9AC-20C5-7F2C-FFF1-B14950782E17}"/>
              </a:ext>
            </a:extLst>
          </p:cNvPr>
          <p:cNvSpPr>
            <a:spLocks noGrp="1"/>
          </p:cNvSpPr>
          <p:nvPr>
            <p:ph type="title"/>
          </p:nvPr>
        </p:nvSpPr>
        <p:spPr/>
        <p:txBody>
          <a:bodyPr/>
          <a:lstStyle/>
          <a:p>
            <a:r>
              <a:rPr lang="ru-RU" b="1" dirty="0"/>
              <a:t>Размеры типов данных</a:t>
            </a:r>
            <a:endParaRPr lang="ru-RU" dirty="0"/>
          </a:p>
        </p:txBody>
      </p:sp>
      <p:sp>
        <p:nvSpPr>
          <p:cNvPr id="3" name="Объект 2">
            <a:extLst>
              <a:ext uri="{FF2B5EF4-FFF2-40B4-BE49-F238E27FC236}">
                <a16:creationId xmlns:a16="http://schemas.microsoft.com/office/drawing/2014/main" id="{43D31B6D-C426-F7CC-1663-124FAC86AFDC}"/>
              </a:ext>
            </a:extLst>
          </p:cNvPr>
          <p:cNvSpPr>
            <a:spLocks noGrp="1"/>
          </p:cNvSpPr>
          <p:nvPr>
            <p:ph idx="1"/>
          </p:nvPr>
        </p:nvSpPr>
        <p:spPr/>
        <p:txBody>
          <a:bodyPr/>
          <a:lstStyle/>
          <a:p>
            <a:pPr marL="0" indent="0">
              <a:buNone/>
            </a:pPr>
            <a:r>
              <a:rPr lang="ru-RU" sz="1600" dirty="0"/>
              <a:t>При перечислении типов данных указывался размер, который он занимает в памяти. Но стандарт языка устанавливает лишь минимальные значения, которые должны быть. Например, для типов </a:t>
            </a:r>
            <a:r>
              <a:rPr lang="ru-RU" sz="1600" dirty="0" err="1"/>
              <a:t>int</a:t>
            </a:r>
            <a:r>
              <a:rPr lang="ru-RU" sz="1600" dirty="0"/>
              <a:t> и </a:t>
            </a:r>
            <a:r>
              <a:rPr lang="ru-RU" sz="1600" dirty="0" err="1"/>
              <a:t>short</a:t>
            </a:r>
            <a:r>
              <a:rPr lang="ru-RU" sz="1600" dirty="0"/>
              <a:t> минимальное значение - 16 бит, для типа </a:t>
            </a:r>
            <a:r>
              <a:rPr lang="ru-RU" sz="1600" dirty="0" err="1"/>
              <a:t>long</a:t>
            </a:r>
            <a:r>
              <a:rPr lang="ru-RU" sz="1600" dirty="0"/>
              <a:t> - 32 бита, для типа </a:t>
            </a:r>
            <a:r>
              <a:rPr lang="ru-RU" sz="1600" dirty="0" err="1"/>
              <a:t>long</a:t>
            </a:r>
            <a:r>
              <a:rPr lang="ru-RU" sz="1600" dirty="0"/>
              <a:t> </a:t>
            </a:r>
            <a:r>
              <a:rPr lang="ru-RU" sz="1600" dirty="0" err="1"/>
              <a:t>double</a:t>
            </a:r>
            <a:r>
              <a:rPr lang="ru-RU" sz="1600" dirty="0"/>
              <a:t> - 64 разряда. При этом размер типа </a:t>
            </a:r>
            <a:r>
              <a:rPr lang="ru-RU" sz="1600" dirty="0" err="1"/>
              <a:t>long</a:t>
            </a:r>
            <a:r>
              <a:rPr lang="ru-RU" sz="1600" dirty="0"/>
              <a:t> должен быть не меньше размера типа </a:t>
            </a:r>
            <a:r>
              <a:rPr lang="ru-RU" sz="1600" dirty="0" err="1"/>
              <a:t>int</a:t>
            </a:r>
            <a:r>
              <a:rPr lang="ru-RU" sz="1600" dirty="0"/>
              <a:t>, а размер типа </a:t>
            </a:r>
            <a:r>
              <a:rPr lang="ru-RU" sz="1600" dirty="0" err="1"/>
              <a:t>int</a:t>
            </a:r>
            <a:r>
              <a:rPr lang="ru-RU" sz="1600" dirty="0"/>
              <a:t> - не меньше размера типа </a:t>
            </a:r>
            <a:r>
              <a:rPr lang="ru-RU" sz="1600" dirty="0" err="1"/>
              <a:t>short</a:t>
            </a:r>
            <a:r>
              <a:rPr lang="ru-RU" sz="1600" dirty="0"/>
              <a:t>, а размер типа </a:t>
            </a:r>
            <a:r>
              <a:rPr lang="ru-RU" sz="1600" dirty="0" err="1"/>
              <a:t>long</a:t>
            </a:r>
            <a:r>
              <a:rPr lang="ru-RU" sz="1600" dirty="0"/>
              <a:t> </a:t>
            </a:r>
            <a:r>
              <a:rPr lang="ru-RU" sz="1600" dirty="0" err="1"/>
              <a:t>double</a:t>
            </a:r>
            <a:r>
              <a:rPr lang="ru-RU" sz="1600" dirty="0"/>
              <a:t> должен быть не меньше </a:t>
            </a:r>
            <a:r>
              <a:rPr lang="ru-RU" sz="1600" dirty="0" err="1"/>
              <a:t>double</a:t>
            </a:r>
            <a:r>
              <a:rPr lang="ru-RU" sz="1600" dirty="0"/>
              <a:t>. А разработчики компиляторов могут выбирать предельные размеры для типов самостоятельно, исходя из аппаратных возможностей компьютера.</a:t>
            </a:r>
          </a:p>
          <a:p>
            <a:pPr marL="0" indent="0">
              <a:buNone/>
            </a:pPr>
            <a:endParaRPr lang="ru-RU" sz="1600" dirty="0"/>
          </a:p>
          <a:p>
            <a:pPr marL="0" indent="0">
              <a:buNone/>
            </a:pPr>
            <a:r>
              <a:rPr lang="ru-RU" sz="1600" dirty="0"/>
              <a:t>К примеру, компилятор g++ Windows для </a:t>
            </a:r>
            <a:r>
              <a:rPr lang="ru-RU" sz="1600" dirty="0" err="1"/>
              <a:t>long</a:t>
            </a:r>
            <a:r>
              <a:rPr lang="ru-RU" sz="1600" dirty="0"/>
              <a:t> </a:t>
            </a:r>
            <a:r>
              <a:rPr lang="ru-RU" sz="1600" dirty="0" err="1"/>
              <a:t>double</a:t>
            </a:r>
            <a:r>
              <a:rPr lang="ru-RU" sz="1600" dirty="0"/>
              <a:t> использует 16 байт. А компилятор в Visual Studio, который также работает под Windows, и </a:t>
            </a:r>
            <a:r>
              <a:rPr lang="ru-RU" sz="1600" dirty="0" err="1"/>
              <a:t>clang</a:t>
            </a:r>
            <a:r>
              <a:rPr lang="ru-RU" sz="1600" dirty="0"/>
              <a:t>++ под Windows для </a:t>
            </a:r>
            <a:r>
              <a:rPr lang="ru-RU" sz="1600" dirty="0" err="1"/>
              <a:t>long</a:t>
            </a:r>
            <a:r>
              <a:rPr lang="ru-RU" sz="1600" dirty="0"/>
              <a:t> </a:t>
            </a:r>
            <a:r>
              <a:rPr lang="ru-RU" sz="1600" dirty="0" err="1"/>
              <a:t>double</a:t>
            </a:r>
            <a:r>
              <a:rPr lang="ru-RU" sz="1600" dirty="0"/>
              <a:t> используют 8 байт. То есть даже в рамках одной платформы разные компиляторы могут по разному подходить к размерам некоторых типов данных. Но в целом используются те размеры, которые указаны выше при описании типов данных.</a:t>
            </a:r>
          </a:p>
          <a:p>
            <a:pPr marL="0" indent="0">
              <a:buNone/>
            </a:pPr>
            <a:endParaRPr lang="ru-RU" sz="1600" dirty="0"/>
          </a:p>
          <a:p>
            <a:pPr marL="0" indent="0">
              <a:buNone/>
            </a:pPr>
            <a:r>
              <a:rPr lang="ru-RU" sz="1600" dirty="0"/>
              <a:t>Однако бывают ситуации, когда необходимо точно знать размер определенного типа. И для этого в С++ есть оператор </a:t>
            </a:r>
            <a:r>
              <a:rPr lang="ru-RU" sz="1600" b="1" dirty="0" err="1"/>
              <a:t>sizeof</a:t>
            </a:r>
            <a:r>
              <a:rPr lang="ru-RU" sz="1600" b="1" dirty="0"/>
              <a:t>()</a:t>
            </a:r>
            <a:r>
              <a:rPr lang="ru-RU" sz="1600" dirty="0"/>
              <a:t>, который возвращает размер памяти в байтах, которую занимает переменная:</a:t>
            </a:r>
          </a:p>
        </p:txBody>
      </p:sp>
    </p:spTree>
    <p:extLst>
      <p:ext uri="{BB962C8B-B14F-4D97-AF65-F5344CB8AC3E}">
        <p14:creationId xmlns:p14="http://schemas.microsoft.com/office/powerpoint/2010/main" val="37374934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054FED-70B6-E5D8-2839-84690B9A0B36}"/>
              </a:ext>
            </a:extLst>
          </p:cNvPr>
          <p:cNvSpPr>
            <a:spLocks noGrp="1"/>
          </p:cNvSpPr>
          <p:nvPr>
            <p:ph type="title"/>
          </p:nvPr>
        </p:nvSpPr>
        <p:spPr/>
        <p:txBody>
          <a:bodyPr/>
          <a:lstStyle/>
          <a:p>
            <a:r>
              <a:rPr lang="ru-RU" b="1" dirty="0"/>
              <a:t>Символьные типы</a:t>
            </a:r>
            <a:endParaRPr lang="ru-RU" dirty="0"/>
          </a:p>
        </p:txBody>
      </p:sp>
      <p:sp>
        <p:nvSpPr>
          <p:cNvPr id="3" name="Объект 2">
            <a:extLst>
              <a:ext uri="{FF2B5EF4-FFF2-40B4-BE49-F238E27FC236}">
                <a16:creationId xmlns:a16="http://schemas.microsoft.com/office/drawing/2014/main" id="{D1E52F05-84AD-D208-7B29-910F42A66DFE}"/>
              </a:ext>
            </a:extLst>
          </p:cNvPr>
          <p:cNvSpPr>
            <a:spLocks noGrp="1"/>
          </p:cNvSpPr>
          <p:nvPr>
            <p:ph idx="1"/>
          </p:nvPr>
        </p:nvSpPr>
        <p:spPr/>
        <p:txBody>
          <a:bodyPr/>
          <a:lstStyle/>
          <a:p>
            <a:pPr marL="177800" indent="0">
              <a:buNone/>
            </a:pPr>
            <a:r>
              <a:rPr lang="ru-RU" sz="1600" b="1" dirty="0"/>
              <a:t>В C++ есть следующие символьные типы данных:</a:t>
            </a:r>
          </a:p>
          <a:p>
            <a:pPr marL="177800" indent="0">
              <a:buNone/>
            </a:pPr>
            <a:endParaRPr lang="ru-RU" sz="1600" dirty="0"/>
          </a:p>
          <a:p>
            <a:pPr marL="177800" indent="0">
              <a:buNone/>
            </a:pPr>
            <a:r>
              <a:rPr lang="ru-RU" sz="1600" b="1" dirty="0" err="1"/>
              <a:t>char</a:t>
            </a:r>
            <a:r>
              <a:rPr lang="ru-RU" sz="1600" b="1" dirty="0"/>
              <a:t>: </a:t>
            </a:r>
            <a:r>
              <a:rPr lang="ru-RU" sz="1600" dirty="0"/>
              <a:t>представляет один символ в кодировке ASCII. Занимает в памяти 1 байт (8 бит). Может хранить любое значение из диапазона от -128 до 127, либо от 0 до 255</a:t>
            </a:r>
          </a:p>
          <a:p>
            <a:pPr marL="177800" indent="0">
              <a:buNone/>
            </a:pPr>
            <a:endParaRPr lang="ru-RU" sz="1600" dirty="0"/>
          </a:p>
          <a:p>
            <a:pPr marL="177800" indent="0">
              <a:buNone/>
            </a:pPr>
            <a:r>
              <a:rPr lang="ru-RU" sz="1600" b="1" dirty="0" err="1"/>
              <a:t>wchar_t</a:t>
            </a:r>
            <a:r>
              <a:rPr lang="ru-RU" sz="1600" b="1" dirty="0"/>
              <a:t>: </a:t>
            </a:r>
            <a:r>
              <a:rPr lang="ru-RU" sz="1600" dirty="0"/>
              <a:t>представляет расширенный символ. На Windows занимает в памяти 2 байта (16 бит), на Linux - 4 байта (32 бита). Может хранить любой значение из диапазона от 0 до 65 535 (при 2 байтах), либо от 0 до 4 294 967 295 (для 4 байт)</a:t>
            </a:r>
          </a:p>
          <a:p>
            <a:pPr marL="177800" indent="0">
              <a:buNone/>
            </a:pPr>
            <a:endParaRPr lang="ru-RU" sz="1600" dirty="0"/>
          </a:p>
          <a:p>
            <a:pPr marL="177800" indent="0">
              <a:buNone/>
            </a:pPr>
            <a:r>
              <a:rPr lang="ru-RU" sz="1600" b="1" dirty="0"/>
              <a:t>char8_t: </a:t>
            </a:r>
            <a:r>
              <a:rPr lang="ru-RU" sz="1600" dirty="0"/>
              <a:t>представляет один символ в кодировке </a:t>
            </a:r>
            <a:r>
              <a:rPr lang="ru-RU" sz="1600" dirty="0" err="1"/>
              <a:t>Unicode</a:t>
            </a:r>
            <a:r>
              <a:rPr lang="ru-RU" sz="1600" dirty="0"/>
              <a:t>. Занимает в памяти 1 байт. Может хранить любой значение из диапазона от 0 до 256</a:t>
            </a:r>
          </a:p>
          <a:p>
            <a:pPr marL="177800" indent="0">
              <a:buNone/>
            </a:pPr>
            <a:endParaRPr lang="ru-RU" sz="1600" dirty="0"/>
          </a:p>
        </p:txBody>
      </p:sp>
    </p:spTree>
    <p:extLst>
      <p:ext uri="{BB962C8B-B14F-4D97-AF65-F5344CB8AC3E}">
        <p14:creationId xmlns:p14="http://schemas.microsoft.com/office/powerpoint/2010/main" val="2899053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DC3E59-85D6-F061-505F-1B0F403AB36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075AD057-33AD-BAB9-464D-F7B4481C86BC}"/>
              </a:ext>
            </a:extLst>
          </p:cNvPr>
          <p:cNvSpPr>
            <a:spLocks noGrp="1"/>
          </p:cNvSpPr>
          <p:nvPr>
            <p:ph idx="1"/>
          </p:nvPr>
        </p:nvSpPr>
        <p:spPr/>
        <p:txBody>
          <a:bodyPr/>
          <a:lstStyle/>
          <a:p>
            <a:pPr marL="269875" indent="0">
              <a:buNone/>
            </a:pPr>
            <a:r>
              <a:rPr lang="ru-RU" sz="1600" b="1" dirty="0"/>
              <a:t>char16_t: </a:t>
            </a:r>
            <a:r>
              <a:rPr lang="ru-RU" sz="1600" dirty="0"/>
              <a:t>представляет один символ в кодировке </a:t>
            </a:r>
            <a:r>
              <a:rPr lang="ru-RU" sz="1600" dirty="0" err="1"/>
              <a:t>Unicode</a:t>
            </a:r>
            <a:r>
              <a:rPr lang="ru-RU" sz="1600" dirty="0"/>
              <a:t>. Занимает в памяти 2 байта (16 бит). Может хранить любой значение из диапазона от 0 до 65 535</a:t>
            </a:r>
          </a:p>
          <a:p>
            <a:pPr marL="269875" indent="0">
              <a:buNone/>
            </a:pPr>
            <a:endParaRPr lang="ru-RU" sz="1600" dirty="0"/>
          </a:p>
          <a:p>
            <a:pPr marL="269875" indent="0">
              <a:buNone/>
            </a:pPr>
            <a:r>
              <a:rPr lang="ru-RU" sz="1600" b="1" dirty="0"/>
              <a:t>char32_t: </a:t>
            </a:r>
            <a:r>
              <a:rPr lang="ru-RU" sz="1600" dirty="0"/>
              <a:t>представляет один символ в кодировке </a:t>
            </a:r>
            <a:r>
              <a:rPr lang="ru-RU" sz="1600" dirty="0" err="1"/>
              <a:t>Unicode</a:t>
            </a:r>
            <a:r>
              <a:rPr lang="ru-RU" sz="1600" dirty="0"/>
              <a:t>. Занимает в памяти 4 байта (32 бита). Может хранить любой значение из диапазона от 0 до 4 294 967 295</a:t>
            </a:r>
            <a:endParaRPr lang="de-CH" sz="1600" dirty="0"/>
          </a:p>
          <a:p>
            <a:pPr marL="269875" indent="0">
              <a:buNone/>
            </a:pPr>
            <a:endParaRPr lang="de-CH" sz="1600" dirty="0"/>
          </a:p>
          <a:p>
            <a:pPr marL="269875" indent="0">
              <a:buNone/>
            </a:pPr>
            <a:r>
              <a:rPr lang="de-CH" sz="1600" b="1" dirty="0"/>
              <a:t>int</a:t>
            </a:r>
            <a:r>
              <a:rPr lang="de-CH" sz="1600" dirty="0"/>
              <a:t> </a:t>
            </a:r>
            <a:r>
              <a:rPr lang="de-CH" sz="1600" dirty="0" err="1"/>
              <a:t>main</a:t>
            </a:r>
            <a:r>
              <a:rPr lang="de-CH" sz="1600" dirty="0"/>
              <a:t>()</a:t>
            </a:r>
          </a:p>
          <a:p>
            <a:pPr marL="269875" indent="0">
              <a:buNone/>
            </a:pPr>
            <a:r>
              <a:rPr lang="de-CH" sz="1600" dirty="0"/>
              <a:t>{</a:t>
            </a:r>
          </a:p>
          <a:p>
            <a:pPr marL="269875" indent="0">
              <a:buNone/>
            </a:pPr>
            <a:r>
              <a:rPr lang="de-CH" sz="1600" dirty="0"/>
              <a:t>    </a:t>
            </a:r>
            <a:r>
              <a:rPr lang="de-CH" sz="1600" dirty="0" err="1"/>
              <a:t>char</a:t>
            </a:r>
            <a:r>
              <a:rPr lang="de-CH" sz="1600" dirty="0"/>
              <a:t> a1 {'A'};</a:t>
            </a:r>
          </a:p>
          <a:p>
            <a:pPr marL="269875" indent="0">
              <a:buNone/>
            </a:pPr>
            <a:r>
              <a:rPr lang="de-CH" sz="1600" dirty="0"/>
              <a:t>    </a:t>
            </a:r>
            <a:r>
              <a:rPr lang="de-CH" sz="1600" dirty="0" err="1"/>
              <a:t>char</a:t>
            </a:r>
            <a:r>
              <a:rPr lang="de-CH" sz="1600" dirty="0"/>
              <a:t> a2 {65};</a:t>
            </a:r>
          </a:p>
          <a:p>
            <a:pPr marL="269875" indent="0">
              <a:buNone/>
            </a:pPr>
            <a:r>
              <a:rPr lang="de-CH" sz="1600" dirty="0"/>
              <a:t>    </a:t>
            </a:r>
            <a:r>
              <a:rPr lang="de-CH" sz="1600" dirty="0" err="1"/>
              <a:t>std</a:t>
            </a:r>
            <a:r>
              <a:rPr lang="de-CH" sz="1600" dirty="0"/>
              <a:t>::</a:t>
            </a:r>
            <a:r>
              <a:rPr lang="de-CH" sz="1600" dirty="0" err="1"/>
              <a:t>cout</a:t>
            </a:r>
            <a:r>
              <a:rPr lang="de-CH" sz="1600" dirty="0"/>
              <a:t> &lt;&lt; "a1: " &lt;&lt; a1 &lt;&lt; </a:t>
            </a:r>
            <a:r>
              <a:rPr lang="de-CH" sz="1600" dirty="0" err="1"/>
              <a:t>std</a:t>
            </a:r>
            <a:r>
              <a:rPr lang="de-CH" sz="1600" dirty="0"/>
              <a:t>::</a:t>
            </a:r>
            <a:r>
              <a:rPr lang="de-CH" sz="1600" dirty="0" err="1"/>
              <a:t>endl</a:t>
            </a:r>
            <a:r>
              <a:rPr lang="de-CH" sz="1600" dirty="0"/>
              <a:t>;</a:t>
            </a:r>
          </a:p>
          <a:p>
            <a:pPr marL="269875" indent="0">
              <a:buNone/>
            </a:pPr>
            <a:r>
              <a:rPr lang="de-CH" sz="1600" dirty="0"/>
              <a:t>    </a:t>
            </a:r>
            <a:r>
              <a:rPr lang="de-CH" sz="1600" dirty="0" err="1"/>
              <a:t>std</a:t>
            </a:r>
            <a:r>
              <a:rPr lang="de-CH" sz="1600" dirty="0"/>
              <a:t>::</a:t>
            </a:r>
            <a:r>
              <a:rPr lang="de-CH" sz="1600" dirty="0" err="1"/>
              <a:t>cout</a:t>
            </a:r>
            <a:r>
              <a:rPr lang="de-CH" sz="1600" dirty="0"/>
              <a:t> &lt;&lt; "a2: " &lt;&lt; a2 &lt;&lt; </a:t>
            </a:r>
            <a:r>
              <a:rPr lang="de-CH" sz="1600" dirty="0" err="1"/>
              <a:t>std</a:t>
            </a:r>
            <a:r>
              <a:rPr lang="de-CH" sz="1600" dirty="0"/>
              <a:t>::</a:t>
            </a:r>
            <a:r>
              <a:rPr lang="de-CH" sz="1600" dirty="0" err="1"/>
              <a:t>endl</a:t>
            </a:r>
            <a:r>
              <a:rPr lang="de-CH" sz="1600" dirty="0"/>
              <a:t>; </a:t>
            </a:r>
          </a:p>
          <a:p>
            <a:pPr marL="269875" indent="0">
              <a:buNone/>
            </a:pPr>
            <a:r>
              <a:rPr lang="de-CH" sz="1600" dirty="0"/>
              <a:t>}</a:t>
            </a:r>
            <a:endParaRPr lang="ru-RU" sz="1600" dirty="0"/>
          </a:p>
        </p:txBody>
      </p:sp>
    </p:spTree>
    <p:extLst>
      <p:ext uri="{BB962C8B-B14F-4D97-AF65-F5344CB8AC3E}">
        <p14:creationId xmlns:p14="http://schemas.microsoft.com/office/powerpoint/2010/main" val="7783883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19DF8D-CA13-BC75-354F-7A1C4BA0D332}"/>
              </a:ext>
            </a:extLst>
          </p:cNvPr>
          <p:cNvSpPr>
            <a:spLocks noGrp="1"/>
          </p:cNvSpPr>
          <p:nvPr>
            <p:ph type="title"/>
          </p:nvPr>
        </p:nvSpPr>
        <p:spPr/>
        <p:txBody>
          <a:bodyPr/>
          <a:lstStyle/>
          <a:p>
            <a:r>
              <a:rPr lang="ru-RU" dirty="0"/>
              <a:t>Кодировки символов</a:t>
            </a:r>
          </a:p>
        </p:txBody>
      </p:sp>
      <p:sp>
        <p:nvSpPr>
          <p:cNvPr id="3" name="Объект 2">
            <a:extLst>
              <a:ext uri="{FF2B5EF4-FFF2-40B4-BE49-F238E27FC236}">
                <a16:creationId xmlns:a16="http://schemas.microsoft.com/office/drawing/2014/main" id="{CE02AF18-CEB4-BEF6-654B-B709AA2C498F}"/>
              </a:ext>
            </a:extLst>
          </p:cNvPr>
          <p:cNvSpPr>
            <a:spLocks noGrp="1"/>
          </p:cNvSpPr>
          <p:nvPr>
            <p:ph idx="1"/>
          </p:nvPr>
        </p:nvSpPr>
        <p:spPr/>
        <p:txBody>
          <a:bodyPr/>
          <a:lstStyle/>
          <a:p>
            <a:pPr marL="0" indent="0">
              <a:buNone/>
            </a:pPr>
            <a:r>
              <a:rPr lang="ru-RU" sz="1600" dirty="0" err="1"/>
              <a:t>Unicode</a:t>
            </a:r>
            <a:r>
              <a:rPr lang="ru-RU" sz="1600" dirty="0"/>
              <a:t> (Юникод) — это стандарт, который определяет набор символов и их кодовых точек, а также несколько различных кодировок для этих кодовых точек. Наиболее часто используемые кодировки: UTF-8, UTF-16 и UTF-32. Разница между ними заключается в том, как представлена кодовая точка символа; числовое же значение кода для любого символа остается одним и тем же в любой из кодировок. Основные отличия:</a:t>
            </a:r>
          </a:p>
          <a:p>
            <a:pPr marL="0" indent="0">
              <a:buNone/>
            </a:pPr>
            <a:endParaRPr lang="ru-RU" sz="1600" dirty="0"/>
          </a:p>
          <a:p>
            <a:pPr marL="0" indent="0">
              <a:buNone/>
            </a:pPr>
            <a:r>
              <a:rPr lang="ru-RU" sz="1600" dirty="0"/>
              <a:t>UTF-8 представляет символ как последовательность переменной длины от одного до четырех байт. Набор символов ASCII появляется в UTF-8 как однобайтовые коды, которые имеют те же значения кодов, что и в ASCII. UTF-8 на сегодняшний день является самой популярной кодировкой </a:t>
            </a:r>
            <a:r>
              <a:rPr lang="ru-RU" sz="1600" dirty="0" err="1"/>
              <a:t>Unicode</a:t>
            </a:r>
            <a:r>
              <a:rPr lang="ru-RU" sz="1600" dirty="0"/>
              <a:t>.</a:t>
            </a:r>
          </a:p>
          <a:p>
            <a:pPr marL="0" indent="0">
              <a:buNone/>
            </a:pPr>
            <a:endParaRPr lang="ru-RU" sz="1600" dirty="0"/>
          </a:p>
          <a:p>
            <a:pPr marL="0" indent="0">
              <a:buNone/>
            </a:pPr>
            <a:r>
              <a:rPr lang="ru-RU" sz="1600" dirty="0"/>
              <a:t>UTF-16 представляет символы как одно или два 16-битных значения.</a:t>
            </a:r>
          </a:p>
          <a:p>
            <a:pPr marL="0" indent="0">
              <a:buNone/>
            </a:pPr>
            <a:endParaRPr lang="ru-RU" sz="1600" dirty="0"/>
          </a:p>
          <a:p>
            <a:pPr marL="0" indent="0">
              <a:buNone/>
            </a:pPr>
            <a:r>
              <a:rPr lang="ru-RU" sz="1600" dirty="0"/>
              <a:t>UTF-32 представляет все символы как 32-битные значения</a:t>
            </a:r>
          </a:p>
        </p:txBody>
      </p:sp>
    </p:spTree>
    <p:extLst>
      <p:ext uri="{BB962C8B-B14F-4D97-AF65-F5344CB8AC3E}">
        <p14:creationId xmlns:p14="http://schemas.microsoft.com/office/powerpoint/2010/main" val="33030174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A61926-07FB-1076-0729-9A4F2B514FAA}"/>
              </a:ext>
            </a:extLst>
          </p:cNvPr>
          <p:cNvSpPr>
            <a:spLocks noGrp="1"/>
          </p:cNvSpPr>
          <p:nvPr>
            <p:ph type="title"/>
          </p:nvPr>
        </p:nvSpPr>
        <p:spPr/>
        <p:txBody>
          <a:bodyPr/>
          <a:lstStyle/>
          <a:p>
            <a:r>
              <a:rPr lang="ru-RU" b="1" dirty="0" err="1"/>
              <a:t>wchar_t</a:t>
            </a:r>
            <a:endParaRPr lang="ru-RU" dirty="0"/>
          </a:p>
        </p:txBody>
      </p:sp>
      <p:sp>
        <p:nvSpPr>
          <p:cNvPr id="3" name="Объект 2">
            <a:extLst>
              <a:ext uri="{FF2B5EF4-FFF2-40B4-BE49-F238E27FC236}">
                <a16:creationId xmlns:a16="http://schemas.microsoft.com/office/drawing/2014/main" id="{74B1F543-54B4-D531-2F24-C292E3477AE1}"/>
              </a:ext>
            </a:extLst>
          </p:cNvPr>
          <p:cNvSpPr>
            <a:spLocks noGrp="1"/>
          </p:cNvSpPr>
          <p:nvPr>
            <p:ph idx="1"/>
          </p:nvPr>
        </p:nvSpPr>
        <p:spPr/>
        <p:txBody>
          <a:bodyPr/>
          <a:lstStyle/>
          <a:p>
            <a:pPr marL="0" indent="0">
              <a:buNone/>
            </a:pPr>
            <a:r>
              <a:rPr lang="ru-RU" sz="1600" b="1" dirty="0" err="1"/>
              <a:t>wchar_t</a:t>
            </a:r>
            <a:endParaRPr lang="ru-RU" sz="1600" b="1" dirty="0"/>
          </a:p>
          <a:p>
            <a:pPr marL="0" indent="0">
              <a:buNone/>
            </a:pPr>
            <a:r>
              <a:rPr lang="ru-RU" sz="1600" dirty="0"/>
              <a:t>Тип </a:t>
            </a:r>
            <a:r>
              <a:rPr lang="ru-RU" sz="1600" dirty="0" err="1"/>
              <a:t>wchar_t</a:t>
            </a:r>
            <a:r>
              <a:rPr lang="ru-RU" sz="1600" dirty="0"/>
              <a:t> — это основной тип, предназначенный для наборов символов, размер которых выходит за пределы одного байта. Собственно отсюда и его название: </a:t>
            </a:r>
            <a:r>
              <a:rPr lang="ru-RU" sz="1600" dirty="0" err="1"/>
              <a:t>wchar_t</a:t>
            </a:r>
            <a:r>
              <a:rPr lang="ru-RU" sz="1600" dirty="0"/>
              <a:t> - </a:t>
            </a:r>
            <a:r>
              <a:rPr lang="ru-RU" sz="1600" dirty="0" err="1"/>
              <a:t>wide</a:t>
            </a:r>
            <a:r>
              <a:rPr lang="ru-RU" sz="1600" dirty="0"/>
              <a:t> (широкий) </a:t>
            </a:r>
            <a:r>
              <a:rPr lang="ru-RU" sz="1600" dirty="0" err="1"/>
              <a:t>char</a:t>
            </a:r>
            <a:r>
              <a:rPr lang="ru-RU" sz="1600" dirty="0"/>
              <a:t>. происходит от широкого символа, потому что этот символ «шире», чем обычный однобайтовый символ. Значения </a:t>
            </a:r>
            <a:r>
              <a:rPr lang="ru-RU" sz="1600" dirty="0" err="1"/>
              <a:t>wchar_t</a:t>
            </a:r>
            <a:r>
              <a:rPr lang="ru-RU" sz="1600" dirty="0"/>
              <a:t> определяются также как и символы </a:t>
            </a:r>
            <a:r>
              <a:rPr lang="ru-RU" sz="1600" dirty="0" err="1"/>
              <a:t>char</a:t>
            </a:r>
            <a:r>
              <a:rPr lang="ru-RU" sz="1600" dirty="0"/>
              <a:t> за тем исключением, что они предваряются символов "L":</a:t>
            </a:r>
          </a:p>
          <a:p>
            <a:pPr marL="0" indent="0">
              <a:buNone/>
            </a:pPr>
            <a:endParaRPr lang="ru-RU" sz="1600" dirty="0"/>
          </a:p>
          <a:p>
            <a:pPr marL="0" indent="0">
              <a:buNone/>
            </a:pPr>
            <a:endParaRPr lang="ru-RU" sz="1600" dirty="0"/>
          </a:p>
          <a:p>
            <a:pPr marL="0" indent="0">
              <a:buNone/>
            </a:pPr>
            <a:r>
              <a:rPr lang="ru-RU" sz="1600" dirty="0" err="1"/>
              <a:t>wchar_t</a:t>
            </a:r>
            <a:r>
              <a:rPr lang="ru-RU" sz="1600" dirty="0"/>
              <a:t> a1 {L'A’};</a:t>
            </a:r>
          </a:p>
          <a:p>
            <a:pPr marL="0" indent="0">
              <a:buNone/>
            </a:pPr>
            <a:r>
              <a:rPr lang="en-US" sz="1600" dirty="0">
                <a:solidFill>
                  <a:srgbClr val="00B050"/>
                </a:solidFill>
              </a:rPr>
              <a:t>//</a:t>
            </a:r>
            <a:r>
              <a:rPr lang="ru-RU" sz="1600" dirty="0">
                <a:solidFill>
                  <a:srgbClr val="00B050"/>
                </a:solidFill>
              </a:rPr>
              <a:t>Также можно передать код символа</a:t>
            </a:r>
          </a:p>
          <a:p>
            <a:pPr marL="0" indent="0">
              <a:buNone/>
            </a:pPr>
            <a:r>
              <a:rPr lang="ru-RU" sz="1600" dirty="0" err="1"/>
              <a:t>wchar_t</a:t>
            </a:r>
            <a:r>
              <a:rPr lang="ru-RU" sz="1600" dirty="0"/>
              <a:t> a1 {L'\x41'};</a:t>
            </a:r>
          </a:p>
        </p:txBody>
      </p:sp>
    </p:spTree>
    <p:extLst>
      <p:ext uri="{BB962C8B-B14F-4D97-AF65-F5344CB8AC3E}">
        <p14:creationId xmlns:p14="http://schemas.microsoft.com/office/powerpoint/2010/main" val="21531558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039D9A-12A2-43C4-994D-B2FA70B60998}"/>
              </a:ext>
            </a:extLst>
          </p:cNvPr>
          <p:cNvSpPr>
            <a:spLocks noGrp="1"/>
          </p:cNvSpPr>
          <p:nvPr>
            <p:ph type="title"/>
          </p:nvPr>
        </p:nvSpPr>
        <p:spPr/>
        <p:txBody>
          <a:bodyPr/>
          <a:lstStyle/>
          <a:p>
            <a:r>
              <a:rPr lang="ru-RU" b="1" dirty="0"/>
              <a:t>Спецификатор </a:t>
            </a:r>
            <a:r>
              <a:rPr lang="de-CH" b="1" dirty="0" err="1"/>
              <a:t>auto</a:t>
            </a:r>
            <a:endParaRPr lang="ru-RU" dirty="0"/>
          </a:p>
        </p:txBody>
      </p:sp>
      <p:sp>
        <p:nvSpPr>
          <p:cNvPr id="3" name="Объект 2">
            <a:extLst>
              <a:ext uri="{FF2B5EF4-FFF2-40B4-BE49-F238E27FC236}">
                <a16:creationId xmlns:a16="http://schemas.microsoft.com/office/drawing/2014/main" id="{554DB03D-5F6D-3D0C-DCBF-80F70740C10F}"/>
              </a:ext>
            </a:extLst>
          </p:cNvPr>
          <p:cNvSpPr>
            <a:spLocks noGrp="1"/>
          </p:cNvSpPr>
          <p:nvPr>
            <p:ph idx="1"/>
          </p:nvPr>
        </p:nvSpPr>
        <p:spPr/>
        <p:txBody>
          <a:bodyPr/>
          <a:lstStyle/>
          <a:p>
            <a:pPr marL="0" indent="0">
              <a:buNone/>
            </a:pPr>
            <a:r>
              <a:rPr lang="ru-RU" sz="2000" dirty="0"/>
              <a:t>Иногда бывает трудно определить тип выражения. В этом случае можно предоставить компилятору самому выводить тип объекта. И для этого применяется спецификатор </a:t>
            </a:r>
            <a:r>
              <a:rPr lang="ru-RU" sz="2000" dirty="0" err="1"/>
              <a:t>auto</a:t>
            </a:r>
            <a:r>
              <a:rPr lang="ru-RU" sz="2000" dirty="0"/>
              <a:t>. При этом если мы определяем переменную со спецификатором </a:t>
            </a:r>
            <a:r>
              <a:rPr lang="ru-RU" sz="2000" dirty="0" err="1"/>
              <a:t>auto</a:t>
            </a:r>
            <a:r>
              <a:rPr lang="ru-RU" sz="2000" dirty="0"/>
              <a:t>, эта переменная должна быть обязательно инициализирована каким-либо значением:</a:t>
            </a:r>
          </a:p>
          <a:p>
            <a:pPr marL="0" indent="0">
              <a:buNone/>
            </a:pPr>
            <a:endParaRPr lang="de-CH" sz="1600" dirty="0"/>
          </a:p>
          <a:p>
            <a:pPr marL="0" indent="0">
              <a:buNone/>
            </a:pPr>
            <a:r>
              <a:rPr lang="de-CH" sz="1600" b="1" dirty="0" err="1"/>
              <a:t>auto</a:t>
            </a:r>
            <a:r>
              <a:rPr lang="de-CH" sz="1600" dirty="0"/>
              <a:t> </a:t>
            </a:r>
            <a:r>
              <a:rPr lang="de-CH" sz="1600" dirty="0" err="1"/>
              <a:t>number</a:t>
            </a:r>
            <a:r>
              <a:rPr lang="de-CH" sz="1600" dirty="0"/>
              <a:t> = 5;        </a:t>
            </a:r>
            <a:r>
              <a:rPr lang="de-CH" sz="1600" dirty="0">
                <a:solidFill>
                  <a:srgbClr val="00B050"/>
                </a:solidFill>
              </a:rPr>
              <a:t>// </a:t>
            </a:r>
            <a:r>
              <a:rPr lang="de-CH" sz="1600" dirty="0" err="1">
                <a:solidFill>
                  <a:srgbClr val="00B050"/>
                </a:solidFill>
              </a:rPr>
              <a:t>number</a:t>
            </a:r>
            <a:r>
              <a:rPr lang="de-CH" sz="1600" dirty="0">
                <a:solidFill>
                  <a:srgbClr val="00B050"/>
                </a:solidFill>
              </a:rPr>
              <a:t> </a:t>
            </a:r>
            <a:r>
              <a:rPr lang="ru-RU" sz="1600" dirty="0">
                <a:solidFill>
                  <a:srgbClr val="00B050"/>
                </a:solidFill>
              </a:rPr>
              <a:t>имеет тип </a:t>
            </a:r>
            <a:r>
              <a:rPr lang="de-CH" sz="1600" dirty="0">
                <a:solidFill>
                  <a:srgbClr val="00B050"/>
                </a:solidFill>
              </a:rPr>
              <a:t>int</a:t>
            </a:r>
          </a:p>
          <a:p>
            <a:pPr marL="0" indent="0">
              <a:buNone/>
            </a:pPr>
            <a:r>
              <a:rPr lang="de-CH" sz="1600" b="1" dirty="0" err="1"/>
              <a:t>auto</a:t>
            </a:r>
            <a:r>
              <a:rPr lang="de-CH" sz="1600" dirty="0"/>
              <a:t> </a:t>
            </a:r>
            <a:r>
              <a:rPr lang="de-CH" sz="1600" dirty="0" err="1"/>
              <a:t>sum</a:t>
            </a:r>
            <a:r>
              <a:rPr lang="de-CH" sz="1600" dirty="0"/>
              <a:t> {1234.56};    </a:t>
            </a:r>
            <a:r>
              <a:rPr lang="de-CH" sz="1600" dirty="0">
                <a:solidFill>
                  <a:srgbClr val="00B050"/>
                </a:solidFill>
              </a:rPr>
              <a:t>// </a:t>
            </a:r>
            <a:r>
              <a:rPr lang="de-CH" sz="1600" dirty="0" err="1">
                <a:solidFill>
                  <a:srgbClr val="00B050"/>
                </a:solidFill>
              </a:rPr>
              <a:t>sum</a:t>
            </a:r>
            <a:r>
              <a:rPr lang="de-CH" sz="1600" dirty="0">
                <a:solidFill>
                  <a:srgbClr val="00B050"/>
                </a:solidFill>
              </a:rPr>
              <a:t> </a:t>
            </a:r>
            <a:r>
              <a:rPr lang="ru-RU" sz="1600" dirty="0">
                <a:solidFill>
                  <a:srgbClr val="00B050"/>
                </a:solidFill>
              </a:rPr>
              <a:t>имеет тип </a:t>
            </a:r>
            <a:r>
              <a:rPr lang="de-CH" sz="1600" dirty="0">
                <a:solidFill>
                  <a:srgbClr val="00B050"/>
                </a:solidFill>
              </a:rPr>
              <a:t>double</a:t>
            </a:r>
          </a:p>
          <a:p>
            <a:pPr marL="0" indent="0">
              <a:buNone/>
            </a:pPr>
            <a:r>
              <a:rPr lang="de-CH" sz="1600" b="1" dirty="0" err="1"/>
              <a:t>auto</a:t>
            </a:r>
            <a:r>
              <a:rPr lang="de-CH" sz="1600" dirty="0"/>
              <a:t> </a:t>
            </a:r>
            <a:r>
              <a:rPr lang="de-CH" sz="1600" dirty="0" err="1"/>
              <a:t>distance</a:t>
            </a:r>
            <a:r>
              <a:rPr lang="de-CH" sz="1600" dirty="0"/>
              <a:t> {267UL};  </a:t>
            </a:r>
            <a:r>
              <a:rPr lang="de-CH" sz="1600" dirty="0">
                <a:solidFill>
                  <a:srgbClr val="00B050"/>
                </a:solidFill>
              </a:rPr>
              <a:t>// </a:t>
            </a:r>
            <a:r>
              <a:rPr lang="de-CH" sz="1600" dirty="0" err="1">
                <a:solidFill>
                  <a:srgbClr val="00B050"/>
                </a:solidFill>
              </a:rPr>
              <a:t>distance</a:t>
            </a:r>
            <a:r>
              <a:rPr lang="de-CH" sz="1600" dirty="0">
                <a:solidFill>
                  <a:srgbClr val="00B050"/>
                </a:solidFill>
              </a:rPr>
              <a:t> </a:t>
            </a:r>
            <a:r>
              <a:rPr lang="ru-RU" sz="1600" dirty="0">
                <a:solidFill>
                  <a:srgbClr val="00B050"/>
                </a:solidFill>
              </a:rPr>
              <a:t>имеет тип </a:t>
            </a:r>
            <a:r>
              <a:rPr lang="de-CH" sz="1600" dirty="0" err="1">
                <a:solidFill>
                  <a:srgbClr val="00B050"/>
                </a:solidFill>
              </a:rPr>
              <a:t>unsigned</a:t>
            </a:r>
            <a:r>
              <a:rPr lang="de-CH" sz="1600" dirty="0">
                <a:solidFill>
                  <a:srgbClr val="00B050"/>
                </a:solidFill>
              </a:rPr>
              <a:t> </a:t>
            </a:r>
            <a:r>
              <a:rPr lang="de-CH" sz="1600" dirty="0" err="1">
                <a:solidFill>
                  <a:srgbClr val="00B050"/>
                </a:solidFill>
              </a:rPr>
              <a:t>long</a:t>
            </a:r>
            <a:endParaRPr lang="ru-RU" sz="1600" dirty="0">
              <a:solidFill>
                <a:srgbClr val="00B050"/>
              </a:solidFill>
            </a:endParaRPr>
          </a:p>
          <a:p>
            <a:pPr marL="0" indent="0">
              <a:buNone/>
            </a:pPr>
            <a:endParaRPr lang="ru-RU" dirty="0"/>
          </a:p>
        </p:txBody>
      </p:sp>
    </p:spTree>
    <p:extLst>
      <p:ext uri="{BB962C8B-B14F-4D97-AF65-F5344CB8AC3E}">
        <p14:creationId xmlns:p14="http://schemas.microsoft.com/office/powerpoint/2010/main" val="25097874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87E9E21-67B9-6E57-A157-976A56CEC7F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16EC3C98-CCC7-EB38-A3C2-F611A46708A0}"/>
              </a:ext>
            </a:extLst>
          </p:cNvPr>
          <p:cNvSpPr>
            <a:spLocks noGrp="1"/>
          </p:cNvSpPr>
          <p:nvPr>
            <p:ph idx="1"/>
          </p:nvPr>
        </p:nvSpPr>
        <p:spPr/>
        <p:txBody>
          <a:bodyPr/>
          <a:lstStyle/>
          <a:p>
            <a:pPr algn="l" fontAlgn="base">
              <a:buNone/>
            </a:pPr>
            <a:r>
              <a:rPr lang="de-CH" b="0" i="0" dirty="0">
                <a:solidFill>
                  <a:srgbClr val="808080"/>
                </a:solidFill>
                <a:effectLst/>
                <a:latin typeface="SFMono-Regular"/>
              </a:rPr>
              <a:t>#include &lt;</a:t>
            </a:r>
            <a:r>
              <a:rPr lang="de-CH" b="0" i="0" dirty="0" err="1">
                <a:solidFill>
                  <a:srgbClr val="808080"/>
                </a:solidFill>
                <a:effectLst/>
                <a:latin typeface="SFMono-Regular"/>
              </a:rPr>
              <a:t>iostream</a:t>
            </a:r>
            <a:r>
              <a:rPr lang="de-CH" b="0" i="0" dirty="0">
                <a:solidFill>
                  <a:srgbClr val="808080"/>
                </a:solidFill>
                <a:effectLst/>
                <a:latin typeface="SFMono-Regular"/>
              </a:rPr>
              <a:t>&gt;</a:t>
            </a:r>
            <a:endParaRPr lang="de-CH" b="0" i="0" dirty="0">
              <a:solidFill>
                <a:srgbClr val="000000"/>
              </a:solidFill>
              <a:effectLst/>
              <a:latin typeface="SFMono-Regular"/>
            </a:endParaRPr>
          </a:p>
          <a:p>
            <a:pPr algn="l" fontAlgn="base">
              <a:buNone/>
            </a:pPr>
            <a:r>
              <a:rPr lang="de-CH" b="0" i="0" dirty="0">
                <a:solidFill>
                  <a:srgbClr val="000000"/>
                </a:solidFill>
                <a:effectLst/>
                <a:latin typeface="SFMono-Regular"/>
              </a:rPr>
              <a:t> </a:t>
            </a:r>
          </a:p>
          <a:p>
            <a:pPr algn="l" fontAlgn="base">
              <a:buNone/>
            </a:pPr>
            <a:r>
              <a:rPr lang="de-CH" b="1" i="0" dirty="0">
                <a:solidFill>
                  <a:srgbClr val="808080"/>
                </a:solidFill>
                <a:effectLst/>
                <a:latin typeface="SFMono-Regular"/>
              </a:rPr>
              <a:t>int</a:t>
            </a:r>
            <a:r>
              <a:rPr lang="de-CH" b="0" i="0" dirty="0">
                <a:solidFill>
                  <a:srgbClr val="000000"/>
                </a:solidFill>
                <a:effectLst/>
                <a:latin typeface="SFMono-Regular"/>
              </a:rPr>
              <a:t> </a:t>
            </a:r>
            <a:r>
              <a:rPr lang="de-CH" b="0" i="0" dirty="0" err="1">
                <a:solidFill>
                  <a:srgbClr val="000000"/>
                </a:solidFill>
                <a:effectLst/>
                <a:latin typeface="SFMono-Regular"/>
              </a:rPr>
              <a:t>main</a:t>
            </a:r>
            <a:r>
              <a:rPr lang="de-CH" b="0" i="0" dirty="0">
                <a:solidFill>
                  <a:srgbClr val="000000"/>
                </a:solidFill>
                <a:effectLst/>
                <a:latin typeface="SFMono-Regular"/>
              </a:rPr>
              <a:t>()</a:t>
            </a:r>
          </a:p>
          <a:p>
            <a:pPr algn="l" fontAlgn="base">
              <a:buNone/>
            </a:pPr>
            <a:r>
              <a:rPr lang="de-CH" b="0" i="0" dirty="0">
                <a:solidFill>
                  <a:srgbClr val="000000"/>
                </a:solidFill>
                <a:effectLst/>
                <a:latin typeface="SFMono-Regular"/>
              </a:rPr>
              <a:t>{</a:t>
            </a:r>
          </a:p>
          <a:p>
            <a:pPr algn="l" fontAlgn="base">
              <a:buNone/>
            </a:pPr>
            <a:r>
              <a:rPr lang="de-CH" b="0" i="0" dirty="0">
                <a:solidFill>
                  <a:srgbClr val="000000"/>
                </a:solidFill>
                <a:effectLst/>
                <a:latin typeface="SFMono-Regular"/>
              </a:rPr>
              <a:t>    </a:t>
            </a:r>
            <a:r>
              <a:rPr lang="de-CH" b="1" i="0" dirty="0" err="1">
                <a:solidFill>
                  <a:srgbClr val="808080"/>
                </a:solidFill>
                <a:effectLst/>
                <a:latin typeface="SFMono-Regular"/>
              </a:rPr>
              <a:t>bool</a:t>
            </a:r>
            <a:r>
              <a:rPr lang="de-CH" b="0" i="0" dirty="0">
                <a:solidFill>
                  <a:srgbClr val="000000"/>
                </a:solidFill>
                <a:effectLst/>
                <a:latin typeface="SFMono-Regular"/>
              </a:rPr>
              <a:t> </a:t>
            </a:r>
            <a:r>
              <a:rPr lang="de-CH" b="0" i="0" dirty="0" err="1">
                <a:solidFill>
                  <a:srgbClr val="000000"/>
                </a:solidFill>
                <a:effectLst/>
                <a:latin typeface="SFMono-Regular"/>
              </a:rPr>
              <a:t>isAlive</a:t>
            </a:r>
            <a:r>
              <a:rPr lang="de-CH" b="0" i="0" dirty="0">
                <a:solidFill>
                  <a:srgbClr val="000000"/>
                </a:solidFill>
                <a:effectLst/>
                <a:latin typeface="SFMono-Regular"/>
              </a:rPr>
              <a:t> {</a:t>
            </a:r>
            <a:r>
              <a:rPr lang="de-CH" b="1" i="0" dirty="0" err="1">
                <a:solidFill>
                  <a:srgbClr val="006699"/>
                </a:solidFill>
                <a:effectLst/>
                <a:latin typeface="SFMono-Regular"/>
              </a:rPr>
              <a:t>true</a:t>
            </a:r>
            <a:r>
              <a:rPr lang="de-CH" b="0" i="0" dirty="0">
                <a:solidFill>
                  <a:srgbClr val="000000"/>
                </a:solidFill>
                <a:effectLst/>
                <a:latin typeface="SFMono-Regular"/>
              </a:rPr>
              <a:t>};</a:t>
            </a:r>
          </a:p>
          <a:p>
            <a:pPr algn="l" fontAlgn="base">
              <a:buNone/>
            </a:pPr>
            <a:r>
              <a:rPr lang="de-CH" b="0" i="0" dirty="0">
                <a:solidFill>
                  <a:srgbClr val="000000"/>
                </a:solidFill>
                <a:effectLst/>
                <a:latin typeface="SFMono-Regular"/>
              </a:rPr>
              <a:t>    </a:t>
            </a:r>
            <a:r>
              <a:rPr lang="de-CH" b="1" i="0" dirty="0" err="1">
                <a:solidFill>
                  <a:srgbClr val="808080"/>
                </a:solidFill>
                <a:effectLst/>
                <a:latin typeface="SFMono-Regular"/>
              </a:rPr>
              <a:t>bool</a:t>
            </a:r>
            <a:r>
              <a:rPr lang="de-CH" b="0" i="0" dirty="0">
                <a:solidFill>
                  <a:srgbClr val="000000"/>
                </a:solidFill>
                <a:effectLst/>
                <a:latin typeface="SFMono-Regular"/>
              </a:rPr>
              <a:t> </a:t>
            </a:r>
            <a:r>
              <a:rPr lang="de-CH" b="0" i="0" dirty="0" err="1">
                <a:solidFill>
                  <a:srgbClr val="000000"/>
                </a:solidFill>
                <a:effectLst/>
                <a:latin typeface="SFMono-Regular"/>
              </a:rPr>
              <a:t>isDead</a:t>
            </a:r>
            <a:r>
              <a:rPr lang="de-CH" b="0" i="0" dirty="0">
                <a:solidFill>
                  <a:srgbClr val="000000"/>
                </a:solidFill>
                <a:effectLst/>
                <a:latin typeface="SFMono-Regular"/>
              </a:rPr>
              <a:t> {</a:t>
            </a:r>
            <a:r>
              <a:rPr lang="de-CH" b="1" i="0" dirty="0" err="1">
                <a:solidFill>
                  <a:srgbClr val="006699"/>
                </a:solidFill>
                <a:effectLst/>
                <a:latin typeface="SFMono-Regular"/>
              </a:rPr>
              <a:t>false</a:t>
            </a:r>
            <a:r>
              <a:rPr lang="de-CH" b="0" i="0" dirty="0">
                <a:solidFill>
                  <a:srgbClr val="000000"/>
                </a:solidFill>
                <a:effectLst/>
                <a:latin typeface="SFMono-Regular"/>
              </a:rPr>
              <a:t>};</a:t>
            </a:r>
          </a:p>
          <a:p>
            <a:pPr algn="l" fontAlgn="base">
              <a:buNone/>
            </a:pPr>
            <a:r>
              <a:rPr lang="de-CH" b="0" i="0" dirty="0">
                <a:solidFill>
                  <a:srgbClr val="000000"/>
                </a:solidFill>
                <a:effectLst/>
                <a:latin typeface="SFMono-Regular"/>
              </a:rPr>
              <a:t>    </a:t>
            </a:r>
            <a:r>
              <a:rPr lang="de-CH" b="0" i="0" dirty="0" err="1">
                <a:solidFill>
                  <a:srgbClr val="000000"/>
                </a:solidFill>
                <a:effectLst/>
                <a:latin typeface="SFMono-Regular"/>
              </a:rPr>
              <a:t>std</a:t>
            </a:r>
            <a:r>
              <a:rPr lang="de-CH" b="0" i="0" dirty="0">
                <a:solidFill>
                  <a:srgbClr val="000000"/>
                </a:solidFill>
                <a:effectLst/>
                <a:latin typeface="SFMono-Regular"/>
              </a:rPr>
              <a:t>::</a:t>
            </a:r>
            <a:r>
              <a:rPr lang="de-CH" b="0" i="0" dirty="0" err="1">
                <a:solidFill>
                  <a:srgbClr val="000000"/>
                </a:solidFill>
                <a:effectLst/>
                <a:latin typeface="SFMono-Regular"/>
              </a:rPr>
              <a:t>cout</a:t>
            </a:r>
            <a:r>
              <a:rPr lang="de-CH" b="0" i="0" dirty="0">
                <a:solidFill>
                  <a:srgbClr val="000000"/>
                </a:solidFill>
                <a:effectLst/>
                <a:latin typeface="SFMono-Regular"/>
              </a:rPr>
              <a:t> &lt;&lt; </a:t>
            </a:r>
            <a:r>
              <a:rPr lang="de-CH" b="0" i="0" dirty="0">
                <a:solidFill>
                  <a:srgbClr val="DB003E"/>
                </a:solidFill>
                <a:effectLst/>
                <a:latin typeface="SFMono-Regular"/>
              </a:rPr>
              <a:t>"</a:t>
            </a:r>
            <a:r>
              <a:rPr lang="de-CH" b="0" i="0" dirty="0" err="1">
                <a:solidFill>
                  <a:srgbClr val="DB003E"/>
                </a:solidFill>
                <a:effectLst/>
                <a:latin typeface="SFMono-Regular"/>
              </a:rPr>
              <a:t>isAlive</a:t>
            </a:r>
            <a:r>
              <a:rPr lang="de-CH" b="0" i="0" dirty="0">
                <a:solidFill>
                  <a:srgbClr val="DB003E"/>
                </a:solidFill>
                <a:effectLst/>
                <a:latin typeface="SFMono-Regular"/>
              </a:rPr>
              <a:t>: "</a:t>
            </a:r>
            <a:r>
              <a:rPr lang="de-CH" b="0" i="0" dirty="0">
                <a:solidFill>
                  <a:srgbClr val="000000"/>
                </a:solidFill>
                <a:effectLst/>
                <a:latin typeface="SFMono-Regular"/>
              </a:rPr>
              <a:t> &lt;&lt; </a:t>
            </a:r>
            <a:r>
              <a:rPr lang="de-CH" b="0" i="0" dirty="0" err="1">
                <a:solidFill>
                  <a:srgbClr val="000000"/>
                </a:solidFill>
                <a:effectLst/>
                <a:latin typeface="SFMono-Regular"/>
              </a:rPr>
              <a:t>isAlive</a:t>
            </a:r>
            <a:r>
              <a:rPr lang="de-CH" b="0" i="0" dirty="0">
                <a:solidFill>
                  <a:srgbClr val="000000"/>
                </a:solidFill>
                <a:effectLst/>
                <a:latin typeface="SFMono-Regular"/>
              </a:rPr>
              <a:t> &lt;&lt; </a:t>
            </a:r>
            <a:r>
              <a:rPr lang="de-CH" b="0" i="0" dirty="0">
                <a:solidFill>
                  <a:srgbClr val="DB003E"/>
                </a:solidFill>
                <a:effectLst/>
                <a:latin typeface="SFMono-Regular"/>
              </a:rPr>
              <a:t>"\n"</a:t>
            </a:r>
            <a:r>
              <a:rPr lang="de-CH" b="0" i="0" dirty="0">
                <a:solidFill>
                  <a:srgbClr val="000000"/>
                </a:solidFill>
                <a:effectLst/>
                <a:latin typeface="SFMono-Regular"/>
              </a:rPr>
              <a:t>; </a:t>
            </a:r>
          </a:p>
          <a:p>
            <a:pPr algn="l" fontAlgn="base">
              <a:buNone/>
            </a:pPr>
            <a:r>
              <a:rPr lang="de-CH" b="0" i="0" dirty="0">
                <a:solidFill>
                  <a:srgbClr val="000000"/>
                </a:solidFill>
                <a:effectLst/>
                <a:latin typeface="SFMono-Regular"/>
              </a:rPr>
              <a:t>    </a:t>
            </a:r>
            <a:r>
              <a:rPr lang="de-CH" b="0" i="0" dirty="0" err="1">
                <a:solidFill>
                  <a:srgbClr val="000000"/>
                </a:solidFill>
                <a:effectLst/>
                <a:latin typeface="SFMono-Regular"/>
              </a:rPr>
              <a:t>std</a:t>
            </a:r>
            <a:r>
              <a:rPr lang="de-CH" b="0" i="0" dirty="0">
                <a:solidFill>
                  <a:srgbClr val="000000"/>
                </a:solidFill>
                <a:effectLst/>
                <a:latin typeface="SFMono-Regular"/>
              </a:rPr>
              <a:t>::</a:t>
            </a:r>
            <a:r>
              <a:rPr lang="de-CH" b="0" i="0" dirty="0" err="1">
                <a:solidFill>
                  <a:srgbClr val="000000"/>
                </a:solidFill>
                <a:effectLst/>
                <a:latin typeface="SFMono-Regular"/>
              </a:rPr>
              <a:t>cout</a:t>
            </a:r>
            <a:r>
              <a:rPr lang="de-CH" b="0" i="0" dirty="0">
                <a:solidFill>
                  <a:srgbClr val="000000"/>
                </a:solidFill>
                <a:effectLst/>
                <a:latin typeface="SFMono-Regular"/>
              </a:rPr>
              <a:t> &lt;&lt; </a:t>
            </a:r>
            <a:r>
              <a:rPr lang="de-CH" b="0" i="0" dirty="0">
                <a:solidFill>
                  <a:srgbClr val="DB003E"/>
                </a:solidFill>
                <a:effectLst/>
                <a:latin typeface="SFMono-Regular"/>
              </a:rPr>
              <a:t>"</a:t>
            </a:r>
            <a:r>
              <a:rPr lang="de-CH" b="0" i="0" dirty="0" err="1">
                <a:solidFill>
                  <a:srgbClr val="DB003E"/>
                </a:solidFill>
                <a:effectLst/>
                <a:latin typeface="SFMono-Regular"/>
              </a:rPr>
              <a:t>isDead</a:t>
            </a:r>
            <a:r>
              <a:rPr lang="de-CH" b="0" i="0" dirty="0">
                <a:solidFill>
                  <a:srgbClr val="DB003E"/>
                </a:solidFill>
                <a:effectLst/>
                <a:latin typeface="SFMono-Regular"/>
              </a:rPr>
              <a:t>: "</a:t>
            </a:r>
            <a:r>
              <a:rPr lang="de-CH" b="0" i="0" dirty="0">
                <a:solidFill>
                  <a:srgbClr val="000000"/>
                </a:solidFill>
                <a:effectLst/>
                <a:latin typeface="SFMono-Regular"/>
              </a:rPr>
              <a:t> &lt;&lt; </a:t>
            </a:r>
            <a:r>
              <a:rPr lang="de-CH" b="0" i="0" dirty="0" err="1">
                <a:solidFill>
                  <a:srgbClr val="000000"/>
                </a:solidFill>
                <a:effectLst/>
                <a:latin typeface="SFMono-Regular"/>
              </a:rPr>
              <a:t>isDead</a:t>
            </a:r>
            <a:r>
              <a:rPr lang="de-CH" b="0" i="0" dirty="0">
                <a:solidFill>
                  <a:srgbClr val="000000"/>
                </a:solidFill>
                <a:effectLst/>
                <a:latin typeface="SFMono-Regular"/>
              </a:rPr>
              <a:t> &lt;&lt; </a:t>
            </a:r>
            <a:r>
              <a:rPr lang="de-CH" b="0" i="0" dirty="0">
                <a:solidFill>
                  <a:srgbClr val="DB003E"/>
                </a:solidFill>
                <a:effectLst/>
                <a:latin typeface="SFMono-Regular"/>
              </a:rPr>
              <a:t>"\n"</a:t>
            </a:r>
            <a:r>
              <a:rPr lang="de-CH" b="0" i="0" dirty="0">
                <a:solidFill>
                  <a:srgbClr val="000000"/>
                </a:solidFill>
                <a:effectLst/>
                <a:latin typeface="SFMono-Regular"/>
              </a:rPr>
              <a:t>; </a:t>
            </a:r>
          </a:p>
          <a:p>
            <a:pPr algn="l" fontAlgn="base">
              <a:buNone/>
            </a:pPr>
            <a:r>
              <a:rPr lang="de-CH" b="0" i="0" dirty="0">
                <a:solidFill>
                  <a:srgbClr val="000000"/>
                </a:solidFill>
                <a:effectLst/>
                <a:latin typeface="SFMono-Regular"/>
              </a:rPr>
              <a:t>}</a:t>
            </a:r>
          </a:p>
          <a:p>
            <a:pPr marL="0" indent="0">
              <a:buNone/>
            </a:pPr>
            <a:endParaRPr lang="ru-RU" dirty="0"/>
          </a:p>
        </p:txBody>
      </p:sp>
    </p:spTree>
    <p:extLst>
      <p:ext uri="{BB962C8B-B14F-4D97-AF65-F5344CB8AC3E}">
        <p14:creationId xmlns:p14="http://schemas.microsoft.com/office/powerpoint/2010/main" val="36126445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31E0CB-9949-2C4E-CD59-C0DFDE580CE6}"/>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BE16AEFB-86A4-2E5F-F731-A9ACC38A5F7A}"/>
              </a:ext>
            </a:extLst>
          </p:cNvPr>
          <p:cNvSpPr>
            <a:spLocks noGrp="1"/>
          </p:cNvSpPr>
          <p:nvPr>
            <p:ph idx="1"/>
          </p:nvPr>
        </p:nvSpPr>
        <p:spPr/>
        <p:txBody>
          <a:bodyPr/>
          <a:lstStyle/>
          <a:p>
            <a:pPr marL="0" indent="0" algn="ctr">
              <a:buNone/>
            </a:pPr>
            <a:r>
              <a:rPr lang="ru-RU" dirty="0"/>
              <a:t>Сложение </a:t>
            </a:r>
            <a:r>
              <a:rPr lang="en-US" dirty="0"/>
              <a:t>“</a:t>
            </a:r>
            <a:r>
              <a:rPr lang="ru-RU" dirty="0"/>
              <a:t>+</a:t>
            </a:r>
            <a:r>
              <a:rPr lang="en-US" dirty="0"/>
              <a:t>”</a:t>
            </a:r>
            <a:endParaRPr lang="ru-RU" dirty="0"/>
          </a:p>
          <a:p>
            <a:pPr>
              <a:buNone/>
            </a:pPr>
            <a:r>
              <a:rPr lang="ru-RU" sz="2000" dirty="0"/>
              <a:t>Операция сложения возвращает сумму двух чисел:</a:t>
            </a:r>
            <a:endParaRPr lang="ru-RU" sz="2000" b="1" i="0" dirty="0">
              <a:solidFill>
                <a:srgbClr val="808080"/>
              </a:solidFill>
              <a:effectLst/>
              <a:latin typeface="+mj-lt"/>
            </a:endParaRPr>
          </a:p>
          <a:p>
            <a:pPr algn="l" fontAlgn="base">
              <a:buNone/>
            </a:pPr>
            <a:endParaRPr lang="ru-RU" sz="1600" b="1" dirty="0">
              <a:solidFill>
                <a:srgbClr val="808080"/>
              </a:solidFill>
              <a:latin typeface="+mj-lt"/>
            </a:endParaRPr>
          </a:p>
          <a:p>
            <a:pPr algn="l" fontAlgn="base">
              <a:buNone/>
            </a:pPr>
            <a:r>
              <a:rPr lang="de-CH" sz="1600" b="1" i="0" dirty="0">
                <a:solidFill>
                  <a:srgbClr val="808080"/>
                </a:solidFill>
                <a:effectLst/>
                <a:latin typeface="+mj-lt"/>
              </a:rPr>
              <a:t>int</a:t>
            </a:r>
            <a:r>
              <a:rPr lang="de-CH" sz="1600" b="0" i="0" dirty="0">
                <a:solidFill>
                  <a:srgbClr val="000000"/>
                </a:solidFill>
                <a:effectLst/>
                <a:latin typeface="+mj-lt"/>
              </a:rPr>
              <a:t> a {10};</a:t>
            </a:r>
          </a:p>
          <a:p>
            <a:pPr algn="l" fontAlgn="base">
              <a:buNone/>
            </a:pPr>
            <a:r>
              <a:rPr lang="de-CH" sz="1600" b="1" i="0" dirty="0">
                <a:solidFill>
                  <a:srgbClr val="808080"/>
                </a:solidFill>
                <a:effectLst/>
                <a:latin typeface="+mj-lt"/>
              </a:rPr>
              <a:t>int</a:t>
            </a:r>
            <a:r>
              <a:rPr lang="de-CH" sz="1600" b="0" i="0" dirty="0">
                <a:solidFill>
                  <a:srgbClr val="000000"/>
                </a:solidFill>
                <a:effectLst/>
                <a:latin typeface="+mj-lt"/>
              </a:rPr>
              <a:t> b {7};</a:t>
            </a:r>
          </a:p>
          <a:p>
            <a:pPr algn="l" fontAlgn="base">
              <a:buNone/>
            </a:pPr>
            <a:r>
              <a:rPr lang="de-CH" sz="1600" b="1" i="0" dirty="0">
                <a:solidFill>
                  <a:srgbClr val="808080"/>
                </a:solidFill>
                <a:effectLst/>
                <a:latin typeface="+mj-lt"/>
              </a:rPr>
              <a:t>int</a:t>
            </a:r>
            <a:r>
              <a:rPr lang="de-CH" sz="1600" b="0" i="0" dirty="0">
                <a:solidFill>
                  <a:srgbClr val="000000"/>
                </a:solidFill>
                <a:effectLst/>
                <a:latin typeface="+mj-lt"/>
              </a:rPr>
              <a:t> c {a + b};  </a:t>
            </a:r>
            <a:r>
              <a:rPr lang="de-CH" sz="1600" b="0" i="0" dirty="0">
                <a:solidFill>
                  <a:srgbClr val="008200"/>
                </a:solidFill>
                <a:effectLst/>
                <a:latin typeface="+mj-lt"/>
              </a:rPr>
              <a:t>// 17</a:t>
            </a:r>
            <a:endParaRPr lang="de-CH" sz="1600" b="0" i="0" dirty="0">
              <a:solidFill>
                <a:srgbClr val="000000"/>
              </a:solidFill>
              <a:effectLst/>
              <a:latin typeface="+mj-lt"/>
            </a:endParaRPr>
          </a:p>
          <a:p>
            <a:pPr algn="l" fontAlgn="base">
              <a:buNone/>
            </a:pPr>
            <a:r>
              <a:rPr lang="de-CH" sz="1600" b="1" i="0" dirty="0">
                <a:solidFill>
                  <a:srgbClr val="808080"/>
                </a:solidFill>
                <a:effectLst/>
                <a:latin typeface="+mj-lt"/>
              </a:rPr>
              <a:t>int</a:t>
            </a:r>
            <a:r>
              <a:rPr lang="de-CH" sz="1600" b="0" i="0" dirty="0">
                <a:solidFill>
                  <a:srgbClr val="000000"/>
                </a:solidFill>
                <a:effectLst/>
                <a:latin typeface="+mj-lt"/>
              </a:rPr>
              <a:t> d {4 + b};  </a:t>
            </a:r>
            <a:r>
              <a:rPr lang="de-CH" sz="1600" b="0" i="0" dirty="0">
                <a:solidFill>
                  <a:srgbClr val="008200"/>
                </a:solidFill>
                <a:effectLst/>
                <a:latin typeface="+mj-lt"/>
              </a:rPr>
              <a:t>// 11</a:t>
            </a:r>
          </a:p>
          <a:p>
            <a:pPr algn="l" fontAlgn="base">
              <a:buNone/>
            </a:pPr>
            <a:endParaRPr lang="de-CH" sz="1600" dirty="0">
              <a:solidFill>
                <a:srgbClr val="008200"/>
              </a:solidFill>
              <a:latin typeface="+mj-lt"/>
            </a:endParaRPr>
          </a:p>
          <a:p>
            <a:pPr algn="l" fontAlgn="base">
              <a:buNone/>
            </a:pPr>
            <a:endParaRPr lang="de-CH" sz="1600" dirty="0">
              <a:solidFill>
                <a:srgbClr val="008200"/>
              </a:solidFill>
              <a:latin typeface="+mj-lt"/>
            </a:endParaRPr>
          </a:p>
          <a:p>
            <a:pPr algn="l" fontAlgn="base">
              <a:buNone/>
            </a:pPr>
            <a:endParaRPr lang="de-CH" sz="1600" dirty="0">
              <a:solidFill>
                <a:srgbClr val="008200"/>
              </a:solidFill>
              <a:latin typeface="+mj-lt"/>
            </a:endParaRPr>
          </a:p>
          <a:p>
            <a:pPr algn="l" fontAlgn="base">
              <a:buNone/>
            </a:pPr>
            <a:r>
              <a:rPr lang="de-CH" sz="2000" b="1" i="0" dirty="0">
                <a:solidFill>
                  <a:srgbClr val="808080"/>
                </a:solidFill>
                <a:effectLst/>
                <a:latin typeface="+mj-lt"/>
              </a:rPr>
              <a:t>int</a:t>
            </a:r>
            <a:r>
              <a:rPr lang="de-CH" sz="2000" b="0" i="0" dirty="0">
                <a:solidFill>
                  <a:srgbClr val="000000"/>
                </a:solidFill>
                <a:effectLst/>
                <a:latin typeface="+mj-lt"/>
              </a:rPr>
              <a:t> a {10};</a:t>
            </a:r>
          </a:p>
          <a:p>
            <a:pPr algn="l" fontAlgn="base">
              <a:buNone/>
            </a:pPr>
            <a:r>
              <a:rPr lang="de-CH" sz="2000" b="1" i="0" dirty="0">
                <a:solidFill>
                  <a:srgbClr val="808080"/>
                </a:solidFill>
                <a:effectLst/>
                <a:latin typeface="+mj-lt"/>
              </a:rPr>
              <a:t>int</a:t>
            </a:r>
            <a:r>
              <a:rPr lang="de-CH" sz="2000" b="0" i="0" dirty="0">
                <a:solidFill>
                  <a:srgbClr val="000000"/>
                </a:solidFill>
                <a:effectLst/>
                <a:latin typeface="+mj-lt"/>
              </a:rPr>
              <a:t> b {7};</a:t>
            </a:r>
          </a:p>
          <a:p>
            <a:pPr algn="l" fontAlgn="base">
              <a:buNone/>
            </a:pPr>
            <a:r>
              <a:rPr lang="de-CH" sz="2000" b="1" i="0" dirty="0">
                <a:solidFill>
                  <a:srgbClr val="808080"/>
                </a:solidFill>
                <a:effectLst/>
                <a:latin typeface="+mj-lt"/>
              </a:rPr>
              <a:t>int</a:t>
            </a:r>
            <a:r>
              <a:rPr lang="de-CH" sz="2000" b="0" i="0" dirty="0">
                <a:solidFill>
                  <a:srgbClr val="000000"/>
                </a:solidFill>
                <a:effectLst/>
                <a:latin typeface="+mj-lt"/>
              </a:rPr>
              <a:t> c = a + b;  </a:t>
            </a:r>
            <a:r>
              <a:rPr lang="de-CH" sz="2000" b="0" i="0" dirty="0">
                <a:solidFill>
                  <a:srgbClr val="008200"/>
                </a:solidFill>
                <a:effectLst/>
                <a:latin typeface="+mj-lt"/>
              </a:rPr>
              <a:t>// 17</a:t>
            </a:r>
            <a:endParaRPr lang="de-CH" sz="2000" b="0" i="0" dirty="0">
              <a:solidFill>
                <a:srgbClr val="000000"/>
              </a:solidFill>
              <a:effectLst/>
              <a:latin typeface="+mj-lt"/>
            </a:endParaRPr>
          </a:p>
          <a:p>
            <a:pPr algn="l" fontAlgn="base">
              <a:buNone/>
            </a:pPr>
            <a:r>
              <a:rPr lang="de-CH" sz="2000" b="1" i="0" dirty="0">
                <a:solidFill>
                  <a:srgbClr val="808080"/>
                </a:solidFill>
                <a:effectLst/>
                <a:latin typeface="+mj-lt"/>
              </a:rPr>
              <a:t>int</a:t>
            </a:r>
            <a:r>
              <a:rPr lang="de-CH" sz="2000" b="0" i="0" dirty="0">
                <a:solidFill>
                  <a:srgbClr val="000000"/>
                </a:solidFill>
                <a:effectLst/>
                <a:latin typeface="+mj-lt"/>
              </a:rPr>
              <a:t> d = 4 + b;  </a:t>
            </a:r>
            <a:r>
              <a:rPr lang="de-CH" sz="2000" b="0" i="0" dirty="0">
                <a:solidFill>
                  <a:srgbClr val="008200"/>
                </a:solidFill>
                <a:effectLst/>
                <a:latin typeface="+mj-lt"/>
              </a:rPr>
              <a:t>// 11</a:t>
            </a:r>
            <a:endParaRPr lang="de-CH" sz="2000" b="0" i="0" dirty="0">
              <a:solidFill>
                <a:srgbClr val="000000"/>
              </a:solidFill>
              <a:effectLst/>
              <a:latin typeface="+mj-lt"/>
            </a:endParaRPr>
          </a:p>
          <a:p>
            <a:pPr algn="l" fontAlgn="base">
              <a:buNone/>
            </a:pPr>
            <a:endParaRPr lang="de-CH" sz="1600" b="0" i="0" dirty="0">
              <a:solidFill>
                <a:srgbClr val="000000"/>
              </a:solidFill>
              <a:effectLst/>
              <a:latin typeface="+mj-lt"/>
            </a:endParaRPr>
          </a:p>
          <a:p>
            <a:pPr marL="0" indent="0">
              <a:buNone/>
            </a:pPr>
            <a:endParaRPr lang="ru-RU" dirty="0"/>
          </a:p>
        </p:txBody>
      </p:sp>
    </p:spTree>
    <p:extLst>
      <p:ext uri="{BB962C8B-B14F-4D97-AF65-F5344CB8AC3E}">
        <p14:creationId xmlns:p14="http://schemas.microsoft.com/office/powerpoint/2010/main" val="473257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DAED55-F458-9EDD-F5BF-E403B2F437FC}"/>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C7A17613-C747-F1AE-92AF-0CB9B5CC14BE}"/>
              </a:ext>
            </a:extLst>
          </p:cNvPr>
          <p:cNvSpPr>
            <a:spLocks noGrp="1"/>
          </p:cNvSpPr>
          <p:nvPr>
            <p:ph idx="1"/>
          </p:nvPr>
        </p:nvSpPr>
        <p:spPr/>
        <p:txBody>
          <a:bodyPr/>
          <a:lstStyle/>
          <a:p>
            <a:pPr marL="0" indent="0" algn="ctr">
              <a:buNone/>
            </a:pPr>
            <a:r>
              <a:rPr lang="ru-RU" dirty="0"/>
              <a:t>Вычитание « - »</a:t>
            </a:r>
          </a:p>
          <a:p>
            <a:pPr marL="0" indent="0">
              <a:buNone/>
            </a:pPr>
            <a:r>
              <a:rPr lang="ru-RU" sz="2000" dirty="0"/>
              <a:t>Операция вычитания возвращает разность двух чисел:</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10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7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a + b };  </a:t>
            </a:r>
            <a:r>
              <a:rPr lang="de-CH" sz="2000" dirty="0">
                <a:solidFill>
                  <a:srgbClr val="008000"/>
                </a:solidFill>
                <a:latin typeface="Consolas" panose="020B0609020204030204" pitchFamily="49" charset="0"/>
              </a:rPr>
              <a:t>// 17</a:t>
            </a:r>
            <a:endParaRPr lang="de-CH" sz="2000" dirty="0">
              <a:solidFill>
                <a:srgbClr val="000000"/>
              </a:solidFill>
              <a:latin typeface="Consolas" panose="020B0609020204030204" pitchFamily="49" charset="0"/>
            </a:endParaRPr>
          </a:p>
          <a:p>
            <a:pPr marL="0" indent="0">
              <a:buNone/>
            </a:pPr>
            <a:r>
              <a:rPr lang="fr-FR" sz="2000" dirty="0">
                <a:solidFill>
                  <a:srgbClr val="000000"/>
                </a:solidFill>
                <a:latin typeface="Consolas" panose="020B0609020204030204" pitchFamily="49" charset="0"/>
              </a:rPr>
              <a:t> </a:t>
            </a:r>
            <a:r>
              <a:rPr lang="fr-FR" sz="2000" dirty="0">
                <a:solidFill>
                  <a:srgbClr val="0000FF"/>
                </a:solidFill>
                <a:latin typeface="Consolas" panose="020B0609020204030204" pitchFamily="49" charset="0"/>
              </a:rPr>
              <a:t>int</a:t>
            </a:r>
            <a:r>
              <a:rPr lang="fr-FR" sz="2000" dirty="0">
                <a:solidFill>
                  <a:srgbClr val="000000"/>
                </a:solidFill>
                <a:latin typeface="Consolas" panose="020B0609020204030204" pitchFamily="49" charset="0"/>
              </a:rPr>
              <a:t> d{ 4 + b };  </a:t>
            </a:r>
            <a:r>
              <a:rPr lang="fr-FR" sz="2000" dirty="0">
                <a:solidFill>
                  <a:srgbClr val="008000"/>
                </a:solidFill>
                <a:latin typeface="Consolas" panose="020B0609020204030204" pitchFamily="49" charset="0"/>
              </a:rPr>
              <a:t>// 11</a:t>
            </a:r>
            <a:endParaRPr lang="ru-RU" sz="2000" dirty="0"/>
          </a:p>
          <a:p>
            <a:pPr marL="0" indent="0">
              <a:buNone/>
            </a:pPr>
            <a:endParaRPr lang="ru-RU" sz="2000" dirty="0"/>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10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7 };</a:t>
            </a:r>
          </a:p>
          <a:p>
            <a:pPr marL="0" indent="0">
              <a:buNone/>
            </a:pP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c = a + b;  </a:t>
            </a:r>
            <a:r>
              <a:rPr lang="en-US" sz="2000" dirty="0">
                <a:solidFill>
                  <a:srgbClr val="008000"/>
                </a:solidFill>
                <a:latin typeface="Consolas" panose="020B0609020204030204" pitchFamily="49" charset="0"/>
              </a:rPr>
              <a:t>// 17</a:t>
            </a:r>
            <a:endParaRPr lang="en-US" sz="2000" dirty="0">
              <a:solidFill>
                <a:srgbClr val="000000"/>
              </a:solidFill>
              <a:latin typeface="Consolas" panose="020B0609020204030204" pitchFamily="49" charset="0"/>
            </a:endParaRP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d = 4 + b;  </a:t>
            </a:r>
            <a:r>
              <a:rPr lang="de-CH" sz="2000" dirty="0">
                <a:solidFill>
                  <a:srgbClr val="008000"/>
                </a:solidFill>
                <a:latin typeface="Consolas" panose="020B0609020204030204" pitchFamily="49" charset="0"/>
              </a:rPr>
              <a:t>// 11</a:t>
            </a:r>
            <a:endParaRPr lang="ru-RU" sz="2000" dirty="0"/>
          </a:p>
        </p:txBody>
      </p:sp>
    </p:spTree>
    <p:extLst>
      <p:ext uri="{BB962C8B-B14F-4D97-AF65-F5344CB8AC3E}">
        <p14:creationId xmlns:p14="http://schemas.microsoft.com/office/powerpoint/2010/main" val="41868507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152335-62F0-2E0B-B2C7-A9FFE86FE55A}"/>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61DFFE0F-AD1D-742B-353C-7E4C1F5DE2A4}"/>
              </a:ext>
            </a:extLst>
          </p:cNvPr>
          <p:cNvSpPr>
            <a:spLocks noGrp="1"/>
          </p:cNvSpPr>
          <p:nvPr>
            <p:ph idx="1"/>
          </p:nvPr>
        </p:nvSpPr>
        <p:spPr/>
        <p:txBody>
          <a:bodyPr/>
          <a:lstStyle/>
          <a:p>
            <a:pPr marL="0" indent="0" algn="ctr">
              <a:buNone/>
            </a:pPr>
            <a:r>
              <a:rPr lang="ru-RU" dirty="0"/>
              <a:t>Умножение « * »</a:t>
            </a:r>
          </a:p>
          <a:p>
            <a:pPr marL="0"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10 };</a:t>
            </a:r>
          </a:p>
          <a:p>
            <a:pPr marL="0"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7 };</a:t>
            </a:r>
            <a:endParaRPr lang="ru-RU" sz="2000" dirty="0">
              <a:solidFill>
                <a:srgbClr val="000000"/>
              </a:solidFill>
              <a:latin typeface="Consolas" panose="020B0609020204030204" pitchFamily="49" charset="0"/>
            </a:endParaRPr>
          </a:p>
          <a:p>
            <a:pPr marL="0"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a * b };  </a:t>
            </a:r>
            <a:r>
              <a:rPr lang="de-CH" sz="2000" dirty="0">
                <a:solidFill>
                  <a:srgbClr val="008000"/>
                </a:solidFill>
                <a:latin typeface="Consolas" panose="020B0609020204030204" pitchFamily="49" charset="0"/>
              </a:rPr>
              <a:t>// 70</a:t>
            </a:r>
            <a:endParaRPr lang="de-CH" sz="2000" dirty="0">
              <a:solidFill>
                <a:srgbClr val="000000"/>
              </a:solidFill>
              <a:latin typeface="Consolas" panose="020B0609020204030204" pitchFamily="49" charset="0"/>
            </a:endParaRPr>
          </a:p>
          <a:p>
            <a:pPr marL="0" indent="0">
              <a:buNone/>
            </a:pPr>
            <a:r>
              <a:rPr lang="fr-FR" sz="2000" dirty="0">
                <a:solidFill>
                  <a:srgbClr val="0000FF"/>
                </a:solidFill>
                <a:latin typeface="Consolas" panose="020B0609020204030204" pitchFamily="49" charset="0"/>
              </a:rPr>
              <a:t>int</a:t>
            </a:r>
            <a:r>
              <a:rPr lang="fr-FR" sz="2000" dirty="0">
                <a:solidFill>
                  <a:srgbClr val="000000"/>
                </a:solidFill>
                <a:latin typeface="Consolas" panose="020B0609020204030204" pitchFamily="49" charset="0"/>
              </a:rPr>
              <a:t> d{ 4 * b };  </a:t>
            </a:r>
            <a:r>
              <a:rPr lang="fr-FR" sz="2000" dirty="0">
                <a:solidFill>
                  <a:srgbClr val="008000"/>
                </a:solidFill>
                <a:latin typeface="Consolas" panose="020B0609020204030204" pitchFamily="49" charset="0"/>
              </a:rPr>
              <a:t>// 28</a:t>
            </a:r>
            <a:endParaRPr lang="ru-RU" sz="2000" dirty="0"/>
          </a:p>
        </p:txBody>
      </p:sp>
    </p:spTree>
    <p:extLst>
      <p:ext uri="{BB962C8B-B14F-4D97-AF65-F5344CB8AC3E}">
        <p14:creationId xmlns:p14="http://schemas.microsoft.com/office/powerpoint/2010/main" val="39753988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05D44F-11FF-C1F6-DBBF-0D201A13BA98}"/>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E39AF280-24D5-7F19-C86A-269BE0382FB1}"/>
              </a:ext>
            </a:extLst>
          </p:cNvPr>
          <p:cNvSpPr>
            <a:spLocks noGrp="1"/>
          </p:cNvSpPr>
          <p:nvPr>
            <p:ph idx="1"/>
          </p:nvPr>
        </p:nvSpPr>
        <p:spPr/>
        <p:txBody>
          <a:bodyPr/>
          <a:lstStyle/>
          <a:p>
            <a:pPr marL="0" indent="0" algn="ctr">
              <a:buNone/>
            </a:pPr>
            <a:r>
              <a:rPr lang="ru-RU" sz="2000" dirty="0"/>
              <a:t>Деление « /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26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5 };</a:t>
            </a:r>
          </a:p>
          <a:p>
            <a:pPr marL="0" indent="0">
              <a:buNone/>
            </a:pP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a / b };      </a:t>
            </a:r>
            <a:r>
              <a:rPr lang="de-CH" sz="2000" dirty="0">
                <a:solidFill>
                  <a:srgbClr val="008000"/>
                </a:solidFill>
                <a:latin typeface="Consolas" panose="020B0609020204030204" pitchFamily="49" charset="0"/>
              </a:rPr>
              <a:t>// c = 5</a:t>
            </a:r>
            <a:endParaRPr lang="de-CH" sz="2000" dirty="0">
              <a:solidFill>
                <a:srgbClr val="000000"/>
              </a:solidFill>
              <a:latin typeface="Consolas" panose="020B0609020204030204" pitchFamily="49" charset="0"/>
            </a:endParaRPr>
          </a:p>
          <a:p>
            <a:pPr marL="0" indent="0">
              <a:buNone/>
            </a:pPr>
            <a:r>
              <a:rPr lang="fr-FR" sz="2000" dirty="0">
                <a:solidFill>
                  <a:srgbClr val="000000"/>
                </a:solidFill>
                <a:latin typeface="Consolas" panose="020B0609020204030204" pitchFamily="49" charset="0"/>
              </a:rPr>
              <a:t> </a:t>
            </a:r>
            <a:r>
              <a:rPr lang="fr-FR" sz="2000" dirty="0">
                <a:solidFill>
                  <a:srgbClr val="0000FF"/>
                </a:solidFill>
                <a:latin typeface="Consolas" panose="020B0609020204030204" pitchFamily="49" charset="0"/>
              </a:rPr>
              <a:t>int</a:t>
            </a:r>
            <a:r>
              <a:rPr lang="fr-FR" sz="2000" dirty="0">
                <a:solidFill>
                  <a:srgbClr val="000000"/>
                </a:solidFill>
                <a:latin typeface="Consolas" panose="020B0609020204030204" pitchFamily="49" charset="0"/>
              </a:rPr>
              <a:t> d{ 4 / b };     </a:t>
            </a:r>
            <a:r>
              <a:rPr lang="ru-RU" sz="2000" dirty="0">
                <a:solidFill>
                  <a:srgbClr val="000000"/>
                </a:solidFill>
                <a:latin typeface="Consolas" panose="020B0609020204030204" pitchFamily="49" charset="0"/>
              </a:rPr>
              <a:t> </a:t>
            </a:r>
            <a:r>
              <a:rPr lang="fr-FR" sz="2000" dirty="0">
                <a:solidFill>
                  <a:srgbClr val="008000"/>
                </a:solidFill>
                <a:latin typeface="Consolas" panose="020B0609020204030204" pitchFamily="49" charset="0"/>
              </a:rPr>
              <a:t>// d = 0</a:t>
            </a:r>
            <a:endParaRPr lang="ru-RU" sz="2000" dirty="0">
              <a:solidFill>
                <a:srgbClr val="008000"/>
              </a:solidFill>
              <a:latin typeface="Consolas" panose="020B0609020204030204" pitchFamily="49" charset="0"/>
            </a:endParaRPr>
          </a:p>
          <a:p>
            <a:pPr marL="0" indent="0">
              <a:buNone/>
            </a:pPr>
            <a:endParaRPr lang="ru-RU" sz="2000" dirty="0">
              <a:solidFill>
                <a:srgbClr val="008000"/>
              </a:solidFill>
              <a:latin typeface="Consolas" panose="020B0609020204030204" pitchFamily="49" charset="0"/>
            </a:endParaRPr>
          </a:p>
          <a:p>
            <a:pPr marL="0" indent="0">
              <a:buNone/>
            </a:pPr>
            <a:r>
              <a:rPr lang="ru-RU" sz="2000" dirty="0">
                <a:solidFill>
                  <a:srgbClr val="FF0000"/>
                </a:solidFill>
              </a:rPr>
              <a:t>Если в операции участвуют два целых числа, то дробная часть (при ее наличии) будет отбрасываться, даже если результат присваивается переменной </a:t>
            </a:r>
            <a:r>
              <a:rPr lang="ru-RU" sz="2000" dirty="0" err="1">
                <a:solidFill>
                  <a:srgbClr val="FF0000"/>
                </a:solidFill>
              </a:rPr>
              <a:t>float</a:t>
            </a:r>
            <a:r>
              <a:rPr lang="ru-RU" sz="2000" dirty="0">
                <a:solidFill>
                  <a:srgbClr val="FF0000"/>
                </a:solidFill>
              </a:rPr>
              <a:t> или </a:t>
            </a:r>
            <a:r>
              <a:rPr lang="ru-RU" sz="2000" dirty="0" err="1">
                <a:solidFill>
                  <a:srgbClr val="FF0000"/>
                </a:solidFill>
              </a:rPr>
              <a:t>double</a:t>
            </a:r>
            <a:r>
              <a:rPr lang="ru-RU" sz="2000" dirty="0">
                <a:solidFill>
                  <a:srgbClr val="FF0000"/>
                </a:solidFill>
              </a:rPr>
              <a:t>:</a:t>
            </a:r>
          </a:p>
          <a:p>
            <a:pPr marL="0" indent="0">
              <a:buNone/>
            </a:pPr>
            <a:endParaRPr lang="ru-RU" sz="2000" dirty="0">
              <a:solidFill>
                <a:srgbClr val="FF0000"/>
              </a:solidFill>
            </a:endParaRPr>
          </a:p>
          <a:p>
            <a:pPr marL="0" indent="0">
              <a:buNone/>
            </a:pPr>
            <a:r>
              <a:rPr lang="ru-RU" sz="2000" dirty="0"/>
              <a:t>Чтобы результат представлял число с плавающей точкой, один из операндов также должен представлять число с плавающей точкой:</a:t>
            </a:r>
            <a:endParaRPr lang="ru-RU" sz="2000" dirty="0">
              <a:solidFill>
                <a:srgbClr val="FF0000"/>
              </a:solidFill>
            </a:endParaRPr>
          </a:p>
          <a:p>
            <a:pPr marL="0" indent="0">
              <a:buNone/>
            </a:pPr>
            <a:endParaRPr lang="ru-RU" sz="2000" dirty="0">
              <a:solidFill>
                <a:srgbClr val="FF0000"/>
              </a:solidFill>
            </a:endParaRPr>
          </a:p>
          <a:p>
            <a:pPr marL="0" indent="0">
              <a:buNone/>
            </a:pPr>
            <a:endParaRPr lang="ru-RU" sz="2000" dirty="0">
              <a:solidFill>
                <a:srgbClr val="FF0000"/>
              </a:solidFill>
            </a:endParaRPr>
          </a:p>
        </p:txBody>
      </p:sp>
    </p:spTree>
    <p:extLst>
      <p:ext uri="{BB962C8B-B14F-4D97-AF65-F5344CB8AC3E}">
        <p14:creationId xmlns:p14="http://schemas.microsoft.com/office/powerpoint/2010/main" val="16162428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770939-E19B-4E4A-A1C0-6F68C9483757}"/>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7AB46886-3E30-E11F-0BA1-8DB5BCB5A0F8}"/>
              </a:ext>
            </a:extLst>
          </p:cNvPr>
          <p:cNvSpPr>
            <a:spLocks noGrp="1"/>
          </p:cNvSpPr>
          <p:nvPr>
            <p:ph idx="1"/>
          </p:nvPr>
        </p:nvSpPr>
        <p:spPr/>
        <p:txBody>
          <a:bodyPr/>
          <a:lstStyle/>
          <a:p>
            <a:pPr marL="0" indent="0">
              <a:buNone/>
            </a:pPr>
            <a:r>
              <a:rPr lang="ru-RU" dirty="0"/>
              <a:t>Операция получения остатка от целочисленного деления «%»:</a:t>
            </a:r>
            <a:endParaRPr lang="en-US" dirty="0"/>
          </a:p>
          <a:p>
            <a:pPr marL="0" indent="0">
              <a:buNone/>
            </a:pPr>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26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5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c{ a % b };  </a:t>
            </a:r>
            <a:r>
              <a:rPr lang="de-CH" dirty="0">
                <a:solidFill>
                  <a:srgbClr val="008000"/>
                </a:solidFill>
                <a:latin typeface="Consolas" panose="020B0609020204030204" pitchFamily="49" charset="0"/>
              </a:rPr>
              <a:t>// c = 26 % 5 = 26 - 5 * 5 = 1</a:t>
            </a:r>
            <a:endParaRPr lang="de-CH" dirty="0">
              <a:solidFill>
                <a:srgbClr val="000000"/>
              </a:solidFill>
              <a:latin typeface="Consolas" panose="020B0609020204030204" pitchFamily="49" charset="0"/>
            </a:endParaRPr>
          </a:p>
          <a:p>
            <a:pPr lvl="1"/>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d{ 4 % b };     </a:t>
            </a:r>
            <a:r>
              <a:rPr lang="fr-FR" dirty="0">
                <a:solidFill>
                  <a:srgbClr val="008000"/>
                </a:solidFill>
                <a:latin typeface="Consolas" panose="020B0609020204030204" pitchFamily="49" charset="0"/>
              </a:rPr>
              <a:t>// d = 4 % 5 = 4</a:t>
            </a:r>
            <a:endParaRPr lang="ru-RU" dirty="0"/>
          </a:p>
        </p:txBody>
      </p:sp>
    </p:spTree>
    <p:extLst>
      <p:ext uri="{BB962C8B-B14F-4D97-AF65-F5344CB8AC3E}">
        <p14:creationId xmlns:p14="http://schemas.microsoft.com/office/powerpoint/2010/main" val="31179923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51F66E-3AFC-A642-0527-3B1F14218898}"/>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BCBA7D18-23B9-EFC7-B222-6FC9FAD00F85}"/>
              </a:ext>
            </a:extLst>
          </p:cNvPr>
          <p:cNvSpPr>
            <a:spLocks noGrp="1"/>
          </p:cNvSpPr>
          <p:nvPr>
            <p:ph idx="1"/>
          </p:nvPr>
        </p:nvSpPr>
        <p:spPr/>
        <p:txBody>
          <a:bodyPr/>
          <a:lstStyle/>
          <a:p>
            <a:r>
              <a:rPr lang="ru-RU" b="1" dirty="0"/>
              <a:t>Некоторые особенности при работе с числами с плавающей точкой</a:t>
            </a:r>
            <a:endParaRPr lang="en-US" b="1" dirty="0"/>
          </a:p>
          <a:p>
            <a:endParaRPr lang="en-US" b="1" dirty="0"/>
          </a:p>
          <a:p>
            <a:r>
              <a:rPr lang="ru-RU" sz="2000" dirty="0"/>
              <a:t>При сложении или вычитании чисел с плавающей точкой, которые сильно отличаются по значению, следует проявлять осторожность. Например, сложим число 1.23E-4 (0.000123) и 3.65E+6 (3650000). Мы ожидаем, что сумма будет равна 3650000,000123. Но при преобразовании в число с плавающей запятой с точностью до семи цифр это становится следующим</a:t>
            </a:r>
            <a:endParaRPr lang="en-US" sz="2000" dirty="0"/>
          </a:p>
          <a:p>
            <a:endParaRPr lang="en-US" sz="2000" dirty="0"/>
          </a:p>
          <a:p>
            <a:r>
              <a:rPr lang="en-US" sz="2000" dirty="0"/>
              <a:t>3.650000E+06 + 1.230000E-04 = 3.650000E+06</a:t>
            </a:r>
          </a:p>
          <a:p>
            <a:endParaRPr lang="en-US" b="1" dirty="0"/>
          </a:p>
          <a:p>
            <a:r>
              <a:rPr lang="en-US" b="1" dirty="0"/>
              <a:t>	</a:t>
            </a:r>
            <a:endParaRPr lang="ru-RU" b="1" dirty="0"/>
          </a:p>
          <a:p>
            <a:endParaRPr lang="ru-RU" dirty="0"/>
          </a:p>
        </p:txBody>
      </p:sp>
    </p:spTree>
    <p:extLst>
      <p:ext uri="{BB962C8B-B14F-4D97-AF65-F5344CB8AC3E}">
        <p14:creationId xmlns:p14="http://schemas.microsoft.com/office/powerpoint/2010/main" val="37997566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C740CE-C3E6-3E28-0A97-3794F2C0ADD4}"/>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165612A7-2A15-57D7-BFD2-F2196D703612}"/>
              </a:ext>
            </a:extLst>
          </p:cNvPr>
          <p:cNvSpPr>
            <a:spLocks noGrp="1"/>
          </p:cNvSpPr>
          <p:nvPr>
            <p:ph idx="1"/>
          </p:nvPr>
        </p:nvSpPr>
        <p:spPr/>
        <p:txBody>
          <a:bodyPr/>
          <a:lstStyle/>
          <a:p>
            <a:endParaRPr lang="en-US" dirty="0"/>
          </a:p>
          <a:p>
            <a:pPr lvl="1"/>
            <a:r>
              <a:rPr lang="en-US" dirty="0"/>
              <a:t>	</a:t>
            </a:r>
            <a:r>
              <a:rPr lang="de-CH" dirty="0" err="1">
                <a:solidFill>
                  <a:srgbClr val="0000FF"/>
                </a:solidFill>
                <a:latin typeface="Consolas" panose="020B0609020204030204" pitchFamily="49" charset="0"/>
              </a:rPr>
              <a:t>float</a:t>
            </a:r>
            <a:r>
              <a:rPr lang="de-CH" dirty="0">
                <a:solidFill>
                  <a:srgbClr val="000000"/>
                </a:solidFill>
                <a:latin typeface="Consolas" panose="020B0609020204030204" pitchFamily="49" charset="0"/>
              </a:rPr>
              <a:t> num1{ 1.23E-4 };        </a:t>
            </a:r>
            <a:r>
              <a:rPr lang="de-CH" dirty="0">
                <a:solidFill>
                  <a:srgbClr val="008000"/>
                </a:solidFill>
                <a:latin typeface="Consolas" panose="020B0609020204030204" pitchFamily="49" charset="0"/>
              </a:rPr>
              <a:t>// 0.000123</a:t>
            </a:r>
            <a:endParaRPr lang="de-CH"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float</a:t>
            </a:r>
            <a:r>
              <a:rPr lang="pt-BR" dirty="0">
                <a:solidFill>
                  <a:srgbClr val="000000"/>
                </a:solidFill>
                <a:latin typeface="Consolas" panose="020B0609020204030204" pitchFamily="49" charset="0"/>
              </a:rPr>
              <a:t> num2{ 3.65E+6 };        </a:t>
            </a:r>
            <a:r>
              <a:rPr lang="pt-BR" dirty="0">
                <a:solidFill>
                  <a:srgbClr val="008000"/>
                </a:solidFill>
                <a:latin typeface="Consolas" panose="020B0609020204030204" pitchFamily="49" charset="0"/>
              </a:rPr>
              <a:t>// 3650000</a:t>
            </a:r>
            <a:endParaRPr lang="pt-BR"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float</a:t>
            </a:r>
            <a:r>
              <a:rPr lang="pt-BR" dirty="0">
                <a:solidFill>
                  <a:srgbClr val="000000"/>
                </a:solidFill>
                <a:latin typeface="Consolas" panose="020B0609020204030204" pitchFamily="49" charset="0"/>
              </a:rPr>
              <a:t> sum{ num1 + num2 };       </a:t>
            </a:r>
            <a:r>
              <a:rPr lang="pt-BR" dirty="0">
                <a:solidFill>
                  <a:srgbClr val="008000"/>
                </a:solidFill>
                <a:latin typeface="Consolas" panose="020B0609020204030204" pitchFamily="49" charset="0"/>
              </a:rPr>
              <a:t>// sum =3.65e+06</a:t>
            </a:r>
            <a:endParaRPr lang="pt-BR"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"sum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t>
            </a:r>
            <a:r>
              <a:rPr lang="en-US"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7582787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8CAFD9-6D10-CEFC-762D-59444A1EA5DE}"/>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C8BBC97C-2704-FC3A-3F56-9A5844307460}"/>
              </a:ext>
            </a:extLst>
          </p:cNvPr>
          <p:cNvSpPr>
            <a:spLocks noGrp="1"/>
          </p:cNvSpPr>
          <p:nvPr>
            <p:ph idx="1"/>
          </p:nvPr>
        </p:nvSpPr>
        <p:spPr/>
        <p:txBody>
          <a:bodyPr/>
          <a:lstStyle/>
          <a:p>
            <a:r>
              <a:rPr lang="ru-RU" sz="2000" dirty="0"/>
              <a:t>Также стоит отметить, что стандарт IEEE, который реализуется компиляторами С++, определяет специальные значения для чисел с плавающей точкой, в которых мантисса на бинарном уровне состоит только из нулей, а экспонента, которая состоит из одних единиц, в зависимости от знака представляет значения +</a:t>
            </a:r>
            <a:r>
              <a:rPr lang="ru-RU" sz="2000" dirty="0" err="1"/>
              <a:t>infinity</a:t>
            </a:r>
            <a:r>
              <a:rPr lang="ru-RU" sz="2000" dirty="0"/>
              <a:t> (плюс бесконечность +∞) и -</a:t>
            </a:r>
            <a:r>
              <a:rPr lang="ru-RU" sz="2000" dirty="0" err="1"/>
              <a:t>infinity</a:t>
            </a:r>
            <a:r>
              <a:rPr lang="ru-RU" sz="2000" dirty="0"/>
              <a:t> (минус бесконечность -∞). И при делении положительного числа на ноль, результатом будет +</a:t>
            </a:r>
            <a:r>
              <a:rPr lang="ru-RU" sz="2000" dirty="0" err="1"/>
              <a:t>infinity</a:t>
            </a:r>
            <a:r>
              <a:rPr lang="ru-RU" sz="2000" dirty="0"/>
              <a:t>, а при делении отрицательного числа на ноль - -</a:t>
            </a:r>
            <a:r>
              <a:rPr lang="ru-RU" sz="2000" dirty="0" err="1"/>
              <a:t>infinity</a:t>
            </a:r>
            <a:r>
              <a:rPr lang="ru-RU" sz="2000" dirty="0"/>
              <a:t>.</a:t>
            </a:r>
            <a:endParaRPr lang="en-US" sz="2000" dirty="0"/>
          </a:p>
        </p:txBody>
      </p:sp>
    </p:spTree>
    <p:extLst>
      <p:ext uri="{BB962C8B-B14F-4D97-AF65-F5344CB8AC3E}">
        <p14:creationId xmlns:p14="http://schemas.microsoft.com/office/powerpoint/2010/main" val="26655845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D1E87-9667-F30C-63F5-B7227D5D4AFE}"/>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D332914A-8185-7AE9-BDAC-F224D2573431}"/>
              </a:ext>
            </a:extLst>
          </p:cNvPr>
          <p:cNvSpPr>
            <a:spLocks noGrp="1"/>
          </p:cNvSpPr>
          <p:nvPr>
            <p:ph idx="1"/>
          </p:nvPr>
        </p:nvSpPr>
        <p:spPr/>
        <p:txBody>
          <a:bodyPr/>
          <a:lstStyle/>
          <a:p>
            <a:r>
              <a:rPr lang="ru-RU" dirty="0"/>
              <a:t>Другое специальное значение с плавающей точкой, определенное этим стандартом, представляет значение </a:t>
            </a:r>
            <a:r>
              <a:rPr lang="ru-RU" b="1" dirty="0" err="1"/>
              <a:t>NaN</a:t>
            </a:r>
            <a:r>
              <a:rPr lang="ru-RU" dirty="0"/>
              <a:t> (не число). Это значение представляет результат операции, который не определяется математически, например, когда ноль делится на ноль или бесконечность на бесконечность. Результатом любой операции, в которой один или оба операнда являются </a:t>
            </a:r>
            <a:r>
              <a:rPr lang="ru-RU" dirty="0" err="1"/>
              <a:t>NaN</a:t>
            </a:r>
            <a:r>
              <a:rPr lang="ru-RU" dirty="0"/>
              <a:t>, также является </a:t>
            </a:r>
            <a:r>
              <a:rPr lang="ru-RU" dirty="0" err="1"/>
              <a:t>NaN</a:t>
            </a:r>
            <a:r>
              <a:rPr lang="ru-RU" dirty="0"/>
              <a:t>.</a:t>
            </a:r>
          </a:p>
        </p:txBody>
      </p:sp>
    </p:spTree>
    <p:extLst>
      <p:ext uri="{BB962C8B-B14F-4D97-AF65-F5344CB8AC3E}">
        <p14:creationId xmlns:p14="http://schemas.microsoft.com/office/powerpoint/2010/main" val="11109889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6A0976-2BA8-1209-58BB-A943F7B76626}"/>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2279BC8C-35F5-DDEA-7843-A2A658B64D0A}"/>
              </a:ext>
            </a:extLst>
          </p:cNvPr>
          <p:cNvSpPr>
            <a:spLocks noGrp="1"/>
          </p:cNvSpPr>
          <p:nvPr>
            <p:ph idx="1"/>
          </p:nvPr>
        </p:nvSpPr>
        <p:spPr/>
        <p:txBody>
          <a:bodyPr/>
          <a:lstStyle/>
          <a:p>
            <a:r>
              <a:rPr lang="de-CH" sz="1600" dirty="0">
                <a:solidFill>
                  <a:srgbClr val="000000"/>
                </a:solidFill>
                <a:latin typeface="Consolas" panose="020B0609020204030204" pitchFamily="49" charset="0"/>
              </a:rPr>
              <a:t> </a:t>
            </a:r>
          </a:p>
          <a:p>
            <a:endParaRPr lang="de-CH" sz="1600" dirty="0">
              <a:solidFill>
                <a:srgbClr val="000000"/>
              </a:solidFill>
              <a:latin typeface="Consolas" panose="020B0609020204030204" pitchFamily="49" charset="0"/>
            </a:endParaRPr>
          </a:p>
          <a:p>
            <a:pPr marL="447675"/>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double</a:t>
            </a:r>
            <a:r>
              <a:rPr lang="de-CH" sz="1600" dirty="0">
                <a:solidFill>
                  <a:srgbClr val="000000"/>
                </a:solidFill>
                <a:latin typeface="Consolas" panose="020B0609020204030204" pitchFamily="49" charset="0"/>
              </a:rPr>
              <a:t> a{ 1.5 }, b{}, c{}, d{ -1.5 };</a:t>
            </a:r>
          </a:p>
          <a:p>
            <a:pPr marL="447675"/>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double</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result</a:t>
            </a:r>
            <a:r>
              <a:rPr lang="de-CH" sz="1600" dirty="0">
                <a:solidFill>
                  <a:srgbClr val="000000"/>
                </a:solidFill>
                <a:latin typeface="Consolas" panose="020B0609020204030204" pitchFamily="49" charset="0"/>
              </a:rPr>
              <a:t>{ a / b };</a:t>
            </a:r>
          </a:p>
          <a:p>
            <a:pPr marL="447675"/>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b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pPr marL="447675"/>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result</a:t>
            </a:r>
            <a:r>
              <a:rPr lang="de-CH" sz="1600" dirty="0">
                <a:solidFill>
                  <a:srgbClr val="000000"/>
                </a:solidFill>
                <a:latin typeface="Consolas" panose="020B0609020204030204" pitchFamily="49" charset="0"/>
              </a:rPr>
              <a:t> = d / c;</a:t>
            </a:r>
          </a:p>
          <a:p>
            <a:pPr marL="447675"/>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d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c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pPr marL="447675"/>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result</a:t>
            </a:r>
            <a:r>
              <a:rPr lang="de-CH" sz="1600" dirty="0">
                <a:solidFill>
                  <a:srgbClr val="000000"/>
                </a:solidFill>
                <a:latin typeface="Consolas" panose="020B0609020204030204" pitchFamily="49" charset="0"/>
              </a:rPr>
              <a:t> = b / c;</a:t>
            </a:r>
          </a:p>
          <a:p>
            <a:pPr marL="447675"/>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b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c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pPr marL="447675"/>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 a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endParaRPr lang="ru-RU" sz="1600" dirty="0"/>
          </a:p>
        </p:txBody>
      </p:sp>
    </p:spTree>
    <p:extLst>
      <p:ext uri="{BB962C8B-B14F-4D97-AF65-F5344CB8AC3E}">
        <p14:creationId xmlns:p14="http://schemas.microsoft.com/office/powerpoint/2010/main" val="39072603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5B5BBA-7CA1-C859-8D60-C3D7A6D007A9}"/>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3E3436C2-2BA8-6612-101E-F4884F44CE78}"/>
              </a:ext>
            </a:extLst>
          </p:cNvPr>
          <p:cNvSpPr>
            <a:spLocks noGrp="1"/>
          </p:cNvSpPr>
          <p:nvPr>
            <p:ph idx="1"/>
          </p:nvPr>
        </p:nvSpPr>
        <p:spPr/>
        <p:txBody>
          <a:bodyPr/>
          <a:lstStyle/>
          <a:p>
            <a:r>
              <a:rPr lang="ru-RU" b="1" dirty="0"/>
              <a:t>Инкремент и декремент</a:t>
            </a:r>
          </a:p>
          <a:p>
            <a:r>
              <a:rPr lang="ru-RU" b="1" dirty="0"/>
              <a:t>	</a:t>
            </a:r>
          </a:p>
          <a:p>
            <a:r>
              <a:rPr lang="ru-RU" b="1" dirty="0"/>
              <a:t>	</a:t>
            </a:r>
            <a:r>
              <a:rPr lang="ru-RU" dirty="0"/>
              <a:t>Префиксный инкремент</a:t>
            </a:r>
            <a:r>
              <a:rPr lang="en-US" dirty="0"/>
              <a:t> </a:t>
            </a:r>
            <a:r>
              <a:rPr lang="ru-RU" dirty="0"/>
              <a:t>« ++ Х».</a:t>
            </a:r>
          </a:p>
          <a:p>
            <a:r>
              <a:rPr lang="ru-RU" b="1" dirty="0"/>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8 };</a:t>
            </a:r>
          </a:p>
          <a:p>
            <a:pPr marL="895350" indent="-895350"/>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++a };</a:t>
            </a:r>
          </a:p>
          <a:p>
            <a:pPr marL="895350" indent="-895350"/>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a = 9</a:t>
            </a:r>
            <a:endParaRPr lang="en-US" sz="2000" dirty="0">
              <a:solidFill>
                <a:srgbClr val="000000"/>
              </a:solidFill>
              <a:latin typeface="Consolas" panose="020B0609020204030204" pitchFamily="49" charset="0"/>
            </a:endParaRPr>
          </a:p>
          <a:p>
            <a:pPr marL="895350" indent="-895350"/>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"b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b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b = 9</a:t>
            </a:r>
            <a:endParaRPr lang="ru-RU" sz="2000" dirty="0">
              <a:solidFill>
                <a:srgbClr val="008000"/>
              </a:solidFill>
              <a:latin typeface="Consolas" panose="020B0609020204030204" pitchFamily="49" charset="0"/>
            </a:endParaRPr>
          </a:p>
          <a:p>
            <a:pPr marL="895350" indent="-895350"/>
            <a:r>
              <a:rPr lang="ru-RU" dirty="0">
                <a:solidFill>
                  <a:srgbClr val="008000"/>
                </a:solidFill>
                <a:latin typeface="Consolas" panose="020B0609020204030204" pitchFamily="49" charset="0"/>
              </a:rPr>
              <a:t>	</a:t>
            </a:r>
          </a:p>
          <a:p>
            <a:pPr marL="895350" indent="-895350"/>
            <a:r>
              <a:rPr lang="ru-RU" dirty="0">
                <a:solidFill>
                  <a:srgbClr val="008000"/>
                </a:solidFill>
                <a:latin typeface="Consolas" panose="020B0609020204030204" pitchFamily="49" charset="0"/>
              </a:rPr>
              <a:t>	</a:t>
            </a:r>
            <a:r>
              <a:rPr lang="ru-RU" dirty="0"/>
              <a:t>Постфиксный инкремент</a:t>
            </a:r>
            <a:r>
              <a:rPr lang="en-US" dirty="0"/>
              <a:t> </a:t>
            </a:r>
            <a:r>
              <a:rPr lang="ru-RU" dirty="0"/>
              <a:t>« </a:t>
            </a:r>
            <a:r>
              <a:rPr lang="en-US" dirty="0"/>
              <a:t>X++ </a:t>
            </a:r>
            <a:r>
              <a:rPr lang="ru-RU" dirty="0"/>
              <a:t>».</a:t>
            </a:r>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8 };</a:t>
            </a:r>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a++ };</a:t>
            </a: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a = 9</a:t>
            </a:r>
            <a:endParaRPr lang="en-US" sz="2000" dirty="0">
              <a:solidFill>
                <a:srgbClr val="000000"/>
              </a:solidFill>
              <a:latin typeface="Consolas" panose="020B0609020204030204" pitchFamily="49" charset="0"/>
            </a:endParaRP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"b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b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b = 8</a:t>
            </a:r>
            <a:endParaRPr lang="ru-RU" dirty="0"/>
          </a:p>
        </p:txBody>
      </p:sp>
    </p:spTree>
    <p:extLst>
      <p:ext uri="{BB962C8B-B14F-4D97-AF65-F5344CB8AC3E}">
        <p14:creationId xmlns:p14="http://schemas.microsoft.com/office/powerpoint/2010/main" val="32875351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6FC368-DFB8-7D40-B9E4-F376142CF1C3}"/>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03B84AD8-357D-8886-451F-E7538ED7308C}"/>
              </a:ext>
            </a:extLst>
          </p:cNvPr>
          <p:cNvSpPr>
            <a:spLocks noGrp="1"/>
          </p:cNvSpPr>
          <p:nvPr>
            <p:ph idx="1"/>
          </p:nvPr>
        </p:nvSpPr>
        <p:spPr/>
        <p:txBody>
          <a:bodyPr/>
          <a:lstStyle/>
          <a:p>
            <a:r>
              <a:rPr lang="ru-RU" b="1" dirty="0"/>
              <a:t>Инкремент и декремент</a:t>
            </a:r>
          </a:p>
          <a:p>
            <a:r>
              <a:rPr lang="ru-RU" b="1" dirty="0"/>
              <a:t>	</a:t>
            </a:r>
          </a:p>
          <a:p>
            <a:r>
              <a:rPr lang="ru-RU" b="1" dirty="0"/>
              <a:t>	</a:t>
            </a:r>
            <a:r>
              <a:rPr lang="ru-RU" dirty="0"/>
              <a:t>Префиксный декремент « -- Х».</a:t>
            </a:r>
          </a:p>
          <a:p>
            <a:r>
              <a:rPr lang="ru-RU" b="1" dirty="0"/>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pPr marL="895350" indent="-895350"/>
            <a:r>
              <a:rPr lang="de-CH"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a:t>
            </a:r>
            <a:r>
              <a:rPr lang="ru-RU" dirty="0">
                <a:solidFill>
                  <a:srgbClr val="000000"/>
                </a:solidFill>
                <a:latin typeface="Consolas" panose="020B0609020204030204" pitchFamily="49" charset="0"/>
              </a:rPr>
              <a:t>--</a:t>
            </a:r>
            <a:r>
              <a:rPr lang="de-CH" dirty="0">
                <a:solidFill>
                  <a:srgbClr val="000000"/>
                </a:solidFill>
                <a:latin typeface="Consolas" panose="020B0609020204030204" pitchFamily="49" charset="0"/>
              </a:rPr>
              <a:t>a };</a:t>
            </a:r>
          </a:p>
          <a:p>
            <a:pPr marL="895350" indent="-895350"/>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a:t>
            </a:r>
            <a:r>
              <a:rPr lang="ru-RU" dirty="0">
                <a:solidFill>
                  <a:srgbClr val="008000"/>
                </a:solidFill>
                <a:latin typeface="Consolas" panose="020B0609020204030204" pitchFamily="49" charset="0"/>
              </a:rPr>
              <a:t>7</a:t>
            </a:r>
            <a:endParaRPr lang="en-US" dirty="0">
              <a:solidFill>
                <a:srgbClr val="000000"/>
              </a:solidFill>
              <a:latin typeface="Consolas" panose="020B0609020204030204" pitchFamily="49" charset="0"/>
            </a:endParaRPr>
          </a:p>
          <a:p>
            <a:pPr marL="895350" indent="-895350"/>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b = </a:t>
            </a:r>
            <a:r>
              <a:rPr lang="ru-RU" dirty="0">
                <a:solidFill>
                  <a:srgbClr val="008000"/>
                </a:solidFill>
                <a:latin typeface="Consolas" panose="020B0609020204030204" pitchFamily="49" charset="0"/>
              </a:rPr>
              <a:t>7</a:t>
            </a:r>
          </a:p>
          <a:p>
            <a:pPr marL="895350" indent="-895350"/>
            <a:r>
              <a:rPr lang="ru-RU" dirty="0">
                <a:solidFill>
                  <a:srgbClr val="008000"/>
                </a:solidFill>
                <a:latin typeface="Consolas" panose="020B0609020204030204" pitchFamily="49" charset="0"/>
              </a:rPr>
              <a:t>	</a:t>
            </a:r>
          </a:p>
          <a:p>
            <a:pPr marL="895350" indent="-895350"/>
            <a:r>
              <a:rPr lang="ru-RU" dirty="0">
                <a:solidFill>
                  <a:srgbClr val="008000"/>
                </a:solidFill>
                <a:latin typeface="Consolas" panose="020B0609020204030204" pitchFamily="49" charset="0"/>
              </a:rPr>
              <a:t>	</a:t>
            </a:r>
            <a:r>
              <a:rPr lang="ru-RU" dirty="0"/>
              <a:t>Постфиксный инкремент « </a:t>
            </a:r>
            <a:r>
              <a:rPr lang="en-US" dirty="0"/>
              <a:t>X</a:t>
            </a:r>
            <a:r>
              <a:rPr lang="ru-RU" dirty="0"/>
              <a:t>--».</a:t>
            </a:r>
          </a:p>
          <a:p>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r>
              <a:rPr lang="de-CH"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a++ };</a:t>
            </a:r>
          </a:p>
          <a:p>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a:t>
            </a:r>
            <a:r>
              <a:rPr lang="ru-RU" dirty="0">
                <a:solidFill>
                  <a:srgbClr val="008000"/>
                </a:solidFill>
                <a:latin typeface="Consolas" panose="020B0609020204030204" pitchFamily="49" charset="0"/>
              </a:rPr>
              <a:t>7</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b = </a:t>
            </a:r>
            <a:r>
              <a:rPr lang="ru-RU" dirty="0">
                <a:solidFill>
                  <a:srgbClr val="008000"/>
                </a:solidFill>
                <a:latin typeface="Consolas" panose="020B0609020204030204" pitchFamily="49" charset="0"/>
              </a:rPr>
              <a:t>8</a:t>
            </a:r>
            <a:endParaRPr lang="ru-RU" dirty="0"/>
          </a:p>
          <a:p>
            <a:endParaRPr lang="ru-RU" dirty="0"/>
          </a:p>
        </p:txBody>
      </p:sp>
    </p:spTree>
    <p:extLst>
      <p:ext uri="{BB962C8B-B14F-4D97-AF65-F5344CB8AC3E}">
        <p14:creationId xmlns:p14="http://schemas.microsoft.com/office/powerpoint/2010/main" val="15545856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B2F433-4DA8-8663-F686-B56085E4138B}"/>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E81287B2-7B1D-E701-E084-05B0E5C6B6DF}"/>
              </a:ext>
            </a:extLst>
          </p:cNvPr>
          <p:cNvSpPr>
            <a:spLocks noGrp="1"/>
          </p:cNvSpPr>
          <p:nvPr>
            <p:ph idx="1"/>
          </p:nvPr>
        </p:nvSpPr>
        <p:spPr/>
        <p:txBody>
          <a:bodyPr/>
          <a:lstStyle/>
          <a:p>
            <a:r>
              <a:rPr lang="ru-RU" b="1" dirty="0"/>
              <a:t>Приоритет и ассоциативность операторов</a:t>
            </a:r>
          </a:p>
          <a:p>
            <a:endParaRPr lang="en-US" dirty="0"/>
          </a:p>
          <a:p>
            <a:r>
              <a:rPr lang="ru-RU" dirty="0"/>
              <a:t>Операторы могут быть </a:t>
            </a:r>
            <a:r>
              <a:rPr lang="ru-RU" b="1" dirty="0" err="1"/>
              <a:t>левоассоциативными</a:t>
            </a:r>
            <a:r>
              <a:rPr lang="ru-RU" dirty="0"/>
              <a:t> - такие операторы выполняются слева направо и </a:t>
            </a:r>
            <a:r>
              <a:rPr lang="ru-RU" b="1" dirty="0" err="1"/>
              <a:t>правоассоциативными</a:t>
            </a:r>
            <a:r>
              <a:rPr lang="ru-RU" dirty="0"/>
              <a:t> - выполняются справа налево. Подавляющее большинство операторов </a:t>
            </a:r>
            <a:r>
              <a:rPr lang="ru-RU" dirty="0" err="1"/>
              <a:t>левоассоциативны</a:t>
            </a:r>
            <a:r>
              <a:rPr lang="ru-RU" dirty="0"/>
              <a:t> (например, бинарные арифметические операции), поэтому большинство выражений оценивается слева направо. </a:t>
            </a:r>
            <a:r>
              <a:rPr lang="ru-RU" dirty="0" err="1"/>
              <a:t>Правоассоциативными</a:t>
            </a:r>
            <a:r>
              <a:rPr lang="ru-RU" dirty="0"/>
              <a:t> операторами являются все унарные операторы, различные операторы присваивания и условный оператор.</a:t>
            </a:r>
          </a:p>
        </p:txBody>
      </p:sp>
    </p:spTree>
    <p:extLst>
      <p:ext uri="{BB962C8B-B14F-4D97-AF65-F5344CB8AC3E}">
        <p14:creationId xmlns:p14="http://schemas.microsoft.com/office/powerpoint/2010/main" val="12309182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CDF5B7-569D-0345-DF79-D7D3550A85D3}"/>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F89690F4-156A-15FF-553F-5B1F5C66824E}"/>
              </a:ext>
            </a:extLst>
          </p:cNvPr>
          <p:cNvSpPr>
            <a:spLocks noGrp="1"/>
          </p:cNvSpPr>
          <p:nvPr>
            <p:ph idx="1"/>
          </p:nvPr>
        </p:nvSpPr>
        <p:spPr/>
        <p:txBody>
          <a:bodyPr/>
          <a:lstStyle/>
          <a:p>
            <a:r>
              <a:rPr lang="ru-RU" dirty="0"/>
              <a:t>Кроме того, одни операции имеют больший приоритет, чем другие и поэтому выполняются вначале. Операции в порядке уменьшения приоритета:</a:t>
            </a:r>
            <a:endParaRPr lang="en-US" dirty="0"/>
          </a:p>
          <a:p>
            <a:r>
              <a:rPr lang="en-US" dirty="0"/>
              <a:t>	</a:t>
            </a:r>
            <a:endParaRPr lang="ru-RU" dirty="0"/>
          </a:p>
          <a:p>
            <a:pPr lvl="1"/>
            <a:r>
              <a:rPr lang="ru-RU" dirty="0"/>
              <a:t>++ (инкремент), -- (декремент)</a:t>
            </a:r>
          </a:p>
          <a:p>
            <a:pPr lvl="1"/>
            <a:r>
              <a:rPr lang="ru-RU" dirty="0"/>
              <a:t>* (умножение), / (деление), % (остаток от деления)</a:t>
            </a:r>
          </a:p>
          <a:p>
            <a:pPr lvl="1"/>
            <a:r>
              <a:rPr lang="ru-RU" dirty="0"/>
              <a:t>+ (сложение), - (вычитание)</a:t>
            </a:r>
            <a:endParaRPr lang="en-US" dirty="0"/>
          </a:p>
          <a:p>
            <a:pPr lvl="1"/>
            <a:endParaRPr lang="en-US" dirty="0"/>
          </a:p>
          <a:p>
            <a:r>
              <a:rPr lang="de-CH"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 8;</a:t>
            </a: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 7;</a:t>
            </a:r>
          </a:p>
          <a:p>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c = a + 5 * ++b;      </a:t>
            </a:r>
            <a:r>
              <a:rPr lang="en-US" sz="2000" dirty="0">
                <a:solidFill>
                  <a:srgbClr val="008000"/>
                </a:solidFill>
                <a:latin typeface="Consolas" panose="020B0609020204030204" pitchFamily="49" charset="0"/>
              </a:rPr>
              <a:t>// 48</a:t>
            </a:r>
            <a:endParaRPr lang="ru-RU" dirty="0"/>
          </a:p>
        </p:txBody>
      </p:sp>
    </p:spTree>
    <p:extLst>
      <p:ext uri="{BB962C8B-B14F-4D97-AF65-F5344CB8AC3E}">
        <p14:creationId xmlns:p14="http://schemas.microsoft.com/office/powerpoint/2010/main" val="41828784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6F7E7E-7DA8-3C6D-E1A5-44C28A406BCD}"/>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9FCF303E-BE19-D39A-6CB4-EBE6FE7AC8AA}"/>
              </a:ext>
            </a:extLst>
          </p:cNvPr>
          <p:cNvSpPr>
            <a:spLocks noGrp="1"/>
          </p:cNvSpPr>
          <p:nvPr>
            <p:ph idx="1"/>
          </p:nvPr>
        </p:nvSpPr>
        <p:spPr/>
        <p:txBody>
          <a:bodyPr/>
          <a:lstStyle/>
          <a:p>
            <a:r>
              <a:rPr lang="ru-RU" dirty="0"/>
              <a:t>Если в одной инструкции для одной переменной сразу несколько раз вызываются операции инкремента и декремента, то результат может быть неопределенным</a:t>
            </a:r>
          </a:p>
          <a:p>
            <a:endParaRPr lang="ru-RU" dirty="0"/>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count</a:t>
            </a:r>
            <a:r>
              <a:rPr lang="de-CH" sz="2000" dirty="0">
                <a:solidFill>
                  <a:srgbClr val="000000"/>
                </a:solidFill>
                <a:latin typeface="Consolas" panose="020B0609020204030204" pitchFamily="49" charset="0"/>
              </a:rPr>
              <a:t>{ 1 };</a:t>
            </a: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result = ++count * 3 + count++ * 5;</a:t>
            </a:r>
            <a:endParaRPr lang="ru-RU" dirty="0"/>
          </a:p>
        </p:txBody>
      </p:sp>
    </p:spTree>
    <p:extLst>
      <p:ext uri="{BB962C8B-B14F-4D97-AF65-F5344CB8AC3E}">
        <p14:creationId xmlns:p14="http://schemas.microsoft.com/office/powerpoint/2010/main" val="16373536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3ED9B9-5171-11F7-8B4F-5E50BA87A377}"/>
              </a:ext>
            </a:extLst>
          </p:cNvPr>
          <p:cNvSpPr>
            <a:spLocks noGrp="1"/>
          </p:cNvSpPr>
          <p:nvPr>
            <p:ph type="title"/>
          </p:nvPr>
        </p:nvSpPr>
        <p:spPr/>
        <p:txBody>
          <a:bodyPr/>
          <a:lstStyle/>
          <a:p>
            <a:r>
              <a:rPr lang="ru-RU" dirty="0"/>
              <a:t>Арифметические операции</a:t>
            </a:r>
          </a:p>
        </p:txBody>
      </p:sp>
      <p:sp>
        <p:nvSpPr>
          <p:cNvPr id="3" name="Объект 2">
            <a:extLst>
              <a:ext uri="{FF2B5EF4-FFF2-40B4-BE49-F238E27FC236}">
                <a16:creationId xmlns:a16="http://schemas.microsoft.com/office/drawing/2014/main" id="{B2325E27-A7DE-4FBF-F1E9-21904896F9F7}"/>
              </a:ext>
            </a:extLst>
          </p:cNvPr>
          <p:cNvSpPr>
            <a:spLocks noGrp="1"/>
          </p:cNvSpPr>
          <p:nvPr>
            <p:ph idx="1"/>
          </p:nvPr>
        </p:nvSpPr>
        <p:spPr/>
        <p:txBody>
          <a:bodyPr/>
          <a:lstStyle/>
          <a:p>
            <a:r>
              <a:rPr lang="ru-RU" b="1" dirty="0"/>
              <a:t>Переопределение порядка операций</a:t>
            </a:r>
          </a:p>
          <a:p>
            <a:endParaRPr lang="ru-RU" dirty="0"/>
          </a:p>
          <a:p>
            <a:r>
              <a:rPr lang="ru-RU" dirty="0"/>
              <a:t>Скобки позволяют переопределить порядок вычислений. Например:</a:t>
            </a:r>
          </a:p>
          <a:p>
            <a:endParaRPr lang="ru-RU" dirty="0"/>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7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c{ (a + 5) * ++b };      </a:t>
            </a:r>
            <a:r>
              <a:rPr lang="de-CH" dirty="0">
                <a:solidFill>
                  <a:srgbClr val="008000"/>
                </a:solidFill>
                <a:latin typeface="Consolas" panose="020B0609020204030204" pitchFamily="49" charset="0"/>
              </a:rPr>
              <a:t>// c = 104</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"c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8878705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4A877B-247D-8A35-5500-F88DD5CB62DE}"/>
              </a:ext>
            </a:extLst>
          </p:cNvPr>
          <p:cNvSpPr>
            <a:spLocks noGrp="1"/>
          </p:cNvSpPr>
          <p:nvPr>
            <p:ph type="title"/>
          </p:nvPr>
        </p:nvSpPr>
        <p:spPr/>
        <p:txBody>
          <a:bodyPr/>
          <a:lstStyle/>
          <a:p>
            <a:r>
              <a:rPr lang="ru-RU" b="1" dirty="0"/>
              <a:t>Статическая типизация</a:t>
            </a:r>
            <a:endParaRPr lang="ru-RU" dirty="0"/>
          </a:p>
        </p:txBody>
      </p:sp>
      <p:sp>
        <p:nvSpPr>
          <p:cNvPr id="3" name="Объект 2">
            <a:extLst>
              <a:ext uri="{FF2B5EF4-FFF2-40B4-BE49-F238E27FC236}">
                <a16:creationId xmlns:a16="http://schemas.microsoft.com/office/drawing/2014/main" id="{26D59078-24E3-CB13-9953-DBDAE6927075}"/>
              </a:ext>
            </a:extLst>
          </p:cNvPr>
          <p:cNvSpPr>
            <a:spLocks noGrp="1"/>
          </p:cNvSpPr>
          <p:nvPr>
            <p:ph idx="1"/>
          </p:nvPr>
        </p:nvSpPr>
        <p:spPr/>
        <p:txBody>
          <a:bodyPr/>
          <a:lstStyle/>
          <a:p>
            <a:r>
              <a:rPr lang="ru-RU" b="1" dirty="0"/>
              <a:t>Статическая типизация и преобразования типов</a:t>
            </a:r>
          </a:p>
          <a:p>
            <a:r>
              <a:rPr lang="en-US" dirty="0"/>
              <a:t>		</a:t>
            </a:r>
          </a:p>
          <a:p>
            <a:r>
              <a:rPr lang="de-CH" dirty="0">
                <a:solidFill>
                  <a:srgbClr val="0000FF"/>
                </a:solidFill>
                <a:latin typeface="Consolas" panose="020B0609020204030204" pitchFamily="49" charset="0"/>
              </a:rPr>
              <a:t>	</a:t>
            </a:r>
            <a:r>
              <a:rPr lang="de-CH" dirty="0" err="1">
                <a:solidFill>
                  <a:srgbClr val="0000FF"/>
                </a:solidFill>
                <a:latin typeface="Consolas" panose="020B0609020204030204" pitchFamily="49" charset="0"/>
              </a:rPr>
              <a:t>u</a:t>
            </a:r>
            <a:r>
              <a:rPr lang="de-CH" sz="2000" dirty="0" err="1">
                <a:solidFill>
                  <a:srgbClr val="0000FF"/>
                </a:solidFill>
                <a:latin typeface="Consolas" panose="020B0609020204030204" pitchFamily="49" charset="0"/>
              </a:rPr>
              <a:t>nsigned</a:t>
            </a: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age</a:t>
            </a:r>
            <a:r>
              <a:rPr lang="de-CH" sz="2000" dirty="0">
                <a:solidFill>
                  <a:srgbClr val="000000"/>
                </a:solidFill>
                <a:latin typeface="Consolas" panose="020B0609020204030204" pitchFamily="49" charset="0"/>
              </a:rPr>
              <a:t>{ -25 };</a:t>
            </a:r>
          </a:p>
          <a:p>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"age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age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a:t>
            </a:r>
          </a:p>
          <a:p>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Какой получим результат </a:t>
            </a:r>
            <a:r>
              <a:rPr lang="en-US"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1322023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AC3982-12E8-5B3A-4C98-D1E3DB364B3B}"/>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D67223C6-1692-F1F2-8293-851F12D22B17}"/>
              </a:ext>
            </a:extLst>
          </p:cNvPr>
          <p:cNvSpPr>
            <a:spLocks noGrp="1"/>
          </p:cNvSpPr>
          <p:nvPr>
            <p:ph idx="1"/>
          </p:nvPr>
        </p:nvSpPr>
        <p:spPr/>
        <p:txBody>
          <a:bodyPr/>
          <a:lstStyle/>
          <a:p>
            <a:r>
              <a:rPr lang="ru-RU" b="1" dirty="0"/>
              <a:t>Примеры неявных преобразований</a:t>
            </a:r>
          </a:p>
          <a:p>
            <a:pPr lvl="1"/>
            <a:r>
              <a:rPr lang="ru-RU" dirty="0"/>
              <a:t>Переменной типа </a:t>
            </a:r>
            <a:r>
              <a:rPr lang="ru-RU" b="1" dirty="0" err="1"/>
              <a:t>bool</a:t>
            </a:r>
            <a:r>
              <a:rPr lang="ru-RU" dirty="0"/>
              <a:t> присваивается значение другого типа. В этом случае переменная получает </a:t>
            </a:r>
            <a:r>
              <a:rPr lang="ru-RU" b="1" dirty="0" err="1"/>
              <a:t>false</a:t>
            </a:r>
            <a:r>
              <a:rPr lang="ru-RU" dirty="0"/>
              <a:t>, если значение равно 0. Во всех остальных случаях переменная получает </a:t>
            </a:r>
            <a:r>
              <a:rPr lang="ru-RU" b="1" dirty="0" err="1"/>
              <a:t>true</a:t>
            </a:r>
            <a:r>
              <a:rPr lang="ru-RU" dirty="0"/>
              <a:t>.</a:t>
            </a:r>
            <a:endParaRPr lang="en-US" dirty="0"/>
          </a:p>
          <a:p>
            <a:pPr lvl="1"/>
            <a:endParaRPr lang="en-US" dirty="0"/>
          </a:p>
          <a:p>
            <a:r>
              <a:rPr lang="de-CH" sz="2000" dirty="0">
                <a:solidFill>
                  <a:srgbClr val="0000FF"/>
                </a:solidFill>
                <a:latin typeface="Consolas" panose="020B0609020204030204" pitchFamily="49" charset="0"/>
              </a:rPr>
              <a:t>	</a:t>
            </a:r>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a = 1;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true</a:t>
            </a:r>
            <a:endParaRPr lang="de-CH" sz="1600" dirty="0">
              <a:solidFill>
                <a:srgbClr val="000000"/>
              </a:solidFill>
              <a:latin typeface="Consolas" panose="020B0609020204030204" pitchFamily="49" charset="0"/>
            </a:endParaRP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b = 0;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false</a:t>
            </a:r>
            <a:endParaRPr lang="de-CH" sz="1600" dirty="0">
              <a:solidFill>
                <a:srgbClr val="000000"/>
              </a:solidFill>
              <a:latin typeface="Consolas" panose="020B0609020204030204" pitchFamily="49" charset="0"/>
            </a:endParaRP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c = </a:t>
            </a:r>
            <a:r>
              <a:rPr lang="de-CH" sz="1600" dirty="0">
                <a:solidFill>
                  <a:srgbClr val="A31515"/>
                </a:solidFill>
                <a:latin typeface="Consolas" panose="020B0609020204030204" pitchFamily="49" charset="0"/>
              </a:rPr>
              <a:t>'g’</a:t>
            </a:r>
            <a:r>
              <a:rPr lang="de-CH" sz="1600" dirty="0">
                <a:solidFill>
                  <a:srgbClr val="000000"/>
                </a:solidFill>
                <a:latin typeface="Consolas" panose="020B0609020204030204" pitchFamily="49" charset="0"/>
              </a:rPr>
              <a:t>;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true</a:t>
            </a:r>
            <a:endParaRPr lang="de-CH" sz="1600" dirty="0">
              <a:solidFill>
                <a:srgbClr val="000000"/>
              </a:solidFill>
              <a:latin typeface="Consolas" panose="020B0609020204030204" pitchFamily="49" charset="0"/>
            </a:endParaRP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d = 3.4;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true</a:t>
            </a:r>
            <a:endParaRPr lang="ru-RU" sz="1600" dirty="0"/>
          </a:p>
        </p:txBody>
      </p:sp>
    </p:spTree>
    <p:extLst>
      <p:ext uri="{BB962C8B-B14F-4D97-AF65-F5344CB8AC3E}">
        <p14:creationId xmlns:p14="http://schemas.microsoft.com/office/powerpoint/2010/main" val="37170389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D1DA25-4F25-7FB4-F7D5-44D58F0FC02A}"/>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29144B5C-ACFD-6E86-D0CD-BF849CE02C7B}"/>
              </a:ext>
            </a:extLst>
          </p:cNvPr>
          <p:cNvSpPr>
            <a:spLocks noGrp="1"/>
          </p:cNvSpPr>
          <p:nvPr>
            <p:ph idx="1"/>
          </p:nvPr>
        </p:nvSpPr>
        <p:spPr/>
        <p:txBody>
          <a:bodyPr/>
          <a:lstStyle/>
          <a:p>
            <a:r>
              <a:rPr lang="ru-RU" dirty="0"/>
              <a:t>Числовой или символьной переменной присваивается значение типа </a:t>
            </a:r>
            <a:r>
              <a:rPr lang="ru-RU" dirty="0" err="1"/>
              <a:t>bool</a:t>
            </a:r>
            <a:r>
              <a:rPr lang="ru-RU" dirty="0"/>
              <a:t>. В этом случае переменная получает 1, если значение равно </a:t>
            </a:r>
            <a:r>
              <a:rPr lang="ru-RU" dirty="0" err="1"/>
              <a:t>true</a:t>
            </a:r>
            <a:r>
              <a:rPr lang="ru-RU" dirty="0"/>
              <a:t>, либо получает 0, если присваиваемое значение равно </a:t>
            </a:r>
            <a:r>
              <a:rPr lang="ru-RU" dirty="0" err="1"/>
              <a:t>false</a:t>
            </a:r>
            <a:r>
              <a:rPr lang="ru-RU" dirty="0"/>
              <a:t>.</a:t>
            </a:r>
            <a:endParaRPr lang="en-US" dirty="0"/>
          </a:p>
          <a:p>
            <a:endParaRPr lang="en-US" dirty="0"/>
          </a:p>
          <a:p>
            <a:r>
              <a:rPr lang="en-US" dirty="0"/>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 </a:t>
            </a:r>
            <a:r>
              <a:rPr lang="de-CH" sz="2000" dirty="0" err="1">
                <a:solidFill>
                  <a:srgbClr val="0000FF"/>
                </a:solidFill>
                <a:latin typeface="Consolas" panose="020B0609020204030204" pitchFamily="49" charset="0"/>
              </a:rPr>
              <a:t>true</a:t>
            </a:r>
            <a:r>
              <a:rPr lang="de-CH" sz="2000" dirty="0">
                <a:solidFill>
                  <a:srgbClr val="000000"/>
                </a:solidFill>
                <a:latin typeface="Consolas" panose="020B0609020204030204" pitchFamily="49" charset="0"/>
              </a:rPr>
              <a:t>;       </a:t>
            </a:r>
            <a:r>
              <a:rPr lang="de-CH" sz="2000" dirty="0">
                <a:solidFill>
                  <a:srgbClr val="008000"/>
                </a:solidFill>
                <a:latin typeface="Consolas" panose="020B0609020204030204" pitchFamily="49" charset="0"/>
              </a:rPr>
              <a:t>// 1</a:t>
            </a:r>
            <a:endParaRPr lang="de-CH"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double</a:t>
            </a:r>
            <a:r>
              <a:rPr lang="de-CH" sz="2000" dirty="0">
                <a:solidFill>
                  <a:srgbClr val="000000"/>
                </a:solidFill>
                <a:latin typeface="Consolas" panose="020B0609020204030204" pitchFamily="49" charset="0"/>
              </a:rPr>
              <a:t> d = </a:t>
            </a:r>
            <a:r>
              <a:rPr lang="de-CH" sz="2000" dirty="0" err="1">
                <a:solidFill>
                  <a:srgbClr val="0000FF"/>
                </a:solidFill>
                <a:latin typeface="Consolas" panose="020B0609020204030204" pitchFamily="49" charset="0"/>
              </a:rPr>
              <a:t>false</a:t>
            </a:r>
            <a:r>
              <a:rPr lang="de-CH" sz="2000" dirty="0">
                <a:solidFill>
                  <a:srgbClr val="000000"/>
                </a:solidFill>
                <a:latin typeface="Consolas" panose="020B0609020204030204" pitchFamily="49" charset="0"/>
              </a:rPr>
              <a:t>;   </a:t>
            </a:r>
            <a:r>
              <a:rPr lang="de-CH" sz="2000" dirty="0">
                <a:solidFill>
                  <a:srgbClr val="008000"/>
                </a:solidFill>
                <a:latin typeface="Consolas" panose="020B0609020204030204" pitchFamily="49" charset="0"/>
              </a:rPr>
              <a:t>// 0</a:t>
            </a:r>
            <a:endParaRPr lang="ru-RU" dirty="0"/>
          </a:p>
        </p:txBody>
      </p:sp>
    </p:spTree>
    <p:extLst>
      <p:ext uri="{BB962C8B-B14F-4D97-AF65-F5344CB8AC3E}">
        <p14:creationId xmlns:p14="http://schemas.microsoft.com/office/powerpoint/2010/main" val="18290822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920143-E636-4B18-F698-E3F2F04566B8}"/>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B8F94909-01AA-B879-39BA-69BC17BC7A3D}"/>
              </a:ext>
            </a:extLst>
          </p:cNvPr>
          <p:cNvSpPr>
            <a:spLocks noGrp="1"/>
          </p:cNvSpPr>
          <p:nvPr>
            <p:ph idx="1"/>
          </p:nvPr>
        </p:nvSpPr>
        <p:spPr/>
        <p:txBody>
          <a:bodyPr/>
          <a:lstStyle/>
          <a:p>
            <a:r>
              <a:rPr lang="ru-RU" dirty="0"/>
              <a:t>Целочисленной переменной присваивается дробное число. В этом случае дробная часть после запятой отбрасывается.</a:t>
            </a:r>
            <a:endParaRPr lang="en-US" dirty="0"/>
          </a:p>
          <a:p>
            <a:endParaRPr lang="en-US" dirty="0"/>
          </a:p>
          <a:p>
            <a:pPr marL="914400" lvl="2"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 3.4;        </a:t>
            </a:r>
            <a:r>
              <a:rPr lang="de-CH" dirty="0">
                <a:solidFill>
                  <a:srgbClr val="008000"/>
                </a:solidFill>
                <a:latin typeface="Consolas" panose="020B0609020204030204" pitchFamily="49" charset="0"/>
              </a:rPr>
              <a:t>// 3</a:t>
            </a:r>
            <a:endParaRPr lang="de-CH" dirty="0">
              <a:solidFill>
                <a:srgbClr val="000000"/>
              </a:solidFill>
              <a:latin typeface="Consolas" panose="020B0609020204030204" pitchFamily="49" charset="0"/>
            </a:endParaRPr>
          </a:p>
          <a:p>
            <a:pPr marL="914400" lvl="2"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 3.6;        </a:t>
            </a:r>
            <a:r>
              <a:rPr lang="de-CH" dirty="0">
                <a:solidFill>
                  <a:srgbClr val="008000"/>
                </a:solidFill>
                <a:latin typeface="Consolas" panose="020B0609020204030204" pitchFamily="49" charset="0"/>
              </a:rPr>
              <a:t>// 3</a:t>
            </a:r>
            <a:endParaRPr lang="en-US" dirty="0">
              <a:solidFill>
                <a:srgbClr val="008000"/>
              </a:solidFill>
              <a:latin typeface="Consolas" panose="020B0609020204030204" pitchFamily="49" charset="0"/>
            </a:endParaRPr>
          </a:p>
          <a:p>
            <a:pPr marL="914400" lvl="2" indent="0">
              <a:buNone/>
            </a:pPr>
            <a:endParaRPr lang="en-US" dirty="0">
              <a:solidFill>
                <a:srgbClr val="008000"/>
              </a:solidFill>
              <a:latin typeface="Consolas" panose="020B0609020204030204" pitchFamily="49" charset="0"/>
            </a:endParaRPr>
          </a:p>
          <a:p>
            <a:pPr indent="-228600"/>
            <a:r>
              <a:rPr lang="ru-RU" b="0" i="0" dirty="0">
                <a:effectLst/>
                <a:latin typeface="+mj-lt"/>
              </a:rPr>
              <a:t>Переменной</a:t>
            </a:r>
            <a:r>
              <a:rPr lang="ru-RU" b="0" i="0" dirty="0">
                <a:effectLst/>
                <a:latin typeface="-apple-system"/>
              </a:rPr>
              <a:t>, которая представляет тип с плавающей точкой, присваивается целое число. В этом случае, если целое число содержит больше битов, чем может вместить тип переменной, то часть информации усекается.</a:t>
            </a:r>
            <a:endParaRPr lang="en-US" b="0" i="0" dirty="0">
              <a:effectLst/>
              <a:latin typeface="-apple-system"/>
            </a:endParaRPr>
          </a:p>
          <a:p>
            <a:pPr indent="-228600"/>
            <a:endParaRPr lang="en-US" dirty="0">
              <a:latin typeface="-apple-system"/>
            </a:endParaRPr>
          </a:p>
          <a:p>
            <a:r>
              <a:rPr lang="de-CH" sz="20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float</a:t>
            </a:r>
            <a:r>
              <a:rPr lang="de-CH" sz="1600" dirty="0">
                <a:solidFill>
                  <a:srgbClr val="000000"/>
                </a:solidFill>
                <a:latin typeface="Consolas" panose="020B0609020204030204" pitchFamily="49" charset="0"/>
              </a:rPr>
              <a:t> a = 35005;                </a:t>
            </a:r>
            <a:r>
              <a:rPr lang="de-CH" sz="1600" dirty="0">
                <a:solidFill>
                  <a:srgbClr val="008000"/>
                </a:solidFill>
                <a:latin typeface="Consolas" panose="020B0609020204030204" pitchFamily="49" charset="0"/>
              </a:rPr>
              <a:t>// 35005</a:t>
            </a:r>
            <a:endParaRPr lang="de-CH" sz="1600" dirty="0">
              <a:solidFill>
                <a:srgbClr val="000000"/>
              </a:solidFill>
              <a:latin typeface="Consolas" panose="020B0609020204030204" pitchFamily="49" charset="0"/>
            </a:endParaRPr>
          </a:p>
          <a:p>
            <a:r>
              <a:rPr lang="fr-FR" sz="1600" dirty="0">
                <a:solidFill>
                  <a:srgbClr val="000000"/>
                </a:solidFill>
                <a:latin typeface="Consolas" panose="020B0609020204030204" pitchFamily="49" charset="0"/>
              </a:rPr>
              <a:t>    	</a:t>
            </a:r>
            <a:r>
              <a:rPr lang="fr-FR" sz="1600" dirty="0">
                <a:solidFill>
                  <a:srgbClr val="0000FF"/>
                </a:solidFill>
                <a:latin typeface="Consolas" panose="020B0609020204030204" pitchFamily="49" charset="0"/>
              </a:rPr>
              <a:t>double</a:t>
            </a:r>
            <a:r>
              <a:rPr lang="fr-FR" sz="1600" dirty="0">
                <a:solidFill>
                  <a:srgbClr val="000000"/>
                </a:solidFill>
                <a:latin typeface="Consolas" panose="020B0609020204030204" pitchFamily="49" charset="0"/>
              </a:rPr>
              <a:t> b = 3500500000033;       </a:t>
            </a:r>
            <a:r>
              <a:rPr lang="fr-FR" sz="1600" dirty="0">
                <a:solidFill>
                  <a:srgbClr val="008000"/>
                </a:solidFill>
                <a:latin typeface="Consolas" panose="020B0609020204030204" pitchFamily="49" charset="0"/>
              </a:rPr>
              <a:t>// 3.5005e+012</a:t>
            </a:r>
            <a:endParaRPr lang="de-CH" sz="1600" dirty="0">
              <a:latin typeface="Consolas" panose="020B0609020204030204" pitchFamily="49" charset="0"/>
            </a:endParaRPr>
          </a:p>
        </p:txBody>
      </p:sp>
    </p:spTree>
    <p:extLst>
      <p:ext uri="{BB962C8B-B14F-4D97-AF65-F5344CB8AC3E}">
        <p14:creationId xmlns:p14="http://schemas.microsoft.com/office/powerpoint/2010/main" val="6324270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3D6BB7-7201-6F4B-ABBD-ED048BB6E6E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D85DE95-30F1-8AF7-FAB9-D4C6D2BE6E91}"/>
              </a:ext>
            </a:extLst>
          </p:cNvPr>
          <p:cNvSpPr>
            <a:spLocks noGrp="1"/>
          </p:cNvSpPr>
          <p:nvPr>
            <p:ph idx="1"/>
          </p:nvPr>
        </p:nvSpPr>
        <p:spPr/>
        <p:txBody>
          <a:bodyPr/>
          <a:lstStyle/>
          <a:p>
            <a:r>
              <a:rPr lang="ru-RU" dirty="0"/>
              <a:t>Переменной беззнакового типа (</a:t>
            </a:r>
            <a:r>
              <a:rPr lang="ru-RU" dirty="0" err="1"/>
              <a:t>unsigned</a:t>
            </a:r>
            <a:r>
              <a:rPr lang="ru-RU" dirty="0"/>
              <a:t>) присваивается значение не из его диапазона. В этом случае результатом будет остаток от деления по модулю. Например, тип </a:t>
            </a:r>
            <a:r>
              <a:rPr lang="ru-RU" dirty="0" err="1"/>
              <a:t>unsigned</a:t>
            </a:r>
            <a:r>
              <a:rPr lang="ru-RU" dirty="0"/>
              <a:t> </a:t>
            </a:r>
            <a:r>
              <a:rPr lang="ru-RU" dirty="0" err="1"/>
              <a:t>char</a:t>
            </a:r>
            <a:r>
              <a:rPr lang="ru-RU" dirty="0"/>
              <a:t> может хранить значения от 0 до 255. Если присвоить ему значение вне этого диапазона, то компилятор присвоит ему остаток от деления по модулю 256 (так как тип </a:t>
            </a:r>
            <a:r>
              <a:rPr lang="ru-RU" dirty="0" err="1"/>
              <a:t>unsigned</a:t>
            </a:r>
            <a:r>
              <a:rPr lang="ru-RU" dirty="0"/>
              <a:t> </a:t>
            </a:r>
            <a:r>
              <a:rPr lang="ru-RU" dirty="0" err="1"/>
              <a:t>char</a:t>
            </a:r>
            <a:r>
              <a:rPr lang="ru-RU" dirty="0"/>
              <a:t> может хранить 256 значений). Так, при присвоении значения -5 переменная типа </a:t>
            </a:r>
            <a:r>
              <a:rPr lang="ru-RU" dirty="0" err="1"/>
              <a:t>unsigned</a:t>
            </a:r>
            <a:r>
              <a:rPr lang="ru-RU" dirty="0"/>
              <a:t> </a:t>
            </a:r>
            <a:r>
              <a:rPr lang="ru-RU" dirty="0" err="1"/>
              <a:t>char</a:t>
            </a:r>
            <a:r>
              <a:rPr lang="ru-RU" dirty="0"/>
              <a:t> получит значение 251</a:t>
            </a:r>
            <a:endParaRPr lang="en-US" dirty="0"/>
          </a:p>
          <a:p>
            <a:endParaRPr lang="en-US" dirty="0"/>
          </a:p>
          <a:p>
            <a:pPr lvl="2"/>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char</a:t>
            </a:r>
            <a:r>
              <a:rPr lang="en-US" dirty="0">
                <a:solidFill>
                  <a:srgbClr val="000000"/>
                </a:solidFill>
                <a:latin typeface="Consolas" panose="020B0609020204030204" pitchFamily="49" charset="0"/>
              </a:rPr>
              <a:t> a = -5;           </a:t>
            </a:r>
            <a:r>
              <a:rPr lang="en-US" dirty="0">
                <a:solidFill>
                  <a:srgbClr val="008000"/>
                </a:solidFill>
                <a:latin typeface="Consolas" panose="020B0609020204030204" pitchFamily="49" charset="0"/>
              </a:rPr>
              <a:t>// 251</a:t>
            </a:r>
            <a:endParaRPr lang="en-US" dirty="0">
              <a:solidFill>
                <a:srgbClr val="000000"/>
              </a:solidFill>
              <a:latin typeface="Consolas" panose="020B0609020204030204" pitchFamily="49" charset="0"/>
            </a:endParaRPr>
          </a:p>
          <a:p>
            <a:pPr lvl="2"/>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short</a:t>
            </a:r>
            <a:r>
              <a:rPr lang="en-US" dirty="0">
                <a:solidFill>
                  <a:srgbClr val="000000"/>
                </a:solidFill>
                <a:latin typeface="Consolas" panose="020B0609020204030204" pitchFamily="49" charset="0"/>
              </a:rPr>
              <a:t> b = -3500;       </a:t>
            </a:r>
            <a:r>
              <a:rPr lang="en-US" dirty="0">
                <a:solidFill>
                  <a:srgbClr val="008000"/>
                </a:solidFill>
                <a:latin typeface="Consolas" panose="020B0609020204030204" pitchFamily="49" charset="0"/>
              </a:rPr>
              <a:t>// 62036</a:t>
            </a:r>
            <a:endParaRPr lang="en-US" dirty="0">
              <a:solidFill>
                <a:srgbClr val="000000"/>
              </a:solidFill>
              <a:latin typeface="Consolas" panose="020B0609020204030204" pitchFamily="49" charset="0"/>
            </a:endParaRPr>
          </a:p>
          <a:p>
            <a:pPr lvl="2"/>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c = -50000000;     </a:t>
            </a:r>
            <a:r>
              <a:rPr lang="de-CH" dirty="0">
                <a:solidFill>
                  <a:srgbClr val="008000"/>
                </a:solidFill>
                <a:latin typeface="Consolas" panose="020B0609020204030204" pitchFamily="49" charset="0"/>
              </a:rPr>
              <a:t>// 4244967296</a:t>
            </a:r>
            <a:endParaRPr lang="ru-RU" dirty="0"/>
          </a:p>
        </p:txBody>
      </p:sp>
    </p:spTree>
    <p:extLst>
      <p:ext uri="{BB962C8B-B14F-4D97-AF65-F5344CB8AC3E}">
        <p14:creationId xmlns:p14="http://schemas.microsoft.com/office/powerpoint/2010/main" val="40507344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28FC21-E0B1-E945-583A-107B06FA66C6}"/>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CA780F48-6427-4A7A-2782-F09057924394}"/>
              </a:ext>
            </a:extLst>
          </p:cNvPr>
          <p:cNvSpPr>
            <a:spLocks noGrp="1"/>
          </p:cNvSpPr>
          <p:nvPr>
            <p:ph idx="1"/>
          </p:nvPr>
        </p:nvSpPr>
        <p:spPr/>
        <p:txBody>
          <a:bodyPr/>
          <a:lstStyle/>
          <a:p>
            <a:endParaRPr lang="en-US" dirty="0"/>
          </a:p>
          <a:p>
            <a:r>
              <a:rPr lang="ru-RU" dirty="0"/>
              <a:t>Переменной знакового типа (</a:t>
            </a:r>
            <a:r>
              <a:rPr lang="ru-RU" dirty="0" err="1"/>
              <a:t>signed</a:t>
            </a:r>
            <a:r>
              <a:rPr lang="ru-RU" dirty="0"/>
              <a:t>) присваивается значение не из его диапазона. В этом случае результат не детерминирован. Программа может выдавать адекватный результат, а может работать некорректно.</a:t>
            </a:r>
          </a:p>
          <a:p>
            <a:endParaRPr lang="ru-RU" dirty="0"/>
          </a:p>
        </p:txBody>
      </p:sp>
    </p:spTree>
    <p:extLst>
      <p:ext uri="{BB962C8B-B14F-4D97-AF65-F5344CB8AC3E}">
        <p14:creationId xmlns:p14="http://schemas.microsoft.com/office/powerpoint/2010/main" val="1902355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C8F250-A602-FB9D-7B0A-E6DF839951F9}"/>
              </a:ext>
            </a:extLst>
          </p:cNvPr>
          <p:cNvSpPr>
            <a:spLocks noGrp="1"/>
          </p:cNvSpPr>
          <p:nvPr>
            <p:ph type="title"/>
          </p:nvPr>
        </p:nvSpPr>
        <p:spPr/>
        <p:txBody>
          <a:bodyPr/>
          <a:lstStyle/>
          <a:p>
            <a:endParaRPr lang="ru-RU" dirty="0"/>
          </a:p>
        </p:txBody>
      </p:sp>
      <p:sp>
        <p:nvSpPr>
          <p:cNvPr id="3" name="Объект 2">
            <a:extLst>
              <a:ext uri="{FF2B5EF4-FFF2-40B4-BE49-F238E27FC236}">
                <a16:creationId xmlns:a16="http://schemas.microsoft.com/office/drawing/2014/main" id="{2C45DECE-F406-CB5C-DFFB-82503AD7423F}"/>
              </a:ext>
            </a:extLst>
          </p:cNvPr>
          <p:cNvSpPr>
            <a:spLocks noGrp="1"/>
          </p:cNvSpPr>
          <p:nvPr>
            <p:ph idx="1"/>
          </p:nvPr>
        </p:nvSpPr>
        <p:spPr/>
        <p:txBody>
          <a:bodyPr/>
          <a:lstStyle/>
          <a:p>
            <a:r>
              <a:rPr lang="ru-RU" b="1" dirty="0"/>
              <a:t>Преобразования в арифметических операциях</a:t>
            </a:r>
          </a:p>
          <a:p>
            <a:pPr lvl="1"/>
            <a:r>
              <a:rPr lang="ru-RU" dirty="0"/>
              <a:t>В арифметических операциях необходимо, чтобы оба операнда представляли один и тот же тип. Если же операнды имеют разные типы, то компилятор автоматически выбирает операнд с типом который имеет меньший диапазон значений и пытается его преобразовать в тип второго операнда, который имеет больший диапазон значений. С точки зрения преобразований в операциях типы можно расположить следующим образом в порядке приоритета (от более высокого к более низкому):</a:t>
            </a:r>
            <a:endParaRPr lang="en-US" dirty="0"/>
          </a:p>
          <a:p>
            <a:pPr marL="2062163" lvl="1" defTabSz="1166813">
              <a:buFont typeface="+mj-lt"/>
              <a:buAutoNum type="arabicPeriod"/>
            </a:pPr>
            <a:r>
              <a:rPr lang="en-US" dirty="0"/>
              <a:t>long double</a:t>
            </a:r>
          </a:p>
          <a:p>
            <a:pPr marL="2062163" lvl="1" defTabSz="1166813">
              <a:buFont typeface="+mj-lt"/>
              <a:buAutoNum type="arabicPeriod"/>
            </a:pPr>
            <a:r>
              <a:rPr lang="en-US" dirty="0"/>
              <a:t>double</a:t>
            </a:r>
          </a:p>
          <a:p>
            <a:pPr marL="2062163" lvl="1" defTabSz="1166813">
              <a:buFont typeface="+mj-lt"/>
              <a:buAutoNum type="arabicPeriod"/>
            </a:pPr>
            <a:r>
              <a:rPr lang="en-US" dirty="0"/>
              <a:t>float</a:t>
            </a:r>
          </a:p>
          <a:p>
            <a:pPr marL="2062163" lvl="1" defTabSz="1166813">
              <a:buFont typeface="+mj-lt"/>
              <a:buAutoNum type="arabicPeriod"/>
            </a:pPr>
            <a:r>
              <a:rPr lang="en-US" dirty="0"/>
              <a:t>unsigned long </a:t>
            </a:r>
            <a:r>
              <a:rPr lang="en-US" dirty="0" err="1"/>
              <a:t>long</a:t>
            </a:r>
            <a:endParaRPr lang="en-US" dirty="0"/>
          </a:p>
          <a:p>
            <a:pPr marL="2062163" lvl="1" defTabSz="1166813">
              <a:buFont typeface="+mj-lt"/>
              <a:buAutoNum type="arabicPeriod"/>
            </a:pPr>
            <a:r>
              <a:rPr lang="en-US" dirty="0"/>
              <a:t>long </a:t>
            </a:r>
            <a:r>
              <a:rPr lang="en-US" dirty="0" err="1"/>
              <a:t>long</a:t>
            </a:r>
            <a:endParaRPr lang="en-US" dirty="0"/>
          </a:p>
          <a:p>
            <a:pPr marL="2062163" lvl="1" defTabSz="1166813">
              <a:buFont typeface="+mj-lt"/>
              <a:buAutoNum type="arabicPeriod"/>
            </a:pPr>
            <a:r>
              <a:rPr lang="en-US" dirty="0"/>
              <a:t>unsigned long</a:t>
            </a:r>
          </a:p>
          <a:p>
            <a:pPr marL="2062163" lvl="1" defTabSz="1166813">
              <a:buFont typeface="+mj-lt"/>
              <a:buAutoNum type="arabicPeriod"/>
            </a:pPr>
            <a:r>
              <a:rPr lang="en-US" dirty="0"/>
              <a:t>long</a:t>
            </a:r>
          </a:p>
          <a:p>
            <a:pPr marL="2062163" lvl="1" defTabSz="1166813">
              <a:buFont typeface="+mj-lt"/>
              <a:buAutoNum type="arabicPeriod"/>
            </a:pPr>
            <a:r>
              <a:rPr lang="en-US" dirty="0"/>
              <a:t>unsigned int</a:t>
            </a:r>
          </a:p>
          <a:p>
            <a:pPr marL="2062163" lvl="1" defTabSz="1166813">
              <a:buFont typeface="+mj-lt"/>
              <a:buAutoNum type="arabicPeriod"/>
            </a:pPr>
            <a:r>
              <a:rPr lang="en-US" dirty="0"/>
              <a:t>int</a:t>
            </a:r>
          </a:p>
          <a:p>
            <a:pPr lvl="1"/>
            <a:endParaRPr lang="ru-RU" dirty="0"/>
          </a:p>
        </p:txBody>
      </p:sp>
    </p:spTree>
    <p:extLst>
      <p:ext uri="{BB962C8B-B14F-4D97-AF65-F5344CB8AC3E}">
        <p14:creationId xmlns:p14="http://schemas.microsoft.com/office/powerpoint/2010/main" val="22646448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C799EC-F711-1D1A-C4FF-B7F3813DF5CB}"/>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CCE37D55-393E-CFB1-B014-19FD7BDD2144}"/>
              </a:ext>
            </a:extLst>
          </p:cNvPr>
          <p:cNvSpPr>
            <a:spLocks noGrp="1"/>
          </p:cNvSpPr>
          <p:nvPr>
            <p:ph idx="1"/>
          </p:nvPr>
        </p:nvSpPr>
        <p:spPr/>
        <p:txBody>
          <a:bodyPr/>
          <a:lstStyle/>
          <a:p>
            <a:r>
              <a:rPr lang="ru-RU" dirty="0"/>
              <a:t>Неявное приведение типов может привести к некорректной работе</a:t>
            </a:r>
            <a:r>
              <a:rPr lang="en-US" dirty="0"/>
              <a:t>:</a:t>
            </a:r>
          </a:p>
          <a:p>
            <a:endParaRPr lang="en-US" dirty="0"/>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x{ 8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"result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 x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p>
          <a:p>
            <a:pPr lvl="1"/>
            <a:r>
              <a:rPr lang="en-US" dirty="0">
                <a:solidFill>
                  <a:srgbClr val="008000"/>
                </a:solidFill>
                <a:latin typeface="Consolas" panose="020B0609020204030204" pitchFamily="49" charset="0"/>
              </a:rPr>
              <a:t>// result = 4294967293</a:t>
            </a:r>
            <a:endParaRPr lang="ru-RU" dirty="0"/>
          </a:p>
        </p:txBody>
      </p:sp>
    </p:spTree>
    <p:extLst>
      <p:ext uri="{BB962C8B-B14F-4D97-AF65-F5344CB8AC3E}">
        <p14:creationId xmlns:p14="http://schemas.microsoft.com/office/powerpoint/2010/main" val="21521526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B1601D-38F7-F20B-E3C4-2C2E4014C863}"/>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D79BAB7D-8B0C-20FE-1B37-7FF8BC5854BC}"/>
              </a:ext>
            </a:extLst>
          </p:cNvPr>
          <p:cNvSpPr>
            <a:spLocks noGrp="1"/>
          </p:cNvSpPr>
          <p:nvPr>
            <p:ph idx="1"/>
          </p:nvPr>
        </p:nvSpPr>
        <p:spPr/>
        <p:txBody>
          <a:bodyPr/>
          <a:lstStyle/>
          <a:p>
            <a:r>
              <a:rPr lang="ru-RU" b="1" dirty="0"/>
              <a:t>Опасные и безопасные преобразования</a:t>
            </a:r>
          </a:p>
          <a:p>
            <a:pPr lvl="1"/>
            <a:r>
              <a:rPr lang="ru-RU" dirty="0"/>
              <a:t>Те преобразования, при которых не происходит потеря информации, являются безопасными. Как правило, это преобразования от типа с меньшей разрядностью к типу с большей разрядностью. В частности, это следующие цепочки преобразований:</a:t>
            </a:r>
            <a:endParaRPr lang="en-US" dirty="0"/>
          </a:p>
          <a:p>
            <a:pPr lvl="1"/>
            <a:endParaRPr lang="en-US" dirty="0"/>
          </a:p>
          <a:p>
            <a:pPr marL="177800" lvl="1">
              <a:tabLst>
                <a:tab pos="93663" algn="l"/>
              </a:tabLst>
            </a:pPr>
            <a:r>
              <a:rPr lang="en-US" b="1" dirty="0"/>
              <a:t>bool -&gt; char -&gt; short -&gt; int -&gt; double -&gt; long double</a:t>
            </a:r>
          </a:p>
          <a:p>
            <a:pPr marL="177800" lvl="1">
              <a:tabLst>
                <a:tab pos="93663" algn="l"/>
              </a:tabLst>
            </a:pPr>
            <a:endParaRPr lang="en-US" b="1" dirty="0"/>
          </a:p>
          <a:p>
            <a:pPr marL="177800" lvl="1">
              <a:tabLst>
                <a:tab pos="93663" algn="l"/>
              </a:tabLst>
            </a:pPr>
            <a:r>
              <a:rPr lang="en-US" b="1" dirty="0"/>
              <a:t>bool -&gt; char -&gt; short -&gt; int -&gt; long -&gt; long </a:t>
            </a:r>
            <a:r>
              <a:rPr lang="en-US" b="1" dirty="0" err="1"/>
              <a:t>long</a:t>
            </a:r>
            <a:endParaRPr lang="en-US" b="1" dirty="0"/>
          </a:p>
          <a:p>
            <a:pPr marL="177800" lvl="1">
              <a:tabLst>
                <a:tab pos="93663" algn="l"/>
              </a:tabLst>
            </a:pPr>
            <a:endParaRPr lang="en-US" b="1" dirty="0"/>
          </a:p>
          <a:p>
            <a:pPr marL="177800" lvl="1">
              <a:tabLst>
                <a:tab pos="93663" algn="l"/>
              </a:tabLst>
            </a:pPr>
            <a:r>
              <a:rPr lang="en-US" b="1" dirty="0"/>
              <a:t>unsigned char -&gt; unsigned short -&gt; unsigned int -&gt; unsigned long</a:t>
            </a:r>
          </a:p>
          <a:p>
            <a:pPr marL="177800" lvl="1">
              <a:tabLst>
                <a:tab pos="93663" algn="l"/>
              </a:tabLst>
            </a:pPr>
            <a:endParaRPr lang="de-CH" b="1" dirty="0"/>
          </a:p>
          <a:p>
            <a:pPr marL="177800" lvl="1">
              <a:tabLst>
                <a:tab pos="93663" algn="l"/>
              </a:tabLst>
            </a:pPr>
            <a:r>
              <a:rPr lang="de-CH" b="1" dirty="0" err="1"/>
              <a:t>float</a:t>
            </a:r>
            <a:r>
              <a:rPr lang="de-CH" b="1" dirty="0"/>
              <a:t> -&gt; double -&gt; </a:t>
            </a:r>
            <a:r>
              <a:rPr lang="de-CH" b="1" dirty="0" err="1"/>
              <a:t>long</a:t>
            </a:r>
            <a:r>
              <a:rPr lang="de-CH" b="1" dirty="0"/>
              <a:t> double</a:t>
            </a:r>
            <a:endParaRPr lang="ru-RU" dirty="0"/>
          </a:p>
        </p:txBody>
      </p:sp>
    </p:spTree>
    <p:extLst>
      <p:ext uri="{BB962C8B-B14F-4D97-AF65-F5344CB8AC3E}">
        <p14:creationId xmlns:p14="http://schemas.microsoft.com/office/powerpoint/2010/main" val="5480614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71FE25-6A9C-0BEC-0321-C0A7C3B271E9}"/>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E311636D-B629-71B1-7E46-4DA4B01BE7EA}"/>
              </a:ext>
            </a:extLst>
          </p:cNvPr>
          <p:cNvSpPr>
            <a:spLocks noGrp="1"/>
          </p:cNvSpPr>
          <p:nvPr>
            <p:ph idx="1"/>
          </p:nvPr>
        </p:nvSpPr>
        <p:spPr/>
        <p:txBody>
          <a:bodyPr/>
          <a:lstStyle/>
          <a:p>
            <a:r>
              <a:rPr lang="ru-RU" dirty="0"/>
              <a:t>Примеры безопасных преобразований:</a:t>
            </a:r>
            <a:endParaRPr lang="en-US" dirty="0"/>
          </a:p>
          <a:p>
            <a:endParaRPr lang="en-US" dirty="0"/>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short</a:t>
            </a:r>
            <a:r>
              <a:rPr lang="ru-RU" dirty="0">
                <a:solidFill>
                  <a:srgbClr val="000000"/>
                </a:solidFill>
                <a:latin typeface="Consolas" panose="020B0609020204030204" pitchFamily="49" charset="0"/>
              </a:rPr>
              <a:t> a = </a:t>
            </a:r>
            <a:r>
              <a:rPr lang="ru-RU" dirty="0">
                <a:solidFill>
                  <a:srgbClr val="A31515"/>
                </a:solidFill>
                <a:latin typeface="Consolas" panose="020B0609020204030204" pitchFamily="49" charset="0"/>
              </a:rPr>
              <a:t>'g'</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преобразование из </a:t>
            </a:r>
            <a:r>
              <a:rPr lang="ru-RU" dirty="0" err="1">
                <a:solidFill>
                  <a:srgbClr val="008000"/>
                </a:solidFill>
                <a:latin typeface="Consolas" panose="020B0609020204030204" pitchFamily="49" charset="0"/>
              </a:rPr>
              <a:t>char</a:t>
            </a:r>
            <a:r>
              <a:rPr lang="ru-RU" dirty="0">
                <a:solidFill>
                  <a:srgbClr val="008000"/>
                </a:solidFill>
                <a:latin typeface="Consolas" panose="020B0609020204030204" pitchFamily="49" charset="0"/>
              </a:rPr>
              <a:t> в </a:t>
            </a:r>
            <a:r>
              <a:rPr lang="ru-RU" dirty="0" err="1">
                <a:solidFill>
                  <a:srgbClr val="008000"/>
                </a:solidFill>
                <a:latin typeface="Consolas" panose="020B0609020204030204" pitchFamily="49" charset="0"/>
              </a:rPr>
              <a:t>short</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 10;</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double</a:t>
            </a:r>
            <a:r>
              <a:rPr lang="ru-RU" dirty="0">
                <a:solidFill>
                  <a:srgbClr val="000000"/>
                </a:solidFill>
                <a:latin typeface="Consolas" panose="020B0609020204030204" pitchFamily="49" charset="0"/>
              </a:rPr>
              <a:t> c = b; </a:t>
            </a:r>
            <a:r>
              <a:rPr lang="ru-RU" dirty="0">
                <a:solidFill>
                  <a:srgbClr val="008000"/>
                </a:solidFill>
                <a:latin typeface="Consolas" panose="020B0609020204030204" pitchFamily="49" charset="0"/>
              </a:rPr>
              <a:t>// преобразование из int в </a:t>
            </a:r>
            <a:r>
              <a:rPr lang="ru-RU" dirty="0" err="1">
                <a:solidFill>
                  <a:srgbClr val="008000"/>
                </a:solidFill>
                <a:latin typeface="Consolas" panose="020B0609020204030204" pitchFamily="49" charset="0"/>
              </a:rPr>
              <a:t>double</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float</a:t>
            </a:r>
            <a:r>
              <a:rPr lang="de-CH" dirty="0">
                <a:solidFill>
                  <a:srgbClr val="000000"/>
                </a:solidFill>
                <a:latin typeface="Consolas" panose="020B0609020204030204" pitchFamily="49" charset="0"/>
              </a:rPr>
              <a:t> d = 3.4;</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double</a:t>
            </a:r>
            <a:r>
              <a:rPr lang="ru-RU" dirty="0">
                <a:solidFill>
                  <a:srgbClr val="000000"/>
                </a:solidFill>
                <a:latin typeface="Consolas" panose="020B0609020204030204" pitchFamily="49" charset="0"/>
              </a:rPr>
              <a:t> e = d; </a:t>
            </a:r>
            <a:r>
              <a:rPr lang="ru-RU" dirty="0">
                <a:solidFill>
                  <a:srgbClr val="008000"/>
                </a:solidFill>
                <a:latin typeface="Consolas" panose="020B0609020204030204" pitchFamily="49" charset="0"/>
              </a:rPr>
              <a:t>// преобразование из </a:t>
            </a:r>
            <a:r>
              <a:rPr lang="ru-RU" dirty="0" err="1">
                <a:solidFill>
                  <a:srgbClr val="008000"/>
                </a:solidFill>
                <a:latin typeface="Consolas" panose="020B0609020204030204" pitchFamily="49" charset="0"/>
              </a:rPr>
              <a:t>float</a:t>
            </a:r>
            <a:r>
              <a:rPr lang="ru-RU" dirty="0">
                <a:solidFill>
                  <a:srgbClr val="008000"/>
                </a:solidFill>
                <a:latin typeface="Consolas" panose="020B0609020204030204" pitchFamily="49" charset="0"/>
              </a:rPr>
              <a:t> в </a:t>
            </a:r>
            <a:r>
              <a:rPr lang="ru-RU" dirty="0" err="1">
                <a:solidFill>
                  <a:srgbClr val="008000"/>
                </a:solidFill>
                <a:latin typeface="Consolas" panose="020B0609020204030204" pitchFamily="49" charset="0"/>
              </a:rPr>
              <a:t>double</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double</a:t>
            </a:r>
            <a:r>
              <a:rPr lang="ru-RU" dirty="0">
                <a:solidFill>
                  <a:srgbClr val="000000"/>
                </a:solidFill>
                <a:latin typeface="Consolas" panose="020B0609020204030204" pitchFamily="49" charset="0"/>
              </a:rPr>
              <a:t> f = 35; </a:t>
            </a:r>
            <a:r>
              <a:rPr lang="ru-RU" dirty="0">
                <a:solidFill>
                  <a:srgbClr val="008000"/>
                </a:solidFill>
                <a:latin typeface="Consolas" panose="020B0609020204030204" pitchFamily="49" charset="0"/>
              </a:rPr>
              <a:t>// преобразование из int в </a:t>
            </a:r>
            <a:r>
              <a:rPr lang="ru-RU" dirty="0" err="1">
                <a:solidFill>
                  <a:srgbClr val="008000"/>
                </a:solidFill>
                <a:latin typeface="Consolas" panose="020B0609020204030204" pitchFamily="49" charset="0"/>
              </a:rPr>
              <a:t>double</a:t>
            </a:r>
            <a:endParaRPr lang="ru-RU" dirty="0"/>
          </a:p>
        </p:txBody>
      </p:sp>
    </p:spTree>
    <p:extLst>
      <p:ext uri="{BB962C8B-B14F-4D97-AF65-F5344CB8AC3E}">
        <p14:creationId xmlns:p14="http://schemas.microsoft.com/office/powerpoint/2010/main" val="19959282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370901-059E-6427-1563-0EEF5BF37271}"/>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463441C9-CBDA-B4A7-6BF3-9F45CEABB798}"/>
              </a:ext>
            </a:extLst>
          </p:cNvPr>
          <p:cNvSpPr>
            <a:spLocks noGrp="1"/>
          </p:cNvSpPr>
          <p:nvPr>
            <p:ph idx="1"/>
          </p:nvPr>
        </p:nvSpPr>
        <p:spPr/>
        <p:txBody>
          <a:bodyPr/>
          <a:lstStyle/>
          <a:p>
            <a:r>
              <a:rPr lang="ru-RU" dirty="0"/>
              <a:t>Но также есть опасные преобразования. При подобных преобразованиях мы потенциально можем потерять точность данных. Как правило, это преобразования от типа с большей разрядностью к типу с меньшей разрядностью.</a:t>
            </a:r>
            <a:endParaRPr lang="en-US" dirty="0"/>
          </a:p>
          <a:p>
            <a:endParaRPr lang="en-US" dirty="0"/>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 = -25;           </a:t>
            </a:r>
            <a:r>
              <a:rPr lang="en-US" dirty="0">
                <a:solidFill>
                  <a:srgbClr val="008000"/>
                </a:solidFill>
                <a:latin typeface="Consolas" panose="020B0609020204030204" pitchFamily="49" charset="0"/>
              </a:rPr>
              <a:t>// 4294967271</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short</a:t>
            </a:r>
            <a:r>
              <a:rPr lang="en-US" dirty="0">
                <a:solidFill>
                  <a:srgbClr val="000000"/>
                </a:solidFill>
                <a:latin typeface="Consolas" panose="020B0609020204030204" pitchFamily="49" charset="0"/>
              </a:rPr>
              <a:t> b = -3500;       </a:t>
            </a:r>
            <a:r>
              <a:rPr lang="en-US" dirty="0">
                <a:solidFill>
                  <a:srgbClr val="008000"/>
                </a:solidFill>
                <a:latin typeface="Consolas" panose="020B0609020204030204" pitchFamily="49" charset="0"/>
              </a:rPr>
              <a:t>// 62036 </a:t>
            </a:r>
          </a:p>
          <a:p>
            <a:pPr lvl="1"/>
            <a:endParaRPr lang="en-US" dirty="0">
              <a:solidFill>
                <a:srgbClr val="008000"/>
              </a:solidFill>
              <a:latin typeface="Consolas" panose="020B0609020204030204" pitchFamily="49" charset="0"/>
            </a:endParaRPr>
          </a:p>
          <a:p>
            <a:pPr lvl="1"/>
            <a:endParaRPr lang="en-US" dirty="0">
              <a:solidFill>
                <a:srgbClr val="008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-25 };           </a:t>
            </a:r>
            <a:r>
              <a:rPr lang="de-CH" dirty="0">
                <a:solidFill>
                  <a:srgbClr val="008000"/>
                </a:solidFill>
                <a:latin typeface="Consolas" panose="020B0609020204030204" pitchFamily="49" charset="0"/>
              </a:rPr>
              <a:t>// ! </a:t>
            </a:r>
            <a:r>
              <a:rPr lang="ru-RU" dirty="0">
                <a:solidFill>
                  <a:srgbClr val="008000"/>
                </a:solidFill>
                <a:latin typeface="Consolas" panose="020B0609020204030204" pitchFamily="49" charset="0"/>
              </a:rPr>
              <a:t>Ошибка </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short</a:t>
            </a:r>
            <a:r>
              <a:rPr lang="en-US" dirty="0">
                <a:solidFill>
                  <a:srgbClr val="000000"/>
                </a:solidFill>
                <a:latin typeface="Consolas" panose="020B0609020204030204" pitchFamily="49" charset="0"/>
              </a:rPr>
              <a:t> b{ -3500 };       </a:t>
            </a:r>
            <a:r>
              <a:rPr lang="en-US" dirty="0">
                <a:solidFill>
                  <a:srgbClr val="008000"/>
                </a:solidFill>
                <a:latin typeface="Consolas" panose="020B0609020204030204" pitchFamily="49" charset="0"/>
              </a:rPr>
              <a:t>// ! </a:t>
            </a:r>
            <a:r>
              <a:rPr lang="en-US" dirty="0" err="1">
                <a:solidFill>
                  <a:srgbClr val="008000"/>
                </a:solidFill>
                <a:latin typeface="Consolas" panose="020B0609020204030204" pitchFamily="49" charset="0"/>
              </a:rPr>
              <a:t>Ошибка</a:t>
            </a:r>
            <a:r>
              <a:rPr lang="en-US" dirty="0">
                <a:solidFill>
                  <a:srgbClr val="008000"/>
                </a:solidFill>
                <a:latin typeface="Consolas" panose="020B0609020204030204" pitchFamily="49" charset="0"/>
              </a:rPr>
              <a:t> </a:t>
            </a:r>
            <a:endParaRPr lang="ru-RU" dirty="0"/>
          </a:p>
        </p:txBody>
      </p:sp>
    </p:spTree>
    <p:extLst>
      <p:ext uri="{BB962C8B-B14F-4D97-AF65-F5344CB8AC3E}">
        <p14:creationId xmlns:p14="http://schemas.microsoft.com/office/powerpoint/2010/main" val="260538623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2F04B2-AF57-8144-B0EE-43B992686139}"/>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93F3B19F-72CF-C1F2-7553-754C0B95C074}"/>
              </a:ext>
            </a:extLst>
          </p:cNvPr>
          <p:cNvSpPr>
            <a:spLocks noGrp="1"/>
          </p:cNvSpPr>
          <p:nvPr>
            <p:ph idx="1"/>
          </p:nvPr>
        </p:nvSpPr>
        <p:spPr/>
        <p:txBody>
          <a:bodyPr/>
          <a:lstStyle/>
          <a:p>
            <a:r>
              <a:rPr lang="ru-RU" b="1" dirty="0"/>
              <a:t>Явные преобразования типов</a:t>
            </a:r>
          </a:p>
          <a:p>
            <a:endParaRPr lang="en-US" dirty="0"/>
          </a:p>
          <a:p>
            <a:pPr lvl="1"/>
            <a:r>
              <a:rPr lang="ru-RU" dirty="0"/>
              <a:t>Для выполнения </a:t>
            </a:r>
            <a:r>
              <a:rPr lang="ru-RU" b="1" dirty="0"/>
              <a:t>явных преобразований типов</a:t>
            </a:r>
            <a:r>
              <a:rPr lang="ru-RU" dirty="0"/>
              <a:t> (</a:t>
            </a:r>
            <a:r>
              <a:rPr lang="ru-RU" dirty="0" err="1"/>
              <a:t>explicit</a:t>
            </a:r>
            <a:r>
              <a:rPr lang="ru-RU" dirty="0"/>
              <a:t> </a:t>
            </a:r>
            <a:r>
              <a:rPr lang="ru-RU" dirty="0" err="1"/>
              <a:t>type</a:t>
            </a:r>
            <a:r>
              <a:rPr lang="ru-RU" dirty="0"/>
              <a:t> </a:t>
            </a:r>
            <a:r>
              <a:rPr lang="ru-RU" dirty="0" err="1"/>
              <a:t>conversion</a:t>
            </a:r>
            <a:r>
              <a:rPr lang="ru-RU" dirty="0"/>
              <a:t>) применяется оператор </a:t>
            </a:r>
            <a:r>
              <a:rPr lang="ru-RU" b="1" dirty="0" err="1"/>
              <a:t>static_cast</a:t>
            </a:r>
            <a:endParaRPr lang="en-US" b="1" dirty="0"/>
          </a:p>
          <a:p>
            <a:pPr lvl="1"/>
            <a:endParaRPr lang="en-US" b="1" dirty="0"/>
          </a:p>
          <a:p>
            <a:pPr lvl="1"/>
            <a:r>
              <a:rPr lang="de-CH" sz="1200"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 100.2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hours</a:t>
            </a:r>
            <a:r>
              <a:rPr lang="de-CH" dirty="0">
                <a:solidFill>
                  <a:srgbClr val="000000"/>
                </a:solidFill>
                <a:latin typeface="Consolas" panose="020B0609020204030204" pitchFamily="49" charset="0"/>
              </a:rPr>
              <a:t>{ 8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revenuePerHour</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static_cast</a:t>
            </a:r>
            <a:r>
              <a:rPr lang="en-US" dirty="0">
                <a:solidFill>
                  <a:srgbClr val="000000"/>
                </a:solidFill>
                <a:latin typeface="Consolas" panose="020B0609020204030204" pitchFamily="49" charset="0"/>
              </a:rPr>
              <a:t>&lt;</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&gt;(sum / hours) };  </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revenuePerHour</a:t>
            </a:r>
            <a:r>
              <a:rPr lang="en-US" dirty="0">
                <a:solidFill>
                  <a:srgbClr val="008000"/>
                </a:solidFill>
                <a:latin typeface="Consolas" panose="020B0609020204030204" pitchFamily="49" charset="0"/>
              </a:rPr>
              <a:t> = 12</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"Revenue per hour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revenuePerHour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endParaRPr lang="en-US" dirty="0">
              <a:solidFill>
                <a:srgbClr val="000000"/>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Старая форма приведения типов</a:t>
            </a:r>
            <a:r>
              <a:rPr lang="en-US" dirty="0">
                <a:solidFill>
                  <a:srgbClr val="000000"/>
                </a:solidFill>
                <a:latin typeface="Consolas" panose="020B0609020204030204" pitchFamily="49" charset="0"/>
              </a:rPr>
              <a:t>: </a:t>
            </a:r>
            <a:r>
              <a:rPr lang="ru-RU" dirty="0"/>
              <a:t>(тип) значение</a:t>
            </a:r>
          </a:p>
        </p:txBody>
      </p:sp>
    </p:spTree>
    <p:extLst>
      <p:ext uri="{BB962C8B-B14F-4D97-AF65-F5344CB8AC3E}">
        <p14:creationId xmlns:p14="http://schemas.microsoft.com/office/powerpoint/2010/main" val="6745137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2046BD-E96C-A33F-D105-1C82CD14EB55}"/>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3D08C65B-0FD5-5EC7-B2D5-CD5AF785CD14}"/>
              </a:ext>
            </a:extLst>
          </p:cNvPr>
          <p:cNvSpPr>
            <a:spLocks noGrp="1"/>
          </p:cNvSpPr>
          <p:nvPr>
            <p:ph idx="1"/>
          </p:nvPr>
        </p:nvSpPr>
        <p:spPr/>
        <p:txBody>
          <a:bodyPr/>
          <a:lstStyle/>
          <a:p>
            <a:endParaRPr lang="en-US" dirty="0"/>
          </a:p>
          <a:p>
            <a:r>
              <a:rPr lang="ru-RU" dirty="0"/>
              <a:t>Поразрядные операции выполняются над отдельными разрядами или битами чисел. </a:t>
            </a:r>
            <a:endParaRPr lang="en-US" dirty="0"/>
          </a:p>
          <a:p>
            <a:endParaRPr lang="en-US" dirty="0">
              <a:solidFill>
                <a:srgbClr val="FF0000"/>
              </a:solidFill>
            </a:endParaRPr>
          </a:p>
          <a:p>
            <a:r>
              <a:rPr lang="ru-RU" dirty="0">
                <a:solidFill>
                  <a:srgbClr val="FF0000"/>
                </a:solidFill>
              </a:rPr>
              <a:t>Данные операции производятся только над целыми числами</a:t>
            </a:r>
            <a:r>
              <a:rPr lang="ru-RU" dirty="0"/>
              <a:t>.</a:t>
            </a:r>
          </a:p>
        </p:txBody>
      </p:sp>
    </p:spTree>
    <p:extLst>
      <p:ext uri="{BB962C8B-B14F-4D97-AF65-F5344CB8AC3E}">
        <p14:creationId xmlns:p14="http://schemas.microsoft.com/office/powerpoint/2010/main" val="35314921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879ECD-F7FA-5534-F7E4-AA1658F11C46}"/>
              </a:ext>
            </a:extLst>
          </p:cNvPr>
          <p:cNvSpPr>
            <a:spLocks noGrp="1"/>
          </p:cNvSpPr>
          <p:nvPr>
            <p:ph type="title"/>
          </p:nvPr>
        </p:nvSpPr>
        <p:spPr/>
        <p:txBody>
          <a:bodyPr/>
          <a:lstStyle/>
          <a:p>
            <a:r>
              <a:rPr lang="ru-RU" b="1" dirty="0"/>
              <a:t>Преобразования типов</a:t>
            </a:r>
            <a:endParaRPr lang="ru-RU" dirty="0"/>
          </a:p>
        </p:txBody>
      </p:sp>
      <p:sp>
        <p:nvSpPr>
          <p:cNvPr id="3" name="Объект 2">
            <a:extLst>
              <a:ext uri="{FF2B5EF4-FFF2-40B4-BE49-F238E27FC236}">
                <a16:creationId xmlns:a16="http://schemas.microsoft.com/office/drawing/2014/main" id="{6B278E5C-8B66-AF4E-0EDF-5D03C50F9709}"/>
              </a:ext>
            </a:extLst>
          </p:cNvPr>
          <p:cNvSpPr>
            <a:spLocks noGrp="1"/>
          </p:cNvSpPr>
          <p:nvPr>
            <p:ph idx="1"/>
          </p:nvPr>
        </p:nvSpPr>
        <p:spPr/>
        <p:txBody>
          <a:bodyPr/>
          <a:lstStyle/>
          <a:p>
            <a:r>
              <a:rPr lang="ru-RU" b="1" dirty="0"/>
              <a:t>Представление отрицательных чисел</a:t>
            </a:r>
          </a:p>
          <a:p>
            <a:endParaRPr lang="en-US" dirty="0"/>
          </a:p>
          <a:p>
            <a:pPr lvl="1"/>
            <a:r>
              <a:rPr lang="ru-RU" dirty="0"/>
              <a:t>Для записи чисел со знаком в С++ применяется дополнительный код (</a:t>
            </a:r>
            <a:r>
              <a:rPr lang="ru-RU" dirty="0" err="1"/>
              <a:t>two's</a:t>
            </a:r>
            <a:r>
              <a:rPr lang="ru-RU" dirty="0"/>
              <a:t> </a:t>
            </a:r>
            <a:r>
              <a:rPr lang="ru-RU" dirty="0" err="1"/>
              <a:t>complement</a:t>
            </a:r>
            <a:r>
              <a:rPr lang="ru-RU" dirty="0"/>
              <a:t>), при котором старший разряд является знаковым. Если его значение равно 0, то число положительное, и его двоичное представление не отличается от представления беззнакового числа. Например, 0000 0001 в десятичной системе 1.</a:t>
            </a:r>
          </a:p>
          <a:p>
            <a:pPr lvl="1"/>
            <a:endParaRPr lang="en-US" dirty="0"/>
          </a:p>
          <a:p>
            <a:pPr lvl="1"/>
            <a:r>
              <a:rPr lang="ru-RU" dirty="0"/>
              <a:t>Если старший разряд равен 1, то мы имеем дело с отрицательным числом. Например, 1111 1111 в десятичной системе представляет -1. Соответственно, 1111 0011 представляет -13.</a:t>
            </a:r>
          </a:p>
          <a:p>
            <a:endParaRPr lang="ru-RU" dirty="0"/>
          </a:p>
        </p:txBody>
      </p:sp>
    </p:spTree>
    <p:extLst>
      <p:ext uri="{BB962C8B-B14F-4D97-AF65-F5344CB8AC3E}">
        <p14:creationId xmlns:p14="http://schemas.microsoft.com/office/powerpoint/2010/main" val="36540426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9E040-F0DF-598D-794C-66E00EA15CCF}"/>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77A3E77C-3789-B3DA-992C-51610490D433}"/>
              </a:ext>
            </a:extLst>
          </p:cNvPr>
          <p:cNvSpPr>
            <a:spLocks noGrp="1"/>
          </p:cNvSpPr>
          <p:nvPr>
            <p:ph idx="1"/>
          </p:nvPr>
        </p:nvSpPr>
        <p:spPr/>
        <p:txBody>
          <a:bodyPr/>
          <a:lstStyle/>
          <a:p>
            <a:r>
              <a:rPr lang="ru-RU" dirty="0"/>
              <a:t>Обратный код</a:t>
            </a:r>
            <a:endParaRPr lang="en-US" dirty="0"/>
          </a:p>
          <a:p>
            <a:endParaRPr lang="en-US" dirty="0"/>
          </a:p>
          <a:p>
            <a:r>
              <a:rPr lang="ru-RU" dirty="0"/>
              <a:t>Чтобы получить из положительного числа отрицательное, его нужно инвертировать и прибавить единицу:</a:t>
            </a:r>
          </a:p>
        </p:txBody>
      </p:sp>
      <p:sp>
        <p:nvSpPr>
          <p:cNvPr id="4" name="AutoShape 2" descr="Инверсия и дополнительный код в языке программирования C++">
            <a:extLst>
              <a:ext uri="{FF2B5EF4-FFF2-40B4-BE49-F238E27FC236}">
                <a16:creationId xmlns:a16="http://schemas.microsoft.com/office/drawing/2014/main" id="{40F396ED-FAE8-DF4E-E712-B744CC1E436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6" name="Рисунок 5">
            <a:extLst>
              <a:ext uri="{FF2B5EF4-FFF2-40B4-BE49-F238E27FC236}">
                <a16:creationId xmlns:a16="http://schemas.microsoft.com/office/drawing/2014/main" id="{C68F6163-1202-D1BC-5A98-DF55F5113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7359" y="3328447"/>
            <a:ext cx="6144482" cy="2238687"/>
          </a:xfrm>
          <a:prstGeom prst="rect">
            <a:avLst/>
          </a:prstGeom>
        </p:spPr>
      </p:pic>
    </p:spTree>
    <p:extLst>
      <p:ext uri="{BB962C8B-B14F-4D97-AF65-F5344CB8AC3E}">
        <p14:creationId xmlns:p14="http://schemas.microsoft.com/office/powerpoint/2010/main" val="19556982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343003-5B75-DFA6-81B0-879A0D72A754}"/>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A12EC74B-A4FB-4402-6EEA-FF4D5C37A24F}"/>
              </a:ext>
            </a:extLst>
          </p:cNvPr>
          <p:cNvSpPr>
            <a:spLocks noGrp="1"/>
          </p:cNvSpPr>
          <p:nvPr>
            <p:ph idx="1"/>
          </p:nvPr>
        </p:nvSpPr>
        <p:spPr/>
        <p:txBody>
          <a:bodyPr/>
          <a:lstStyle/>
          <a:p>
            <a:r>
              <a:rPr lang="ru-RU" b="1" dirty="0"/>
              <a:t>Операции сдвига</a:t>
            </a:r>
          </a:p>
          <a:p>
            <a:endParaRPr lang="en-US" dirty="0"/>
          </a:p>
          <a:p>
            <a:pPr lvl="1"/>
            <a:r>
              <a:rPr lang="ru-RU" dirty="0"/>
              <a:t>Сдвиг в лево </a:t>
            </a:r>
            <a:r>
              <a:rPr lang="en-US" dirty="0"/>
              <a:t>“ &lt;&lt; ”</a:t>
            </a:r>
          </a:p>
          <a:p>
            <a:pPr lvl="1"/>
            <a:endParaRPr lang="en-US" dirty="0"/>
          </a:p>
          <a:p>
            <a:pPr lvl="1"/>
            <a:r>
              <a:rPr lang="ru-RU" dirty="0"/>
              <a:t>Сдвиг в право </a:t>
            </a:r>
            <a:r>
              <a:rPr lang="en-US" dirty="0"/>
              <a:t>“</a:t>
            </a:r>
            <a:r>
              <a:rPr lang="ru-RU" dirty="0"/>
              <a:t> </a:t>
            </a:r>
            <a:r>
              <a:rPr lang="en-US" dirty="0"/>
              <a:t>&gt;&gt; ”</a:t>
            </a:r>
          </a:p>
          <a:p>
            <a:pPr lvl="1"/>
            <a:endParaRPr lang="en-US" dirty="0"/>
          </a:p>
          <a:p>
            <a:r>
              <a:rPr lang="ru-RU" sz="1600" dirty="0">
                <a:solidFill>
                  <a:srgbClr val="000000"/>
                </a:solidFill>
                <a:latin typeface="Consolas" panose="020B0609020204030204" pitchFamily="49" charset="0"/>
              </a:rPr>
              <a:t> </a:t>
            </a:r>
            <a:r>
              <a:rPr lang="ru-RU" sz="1600" dirty="0" err="1">
                <a:solidFill>
                  <a:srgbClr val="0000FF"/>
                </a:solidFill>
                <a:latin typeface="Consolas" panose="020B0609020204030204" pitchFamily="49" charset="0"/>
              </a:rPr>
              <a:t>unsigned</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 = 2 &lt;&lt; 2;     </a:t>
            </a:r>
            <a:r>
              <a:rPr lang="ru-RU" sz="1600" dirty="0">
                <a:solidFill>
                  <a:srgbClr val="008000"/>
                </a:solidFill>
                <a:latin typeface="Consolas" panose="020B0609020204030204" pitchFamily="49" charset="0"/>
              </a:rPr>
              <a:t>// 10  на два разрядов влево = 1000 - 8</a:t>
            </a:r>
            <a:endParaRPr lang="ru-RU" sz="1600" dirty="0">
              <a:solidFill>
                <a:srgbClr val="000000"/>
              </a:solidFill>
              <a:latin typeface="Consolas" panose="020B0609020204030204" pitchFamily="49" charset="0"/>
            </a:endParaRPr>
          </a:p>
          <a:p>
            <a:r>
              <a:rPr lang="ru-RU" sz="1600" dirty="0">
                <a:solidFill>
                  <a:srgbClr val="000000"/>
                </a:solidFill>
                <a:latin typeface="Consolas" panose="020B0609020204030204" pitchFamily="49" charset="0"/>
              </a:rPr>
              <a:t> </a:t>
            </a:r>
            <a:r>
              <a:rPr lang="ru-RU" sz="1600" dirty="0" err="1">
                <a:solidFill>
                  <a:srgbClr val="0000FF"/>
                </a:solidFill>
                <a:latin typeface="Consolas" panose="020B0609020204030204" pitchFamily="49" charset="0"/>
              </a:rPr>
              <a:t>unsigned</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b = 16 &gt;&gt; 3; </a:t>
            </a:r>
            <a:r>
              <a:rPr lang="en-US" sz="1600" dirty="0">
                <a:solidFill>
                  <a:srgbClr val="000000"/>
                </a:solidFill>
                <a:latin typeface="Consolas" panose="020B0609020204030204" pitchFamily="49" charset="0"/>
              </a:rPr>
              <a:t>   </a:t>
            </a:r>
            <a:r>
              <a:rPr lang="ru-RU" sz="1600" dirty="0">
                <a:solidFill>
                  <a:srgbClr val="008000"/>
                </a:solidFill>
                <a:latin typeface="Consolas" panose="020B0609020204030204" pitchFamily="49" charset="0"/>
              </a:rPr>
              <a:t>// 10000 на три разряда вправо = 10 - 2</a:t>
            </a:r>
            <a:endParaRPr lang="ru-RU" dirty="0"/>
          </a:p>
        </p:txBody>
      </p:sp>
    </p:spTree>
    <p:extLst>
      <p:ext uri="{BB962C8B-B14F-4D97-AF65-F5344CB8AC3E}">
        <p14:creationId xmlns:p14="http://schemas.microsoft.com/office/powerpoint/2010/main" val="334915097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4A5743-AF43-A627-B68D-E91F47B0D61F}"/>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A2977409-4041-5067-821F-A18329AF9777}"/>
              </a:ext>
            </a:extLst>
          </p:cNvPr>
          <p:cNvSpPr>
            <a:spLocks noGrp="1"/>
          </p:cNvSpPr>
          <p:nvPr>
            <p:ph idx="1"/>
          </p:nvPr>
        </p:nvSpPr>
        <p:spPr/>
        <p:txBody>
          <a:bodyPr/>
          <a:lstStyle/>
          <a:p>
            <a:r>
              <a:rPr lang="ru-RU" b="1" dirty="0"/>
              <a:t>Поразрядные операции</a:t>
            </a:r>
            <a:endParaRPr lang="en-US" b="1" dirty="0"/>
          </a:p>
          <a:p>
            <a:pPr lvl="1"/>
            <a:r>
              <a:rPr lang="ru-RU" dirty="0"/>
              <a:t>Поразрядные операции также проводятся только над соответствующими разрядами целочисленных операндов:</a:t>
            </a:r>
          </a:p>
          <a:p>
            <a:pPr lvl="1"/>
            <a:endParaRPr lang="ru-RU" dirty="0"/>
          </a:p>
          <a:p>
            <a:pPr lvl="1"/>
            <a:r>
              <a:rPr lang="ru-RU" dirty="0"/>
              <a:t>&amp;: поразрядная конъюнкция (операция И или поразрядное умножение). Возвращает 1, если оба из соответствующих разрядов обоих чисел равны 1</a:t>
            </a:r>
          </a:p>
          <a:p>
            <a:pPr lvl="1"/>
            <a:endParaRPr lang="ru-RU" dirty="0"/>
          </a:p>
          <a:p>
            <a:pPr lvl="1"/>
            <a:r>
              <a:rPr lang="ru-RU" dirty="0"/>
              <a:t>|: поразрядная дизъюнкция (операция ИЛИ </a:t>
            </a:r>
            <a:r>
              <a:rPr lang="ru-RU" dirty="0" err="1"/>
              <a:t>или</a:t>
            </a:r>
            <a:r>
              <a:rPr lang="ru-RU" dirty="0"/>
              <a:t> поразрядное сложение). Возвращает 1, если хотя бы один из соответствующих разрядов обоих чисел равен 1</a:t>
            </a:r>
          </a:p>
          <a:p>
            <a:pPr lvl="1"/>
            <a:endParaRPr lang="ru-RU" dirty="0"/>
          </a:p>
          <a:p>
            <a:pPr lvl="1"/>
            <a:r>
              <a:rPr lang="ru-RU" dirty="0"/>
              <a:t>^: поразрядное исключающее ИЛИ. Возвращает 1, если только один из соответствующих разрядов обоих чисел равен 1</a:t>
            </a:r>
          </a:p>
          <a:p>
            <a:pPr lvl="1"/>
            <a:endParaRPr lang="ru-RU" dirty="0"/>
          </a:p>
          <a:p>
            <a:pPr lvl="1"/>
            <a:r>
              <a:rPr lang="ru-RU" dirty="0"/>
              <a:t>~: поразрядное отрицание или инверсия. Инвертирует все разряды операнда. Если разряд равен 1, то он становится равен 0, а если он равен 0, то он получает значение 1.</a:t>
            </a:r>
          </a:p>
          <a:p>
            <a:endParaRPr lang="ru-RU" dirty="0"/>
          </a:p>
        </p:txBody>
      </p:sp>
    </p:spTree>
    <p:extLst>
      <p:ext uri="{BB962C8B-B14F-4D97-AF65-F5344CB8AC3E}">
        <p14:creationId xmlns:p14="http://schemas.microsoft.com/office/powerpoint/2010/main" val="11375777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DCA22F-055A-08AA-3B85-A2CFE0A4E669}"/>
              </a:ext>
            </a:extLst>
          </p:cNvPr>
          <p:cNvSpPr>
            <a:spLocks noGrp="1"/>
          </p:cNvSpPr>
          <p:nvPr>
            <p:ph type="title"/>
          </p:nvPr>
        </p:nvSpPr>
        <p:spPr/>
        <p:txBody>
          <a:bodyPr/>
          <a:lstStyle/>
          <a:p>
            <a:r>
              <a:rPr lang="ru-RU" b="1" dirty="0"/>
              <a:t>Поразрядные операции</a:t>
            </a:r>
            <a:endParaRPr lang="ru-RU" dirty="0"/>
          </a:p>
        </p:txBody>
      </p:sp>
      <p:sp>
        <p:nvSpPr>
          <p:cNvPr id="3" name="Объект 2">
            <a:extLst>
              <a:ext uri="{FF2B5EF4-FFF2-40B4-BE49-F238E27FC236}">
                <a16:creationId xmlns:a16="http://schemas.microsoft.com/office/drawing/2014/main" id="{8C89FBA6-1D66-0A46-EDCD-1BAAE7229978}"/>
              </a:ext>
            </a:extLst>
          </p:cNvPr>
          <p:cNvSpPr>
            <a:spLocks noGrp="1"/>
          </p:cNvSpPr>
          <p:nvPr>
            <p:ph idx="1"/>
          </p:nvPr>
        </p:nvSpPr>
        <p:spPr/>
        <p:txBody>
          <a:bodyPr/>
          <a:lstStyle/>
          <a:p>
            <a:endParaRPr lang="en-US" dirty="0"/>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 5 | 2;          </a:t>
            </a:r>
            <a:r>
              <a:rPr lang="de-CH" sz="2000" dirty="0">
                <a:solidFill>
                  <a:srgbClr val="008000"/>
                </a:solidFill>
                <a:latin typeface="Consolas" panose="020B0609020204030204" pitchFamily="49" charset="0"/>
              </a:rPr>
              <a:t>// 101 | 010 = 111  - 7</a:t>
            </a:r>
            <a:endParaRPr lang="de-CH"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 6 &amp; 2;          </a:t>
            </a:r>
            <a:r>
              <a:rPr lang="de-CH" sz="2000" dirty="0">
                <a:solidFill>
                  <a:srgbClr val="008000"/>
                </a:solidFill>
                <a:latin typeface="Consolas" panose="020B0609020204030204" pitchFamily="49" charset="0"/>
              </a:rPr>
              <a:t>// 110 &amp; 010 = 10  - 2</a:t>
            </a:r>
            <a:endParaRPr lang="de-CH"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c = 5 ^ 2;          </a:t>
            </a:r>
            <a:r>
              <a:rPr lang="de-CH" sz="2000" dirty="0">
                <a:solidFill>
                  <a:srgbClr val="008000"/>
                </a:solidFill>
                <a:latin typeface="Consolas" panose="020B0609020204030204" pitchFamily="49" charset="0"/>
              </a:rPr>
              <a:t>// 101 ^ 010 = 111 - 7</a:t>
            </a:r>
            <a:endParaRPr lang="de-CH"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d = ~9;             </a:t>
            </a:r>
            <a:r>
              <a:rPr lang="de-CH" sz="2000" dirty="0">
                <a:solidFill>
                  <a:srgbClr val="008000"/>
                </a:solidFill>
                <a:latin typeface="Consolas" panose="020B0609020204030204" pitchFamily="49" charset="0"/>
              </a:rPr>
              <a:t>// -10</a:t>
            </a:r>
            <a:endParaRPr lang="ru-RU" dirty="0"/>
          </a:p>
        </p:txBody>
      </p:sp>
    </p:spTree>
    <p:extLst>
      <p:ext uri="{BB962C8B-B14F-4D97-AF65-F5344CB8AC3E}">
        <p14:creationId xmlns:p14="http://schemas.microsoft.com/office/powerpoint/2010/main" val="21547196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ru-RU" altLang="ru-RU" b="1" dirty="0"/>
              <a:t>Выражения</a:t>
            </a:r>
            <a:endParaRPr lang="ru-RU" altLang="ru-RU" b="1" dirty="0">
              <a:latin typeface="Arial" charset="0"/>
            </a:endParaRPr>
          </a:p>
        </p:txBody>
      </p:sp>
      <p:sp>
        <p:nvSpPr>
          <p:cNvPr id="36867" name="Rectangle 1"/>
          <p:cNvSpPr>
            <a:spLocks noGrp="1" noChangeArrowheads="1"/>
          </p:cNvSpPr>
          <p:nvPr>
            <p:ph type="body" idx="1"/>
          </p:nvPr>
        </p:nvSpPr>
        <p:spPr>
          <a:xfrm>
            <a:off x="2446338" y="1052513"/>
            <a:ext cx="4465637" cy="369887"/>
          </a:xfrm>
          <a:noFill/>
        </p:spPr>
        <p:txBody>
          <a:bodyPr anchor="ctr">
            <a:spAutoFit/>
          </a:bodyPr>
          <a:lstStyle/>
          <a:p>
            <a:pPr marL="0" indent="0">
              <a:spcBef>
                <a:spcPct val="0"/>
              </a:spcBef>
              <a:buClrTx/>
              <a:buFontTx/>
              <a:buNone/>
            </a:pPr>
            <a:r>
              <a:rPr lang="ru-RU" altLang="ru-RU" sz="1800">
                <a:latin typeface="Arial" charset="0"/>
              </a:rPr>
              <a:t>Приоритеты операций в выражениях</a:t>
            </a:r>
          </a:p>
        </p:txBody>
      </p:sp>
      <p:graphicFrame>
        <p:nvGraphicFramePr>
          <p:cNvPr id="6" name="Таблица 5"/>
          <p:cNvGraphicFramePr>
            <a:graphicFrameLocks noGrp="1"/>
          </p:cNvGraphicFramePr>
          <p:nvPr/>
        </p:nvGraphicFramePr>
        <p:xfrm>
          <a:off x="830263" y="1428750"/>
          <a:ext cx="7697787" cy="4808539"/>
        </p:xfrm>
        <a:graphic>
          <a:graphicData uri="http://schemas.openxmlformats.org/drawingml/2006/table">
            <a:tbl>
              <a:tblPr/>
              <a:tblGrid>
                <a:gridCol w="712290">
                  <a:extLst>
                    <a:ext uri="{9D8B030D-6E8A-4147-A177-3AD203B41FA5}">
                      <a16:colId xmlns:a16="http://schemas.microsoft.com/office/drawing/2014/main" val="20000"/>
                    </a:ext>
                  </a:extLst>
                </a:gridCol>
                <a:gridCol w="6985497">
                  <a:extLst>
                    <a:ext uri="{9D8B030D-6E8A-4147-A177-3AD203B41FA5}">
                      <a16:colId xmlns:a16="http://schemas.microsoft.com/office/drawing/2014/main" val="20001"/>
                    </a:ext>
                  </a:extLst>
                </a:gridCol>
              </a:tblGrid>
              <a:tr h="229409">
                <a:tc>
                  <a:txBody>
                    <a:bodyPr/>
                    <a:lstStyle/>
                    <a:p>
                      <a:pPr algn="ctr"/>
                      <a:r>
                        <a:rPr lang="ru-RU" sz="1400" dirty="0"/>
                        <a:t>Ранг</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1400" dirty="0"/>
                        <a:t>Операции</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0584">
                <a:tc>
                  <a:txBody>
                    <a:bodyPr/>
                    <a:lstStyle/>
                    <a:p>
                      <a:pPr algn="ctr"/>
                      <a:r>
                        <a:rPr lang="ru-RU" sz="1400" dirty="0"/>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 ] -&gt;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7196">
                <a:tc>
                  <a:txBody>
                    <a:bodyPr/>
                    <a:lstStyle/>
                    <a:p>
                      <a:pPr algn="ctr"/>
                      <a:r>
                        <a:rPr lang="ru-RU" sz="1400" dirty="0"/>
                        <a:t>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  ++ — &amp; * (тип) </a:t>
                      </a:r>
                      <a:r>
                        <a:rPr lang="en-US" sz="1400" dirty="0" err="1"/>
                        <a:t>sizeof</a:t>
                      </a:r>
                      <a:r>
                        <a:rPr lang="en-US" sz="1400" dirty="0"/>
                        <a:t> </a:t>
                      </a:r>
                      <a:r>
                        <a:rPr lang="ru-RU" sz="1400" dirty="0"/>
                        <a:t>тип( )</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84934">
                <a:tc>
                  <a:txBody>
                    <a:bodyPr/>
                    <a:lstStyle/>
                    <a:p>
                      <a:pPr algn="ctr"/>
                      <a:r>
                        <a:rPr lang="ru-RU" sz="1400" dirty="0"/>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 (мультипликативные бинарные)</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9409">
                <a:tc>
                  <a:txBody>
                    <a:bodyPr/>
                    <a:lstStyle/>
                    <a:p>
                      <a:pPr algn="ctr"/>
                      <a:endParaRPr lang="ru-RU" sz="14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(аддитивные бинарные)</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06616">
                <a:tc>
                  <a:txBody>
                    <a:bodyPr/>
                    <a:lstStyle/>
                    <a:p>
                      <a:pPr algn="ctr"/>
                      <a:r>
                        <a:rPr lang="ru-RU" sz="1400" dirty="0"/>
                        <a:t>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&lt;&lt;  &gt;&gt;  (поразрядного сдвига)</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9409">
                <a:tc>
                  <a:txBody>
                    <a:bodyPr/>
                    <a:lstStyle/>
                    <a:p>
                      <a:pPr algn="ctr"/>
                      <a:r>
                        <a:rPr lang="ru-RU" sz="1400" dirty="0"/>
                        <a:t>6</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&lt;  &gt;  &lt;=  &gt;=  (отношения)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9409">
                <a:tc>
                  <a:txBody>
                    <a:bodyPr/>
                    <a:lstStyle/>
                    <a:p>
                      <a:pPr algn="ctr"/>
                      <a:r>
                        <a:rPr lang="ru-RU" sz="1400" dirty="0"/>
                        <a:t>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(отношения)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51444">
                <a:tc>
                  <a:txBody>
                    <a:bodyPr/>
                    <a:lstStyle/>
                    <a:p>
                      <a:pPr algn="ctr"/>
                      <a:r>
                        <a:rPr lang="ru-RU" sz="1400" dirty="0"/>
                        <a:t>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&amp;  (поразрядная конъюнкция «И»)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51444">
                <a:tc>
                  <a:txBody>
                    <a:bodyPr/>
                    <a:lstStyle/>
                    <a:p>
                      <a:pPr algn="ctr"/>
                      <a:r>
                        <a:rPr lang="ru-RU" sz="1400" dirty="0"/>
                        <a:t>9</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(поразрядное исключающее «ИЛИ»)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451444">
                <a:tc>
                  <a:txBody>
                    <a:bodyPr/>
                    <a:lstStyle/>
                    <a:p>
                      <a:pPr algn="ctr"/>
                      <a:r>
                        <a:rPr lang="ru-RU" sz="1400" dirty="0"/>
                        <a:t>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(поразрядная дизъюнкция «ИЛИ»)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9409">
                <a:tc>
                  <a:txBody>
                    <a:bodyPr/>
                    <a:lstStyle/>
                    <a:p>
                      <a:pPr algn="ctr"/>
                      <a:r>
                        <a:rPr lang="ru-RU" sz="1400" dirty="0"/>
                        <a:t>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&amp;&amp;   (конъюнкция «И»)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229409">
                <a:tc>
                  <a:txBody>
                    <a:bodyPr/>
                    <a:lstStyle/>
                    <a:p>
                      <a:pPr algn="ctr"/>
                      <a:r>
                        <a:rPr lang="ru-RU" sz="1400" dirty="0"/>
                        <a:t>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(дизъюнкция «ИЛИ»)</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409">
                <a:tc>
                  <a:txBody>
                    <a:bodyPr/>
                    <a:lstStyle/>
                    <a:p>
                      <a:pPr algn="ctr"/>
                      <a:r>
                        <a:rPr lang="ru-RU" sz="1400" dirty="0"/>
                        <a:t>13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(условная операция)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79605">
                <a:tc>
                  <a:txBody>
                    <a:bodyPr/>
                    <a:lstStyle/>
                    <a:p>
                      <a:pPr algn="ctr"/>
                      <a:r>
                        <a:rPr lang="ru-RU" sz="1400" dirty="0"/>
                        <a:t>14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  /=  %=  -=  &amp;=  ^=  |= &lt;&lt;=  &gt;&gt;=  (операция присваивания)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29409">
                <a:tc>
                  <a:txBody>
                    <a:bodyPr/>
                    <a:lstStyle/>
                    <a:p>
                      <a:pPr algn="ctr"/>
                      <a:r>
                        <a:rPr lang="ru-RU" sz="1400" dirty="0"/>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44000"/>
                      <a:r>
                        <a:rPr lang="ru-RU" sz="1400" dirty="0"/>
                        <a:t>,  (операция запятая)</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495DC7-E100-8131-667C-B37372A35877}"/>
              </a:ext>
            </a:extLst>
          </p:cNvPr>
          <p:cNvSpPr>
            <a:spLocks noGrp="1"/>
          </p:cNvSpPr>
          <p:nvPr>
            <p:ph type="title"/>
          </p:nvPr>
        </p:nvSpPr>
        <p:spPr/>
        <p:txBody>
          <a:bodyPr/>
          <a:lstStyle/>
          <a:p>
            <a:r>
              <a:rPr lang="ru-RU" sz="1600" dirty="0" err="1"/>
              <a:t>using</a:t>
            </a:r>
            <a:r>
              <a:rPr lang="ru-RU" sz="1600" dirty="0"/>
              <a:t>. Подключение пространств имен и определение псевдонимов</a:t>
            </a:r>
          </a:p>
        </p:txBody>
      </p:sp>
      <p:sp>
        <p:nvSpPr>
          <p:cNvPr id="3" name="Объект 2">
            <a:extLst>
              <a:ext uri="{FF2B5EF4-FFF2-40B4-BE49-F238E27FC236}">
                <a16:creationId xmlns:a16="http://schemas.microsoft.com/office/drawing/2014/main" id="{E4B196BD-5002-6446-488A-79429FD7684A}"/>
              </a:ext>
            </a:extLst>
          </p:cNvPr>
          <p:cNvSpPr>
            <a:spLocks noGrp="1"/>
          </p:cNvSpPr>
          <p:nvPr>
            <p:ph idx="1"/>
          </p:nvPr>
        </p:nvSpPr>
        <p:spPr/>
        <p:txBody>
          <a:bodyPr/>
          <a:lstStyle/>
          <a:p>
            <a:endParaRPr lang="en-US" dirty="0"/>
          </a:p>
          <a:p>
            <a:r>
              <a:rPr lang="en-US" dirty="0"/>
              <a:t>USING</a:t>
            </a:r>
          </a:p>
          <a:p>
            <a:endParaRPr lang="en-US" dirty="0"/>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using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cin</a:t>
            </a:r>
            <a:r>
              <a:rPr lang="de-CH"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using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using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age</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"Input </a:t>
            </a:r>
            <a:r>
              <a:rPr lang="de-CH" dirty="0" err="1">
                <a:solidFill>
                  <a:srgbClr val="A31515"/>
                </a:solidFill>
                <a:latin typeface="Consolas" panose="020B0609020204030204" pitchFamily="49" charset="0"/>
              </a:rPr>
              <a:t>age</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cin</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&gt;&gt;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age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"Your age: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age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204517250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92260D-424A-63B7-FC95-2F371AFDA54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DDECA962-008E-E7FF-E77B-D40815F18FAA}"/>
              </a:ext>
            </a:extLst>
          </p:cNvPr>
          <p:cNvSpPr>
            <a:spLocks noGrp="1"/>
          </p:cNvSpPr>
          <p:nvPr>
            <p:ph idx="1"/>
          </p:nvPr>
        </p:nvSpPr>
        <p:spPr/>
        <p:txBody>
          <a:bodyPr/>
          <a:lstStyle/>
          <a:p>
            <a:r>
              <a:rPr lang="ru-RU" b="1" dirty="0"/>
              <a:t>Определение псевдонимов</a:t>
            </a:r>
          </a:p>
          <a:p>
            <a:endParaRPr lang="en-US" dirty="0"/>
          </a:p>
          <a:p>
            <a:pPr lvl="1"/>
            <a:r>
              <a:rPr lang="en-US" dirty="0">
                <a:solidFill>
                  <a:srgbClr val="0000FF"/>
                </a:solidFill>
                <a:latin typeface="Consolas" panose="020B0609020204030204" pitchFamily="49" charset="0"/>
              </a:rPr>
              <a:t>using</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ullong</a:t>
            </a:r>
            <a:r>
              <a:rPr lang="en-US" dirty="0">
                <a:solidFill>
                  <a:srgbClr val="000000"/>
                </a:solidFill>
                <a:latin typeface="Consolas" panose="020B0609020204030204" pitchFamily="49" charset="0"/>
              </a:rPr>
              <a:t> =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long</a:t>
            </a:r>
            <a:r>
              <a:rPr lang="en-US"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ullong</a:t>
            </a:r>
            <a:r>
              <a:rPr lang="de-CH" dirty="0">
                <a:solidFill>
                  <a:srgbClr val="000000"/>
                </a:solidFill>
                <a:latin typeface="Consolas" panose="020B0609020204030204" pitchFamily="49" charset="0"/>
              </a:rPr>
              <a:t> n{ 10234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83614620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095D8D-C8E2-2E4C-EBD6-87604705818C}"/>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E6C840B-8AE0-DB1B-1399-734E30E2C1E4}"/>
              </a:ext>
            </a:extLst>
          </p:cNvPr>
          <p:cNvSpPr>
            <a:spLocks noGrp="1"/>
          </p:cNvSpPr>
          <p:nvPr>
            <p:ph idx="1"/>
          </p:nvPr>
        </p:nvSpPr>
        <p:spPr/>
        <p:txBody>
          <a:bodyPr/>
          <a:lstStyle/>
          <a:p>
            <a:r>
              <a:rPr lang="ru-RU" b="1" dirty="0"/>
              <a:t>Определение псевдонимов</a:t>
            </a:r>
            <a:endParaRPr lang="en-US" b="1" dirty="0"/>
          </a:p>
          <a:p>
            <a:endParaRPr lang="ru-RU" b="1" dirty="0"/>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typedef</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ullong</a:t>
            </a:r>
            <a:r>
              <a:rPr lang="en-US"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ullong</a:t>
            </a:r>
            <a:r>
              <a:rPr lang="de-CH" dirty="0">
                <a:solidFill>
                  <a:srgbClr val="000000"/>
                </a:solidFill>
                <a:latin typeface="Consolas" panose="020B0609020204030204" pitchFamily="49" charset="0"/>
              </a:rPr>
              <a:t> n{ 10234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1955693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1D8591-E5C0-5E40-80E9-D6C0F6F5E369}"/>
              </a:ext>
            </a:extLst>
          </p:cNvPr>
          <p:cNvSpPr>
            <a:spLocks noGrp="1"/>
          </p:cNvSpPr>
          <p:nvPr>
            <p:ph type="title"/>
          </p:nvPr>
        </p:nvSpPr>
        <p:spPr/>
        <p:txBody>
          <a:bodyPr/>
          <a:lstStyle/>
          <a:p>
            <a:r>
              <a:rPr lang="ru-RU" b="1" dirty="0"/>
              <a:t>Операции присваивания</a:t>
            </a:r>
            <a:endParaRPr lang="ru-RU" dirty="0"/>
          </a:p>
        </p:txBody>
      </p:sp>
      <p:sp>
        <p:nvSpPr>
          <p:cNvPr id="3" name="Объект 2">
            <a:extLst>
              <a:ext uri="{FF2B5EF4-FFF2-40B4-BE49-F238E27FC236}">
                <a16:creationId xmlns:a16="http://schemas.microsoft.com/office/drawing/2014/main" id="{7BA20251-E19C-2F1E-F6BF-D46C26ADAE0B}"/>
              </a:ext>
            </a:extLst>
          </p:cNvPr>
          <p:cNvSpPr>
            <a:spLocks noGrp="1"/>
          </p:cNvSpPr>
          <p:nvPr>
            <p:ph idx="1"/>
          </p:nvPr>
        </p:nvSpPr>
        <p:spPr/>
        <p:txBody>
          <a:bodyPr/>
          <a:lstStyle/>
          <a:p>
            <a:r>
              <a:rPr lang="ru-RU" dirty="0"/>
              <a:t>Базовая операция присваивания = позволяет присвоить значение правого операнда левому операнду:</a:t>
            </a:r>
            <a:endParaRPr lang="en-US" dirty="0"/>
          </a:p>
          <a:p>
            <a:endParaRPr lang="en-US" dirty="0"/>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x{};</a:t>
            </a:r>
          </a:p>
          <a:p>
            <a:pPr lvl="1"/>
            <a:r>
              <a:rPr lang="de-CH" dirty="0">
                <a:solidFill>
                  <a:srgbClr val="000000"/>
                </a:solidFill>
                <a:latin typeface="Consolas" panose="020B0609020204030204" pitchFamily="49" charset="0"/>
              </a:rPr>
              <a:t> x = 2;</a:t>
            </a:r>
          </a:p>
          <a:p>
            <a:endParaRPr lang="de-CH" dirty="0">
              <a:solidFill>
                <a:srgbClr val="000000"/>
              </a:solidFill>
              <a:latin typeface="Consolas" panose="020B0609020204030204" pitchFamily="49" charset="0"/>
            </a:endParaRPr>
          </a:p>
          <a:p>
            <a:r>
              <a:rPr lang="de-CH" dirty="0">
                <a:solidFill>
                  <a:srgbClr val="000000"/>
                </a:solidFill>
                <a:latin typeface="Consolas" panose="020B0609020204030204" pitchFamily="49" charset="0"/>
              </a:rPr>
              <a:t>  </a:t>
            </a:r>
            <a:r>
              <a:rPr lang="ru-RU" dirty="0">
                <a:solidFill>
                  <a:srgbClr val="FF0000"/>
                </a:solidFill>
                <a:latin typeface="Consolas" panose="020B0609020204030204" pitchFamily="49" charset="0"/>
              </a:rPr>
              <a:t>Присваивание выполняется с права на лево</a:t>
            </a:r>
            <a:endParaRPr lang="de-CH" dirty="0">
              <a:solidFill>
                <a:srgbClr val="FF0000"/>
              </a:solidFill>
              <a:latin typeface="Consolas" panose="020B0609020204030204" pitchFamily="49" charset="0"/>
            </a:endParaRPr>
          </a:p>
          <a:p>
            <a:endParaRPr lang="de-CH"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b{}, c{};</a:t>
            </a:r>
          </a:p>
          <a:p>
            <a:pPr lvl="1"/>
            <a:r>
              <a:rPr lang="de-CH" dirty="0">
                <a:solidFill>
                  <a:srgbClr val="000000"/>
                </a:solidFill>
                <a:latin typeface="Consolas" panose="020B0609020204030204" pitchFamily="49" charset="0"/>
              </a:rPr>
              <a:t>a = b = c = 34;</a:t>
            </a:r>
            <a:endParaRPr lang="ru-RU" dirty="0"/>
          </a:p>
        </p:txBody>
      </p:sp>
      <p:cxnSp>
        <p:nvCxnSpPr>
          <p:cNvPr id="5" name="Прямая со стрелкой 4">
            <a:extLst>
              <a:ext uri="{FF2B5EF4-FFF2-40B4-BE49-F238E27FC236}">
                <a16:creationId xmlns:a16="http://schemas.microsoft.com/office/drawing/2014/main" id="{475933FF-5AFA-A724-AFBD-36FBC0E1AD14}"/>
              </a:ext>
            </a:extLst>
          </p:cNvPr>
          <p:cNvCxnSpPr>
            <a:cxnSpLocks/>
          </p:cNvCxnSpPr>
          <p:nvPr/>
        </p:nvCxnSpPr>
        <p:spPr>
          <a:xfrm flipH="1">
            <a:off x="971600" y="4725144"/>
            <a:ext cx="158417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11783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47FAD6-F2B1-474D-E7C3-A6FB95D68DD3}"/>
              </a:ext>
            </a:extLst>
          </p:cNvPr>
          <p:cNvSpPr>
            <a:spLocks noGrp="1"/>
          </p:cNvSpPr>
          <p:nvPr>
            <p:ph type="title"/>
          </p:nvPr>
        </p:nvSpPr>
        <p:spPr/>
        <p:txBody>
          <a:bodyPr/>
          <a:lstStyle/>
          <a:p>
            <a:r>
              <a:rPr lang="ru-RU" b="1" dirty="0"/>
              <a:t>Операции присваивания</a:t>
            </a:r>
            <a:endParaRPr lang="ru-RU" dirty="0"/>
          </a:p>
        </p:txBody>
      </p:sp>
      <p:sp>
        <p:nvSpPr>
          <p:cNvPr id="3" name="Объект 2">
            <a:extLst>
              <a:ext uri="{FF2B5EF4-FFF2-40B4-BE49-F238E27FC236}">
                <a16:creationId xmlns:a16="http://schemas.microsoft.com/office/drawing/2014/main" id="{BF9D76BE-3736-D6F6-D3FA-8A9F1ED5B473}"/>
              </a:ext>
            </a:extLst>
          </p:cNvPr>
          <p:cNvSpPr>
            <a:spLocks noGrp="1"/>
          </p:cNvSpPr>
          <p:nvPr>
            <p:ph idx="1"/>
          </p:nvPr>
        </p:nvSpPr>
        <p:spPr/>
        <p:txBody>
          <a:bodyPr/>
          <a:lstStyle/>
          <a:p>
            <a:r>
              <a:rPr lang="ru-RU" dirty="0"/>
              <a:t>+=: присваивание после сложения. Присваивает левому операнду сумму левого и правого операндов: A += B эквивалентно A = A + B</a:t>
            </a:r>
          </a:p>
          <a:p>
            <a:endParaRPr lang="ru-RU" dirty="0"/>
          </a:p>
          <a:p>
            <a:r>
              <a:rPr lang="ru-RU" dirty="0"/>
              <a:t>-=: присваивание после вычитания. Присваивает левому операнду разность левого и правого операндов: A -= B эквивалентно A = A - B</a:t>
            </a:r>
          </a:p>
          <a:p>
            <a:endParaRPr lang="ru-RU" dirty="0"/>
          </a:p>
          <a:p>
            <a:r>
              <a:rPr lang="ru-RU" dirty="0"/>
              <a:t>*=: присваивание после умножения. Присваивает левому операнду произведение левого и правого операндов: A *= B эквивалентно A = A * B</a:t>
            </a:r>
          </a:p>
          <a:p>
            <a:endParaRPr lang="ru-RU" dirty="0"/>
          </a:p>
          <a:p>
            <a:r>
              <a:rPr lang="ru-RU" dirty="0"/>
              <a:t>/=: присваивание после деления. Присваивает левому операнду частное левого и правого операндов: A /= B эквивалентно A = A / B</a:t>
            </a:r>
          </a:p>
          <a:p>
            <a:endParaRPr lang="ru-RU" dirty="0"/>
          </a:p>
          <a:p>
            <a:endParaRPr lang="ru-RU" dirty="0"/>
          </a:p>
        </p:txBody>
      </p:sp>
    </p:spTree>
    <p:extLst>
      <p:ext uri="{BB962C8B-B14F-4D97-AF65-F5344CB8AC3E}">
        <p14:creationId xmlns:p14="http://schemas.microsoft.com/office/powerpoint/2010/main" val="42624064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D1362E-9CAF-2329-8DDC-AFFEF3F85B62}"/>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633AF66-72E9-1E05-7FEB-8E772EF1F8F9}"/>
              </a:ext>
            </a:extLst>
          </p:cNvPr>
          <p:cNvSpPr>
            <a:spLocks noGrp="1"/>
          </p:cNvSpPr>
          <p:nvPr>
            <p:ph idx="1"/>
          </p:nvPr>
        </p:nvSpPr>
        <p:spPr/>
        <p:txBody>
          <a:bodyPr/>
          <a:lstStyle/>
          <a:p>
            <a:r>
              <a:rPr lang="ru-RU" sz="1600" dirty="0"/>
              <a:t>%=: присваивание после деления по модулю. Присваивает левому операнду остаток от целочисленного деления левого операнда на правый: A %= B эквивалентно A = A % B</a:t>
            </a:r>
          </a:p>
          <a:p>
            <a:endParaRPr lang="ru-RU" sz="1600" dirty="0"/>
          </a:p>
          <a:p>
            <a:r>
              <a:rPr lang="ru-RU" sz="1600" dirty="0"/>
              <a:t>&lt;&lt;=: присваивание после сдвига разрядов влево. Присваивает левому операнду результат сдвига его битового представления влево на определенное количество разрядов, равное значению правого операнда: A &lt;&lt;= B эквивалентно A = A &lt;&lt; B</a:t>
            </a:r>
          </a:p>
          <a:p>
            <a:endParaRPr lang="ru-RU" sz="1600" dirty="0"/>
          </a:p>
          <a:p>
            <a:r>
              <a:rPr lang="ru-RU" sz="1600" dirty="0"/>
              <a:t>&gt;&gt;=: присваивание после сдвига разрядов вправо. Присваивает левому операнду результат сдвига его битового представления вправо на определенное количество разрядов, равное значению правого операнда: A &gt;&gt;= B эквивалентно A = A &gt;&gt; B</a:t>
            </a:r>
          </a:p>
          <a:p>
            <a:endParaRPr lang="ru-RU" sz="1600" dirty="0"/>
          </a:p>
          <a:p>
            <a:r>
              <a:rPr lang="ru-RU" sz="1600" dirty="0"/>
              <a:t>&amp;=: присваивание после поразрядной конъюнкции. Присваивает левому операнду результат поразрядной конъюнкции его битового представления с битовым представлением правого операнда: A &amp;= B эквивалентно A = A &amp; B</a:t>
            </a:r>
          </a:p>
          <a:p>
            <a:endParaRPr lang="ru-RU" sz="1600" dirty="0"/>
          </a:p>
        </p:txBody>
      </p:sp>
    </p:spTree>
    <p:extLst>
      <p:ext uri="{BB962C8B-B14F-4D97-AF65-F5344CB8AC3E}">
        <p14:creationId xmlns:p14="http://schemas.microsoft.com/office/powerpoint/2010/main" val="8178762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34BE59-F8CF-C19D-24B3-5892084FB26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4D7864A5-F262-FB1D-F98A-128319750D68}"/>
              </a:ext>
            </a:extLst>
          </p:cNvPr>
          <p:cNvSpPr>
            <a:spLocks noGrp="1"/>
          </p:cNvSpPr>
          <p:nvPr>
            <p:ph idx="1"/>
          </p:nvPr>
        </p:nvSpPr>
        <p:spPr/>
        <p:txBody>
          <a:bodyPr/>
          <a:lstStyle/>
          <a:p>
            <a:r>
              <a:rPr lang="ru-RU" dirty="0"/>
              <a:t>|=: присваивание после поразрядной дизъюнкции. Присваивает левому операнду результат поразрядной дизъюнкции его битового представления с битовым представлением правого операнда: A |= B эквивалентно A = A | B</a:t>
            </a:r>
          </a:p>
          <a:p>
            <a:endParaRPr lang="ru-RU" dirty="0"/>
          </a:p>
          <a:p>
            <a:r>
              <a:rPr lang="ru-RU" dirty="0"/>
              <a:t>^=: присваивание после операции исключающего ИЛИ. Присваивает левому операнду результат операции исключающего ИЛИ его битового представления с битовым представлением правого операнда: A ^= B эквивалентно A = A ^ B</a:t>
            </a:r>
          </a:p>
          <a:p>
            <a:endParaRPr lang="ru-RU" dirty="0"/>
          </a:p>
        </p:txBody>
      </p:sp>
    </p:spTree>
    <p:extLst>
      <p:ext uri="{BB962C8B-B14F-4D97-AF65-F5344CB8AC3E}">
        <p14:creationId xmlns:p14="http://schemas.microsoft.com/office/powerpoint/2010/main" val="36641680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E17B96-3153-018E-923F-535A4EE48BB3}"/>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D5E37586-1707-9BE9-B360-8F026498A40B}"/>
              </a:ext>
            </a:extLst>
          </p:cNvPr>
          <p:cNvSpPr>
            <a:spLocks noGrp="1"/>
          </p:cNvSpPr>
          <p:nvPr>
            <p:ph idx="1"/>
          </p:nvPr>
        </p:nvSpPr>
        <p:spPr/>
        <p:txBody>
          <a:bodyPr/>
          <a:lstStyle/>
          <a:p>
            <a:r>
              <a:rPr lang="ru-RU" dirty="0"/>
              <a:t>Условные выражения представляют собой некоторое условие и возвращают значение типа </a:t>
            </a:r>
            <a:r>
              <a:rPr lang="ru-RU" b="1" dirty="0" err="1"/>
              <a:t>bool</a:t>
            </a:r>
            <a:endParaRPr lang="ru-RU" b="1" dirty="0"/>
          </a:p>
          <a:p>
            <a:r>
              <a:rPr lang="ru-RU" b="1" dirty="0"/>
              <a:t>Операции сравнения « == »</a:t>
            </a:r>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4 };</a:t>
            </a: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 b };    </a:t>
            </a:r>
            <a:r>
              <a:rPr lang="en-US" dirty="0">
                <a:solidFill>
                  <a:srgbClr val="008000"/>
                </a:solidFill>
                <a:latin typeface="Consolas" panose="020B0609020204030204" pitchFamily="49" charset="0"/>
              </a:rPr>
              <a:t>// false</a:t>
            </a:r>
            <a:endParaRPr lang="en-US"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a == 10 };   </a:t>
            </a:r>
            <a:r>
              <a:rPr lang="en-US" dirty="0">
                <a:solidFill>
                  <a:srgbClr val="008000"/>
                </a:solidFill>
                <a:latin typeface="Consolas" panose="020B0609020204030204" pitchFamily="49" charset="0"/>
              </a:rPr>
              <a:t>// true</a:t>
            </a:r>
            <a:endParaRPr lang="ru-RU" dirty="0">
              <a:solidFill>
                <a:srgbClr val="008000"/>
              </a:solidFill>
              <a:latin typeface="Consolas" panose="020B0609020204030204" pitchFamily="49" charset="0"/>
            </a:endParaRPr>
          </a:p>
          <a:p>
            <a:pPr lvl="1"/>
            <a:endParaRPr lang="ru-RU" dirty="0">
              <a:solidFill>
                <a:srgbClr val="008000"/>
              </a:solidFill>
              <a:latin typeface="Consolas" panose="020B0609020204030204" pitchFamily="49" charset="0"/>
            </a:endParaRPr>
          </a:p>
          <a:p>
            <a:pPr indent="-9525"/>
            <a:r>
              <a:rPr lang="ru-RU" b="1" dirty="0"/>
              <a:t>Операция больше « </a:t>
            </a:r>
            <a:r>
              <a:rPr lang="en-US" b="1" dirty="0"/>
              <a:t>&gt; </a:t>
            </a:r>
            <a:r>
              <a:rPr lang="ru-RU" b="1" dirty="0"/>
              <a:t>»</a:t>
            </a:r>
            <a:r>
              <a:rPr lang="en-US" b="1" dirty="0"/>
              <a:t> </a:t>
            </a:r>
            <a:r>
              <a:rPr lang="ru-RU" b="1" dirty="0"/>
              <a:t>меньше « </a:t>
            </a:r>
            <a:r>
              <a:rPr lang="en-US" b="1" dirty="0"/>
              <a:t>&lt; </a:t>
            </a:r>
            <a:r>
              <a:rPr lang="ru-RU" b="1" dirty="0"/>
              <a:t>»</a:t>
            </a:r>
            <a:endParaRPr lang="en-US" b="1" dirty="0"/>
          </a:p>
          <a:p>
            <a:pPr indent="-9525"/>
            <a:endParaRPr lang="en-US" b="1"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4 };</a:t>
            </a: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&gt; b };  </a:t>
            </a:r>
            <a:r>
              <a:rPr lang="en-US" dirty="0">
                <a:solidFill>
                  <a:srgbClr val="008000"/>
                </a:solidFill>
                <a:latin typeface="Consolas" panose="020B0609020204030204" pitchFamily="49" charset="0"/>
              </a:rPr>
              <a:t>// true</a:t>
            </a:r>
          </a:p>
          <a:p>
            <a:pPr lvl="1"/>
            <a:endParaRPr lang="de-CH" sz="1600" dirty="0">
              <a:solidFill>
                <a:srgbClr val="0000FF"/>
              </a:solidFill>
              <a:latin typeface="Consolas" panose="020B0609020204030204" pitchFamily="49" charset="0"/>
            </a:endParaRPr>
          </a:p>
          <a:p>
            <a:pPr lvl="1"/>
            <a:r>
              <a:rPr lang="de-CH" sz="1600" dirty="0" err="1">
                <a:solidFill>
                  <a:srgbClr val="0000FF"/>
                </a:solidFill>
                <a:latin typeface="Consolas" panose="020B0609020204030204" pitchFamily="49" charset="0"/>
              </a:rPr>
              <a:t>bool</a:t>
            </a:r>
            <a:r>
              <a:rPr lang="de-CH" sz="1600" dirty="0">
                <a:solidFill>
                  <a:srgbClr val="000000"/>
                </a:solidFill>
                <a:latin typeface="Consolas" panose="020B0609020204030204" pitchFamily="49" charset="0"/>
              </a:rPr>
              <a:t> d{ 10 &lt; 4 }; </a:t>
            </a:r>
            <a:r>
              <a:rPr lang="de-CH" sz="1600" dirty="0">
                <a:solidFill>
                  <a:srgbClr val="008000"/>
                </a:solidFill>
                <a:latin typeface="Consolas" panose="020B0609020204030204" pitchFamily="49" charset="0"/>
              </a:rPr>
              <a:t>// </a:t>
            </a:r>
            <a:r>
              <a:rPr lang="de-CH" sz="1600" dirty="0" err="1">
                <a:solidFill>
                  <a:srgbClr val="008000"/>
                </a:solidFill>
                <a:latin typeface="Consolas" panose="020B0609020204030204" pitchFamily="49" charset="0"/>
              </a:rPr>
              <a:t>false</a:t>
            </a:r>
            <a:endParaRPr lang="ru-RU" b="1" dirty="0"/>
          </a:p>
        </p:txBody>
      </p:sp>
    </p:spTree>
    <p:extLst>
      <p:ext uri="{BB962C8B-B14F-4D97-AF65-F5344CB8AC3E}">
        <p14:creationId xmlns:p14="http://schemas.microsoft.com/office/powerpoint/2010/main" val="23722257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23A287-F6FF-EDFA-F1C9-B9EF0612E378}"/>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58E0B9FC-F254-8D22-6F01-1346F67A1959}"/>
              </a:ext>
            </a:extLst>
          </p:cNvPr>
          <p:cNvSpPr>
            <a:spLocks noGrp="1"/>
          </p:cNvSpPr>
          <p:nvPr>
            <p:ph idx="1"/>
          </p:nvPr>
        </p:nvSpPr>
        <p:spPr/>
        <p:txBody>
          <a:bodyPr/>
          <a:lstStyle/>
          <a:p>
            <a:r>
              <a:rPr lang="ru-RU" dirty="0"/>
              <a:t>Операция меньше или равно «</a:t>
            </a:r>
            <a:r>
              <a:rPr lang="en-US" dirty="0"/>
              <a:t>&lt;=</a:t>
            </a:r>
            <a:r>
              <a:rPr lang="ru-RU" dirty="0"/>
              <a:t> »</a:t>
            </a:r>
            <a:r>
              <a:rPr lang="en-US" dirty="0"/>
              <a:t>, </a:t>
            </a:r>
            <a:r>
              <a:rPr lang="ru-RU" dirty="0"/>
              <a:t>больше или равно «</a:t>
            </a:r>
            <a:r>
              <a:rPr lang="en-US" dirty="0"/>
              <a:t>&gt;=</a:t>
            </a:r>
            <a:r>
              <a:rPr lang="ru-RU" dirty="0"/>
              <a:t>»</a:t>
            </a:r>
            <a:r>
              <a:rPr lang="en-US" dirty="0"/>
              <a:t> </a:t>
            </a:r>
          </a:p>
          <a:p>
            <a:endParaRPr lang="en-US" dirty="0"/>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a = 10 &gt;= 14;	</a:t>
            </a:r>
            <a:r>
              <a:rPr lang="en-US" dirty="0">
                <a:solidFill>
                  <a:srgbClr val="008000"/>
                </a:solidFill>
                <a:latin typeface="Consolas" panose="020B0609020204030204" pitchFamily="49" charset="0"/>
              </a:rPr>
              <a:t>//true</a:t>
            </a:r>
            <a:endParaRPr lang="en-US"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b = 10 &gt;= 10;	</a:t>
            </a:r>
            <a:r>
              <a:rPr lang="en-US" dirty="0">
                <a:solidFill>
                  <a:srgbClr val="008000"/>
                </a:solidFill>
                <a:latin typeface="Consolas" panose="020B0609020204030204" pitchFamily="49" charset="0"/>
              </a:rPr>
              <a:t>//true</a:t>
            </a:r>
            <a:endParaRPr lang="en-US"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 10 &gt;= 4;	</a:t>
            </a:r>
            <a:r>
              <a:rPr lang="en-US" dirty="0">
                <a:solidFill>
                  <a:srgbClr val="008000"/>
                </a:solidFill>
                <a:latin typeface="Consolas" panose="020B0609020204030204" pitchFamily="49" charset="0"/>
              </a:rPr>
              <a:t>//false</a:t>
            </a:r>
          </a:p>
          <a:p>
            <a:pPr lvl="1"/>
            <a:endParaRPr lang="en-US" dirty="0">
              <a:solidFill>
                <a:srgbClr val="008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 10 &lt;= 14;	</a:t>
            </a:r>
            <a:r>
              <a:rPr lang="en-US" dirty="0">
                <a:solidFill>
                  <a:srgbClr val="008000"/>
                </a:solidFill>
                <a:latin typeface="Consolas" panose="020B0609020204030204" pitchFamily="49" charset="0"/>
              </a:rPr>
              <a:t>//true</a:t>
            </a:r>
            <a:endParaRPr lang="en-US"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e = 10 &lt;= 10;	</a:t>
            </a:r>
            <a:r>
              <a:rPr lang="de-CH" dirty="0">
                <a:solidFill>
                  <a:srgbClr val="008000"/>
                </a:solidFill>
                <a:latin typeface="Consolas" panose="020B0609020204030204" pitchFamily="49" charset="0"/>
              </a:rPr>
              <a:t>//</a:t>
            </a:r>
            <a:r>
              <a:rPr lang="de-CH" dirty="0" err="1">
                <a:solidFill>
                  <a:srgbClr val="008000"/>
                </a:solidFill>
                <a:latin typeface="Consolas" panose="020B0609020204030204" pitchFamily="49" charset="0"/>
              </a:rPr>
              <a:t>true</a:t>
            </a:r>
            <a:endParaRPr lang="de-CH"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f = 10 &lt;= 4;	</a:t>
            </a:r>
            <a:r>
              <a:rPr lang="de-CH" dirty="0">
                <a:solidFill>
                  <a:srgbClr val="008000"/>
                </a:solidFill>
                <a:latin typeface="Consolas" panose="020B0609020204030204" pitchFamily="49" charset="0"/>
              </a:rPr>
              <a:t>//</a:t>
            </a:r>
            <a:r>
              <a:rPr lang="de-CH" dirty="0" err="1">
                <a:solidFill>
                  <a:srgbClr val="008000"/>
                </a:solidFill>
                <a:latin typeface="Consolas" panose="020B0609020204030204" pitchFamily="49" charset="0"/>
              </a:rPr>
              <a:t>false</a:t>
            </a:r>
            <a:endParaRPr lang="ru-RU" dirty="0"/>
          </a:p>
        </p:txBody>
      </p:sp>
    </p:spTree>
    <p:extLst>
      <p:ext uri="{BB962C8B-B14F-4D97-AF65-F5344CB8AC3E}">
        <p14:creationId xmlns:p14="http://schemas.microsoft.com/office/powerpoint/2010/main" val="380701440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1E028C-8CEE-CC69-0DC9-6147924424E7}"/>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98662F5E-68FC-B79C-FD1E-6883E4276223}"/>
              </a:ext>
            </a:extLst>
          </p:cNvPr>
          <p:cNvSpPr>
            <a:spLocks noGrp="1"/>
          </p:cNvSpPr>
          <p:nvPr>
            <p:ph idx="1"/>
          </p:nvPr>
        </p:nvSpPr>
        <p:spPr/>
        <p:txBody>
          <a:bodyPr/>
          <a:lstStyle/>
          <a:p>
            <a:r>
              <a:rPr lang="ru-RU" dirty="0"/>
              <a:t>Операция не равно « != »</a:t>
            </a:r>
          </a:p>
          <a:p>
            <a:endParaRPr lang="ru-RU" dirty="0"/>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10 != 4 };   </a:t>
            </a:r>
            <a:r>
              <a:rPr lang="en-US" dirty="0">
                <a:solidFill>
                  <a:srgbClr val="008000"/>
                </a:solidFill>
                <a:latin typeface="Consolas" panose="020B0609020204030204" pitchFamily="49" charset="0"/>
              </a:rPr>
              <a:t>// true</a:t>
            </a:r>
            <a:endParaRPr lang="en-US"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 4 != 4;    </a:t>
            </a:r>
            <a:r>
              <a:rPr lang="en-US" dirty="0">
                <a:solidFill>
                  <a:srgbClr val="008000"/>
                </a:solidFill>
                <a:latin typeface="Consolas" panose="020B0609020204030204" pitchFamily="49" charset="0"/>
              </a:rPr>
              <a:t>// false</a:t>
            </a:r>
            <a:endParaRPr lang="ru-RU" dirty="0"/>
          </a:p>
        </p:txBody>
      </p:sp>
    </p:spTree>
    <p:extLst>
      <p:ext uri="{BB962C8B-B14F-4D97-AF65-F5344CB8AC3E}">
        <p14:creationId xmlns:p14="http://schemas.microsoft.com/office/powerpoint/2010/main" val="28203653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D59AD7-43D8-5126-D42A-E7B3D4B3F114}"/>
              </a:ext>
            </a:extLst>
          </p:cNvPr>
          <p:cNvSpPr>
            <a:spLocks noGrp="1"/>
          </p:cNvSpPr>
          <p:nvPr>
            <p:ph type="title"/>
          </p:nvPr>
        </p:nvSpPr>
        <p:spPr/>
        <p:txBody>
          <a:bodyPr/>
          <a:lstStyle/>
          <a:p>
            <a:r>
              <a:rPr lang="ru-RU" dirty="0"/>
              <a:t>Вывод в консоль </a:t>
            </a:r>
          </a:p>
        </p:txBody>
      </p:sp>
      <p:sp>
        <p:nvSpPr>
          <p:cNvPr id="3" name="Объект 2">
            <a:extLst>
              <a:ext uri="{FF2B5EF4-FFF2-40B4-BE49-F238E27FC236}">
                <a16:creationId xmlns:a16="http://schemas.microsoft.com/office/drawing/2014/main" id="{9673E756-FB61-0EBC-D1B0-9F70EBBE8B42}"/>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11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 b };    </a:t>
            </a:r>
            <a:r>
              <a:rPr lang="en-US" dirty="0">
                <a:solidFill>
                  <a:srgbClr val="008000"/>
                </a:solidFill>
                <a:latin typeface="Consolas" panose="020B0609020204030204" pitchFamily="49" charset="0"/>
              </a:rPr>
              <a:t>// false</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a != b };    </a:t>
            </a:r>
            <a:r>
              <a:rPr lang="en-US" dirty="0">
                <a:solidFill>
                  <a:srgbClr val="008000"/>
                </a:solidFill>
                <a:latin typeface="Consolas" panose="020B0609020204030204" pitchFamily="49" charset="0"/>
              </a:rPr>
              <a:t>// true</a:t>
            </a:r>
            <a:endParaRPr lang="en-US"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e = </a:t>
            </a:r>
            <a:r>
              <a:rPr lang="de-CH" dirty="0">
                <a:solidFill>
                  <a:srgbClr val="A31515"/>
                </a:solidFill>
                <a:latin typeface="Consolas" panose="020B0609020204030204" pitchFamily="49" charset="0"/>
              </a:rPr>
              <a:t>'w'</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"c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c = 0</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"d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d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d = 1</a:t>
            </a:r>
            <a:endParaRPr lang="en-US" dirty="0">
              <a:solidFill>
                <a:srgbClr val="000000"/>
              </a:solidFill>
              <a:latin typeface="Consolas" panose="020B0609020204030204" pitchFamily="49" charset="0"/>
            </a:endParaRPr>
          </a:p>
          <a:p>
            <a:pPr lvl="1"/>
            <a:r>
              <a:rPr lang="it-IT" dirty="0">
                <a:solidFill>
                  <a:srgbClr val="000000"/>
                </a:solidFill>
                <a:latin typeface="Consolas" panose="020B0609020204030204" pitchFamily="49" charset="0"/>
              </a:rPr>
              <a:t>    std::cout </a:t>
            </a:r>
            <a:r>
              <a:rPr lang="it-IT" dirty="0">
                <a:solidFill>
                  <a:srgbClr val="008080"/>
                </a:solidFill>
                <a:latin typeface="Consolas" panose="020B0609020204030204" pitchFamily="49" charset="0"/>
              </a:rPr>
              <a:t>&lt;&lt;</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"e = "</a:t>
            </a:r>
            <a:r>
              <a:rPr lang="it-IT" dirty="0">
                <a:solidFill>
                  <a:srgbClr val="000000"/>
                </a:solidFill>
                <a:latin typeface="Consolas" panose="020B0609020204030204" pitchFamily="49" charset="0"/>
              </a:rPr>
              <a:t> </a:t>
            </a:r>
            <a:r>
              <a:rPr lang="it-IT" dirty="0">
                <a:solidFill>
                  <a:srgbClr val="008080"/>
                </a:solidFill>
                <a:latin typeface="Consolas" panose="020B0609020204030204" pitchFamily="49" charset="0"/>
              </a:rPr>
              <a:t>&lt;&lt;</a:t>
            </a:r>
            <a:r>
              <a:rPr lang="it-IT" dirty="0">
                <a:solidFill>
                  <a:srgbClr val="000000"/>
                </a:solidFill>
                <a:latin typeface="Consolas" panose="020B0609020204030204" pitchFamily="49" charset="0"/>
              </a:rPr>
              <a:t> e </a:t>
            </a:r>
            <a:r>
              <a:rPr lang="it-IT" dirty="0">
                <a:solidFill>
                  <a:srgbClr val="008080"/>
                </a:solidFill>
                <a:latin typeface="Consolas" panose="020B0609020204030204" pitchFamily="49" charset="0"/>
              </a:rPr>
              <a:t>&lt;&lt;</a:t>
            </a:r>
            <a:r>
              <a:rPr lang="it-IT" dirty="0">
                <a:solidFill>
                  <a:srgbClr val="000000"/>
                </a:solidFill>
                <a:latin typeface="Consolas" panose="020B0609020204030204" pitchFamily="49" charset="0"/>
              </a:rPr>
              <a:t> std::endl;  </a:t>
            </a:r>
            <a:r>
              <a:rPr lang="it-IT" dirty="0">
                <a:solidFill>
                  <a:srgbClr val="008000"/>
                </a:solidFill>
                <a:latin typeface="Consolas" panose="020B0609020204030204" pitchFamily="49" charset="0"/>
              </a:rPr>
              <a:t>// d = 1</a:t>
            </a:r>
            <a:endParaRPr lang="it-IT"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"c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boolalpha</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c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c =0</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"d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boolalpha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d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d =1</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"e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boolalpha</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d =1</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23097938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C6B8E5-2AE9-700F-F5E6-778C8467B263}"/>
              </a:ext>
            </a:extLst>
          </p:cNvPr>
          <p:cNvSpPr>
            <a:spLocks noGrp="1"/>
          </p:cNvSpPr>
          <p:nvPr>
            <p:ph type="title"/>
          </p:nvPr>
        </p:nvSpPr>
        <p:spPr/>
        <p:txBody>
          <a:bodyPr/>
          <a:lstStyle/>
          <a:p>
            <a:r>
              <a:rPr lang="ru-RU" b="1" dirty="0"/>
              <a:t>Логические операции</a:t>
            </a:r>
            <a:endParaRPr lang="ru-RU" dirty="0"/>
          </a:p>
        </p:txBody>
      </p:sp>
      <p:sp>
        <p:nvSpPr>
          <p:cNvPr id="3" name="Объект 2">
            <a:extLst>
              <a:ext uri="{FF2B5EF4-FFF2-40B4-BE49-F238E27FC236}">
                <a16:creationId xmlns:a16="http://schemas.microsoft.com/office/drawing/2014/main" id="{898D4193-398F-625F-CDCD-BBF96B4695BA}"/>
              </a:ext>
            </a:extLst>
          </p:cNvPr>
          <p:cNvSpPr>
            <a:spLocks noGrp="1"/>
          </p:cNvSpPr>
          <p:nvPr>
            <p:ph idx="1"/>
          </p:nvPr>
        </p:nvSpPr>
        <p:spPr/>
        <p:txBody>
          <a:bodyPr/>
          <a:lstStyle/>
          <a:p>
            <a:r>
              <a:rPr lang="ru-RU" b="1" dirty="0"/>
              <a:t>!</a:t>
            </a:r>
            <a:r>
              <a:rPr lang="ru-RU" dirty="0"/>
              <a:t> (операция отрицания)</a:t>
            </a:r>
          </a:p>
          <a:p>
            <a:endParaRPr lang="ru-RU" dirty="0"/>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a{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 };</a:t>
            </a:r>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b{ !a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false</a:t>
            </a:r>
            <a:endParaRPr lang="de-CH"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c{ !b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true</a:t>
            </a:r>
            <a:endParaRPr lang="ru-RU" dirty="0">
              <a:solidFill>
                <a:srgbClr val="008000"/>
              </a:solidFill>
              <a:latin typeface="Consolas" panose="020B0609020204030204" pitchFamily="49" charset="0"/>
            </a:endParaRPr>
          </a:p>
          <a:p>
            <a:endParaRPr lang="ru-RU" dirty="0">
              <a:solidFill>
                <a:srgbClr val="008000"/>
              </a:solidFill>
              <a:latin typeface="Consolas" panose="020B0609020204030204" pitchFamily="49" charset="0"/>
            </a:endParaRPr>
          </a:p>
          <a:p>
            <a:r>
              <a:rPr lang="ru-RU" b="1" dirty="0"/>
              <a:t>&amp;&amp;</a:t>
            </a:r>
            <a:r>
              <a:rPr lang="ru-RU" dirty="0"/>
              <a:t> (конъюнкция, логическое умножение)</a:t>
            </a:r>
          </a:p>
          <a:p>
            <a:endParaRPr lang="ru-RU" dirty="0">
              <a:solidFill>
                <a:srgbClr val="008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a{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b{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&amp;&amp; b };    </a:t>
            </a:r>
            <a:r>
              <a:rPr lang="en-US" dirty="0">
                <a:solidFill>
                  <a:srgbClr val="008000"/>
                </a:solidFill>
                <a:latin typeface="Consolas" panose="020B0609020204030204" pitchFamily="49" charset="0"/>
              </a:rPr>
              <a:t>// false</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a &amp;&amp; </a:t>
            </a:r>
            <a:r>
              <a:rPr lang="en-US" dirty="0">
                <a:solidFill>
                  <a:srgbClr val="0000FF"/>
                </a:solidFill>
                <a:latin typeface="Consolas" panose="020B0609020204030204" pitchFamily="49" charset="0"/>
              </a:rPr>
              <a:t>true</a:t>
            </a:r>
            <a:r>
              <a:rPr lang="en-US" dirty="0">
                <a:solidFill>
                  <a:srgbClr val="000000"/>
                </a:solidFill>
                <a:latin typeface="Consolas" panose="020B0609020204030204" pitchFamily="49" charset="0"/>
              </a:rPr>
              <a:t> }; </a:t>
            </a:r>
            <a:r>
              <a:rPr lang="en-US" dirty="0">
                <a:solidFill>
                  <a:srgbClr val="008000"/>
                </a:solidFill>
                <a:latin typeface="Consolas" panose="020B0609020204030204" pitchFamily="49" charset="0"/>
              </a:rPr>
              <a:t>// true</a:t>
            </a:r>
            <a:endParaRPr lang="ru-RU" dirty="0">
              <a:solidFill>
                <a:srgbClr val="008000"/>
              </a:solidFill>
              <a:latin typeface="Consolas" panose="020B0609020204030204" pitchFamily="49" charset="0"/>
            </a:endParaRPr>
          </a:p>
        </p:txBody>
      </p:sp>
    </p:spTree>
    <p:extLst>
      <p:ext uri="{BB962C8B-B14F-4D97-AF65-F5344CB8AC3E}">
        <p14:creationId xmlns:p14="http://schemas.microsoft.com/office/powerpoint/2010/main" val="24789709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55C195-C8B0-FE56-4784-7B7DBFE7B673}"/>
              </a:ext>
            </a:extLst>
          </p:cNvPr>
          <p:cNvSpPr>
            <a:spLocks noGrp="1"/>
          </p:cNvSpPr>
          <p:nvPr>
            <p:ph type="title"/>
          </p:nvPr>
        </p:nvSpPr>
        <p:spPr/>
        <p:txBody>
          <a:bodyPr/>
          <a:lstStyle/>
          <a:p>
            <a:r>
              <a:rPr lang="ru-RU" b="1" dirty="0"/>
              <a:t>Логические операции</a:t>
            </a:r>
            <a:endParaRPr lang="ru-RU" dirty="0"/>
          </a:p>
        </p:txBody>
      </p:sp>
      <p:sp>
        <p:nvSpPr>
          <p:cNvPr id="3" name="Объект 2">
            <a:extLst>
              <a:ext uri="{FF2B5EF4-FFF2-40B4-BE49-F238E27FC236}">
                <a16:creationId xmlns:a16="http://schemas.microsoft.com/office/drawing/2014/main" id="{8CBFF8CD-F498-D342-A30E-F9D190528AC4}"/>
              </a:ext>
            </a:extLst>
          </p:cNvPr>
          <p:cNvSpPr>
            <a:spLocks noGrp="1"/>
          </p:cNvSpPr>
          <p:nvPr>
            <p:ph idx="1"/>
          </p:nvPr>
        </p:nvSpPr>
        <p:spPr/>
        <p:txBody>
          <a:bodyPr/>
          <a:lstStyle/>
          <a:p>
            <a:r>
              <a:rPr lang="ru-RU" b="1" dirty="0"/>
              <a:t>||</a:t>
            </a:r>
            <a:r>
              <a:rPr lang="ru-RU" dirty="0"/>
              <a:t> (дизъюнкция, логическое сложение)</a:t>
            </a:r>
          </a:p>
          <a:p>
            <a:endParaRPr lang="ru-RU" dirty="0"/>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a{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b{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 b };        </a:t>
            </a:r>
            <a:r>
              <a:rPr lang="en-US" dirty="0">
                <a:solidFill>
                  <a:srgbClr val="008000"/>
                </a:solidFill>
                <a:latin typeface="Consolas" panose="020B0609020204030204" pitchFamily="49" charset="0"/>
              </a:rPr>
              <a:t>// true</a:t>
            </a:r>
            <a:endParaRPr lang="en-US"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d{ b ||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false</a:t>
            </a:r>
            <a:endParaRPr lang="ru-RU" dirty="0">
              <a:solidFill>
                <a:srgbClr val="008000"/>
              </a:solidFill>
              <a:latin typeface="Consolas" panose="020B0609020204030204" pitchFamily="49" charset="0"/>
            </a:endParaRPr>
          </a:p>
          <a:p>
            <a:pPr lvl="1"/>
            <a:endParaRPr lang="ru-RU" dirty="0">
              <a:solidFill>
                <a:srgbClr val="008000"/>
              </a:solidFill>
              <a:latin typeface="Consolas" panose="020B0609020204030204" pitchFamily="49" charset="0"/>
            </a:endParaRPr>
          </a:p>
          <a:p>
            <a:r>
              <a:rPr lang="de-CH" dirty="0"/>
              <a:t>^ ( XOR </a:t>
            </a:r>
            <a:r>
              <a:rPr lang="ru-RU" dirty="0"/>
              <a:t>или </a:t>
            </a:r>
            <a:r>
              <a:rPr lang="de-CH" dirty="0" err="1"/>
              <a:t>eXclusive</a:t>
            </a:r>
            <a:r>
              <a:rPr lang="de-CH" dirty="0"/>
              <a:t> OR)</a:t>
            </a:r>
            <a:endParaRPr lang="ru-RU" dirty="0"/>
          </a:p>
          <a:p>
            <a:endParaRPr lang="ru-RU" dirty="0"/>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a{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b{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c{ a ^ b };          </a:t>
            </a:r>
            <a:r>
              <a:rPr lang="en-US" dirty="0">
                <a:solidFill>
                  <a:srgbClr val="008000"/>
                </a:solidFill>
                <a:latin typeface="Consolas" panose="020B0609020204030204" pitchFamily="49" charset="0"/>
              </a:rPr>
              <a:t>// true</a:t>
            </a:r>
            <a:endParaRPr lang="en-US"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d{ b ^ </a:t>
            </a:r>
            <a:r>
              <a:rPr lang="de-CH" dirty="0" err="1">
                <a:solidFill>
                  <a:srgbClr val="0000FF"/>
                </a:solidFill>
                <a:latin typeface="Consolas" panose="020B0609020204030204" pitchFamily="49" charset="0"/>
              </a:rPr>
              <a:t>false</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false</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d{ a ^ </a:t>
            </a:r>
            <a:r>
              <a:rPr lang="en-US" dirty="0">
                <a:solidFill>
                  <a:srgbClr val="0000FF"/>
                </a:solidFill>
                <a:latin typeface="Consolas" panose="020B0609020204030204" pitchFamily="49" charset="0"/>
              </a:rPr>
              <a:t>true</a:t>
            </a:r>
            <a:r>
              <a:rPr lang="en-US" dirty="0">
                <a:solidFill>
                  <a:srgbClr val="000000"/>
                </a:solidFill>
                <a:latin typeface="Consolas" panose="020B0609020204030204" pitchFamily="49" charset="0"/>
              </a:rPr>
              <a:t> };      </a:t>
            </a:r>
            <a:r>
              <a:rPr lang="en-US" dirty="0">
                <a:solidFill>
                  <a:srgbClr val="008000"/>
                </a:solidFill>
                <a:latin typeface="Consolas" panose="020B0609020204030204" pitchFamily="49" charset="0"/>
              </a:rPr>
              <a:t>// false</a:t>
            </a:r>
            <a:endParaRPr lang="ru-RU" dirty="0"/>
          </a:p>
        </p:txBody>
      </p:sp>
    </p:spTree>
    <p:extLst>
      <p:ext uri="{BB962C8B-B14F-4D97-AF65-F5344CB8AC3E}">
        <p14:creationId xmlns:p14="http://schemas.microsoft.com/office/powerpoint/2010/main" val="241349234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2AA6BE-138A-4FB7-4973-A42FABA64CA0}"/>
              </a:ext>
            </a:extLst>
          </p:cNvPr>
          <p:cNvSpPr>
            <a:spLocks noGrp="1"/>
          </p:cNvSpPr>
          <p:nvPr>
            <p:ph type="title"/>
          </p:nvPr>
        </p:nvSpPr>
        <p:spPr/>
        <p:txBody>
          <a:bodyPr/>
          <a:lstStyle/>
          <a:p>
            <a:r>
              <a:rPr lang="ru-RU" b="1" dirty="0"/>
              <a:t>Логические операции</a:t>
            </a:r>
            <a:endParaRPr lang="ru-RU" dirty="0"/>
          </a:p>
        </p:txBody>
      </p:sp>
      <p:sp>
        <p:nvSpPr>
          <p:cNvPr id="3" name="Объект 2">
            <a:extLst>
              <a:ext uri="{FF2B5EF4-FFF2-40B4-BE49-F238E27FC236}">
                <a16:creationId xmlns:a16="http://schemas.microsoft.com/office/drawing/2014/main" id="{230ECAEE-D208-C41F-C41A-23644253A2E5}"/>
              </a:ext>
            </a:extLst>
          </p:cNvPr>
          <p:cNvSpPr>
            <a:spLocks noGrp="1"/>
          </p:cNvSpPr>
          <p:nvPr>
            <p:ph idx="1"/>
          </p:nvPr>
        </p:nvSpPr>
        <p:spPr/>
        <p:txBody>
          <a:bodyPr/>
          <a:lstStyle/>
          <a:p>
            <a:pPr lvl="1"/>
            <a:r>
              <a:rPr lang="de-CH" dirty="0">
                <a:solidFill>
                  <a:srgbClr val="0000FF"/>
                </a:solidFill>
                <a:latin typeface="Consolas" panose="020B0609020204030204" pitchFamily="49" charset="0"/>
              </a:rPr>
              <a:t>	int</a:t>
            </a:r>
            <a:r>
              <a:rPr lang="de-CH" dirty="0">
                <a:solidFill>
                  <a:srgbClr val="000000"/>
                </a:solidFill>
                <a:latin typeface="Consolas" panose="020B0609020204030204" pitchFamily="49" charset="0"/>
              </a:rPr>
              <a:t> a{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8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bool</a:t>
            </a:r>
            <a:r>
              <a:rPr lang="de-CH" dirty="0">
                <a:solidFill>
                  <a:srgbClr val="000000"/>
                </a:solidFill>
                <a:latin typeface="Consolas" panose="020B0609020204030204" pitchFamily="49" charset="0"/>
              </a:rPr>
              <a:t> result1 = a == 5 &amp;&amp; b &gt; 8;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если и </a:t>
            </a:r>
            <a:r>
              <a:rPr lang="de-CH" dirty="0">
                <a:solidFill>
                  <a:srgbClr val="008000"/>
                </a:solidFill>
                <a:latin typeface="Consolas" panose="020B0609020204030204" pitchFamily="49" charset="0"/>
              </a:rPr>
              <a:t>a ==5, </a:t>
            </a:r>
            <a:r>
              <a:rPr lang="ru-RU" dirty="0">
                <a:solidFill>
                  <a:srgbClr val="008000"/>
                </a:solidFill>
                <a:latin typeface="Consolas" panose="020B0609020204030204" pitchFamily="49" charset="0"/>
              </a:rPr>
              <a:t>и </a:t>
            </a:r>
            <a:r>
              <a:rPr lang="de-CH" dirty="0">
                <a:solidFill>
                  <a:srgbClr val="008000"/>
                </a:solidFill>
                <a:latin typeface="Consolas" panose="020B0609020204030204" pitchFamily="49" charset="0"/>
              </a:rPr>
              <a:t>b &gt; 8</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bool</a:t>
            </a:r>
            <a:r>
              <a:rPr lang="ru-RU" dirty="0">
                <a:solidFill>
                  <a:srgbClr val="000000"/>
                </a:solidFill>
                <a:latin typeface="Consolas" panose="020B0609020204030204" pitchFamily="49" charset="0"/>
              </a:rPr>
              <a:t> result2 = a == 5 || b &gt; 8;  </a:t>
            </a:r>
            <a:r>
              <a:rPr lang="ru-RU" dirty="0">
                <a:solidFill>
                  <a:srgbClr val="008000"/>
                </a:solidFill>
                <a:latin typeface="Consolas" panose="020B0609020204030204" pitchFamily="49" charset="0"/>
              </a:rPr>
              <a:t>// если или a ==5, или b &gt; 8 (или оба варианты истины)</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bool</a:t>
            </a:r>
            <a:r>
              <a:rPr lang="ru-RU" dirty="0">
                <a:solidFill>
                  <a:srgbClr val="000000"/>
                </a:solidFill>
                <a:latin typeface="Consolas" panose="020B0609020204030204" pitchFamily="49" charset="0"/>
              </a:rPr>
              <a:t> result3 = a == 5 ^ b &gt; 8;  </a:t>
            </a:r>
            <a:r>
              <a:rPr lang="ru-RU" dirty="0">
                <a:solidFill>
                  <a:srgbClr val="008000"/>
                </a:solidFill>
                <a:latin typeface="Consolas" panose="020B0609020204030204" pitchFamily="49" charset="0"/>
              </a:rPr>
              <a:t>// если оба операнда возвращают разные значения</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==5 &amp;&amp; b &gt; 8)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boolalpha</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result1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 ==5 || b &gt; 8)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boolalpha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result2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==5 ^ b &gt; 8)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boolalpha</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result3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endParaRPr lang="en-US" dirty="0">
              <a:solidFill>
                <a:srgbClr val="000000"/>
              </a:solidFill>
              <a:latin typeface="Consolas" panose="020B0609020204030204" pitchFamily="49" charset="0"/>
            </a:endParaRPr>
          </a:p>
          <a:p>
            <a:pPr lvl="1"/>
            <a:r>
              <a:rPr lang="ru-RU" dirty="0">
                <a:solidFill>
                  <a:srgbClr val="FF0000"/>
                </a:solidFill>
              </a:rPr>
              <a:t>Операции сравнения имеют больший приоритет, чем логические операции.</a:t>
            </a:r>
          </a:p>
        </p:txBody>
      </p:sp>
    </p:spTree>
    <p:extLst>
      <p:ext uri="{BB962C8B-B14F-4D97-AF65-F5344CB8AC3E}">
        <p14:creationId xmlns:p14="http://schemas.microsoft.com/office/powerpoint/2010/main" val="162725033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F99769-C966-4D46-6920-0CA4F5C1309B}"/>
              </a:ext>
            </a:extLst>
          </p:cNvPr>
          <p:cNvSpPr>
            <a:spLocks noGrp="1"/>
          </p:cNvSpPr>
          <p:nvPr>
            <p:ph type="title"/>
          </p:nvPr>
        </p:nvSpPr>
        <p:spPr/>
        <p:txBody>
          <a:bodyPr/>
          <a:lstStyle/>
          <a:p>
            <a:r>
              <a:rPr lang="ru-RU" b="1" dirty="0"/>
              <a:t>Логические операции</a:t>
            </a:r>
            <a:endParaRPr lang="ru-RU" dirty="0"/>
          </a:p>
        </p:txBody>
      </p:sp>
      <p:sp>
        <p:nvSpPr>
          <p:cNvPr id="3" name="Объект 2">
            <a:extLst>
              <a:ext uri="{FF2B5EF4-FFF2-40B4-BE49-F238E27FC236}">
                <a16:creationId xmlns:a16="http://schemas.microsoft.com/office/drawing/2014/main" id="{CD9DD5CC-112F-D390-4FAE-E47B3310E949}"/>
              </a:ext>
            </a:extLst>
          </p:cNvPr>
          <p:cNvSpPr>
            <a:spLocks noGrp="1"/>
          </p:cNvSpPr>
          <p:nvPr>
            <p:ph idx="1"/>
          </p:nvPr>
        </p:nvSpPr>
        <p:spPr/>
        <p:txBody>
          <a:bodyPr/>
          <a:lstStyle/>
          <a:p>
            <a:r>
              <a:rPr lang="ru-RU" dirty="0"/>
              <a:t>Логические операторы &amp;&amp; и || представляют операторы сокращенного вычисления (</a:t>
            </a:r>
            <a:r>
              <a:rPr lang="ru-RU" b="1" dirty="0" err="1"/>
              <a:t>short-circuit</a:t>
            </a:r>
            <a:r>
              <a:rPr lang="ru-RU" b="1" dirty="0"/>
              <a:t> </a:t>
            </a:r>
            <a:r>
              <a:rPr lang="ru-RU" b="1" dirty="0" err="1"/>
              <a:t>evaluation</a:t>
            </a:r>
            <a:r>
              <a:rPr lang="ru-RU" dirty="0"/>
              <a:t>). Это значит, что если первый операнд операции достаточен для того, чтобы определить результат всей операции, то второй операнд не вычисляется</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5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8 };</a:t>
            </a:r>
          </a:p>
          <a:p>
            <a:pPr lvl="1"/>
            <a:r>
              <a:rPr lang="en-US" dirty="0">
                <a:solidFill>
                  <a:srgbClr val="0000FF"/>
                </a:solidFill>
                <a:latin typeface="Consolas" panose="020B0609020204030204" pitchFamily="49" charset="0"/>
              </a:rPr>
              <a:t>bool</a:t>
            </a:r>
            <a:r>
              <a:rPr lang="en-US" dirty="0">
                <a:solidFill>
                  <a:srgbClr val="000000"/>
                </a:solidFill>
                <a:latin typeface="Consolas" panose="020B0609020204030204" pitchFamily="49" charset="0"/>
              </a:rPr>
              <a:t> result1 = a == 6 &amp;&amp; b == 8;</a:t>
            </a:r>
            <a:endParaRPr lang="ru-RU" dirty="0"/>
          </a:p>
        </p:txBody>
      </p:sp>
    </p:spTree>
    <p:extLst>
      <p:ext uri="{BB962C8B-B14F-4D97-AF65-F5344CB8AC3E}">
        <p14:creationId xmlns:p14="http://schemas.microsoft.com/office/powerpoint/2010/main" val="202555278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69F01D-4454-732D-FDBA-254E7F2D2C69}"/>
              </a:ext>
            </a:extLst>
          </p:cNvPr>
          <p:cNvSpPr>
            <a:spLocks noGrp="1"/>
          </p:cNvSpPr>
          <p:nvPr>
            <p:ph type="title"/>
          </p:nvPr>
        </p:nvSpPr>
        <p:spPr/>
        <p:txBody>
          <a:bodyPr/>
          <a:lstStyle/>
          <a:p>
            <a:r>
              <a:rPr lang="ru-RU" dirty="0"/>
              <a:t>Перечисления</a:t>
            </a:r>
          </a:p>
        </p:txBody>
      </p:sp>
      <p:sp>
        <p:nvSpPr>
          <p:cNvPr id="3" name="Объект 2">
            <a:extLst>
              <a:ext uri="{FF2B5EF4-FFF2-40B4-BE49-F238E27FC236}">
                <a16:creationId xmlns:a16="http://schemas.microsoft.com/office/drawing/2014/main" id="{EC97A256-97A7-DA45-888F-B0112F9B7FC2}"/>
              </a:ext>
            </a:extLst>
          </p:cNvPr>
          <p:cNvSpPr>
            <a:spLocks noGrp="1"/>
          </p:cNvSpPr>
          <p:nvPr>
            <p:ph idx="1"/>
          </p:nvPr>
        </p:nvSpPr>
        <p:spPr/>
        <p:txBody>
          <a:bodyPr/>
          <a:lstStyle/>
          <a:p>
            <a:endParaRPr lang="en-US" dirty="0"/>
          </a:p>
          <a:p>
            <a:pPr lvl="1"/>
            <a:r>
              <a:rPr lang="en-US" dirty="0">
                <a:solidFill>
                  <a:srgbClr val="0000FF"/>
                </a:solidFill>
                <a:latin typeface="Consolas" panose="020B0609020204030204" pitchFamily="49" charset="0"/>
              </a:rPr>
              <a:t>	</a:t>
            </a:r>
            <a:r>
              <a:rPr lang="en-US" dirty="0" err="1">
                <a:solidFill>
                  <a:srgbClr val="0000FF"/>
                </a:solidFill>
                <a:latin typeface="Consolas" panose="020B0609020204030204" pitchFamily="49" charset="0"/>
              </a:rPr>
              <a:t>enum</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DayOfWeek</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Monday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Tuesday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Wednesday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Thursday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Friday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Saturday</a:t>
            </a:r>
            <a:r>
              <a:rPr lang="en-US" dirty="0">
                <a:solidFill>
                  <a:srgbClr val="000000"/>
                </a:solidFill>
                <a:latin typeface="Consolas" panose="020B0609020204030204" pitchFamily="49" charset="0"/>
              </a:rPr>
              <a:t>, </a:t>
            </a:r>
            <a:r>
              <a:rPr lang="en-US" dirty="0">
                <a:solidFill>
                  <a:srgbClr val="2F4F4F"/>
                </a:solidFill>
                <a:latin typeface="Consolas" panose="020B0609020204030204" pitchFamily="49" charset="0"/>
              </a:rPr>
              <a:t>Sunday</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DayOfWeek</a:t>
            </a:r>
            <a:r>
              <a:rPr lang="de-CH" dirty="0">
                <a:solidFill>
                  <a:srgbClr val="000000"/>
                </a:solidFill>
                <a:latin typeface="Consolas" panose="020B0609020204030204" pitchFamily="49" charset="0"/>
              </a:rPr>
              <a:t> day1 = </a:t>
            </a:r>
            <a:r>
              <a:rPr lang="de-CH" dirty="0" err="1">
                <a:solidFill>
                  <a:srgbClr val="2B91AF"/>
                </a:solidFill>
                <a:latin typeface="Consolas" panose="020B0609020204030204" pitchFamily="49" charset="0"/>
              </a:rPr>
              <a:t>DayOfWeek</a:t>
            </a:r>
            <a:r>
              <a:rPr lang="de-CH" dirty="0">
                <a:solidFill>
                  <a:srgbClr val="000000"/>
                </a:solidFill>
                <a:latin typeface="Consolas" panose="020B0609020204030204" pitchFamily="49" charset="0"/>
              </a:rPr>
              <a:t>::</a:t>
            </a:r>
            <a:r>
              <a:rPr lang="de-CH" dirty="0">
                <a:solidFill>
                  <a:srgbClr val="2F4F4F"/>
                </a:solidFill>
                <a:latin typeface="Consolas" panose="020B0609020204030204" pitchFamily="49" charset="0"/>
              </a:rPr>
              <a:t>Monday</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DayOfWeek</a:t>
            </a:r>
            <a:r>
              <a:rPr lang="de-CH" dirty="0">
                <a:solidFill>
                  <a:srgbClr val="000000"/>
                </a:solidFill>
                <a:latin typeface="Consolas" panose="020B0609020204030204" pitchFamily="49" charset="0"/>
              </a:rPr>
              <a:t> day2 = </a:t>
            </a:r>
            <a:r>
              <a:rPr lang="de-CH" dirty="0" err="1">
                <a:solidFill>
                  <a:srgbClr val="2F4F4F"/>
                </a:solidFill>
                <a:latin typeface="Consolas" panose="020B0609020204030204" pitchFamily="49" charset="0"/>
              </a:rPr>
              <a:t>Thursday</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(day1 == </a:t>
            </a:r>
            <a:r>
              <a:rPr lang="de-CH" dirty="0">
                <a:solidFill>
                  <a:srgbClr val="2F4F4F"/>
                </a:solidFill>
                <a:latin typeface="Consolas" panose="020B0609020204030204" pitchFamily="49" charset="0"/>
              </a:rPr>
              <a:t>Monday</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"Day is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day1;</a:t>
            </a:r>
            <a:endParaRPr lang="ru-RU" dirty="0"/>
          </a:p>
        </p:txBody>
      </p:sp>
    </p:spTree>
    <p:extLst>
      <p:ext uri="{BB962C8B-B14F-4D97-AF65-F5344CB8AC3E}">
        <p14:creationId xmlns:p14="http://schemas.microsoft.com/office/powerpoint/2010/main" val="89933460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09C086-FF6E-EE93-4C86-84B5822CFD12}"/>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9FBF8677-CA58-C43D-318C-FC98FD7CCA4A}"/>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lstStyle/>
          <a:p>
            <a:endParaRPr lang="ru-RU" dirty="0"/>
          </a:p>
        </p:txBody>
      </p:sp>
      <p:sp>
        <p:nvSpPr>
          <p:cNvPr id="4" name="Ромб 3">
            <a:extLst>
              <a:ext uri="{FF2B5EF4-FFF2-40B4-BE49-F238E27FC236}">
                <a16:creationId xmlns:a16="http://schemas.microsoft.com/office/drawing/2014/main" id="{7C10E6F4-65A5-D8A4-FB8F-E9B19126BB5E}"/>
              </a:ext>
            </a:extLst>
          </p:cNvPr>
          <p:cNvSpPr/>
          <p:nvPr/>
        </p:nvSpPr>
        <p:spPr>
          <a:xfrm>
            <a:off x="3041402" y="1651173"/>
            <a:ext cx="3061196" cy="936104"/>
          </a:xfrm>
          <a:prstGeom prst="diamond">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Условие</a:t>
            </a:r>
          </a:p>
        </p:txBody>
      </p:sp>
      <p:sp>
        <p:nvSpPr>
          <p:cNvPr id="6" name="Прямоугольник 5">
            <a:extLst>
              <a:ext uri="{FF2B5EF4-FFF2-40B4-BE49-F238E27FC236}">
                <a16:creationId xmlns:a16="http://schemas.microsoft.com/office/drawing/2014/main" id="{E1EC93EA-FA2F-29F3-BA9E-0082401407D8}"/>
              </a:ext>
            </a:extLst>
          </p:cNvPr>
          <p:cNvSpPr/>
          <p:nvPr/>
        </p:nvSpPr>
        <p:spPr>
          <a:xfrm>
            <a:off x="1331640" y="2819846"/>
            <a:ext cx="1872208" cy="609154"/>
          </a:xfrm>
          <a:prstGeom prst="rect">
            <a:avLst/>
          </a:prstGeom>
          <a:ln w="28575"/>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Действия_1</a:t>
            </a:r>
          </a:p>
        </p:txBody>
      </p:sp>
      <p:sp>
        <p:nvSpPr>
          <p:cNvPr id="7" name="Прямоугольник 6">
            <a:extLst>
              <a:ext uri="{FF2B5EF4-FFF2-40B4-BE49-F238E27FC236}">
                <a16:creationId xmlns:a16="http://schemas.microsoft.com/office/drawing/2014/main" id="{7F98F9E4-17AC-1AFB-BAD9-2A9FFEEEA949}"/>
              </a:ext>
            </a:extLst>
          </p:cNvPr>
          <p:cNvSpPr/>
          <p:nvPr/>
        </p:nvSpPr>
        <p:spPr>
          <a:xfrm>
            <a:off x="5868144" y="3772496"/>
            <a:ext cx="1872208" cy="609154"/>
          </a:xfrm>
          <a:prstGeom prst="rect">
            <a:avLst/>
          </a:prstGeom>
          <a:ln w="28575">
            <a:prstDash val="dash"/>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Действия_2</a:t>
            </a:r>
          </a:p>
        </p:txBody>
      </p:sp>
      <p:cxnSp>
        <p:nvCxnSpPr>
          <p:cNvPr id="9" name="Соединитель: уступ 8">
            <a:extLst>
              <a:ext uri="{FF2B5EF4-FFF2-40B4-BE49-F238E27FC236}">
                <a16:creationId xmlns:a16="http://schemas.microsoft.com/office/drawing/2014/main" id="{C3157622-933B-8A63-A251-F85098906C35}"/>
              </a:ext>
            </a:extLst>
          </p:cNvPr>
          <p:cNvCxnSpPr>
            <a:cxnSpLocks/>
            <a:stCxn id="4" idx="1"/>
            <a:endCxn id="6" idx="0"/>
          </p:cNvCxnSpPr>
          <p:nvPr/>
        </p:nvCxnSpPr>
        <p:spPr>
          <a:xfrm rot="10800000" flipV="1">
            <a:off x="2267744" y="2119224"/>
            <a:ext cx="773658" cy="700621"/>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Соединитель: уступ 12">
            <a:extLst>
              <a:ext uri="{FF2B5EF4-FFF2-40B4-BE49-F238E27FC236}">
                <a16:creationId xmlns:a16="http://schemas.microsoft.com/office/drawing/2014/main" id="{6EC526EE-76D6-21D7-F32D-883BBB72659B}"/>
              </a:ext>
            </a:extLst>
          </p:cNvPr>
          <p:cNvCxnSpPr>
            <a:cxnSpLocks/>
            <a:stCxn id="4" idx="3"/>
            <a:endCxn id="7" idx="0"/>
          </p:cNvCxnSpPr>
          <p:nvPr/>
        </p:nvCxnSpPr>
        <p:spPr>
          <a:xfrm>
            <a:off x="6102598" y="2119225"/>
            <a:ext cx="701650" cy="1653271"/>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Соединитель: уступ 16">
            <a:extLst>
              <a:ext uri="{FF2B5EF4-FFF2-40B4-BE49-F238E27FC236}">
                <a16:creationId xmlns:a16="http://schemas.microsoft.com/office/drawing/2014/main" id="{6D15544F-83B6-AAE1-7B19-15D8AFBBBF44}"/>
              </a:ext>
            </a:extLst>
          </p:cNvPr>
          <p:cNvCxnSpPr>
            <a:cxnSpLocks/>
            <a:stCxn id="6" idx="2"/>
          </p:cNvCxnSpPr>
          <p:nvPr/>
        </p:nvCxnSpPr>
        <p:spPr>
          <a:xfrm rot="16200000" flipH="1">
            <a:off x="2159732" y="3537012"/>
            <a:ext cx="2520280" cy="2304256"/>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746C616-6FA5-FBB0-1E74-8FFD5F6DEC6F}"/>
              </a:ext>
            </a:extLst>
          </p:cNvPr>
          <p:cNvSpPr txBox="1"/>
          <p:nvPr/>
        </p:nvSpPr>
        <p:spPr>
          <a:xfrm>
            <a:off x="2312977" y="1783596"/>
            <a:ext cx="619645" cy="369332"/>
          </a:xfrm>
          <a:prstGeom prst="rect">
            <a:avLst/>
          </a:prstGeom>
          <a:noFill/>
        </p:spPr>
        <p:txBody>
          <a:bodyPr wrap="square" rtlCol="0">
            <a:spAutoFit/>
          </a:bodyPr>
          <a:lstStyle/>
          <a:p>
            <a:r>
              <a:rPr lang="ru-RU" dirty="0"/>
              <a:t>Да</a:t>
            </a:r>
          </a:p>
        </p:txBody>
      </p:sp>
      <p:sp>
        <p:nvSpPr>
          <p:cNvPr id="25" name="TextBox 24">
            <a:extLst>
              <a:ext uri="{FF2B5EF4-FFF2-40B4-BE49-F238E27FC236}">
                <a16:creationId xmlns:a16="http://schemas.microsoft.com/office/drawing/2014/main" id="{84E90259-2CCD-305F-3C3E-4CE125471953}"/>
              </a:ext>
            </a:extLst>
          </p:cNvPr>
          <p:cNvSpPr txBox="1"/>
          <p:nvPr/>
        </p:nvSpPr>
        <p:spPr>
          <a:xfrm>
            <a:off x="6187413" y="1749575"/>
            <a:ext cx="619645" cy="369332"/>
          </a:xfrm>
          <a:prstGeom prst="rect">
            <a:avLst/>
          </a:prstGeom>
          <a:noFill/>
        </p:spPr>
        <p:txBody>
          <a:bodyPr wrap="square" rtlCol="0">
            <a:spAutoFit/>
          </a:bodyPr>
          <a:lstStyle/>
          <a:p>
            <a:r>
              <a:rPr lang="ru-RU" dirty="0"/>
              <a:t>Нет</a:t>
            </a:r>
          </a:p>
        </p:txBody>
      </p:sp>
      <p:cxnSp>
        <p:nvCxnSpPr>
          <p:cNvPr id="27" name="Прямая со стрелкой 26">
            <a:extLst>
              <a:ext uri="{FF2B5EF4-FFF2-40B4-BE49-F238E27FC236}">
                <a16:creationId xmlns:a16="http://schemas.microsoft.com/office/drawing/2014/main" id="{C980EB74-3E2B-A390-0FAF-086FC949E0B7}"/>
              </a:ext>
            </a:extLst>
          </p:cNvPr>
          <p:cNvCxnSpPr>
            <a:stCxn id="3" idx="0"/>
            <a:endCxn id="4" idx="0"/>
          </p:cNvCxnSpPr>
          <p:nvPr/>
        </p:nvCxnSpPr>
        <p:spPr>
          <a:xfrm>
            <a:off x="4572000" y="1262063"/>
            <a:ext cx="0" cy="38911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Соединитель: уступ 28">
            <a:extLst>
              <a:ext uri="{FF2B5EF4-FFF2-40B4-BE49-F238E27FC236}">
                <a16:creationId xmlns:a16="http://schemas.microsoft.com/office/drawing/2014/main" id="{D2C901CF-F74F-5A2C-3938-00E6C32B7611}"/>
              </a:ext>
            </a:extLst>
          </p:cNvPr>
          <p:cNvCxnSpPr>
            <a:stCxn id="7" idx="2"/>
          </p:cNvCxnSpPr>
          <p:nvPr/>
        </p:nvCxnSpPr>
        <p:spPr>
          <a:xfrm rot="5400000">
            <a:off x="5534379" y="3419271"/>
            <a:ext cx="307490" cy="2232248"/>
          </a:xfrm>
          <a:prstGeom prst="bentConnector2">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83218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6FD3C7-8031-1646-6143-BA11075A7AD5}"/>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9B7E756C-AAE4-1331-A1EC-F166829C7087}"/>
              </a:ext>
            </a:extLst>
          </p:cNvPr>
          <p:cNvSpPr>
            <a:spLocks noGrp="1"/>
          </p:cNvSpPr>
          <p:nvPr>
            <p:ph idx="1"/>
          </p:nvPr>
        </p:nvSpPr>
        <p:spPr/>
        <p:txBody>
          <a:bodyPr/>
          <a:lstStyle/>
          <a:p>
            <a:pPr marL="1614488"/>
            <a:endParaRPr lang="ru-RU" b="1" dirty="0"/>
          </a:p>
          <a:p>
            <a:pPr marL="1614488"/>
            <a:r>
              <a:rPr lang="ru-RU" b="1" dirty="0" err="1"/>
              <a:t>if</a:t>
            </a:r>
            <a:r>
              <a:rPr lang="ru-RU" dirty="0"/>
              <a:t>(</a:t>
            </a:r>
            <a:r>
              <a:rPr lang="ru-RU" dirty="0" err="1"/>
              <a:t>выражение_условия</a:t>
            </a:r>
            <a:r>
              <a:rPr lang="ru-RU" dirty="0"/>
              <a:t>)</a:t>
            </a:r>
          </a:p>
          <a:p>
            <a:pPr marL="1614488"/>
            <a:r>
              <a:rPr lang="ru-RU" dirty="0"/>
              <a:t>{</a:t>
            </a:r>
          </a:p>
          <a:p>
            <a:pPr marL="1614488"/>
            <a:r>
              <a:rPr lang="ru-RU" dirty="0"/>
              <a:t>    инструкция_1</a:t>
            </a:r>
          </a:p>
          <a:p>
            <a:pPr marL="1614488"/>
            <a:r>
              <a:rPr lang="ru-RU" dirty="0"/>
              <a:t>}</a:t>
            </a:r>
          </a:p>
          <a:p>
            <a:pPr marL="1614488"/>
            <a:r>
              <a:rPr lang="ru-RU" b="1" dirty="0" err="1"/>
              <a:t>else</a:t>
            </a:r>
            <a:endParaRPr lang="ru-RU" dirty="0"/>
          </a:p>
          <a:p>
            <a:pPr marL="1614488"/>
            <a:r>
              <a:rPr lang="ru-RU" dirty="0"/>
              <a:t>{</a:t>
            </a:r>
          </a:p>
          <a:p>
            <a:pPr marL="1614488"/>
            <a:r>
              <a:rPr lang="ru-RU" dirty="0"/>
              <a:t>    инструкция_2</a:t>
            </a:r>
          </a:p>
          <a:p>
            <a:pPr marL="1614488"/>
            <a:r>
              <a:rPr lang="ru-RU" dirty="0"/>
              <a:t>}</a:t>
            </a:r>
          </a:p>
          <a:p>
            <a:endParaRPr lang="ru-RU" dirty="0"/>
          </a:p>
        </p:txBody>
      </p:sp>
    </p:spTree>
    <p:extLst>
      <p:ext uri="{BB962C8B-B14F-4D97-AF65-F5344CB8AC3E}">
        <p14:creationId xmlns:p14="http://schemas.microsoft.com/office/powerpoint/2010/main" val="43650836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9F0C18-8ED4-26AD-9607-A6F7CAB2BC2E}"/>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289D59EE-127E-07D5-BBDC-5F105646C1D0}"/>
              </a:ext>
            </a:extLst>
          </p:cNvPr>
          <p:cNvSpPr>
            <a:spLocks noGrp="1"/>
          </p:cNvSpPr>
          <p:nvPr>
            <p:ph idx="1"/>
          </p:nvPr>
        </p:nvSpPr>
        <p:spPr/>
        <p:txBody>
          <a:bodyPr/>
          <a:lstStyle/>
          <a:p>
            <a:pPr lvl="1"/>
            <a:r>
              <a:rPr lang="de-CH" dirty="0">
                <a:solidFill>
                  <a:srgbClr val="000000"/>
                </a:solidFill>
                <a:latin typeface="Consolas" panose="020B0609020204030204" pitchFamily="49" charset="0"/>
              </a:rPr>
              <a:t> </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21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(n &gt; 22)</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&gt;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&lt;=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endParaRPr lang="ru-RU" dirty="0"/>
          </a:p>
        </p:txBody>
      </p:sp>
    </p:spTree>
    <p:extLst>
      <p:ext uri="{BB962C8B-B14F-4D97-AF65-F5344CB8AC3E}">
        <p14:creationId xmlns:p14="http://schemas.microsoft.com/office/powerpoint/2010/main" val="319401780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A0E4C1-E5B1-CC62-EE90-7DEB162A4358}"/>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DBC30E43-286B-5A40-190A-F2EEE4A27606}"/>
              </a:ext>
            </a:extLst>
          </p:cNvPr>
          <p:cNvSpPr>
            <a:spLocks noGrp="1"/>
          </p:cNvSpPr>
          <p:nvPr>
            <p:ph idx="1"/>
          </p:nvPr>
        </p:nvSpPr>
        <p:spPr/>
        <p:txBody>
          <a:bodyPr/>
          <a:lstStyle/>
          <a:p>
            <a:pPr lvl="1"/>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21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(n &gt; 22)</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&gt;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(n &lt; 22)</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&lt;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 == 22"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endParaRPr lang="ru-RU" dirty="0"/>
          </a:p>
        </p:txBody>
      </p:sp>
    </p:spTree>
    <p:extLst>
      <p:ext uri="{BB962C8B-B14F-4D97-AF65-F5344CB8AC3E}">
        <p14:creationId xmlns:p14="http://schemas.microsoft.com/office/powerpoint/2010/main" val="299027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1AD5B0-E0F3-2703-6C20-C36A16ADE7D5}"/>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4A28C8E6-3F78-6484-D89F-BEB77344A4D4}"/>
              </a:ext>
            </a:extLst>
          </p:cNvPr>
          <p:cNvSpPr>
            <a:spLocks noGrp="1"/>
          </p:cNvSpPr>
          <p:nvPr>
            <p:ph idx="1"/>
          </p:nvPr>
        </p:nvSpPr>
        <p:spPr/>
        <p:txBody>
          <a:bodyPr/>
          <a:lstStyle/>
          <a:p>
            <a:r>
              <a:rPr lang="ru-RU" b="1" dirty="0"/>
              <a:t>Целочисленные условия</a:t>
            </a:r>
          </a:p>
          <a:p>
            <a:pPr lvl="1"/>
            <a:r>
              <a:rPr lang="de-CH"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8 };</a:t>
            </a:r>
          </a:p>
          <a:p>
            <a:pPr lvl="1"/>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 = </a:t>
            </a:r>
            <a:r>
              <a:rPr lang="de-CH" dirty="0" err="1">
                <a:solidFill>
                  <a:srgbClr val="008000"/>
                </a:solidFill>
                <a:latin typeface="Consolas" panose="020B0609020204030204" pitchFamily="49" charset="0"/>
              </a:rPr>
              <a:t>true</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true"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 = </a:t>
            </a:r>
            <a:r>
              <a:rPr lang="de-CH" dirty="0" err="1">
                <a:solidFill>
                  <a:srgbClr val="A31515"/>
                </a:solidFill>
                <a:latin typeface="Consolas" panose="020B0609020204030204" pitchFamily="49" charset="0"/>
              </a:rPr>
              <a:t>false</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a:t>
            </a:r>
          </a:p>
          <a:p>
            <a:pPr lvl="1"/>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b = </a:t>
            </a:r>
            <a:r>
              <a:rPr lang="de-CH" dirty="0" err="1">
                <a:solidFill>
                  <a:srgbClr val="008000"/>
                </a:solidFill>
                <a:latin typeface="Consolas" panose="020B0609020204030204" pitchFamily="49" charset="0"/>
              </a:rPr>
              <a:t>false</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(b)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 true"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a-DK" dirty="0">
                <a:solidFill>
                  <a:srgbClr val="000000"/>
                </a:solidFill>
                <a:latin typeface="Consolas" panose="020B0609020204030204" pitchFamily="49" charset="0"/>
              </a:rPr>
              <a:t>    </a:t>
            </a:r>
            <a:r>
              <a:rPr lang="da-DK" dirty="0">
                <a:solidFill>
                  <a:srgbClr val="0000FF"/>
                </a:solidFill>
                <a:latin typeface="Consolas" panose="020B0609020204030204" pitchFamily="49" charset="0"/>
              </a:rPr>
              <a:t>else</a:t>
            </a:r>
            <a:r>
              <a:rPr lang="da-DK" dirty="0">
                <a:solidFill>
                  <a:srgbClr val="000000"/>
                </a:solidFill>
                <a:latin typeface="Consolas" panose="020B0609020204030204" pitchFamily="49" charset="0"/>
              </a:rPr>
              <a:t>  std::cout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a:t>
            </a:r>
            <a:r>
              <a:rPr lang="da-DK" dirty="0">
                <a:solidFill>
                  <a:srgbClr val="A31515"/>
                </a:solidFill>
                <a:latin typeface="Consolas" panose="020B0609020204030204" pitchFamily="49" charset="0"/>
              </a:rPr>
              <a:t>"b = false"</a:t>
            </a:r>
            <a:r>
              <a:rPr lang="da-DK" dirty="0">
                <a:solidFill>
                  <a:srgbClr val="000000"/>
                </a:solidFill>
                <a:latin typeface="Consolas" panose="020B0609020204030204" pitchFamily="49" charset="0"/>
              </a:rPr>
              <a:t>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std::endl;</a:t>
            </a:r>
            <a:endParaRPr lang="ru-RU" dirty="0"/>
          </a:p>
        </p:txBody>
      </p:sp>
    </p:spTree>
    <p:extLst>
      <p:ext uri="{BB962C8B-B14F-4D97-AF65-F5344CB8AC3E}">
        <p14:creationId xmlns:p14="http://schemas.microsoft.com/office/powerpoint/2010/main" val="35947697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62DB54-7A8C-5F58-C72A-F378FB76D193}"/>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0A8C9F3C-E0FC-F141-C005-ED54C6A45DFE}"/>
              </a:ext>
            </a:extLst>
          </p:cNvPr>
          <p:cNvSpPr>
            <a:spLocks noGrp="1"/>
          </p:cNvSpPr>
          <p:nvPr>
            <p:ph idx="1"/>
          </p:nvPr>
        </p:nvSpPr>
        <p:spPr/>
        <p:txBody>
          <a:bodyPr/>
          <a:lstStyle/>
          <a:p>
            <a:r>
              <a:rPr lang="ru-RU" b="1" dirty="0"/>
              <a:t>Вложенные конструкции</a:t>
            </a:r>
          </a:p>
          <a:p>
            <a:pPr lvl="1"/>
            <a:r>
              <a:rPr lang="de-CH"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i</a:t>
            </a:r>
            <a:r>
              <a:rPr lang="de-CH" sz="1400" dirty="0" err="1">
                <a:solidFill>
                  <a:srgbClr val="0000FF"/>
                </a:solidFill>
                <a:latin typeface="Consolas" panose="020B0609020204030204" pitchFamily="49" charset="0"/>
              </a:rPr>
              <a:t>nt</a:t>
            </a:r>
            <a:r>
              <a:rPr lang="de-CH" sz="1400" dirty="0">
                <a:solidFill>
                  <a:srgbClr val="000000"/>
                </a:solidFill>
                <a:latin typeface="Consolas" panose="020B0609020204030204" pitchFamily="49" charset="0"/>
              </a:rPr>
              <a:t> a{ 5 };</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b{ 8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(a == 5)</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(b == 8)</a:t>
            </a: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"b == 8"</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else</a:t>
            </a:r>
            <a:endParaRPr lang="de-CH"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"b != 8"</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"a == 5"</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else</a:t>
            </a:r>
            <a:endParaRPr lang="de-CH"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"a != 5 "</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endParaRPr lang="ru-RU" sz="1400" dirty="0"/>
          </a:p>
        </p:txBody>
      </p:sp>
    </p:spTree>
    <p:extLst>
      <p:ext uri="{BB962C8B-B14F-4D97-AF65-F5344CB8AC3E}">
        <p14:creationId xmlns:p14="http://schemas.microsoft.com/office/powerpoint/2010/main" val="322351887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34BBCE-61F7-1329-71B8-41415E525655}"/>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43816461-FD47-221B-96BE-617DEEDE6767}"/>
              </a:ext>
            </a:extLst>
          </p:cNvPr>
          <p:cNvSpPr>
            <a:spLocks noGrp="1"/>
          </p:cNvSpPr>
          <p:nvPr>
            <p:ph idx="1"/>
          </p:nvPr>
        </p:nvSpPr>
        <p:spPr/>
        <p:txBody>
          <a:bodyPr/>
          <a:lstStyle/>
          <a:p>
            <a:r>
              <a:rPr lang="ru-RU" b="1" dirty="0"/>
              <a:t>Блок </a:t>
            </a:r>
            <a:r>
              <a:rPr lang="ru-RU" b="1" dirty="0" err="1"/>
              <a:t>if</a:t>
            </a:r>
            <a:r>
              <a:rPr lang="ru-RU" b="1" dirty="0"/>
              <a:t> с инициализацией переменной</a:t>
            </a:r>
          </a:p>
          <a:p>
            <a:pPr lvl="1"/>
            <a:r>
              <a:rPr lang="ru-RU" dirty="0"/>
              <a:t>Иногда в конструкции </a:t>
            </a:r>
            <a:r>
              <a:rPr lang="ru-RU" dirty="0" err="1"/>
              <a:t>if</a:t>
            </a:r>
            <a:r>
              <a:rPr lang="ru-RU" dirty="0"/>
              <a:t> для различных промежуточных вычислений необходимо определить переменную. Мы можем это сделать непосредственно в блоке кода. Однако начиная со стандарта C++17 язык С++ поддерживает особую форму конструкции </a:t>
            </a:r>
            <a:r>
              <a:rPr lang="ru-RU" dirty="0" err="1"/>
              <a:t>if</a:t>
            </a:r>
            <a:r>
              <a:rPr lang="ru-RU" dirty="0"/>
              <a:t>:</a:t>
            </a:r>
            <a:endParaRPr lang="en-US" dirty="0"/>
          </a:p>
          <a:p>
            <a:pPr lvl="1"/>
            <a:endParaRPr lang="en-US" dirty="0"/>
          </a:p>
          <a:p>
            <a:pPr lvl="1"/>
            <a:r>
              <a:rPr lang="de-CH" b="1" dirty="0" err="1"/>
              <a:t>if</a:t>
            </a:r>
            <a:r>
              <a:rPr lang="de-CH" dirty="0"/>
              <a:t>(</a:t>
            </a:r>
            <a:r>
              <a:rPr lang="ru-RU" dirty="0"/>
              <a:t>инициализация; условие) </a:t>
            </a:r>
          </a:p>
          <a:p>
            <a:pPr lvl="1"/>
            <a:r>
              <a:rPr lang="ru-RU" dirty="0"/>
              <a:t>{</a:t>
            </a:r>
          </a:p>
          <a:p>
            <a:pPr lvl="1"/>
            <a:r>
              <a:rPr lang="ru-RU" dirty="0"/>
              <a:t>    // инструкции</a:t>
            </a:r>
          </a:p>
          <a:p>
            <a:pPr lvl="1"/>
            <a:r>
              <a:rPr lang="ru-RU" dirty="0"/>
              <a:t>}</a:t>
            </a:r>
          </a:p>
          <a:p>
            <a:pPr lvl="1"/>
            <a:endParaRPr lang="ru-RU" dirty="0"/>
          </a:p>
        </p:txBody>
      </p:sp>
    </p:spTree>
    <p:extLst>
      <p:ext uri="{BB962C8B-B14F-4D97-AF65-F5344CB8AC3E}">
        <p14:creationId xmlns:p14="http://schemas.microsoft.com/office/powerpoint/2010/main" val="21719947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8FA5F8-76DA-7DA1-B88F-0785B6C36D3C}"/>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AC9FEF3D-8EAF-2F64-5DF6-4CDAFB2BA952}"/>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3 };</a:t>
            </a:r>
          </a:p>
          <a:p>
            <a:pPr lvl="1"/>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c{ a - b }; a &gt; b)</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c="</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c="</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41517945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D43AF5-E004-C6B5-F9B6-AE5408899DC1}"/>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B7EC0FB1-1846-B892-31E6-2BE925311525}"/>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3 };</a:t>
            </a:r>
          </a:p>
          <a:p>
            <a:pPr lvl="1"/>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rem{ a % b }; rem == 0)</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divisible by b"</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"remaining of a / b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rem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49883284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83608E-D574-4DD4-7849-5428D83A2913}"/>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1A642D64-20E5-108E-32C3-AA0F8D0F8D04}"/>
              </a:ext>
            </a:extLst>
          </p:cNvPr>
          <p:cNvSpPr>
            <a:spLocks noGrp="1"/>
          </p:cNvSpPr>
          <p:nvPr>
            <p:ph idx="1"/>
          </p:nvPr>
        </p:nvSpPr>
        <p:spPr/>
        <p:txBody>
          <a:bodyPr/>
          <a:lstStyle/>
          <a:p>
            <a:r>
              <a:rPr lang="ru-RU" b="1" dirty="0"/>
              <a:t>Тернарный оператор</a:t>
            </a:r>
          </a:p>
          <a:p>
            <a:r>
              <a:rPr lang="en-US" dirty="0"/>
              <a:t>	</a:t>
            </a:r>
            <a:r>
              <a:rPr lang="ru-RU" dirty="0"/>
              <a:t>операнд1? операнд2 : операнд3</a:t>
            </a:r>
            <a:endParaRPr lang="en-US" dirty="0"/>
          </a:p>
          <a:p>
            <a:pPr marL="914400" lvl="2" indent="0">
              <a:buNone/>
            </a:pP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marL="914400" lvl="2" indent="0">
              <a:buNone/>
            </a:pPr>
            <a:r>
              <a:rPr lang="ru-RU" sz="1400" dirty="0">
                <a:solidFill>
                  <a:srgbClr val="000000"/>
                </a:solidFill>
                <a:latin typeface="Consolas" panose="020B0609020204030204" pitchFamily="49" charset="0"/>
              </a:rPr>
              <a:t>{</a:t>
            </a:r>
          </a:p>
          <a:p>
            <a:pPr marL="914400" lvl="2" indent="0">
              <a:buNone/>
            </a:pP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 5 };</a:t>
            </a:r>
          </a:p>
          <a:p>
            <a:pPr marL="914400" lvl="2" indent="0">
              <a:buNone/>
            </a:pP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b{ 8 };</a:t>
            </a:r>
          </a:p>
          <a:p>
            <a:pPr marL="914400" lvl="2" indent="0">
              <a:buNone/>
            </a:pP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c{};</a:t>
            </a:r>
          </a:p>
          <a:p>
            <a:pPr marL="914400" lvl="2" indent="0">
              <a:buNone/>
            </a:pP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(a &gt; b)</a:t>
            </a:r>
          </a:p>
          <a:p>
            <a:pPr marL="914400" lvl="2" indent="0">
              <a:buNone/>
            </a:pPr>
            <a:r>
              <a:rPr lang="ru-RU" sz="1400" dirty="0">
                <a:solidFill>
                  <a:srgbClr val="000000"/>
                </a:solidFill>
                <a:latin typeface="Consolas" panose="020B0609020204030204" pitchFamily="49" charset="0"/>
              </a:rPr>
              <a:t>    {</a:t>
            </a:r>
          </a:p>
          <a:p>
            <a:pPr marL="914400" lvl="2" indent="0">
              <a:buNone/>
            </a:pPr>
            <a:r>
              <a:rPr lang="de-CH" sz="1400" dirty="0">
                <a:solidFill>
                  <a:srgbClr val="000000"/>
                </a:solidFill>
                <a:latin typeface="Consolas" panose="020B0609020204030204" pitchFamily="49" charset="0"/>
              </a:rPr>
              <a:t>        c = a - b;</a:t>
            </a:r>
          </a:p>
          <a:p>
            <a:pPr marL="914400" lvl="2" indent="0">
              <a:buNone/>
            </a:pPr>
            <a:r>
              <a:rPr lang="ru-RU" sz="1400" dirty="0">
                <a:solidFill>
                  <a:srgbClr val="000000"/>
                </a:solidFill>
                <a:latin typeface="Consolas" panose="020B0609020204030204" pitchFamily="49" charset="0"/>
              </a:rPr>
              <a:t>    }</a:t>
            </a:r>
          </a:p>
          <a:p>
            <a:pPr marL="914400" lvl="2" indent="0">
              <a:buNone/>
            </a:pP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else</a:t>
            </a:r>
            <a:endParaRPr lang="de-CH" sz="1400" dirty="0">
              <a:solidFill>
                <a:srgbClr val="000000"/>
              </a:solidFill>
              <a:latin typeface="Consolas" panose="020B0609020204030204" pitchFamily="49" charset="0"/>
            </a:endParaRPr>
          </a:p>
          <a:p>
            <a:pPr marL="914400" lvl="2" indent="0">
              <a:buNone/>
            </a:pPr>
            <a:r>
              <a:rPr lang="ru-RU" sz="1400" dirty="0">
                <a:solidFill>
                  <a:srgbClr val="000000"/>
                </a:solidFill>
                <a:latin typeface="Consolas" panose="020B0609020204030204" pitchFamily="49" charset="0"/>
              </a:rPr>
              <a:t>    {</a:t>
            </a:r>
          </a:p>
          <a:p>
            <a:pPr marL="914400" lvl="2" indent="0">
              <a:buNone/>
            </a:pPr>
            <a:r>
              <a:rPr lang="de-CH" sz="1400" dirty="0">
                <a:solidFill>
                  <a:srgbClr val="000000"/>
                </a:solidFill>
                <a:latin typeface="Consolas" panose="020B0609020204030204" pitchFamily="49" charset="0"/>
              </a:rPr>
              <a:t>        c = a + b;</a:t>
            </a:r>
          </a:p>
          <a:p>
            <a:pPr marL="914400" lvl="2" indent="0">
              <a:buNone/>
            </a:pPr>
            <a:r>
              <a:rPr lang="ru-RU" sz="1400" dirty="0">
                <a:solidFill>
                  <a:srgbClr val="000000"/>
                </a:solidFill>
                <a:latin typeface="Consolas" panose="020B0609020204030204" pitchFamily="49" charset="0"/>
              </a:rPr>
              <a:t>    }</a:t>
            </a:r>
          </a:p>
          <a:p>
            <a:pPr marL="914400" lvl="2" indent="0">
              <a:buNone/>
            </a:pP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"c = "</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c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c = 13</a:t>
            </a:r>
            <a:endParaRPr lang="en-US" sz="1400" dirty="0">
              <a:solidFill>
                <a:srgbClr val="000000"/>
              </a:solidFill>
              <a:latin typeface="Consolas" panose="020B0609020204030204" pitchFamily="49" charset="0"/>
            </a:endParaRPr>
          </a:p>
          <a:p>
            <a:pPr marL="914400" lvl="2" indent="0">
              <a:buNone/>
            </a:pPr>
            <a:endParaRPr lang="ru-RU" sz="1400" dirty="0">
              <a:solidFill>
                <a:srgbClr val="000000"/>
              </a:solidFill>
              <a:latin typeface="Consolas" panose="020B0609020204030204" pitchFamily="49" charset="0"/>
            </a:endParaRPr>
          </a:p>
          <a:p>
            <a:pPr marL="914400" lvl="2" indent="0">
              <a:buNone/>
            </a:pP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c = a &gt; b ? a - b : a + b;</a:t>
            </a:r>
          </a:p>
          <a:p>
            <a:pPr marL="914400" lvl="2" indent="0">
              <a:buNone/>
            </a:pPr>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82698883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D8A4E6-FCC7-49F3-DEBB-700F9B897F27}"/>
              </a:ext>
            </a:extLst>
          </p:cNvPr>
          <p:cNvSpPr>
            <a:spLocks noGrp="1"/>
          </p:cNvSpPr>
          <p:nvPr>
            <p:ph type="title"/>
          </p:nvPr>
        </p:nvSpPr>
        <p:spPr/>
        <p:txBody>
          <a:bodyPr/>
          <a:lstStyle/>
          <a:p>
            <a:r>
              <a:rPr lang="ru-RU" b="1" dirty="0"/>
              <a:t>Условные выражения</a:t>
            </a:r>
            <a:endParaRPr lang="ru-RU" dirty="0"/>
          </a:p>
        </p:txBody>
      </p:sp>
      <p:sp>
        <p:nvSpPr>
          <p:cNvPr id="3" name="Объект 2">
            <a:extLst>
              <a:ext uri="{FF2B5EF4-FFF2-40B4-BE49-F238E27FC236}">
                <a16:creationId xmlns:a16="http://schemas.microsoft.com/office/drawing/2014/main" id="{B3C298FB-C58D-F0B9-BE57-DFB4CB3DBC36}"/>
              </a:ext>
            </a:extLst>
          </p:cNvPr>
          <p:cNvSpPr>
            <a:spLocks noGrp="1"/>
          </p:cNvSpPr>
          <p:nvPr>
            <p:ph idx="1"/>
          </p:nvPr>
        </p:nvSpPr>
        <p:spPr/>
        <p:txBody>
          <a:bodyPr/>
          <a:lstStyle/>
          <a:p>
            <a:endParaRPr lang="ru-RU" sz="2000" dirty="0">
              <a:solidFill>
                <a:srgbClr val="000000"/>
              </a:solidFill>
              <a:latin typeface="Consolas" panose="020B0609020204030204" pitchFamily="49" charset="0"/>
            </a:endParaRPr>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main</a:t>
            </a:r>
            <a:r>
              <a:rPr lang="de-CH" sz="2000" dirty="0">
                <a:solidFill>
                  <a:srgbClr val="000000"/>
                </a:solidFill>
                <a:latin typeface="Consolas" panose="020B0609020204030204" pitchFamily="49" charset="0"/>
              </a:rPr>
              <a:t>()</a:t>
            </a:r>
          </a:p>
          <a:p>
            <a:r>
              <a:rPr lang="ru-RU" sz="2000" dirty="0">
                <a:solidFill>
                  <a:srgbClr val="000000"/>
                </a:solidFill>
                <a:latin typeface="Consolas" panose="020B0609020204030204" pitchFamily="49" charset="0"/>
              </a:rPr>
              <a:t>{</a:t>
            </a: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 5 };</a:t>
            </a: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b{ 8 };</a:t>
            </a:r>
          </a:p>
          <a:p>
            <a:r>
              <a:rPr lang="en-US" sz="2000" dirty="0">
                <a:solidFill>
                  <a:srgbClr val="000000"/>
                </a:solidFill>
                <a:latin typeface="Consolas" panose="020B0609020204030204" pitchFamily="49" charset="0"/>
              </a:rPr>
              <a:t>    a &gt; b ?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 - b :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 + b;</a:t>
            </a:r>
          </a:p>
          <a:p>
            <a:r>
              <a:rPr lang="ru-RU" sz="20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8045473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7AC1C4-01CC-90FE-CBA3-241D40A75CDF}"/>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AD928B2F-AD15-A011-B6C1-9D8A5990097F}"/>
              </a:ext>
            </a:extLst>
          </p:cNvPr>
          <p:cNvSpPr>
            <a:spLocks noGrp="1"/>
          </p:cNvSpPr>
          <p:nvPr>
            <p:ph idx="1"/>
          </p:nvPr>
        </p:nvSpPr>
        <p:spPr/>
        <p:txBody>
          <a:bodyPr/>
          <a:lstStyle/>
          <a:p>
            <a:r>
              <a:rPr lang="ru-RU" dirty="0"/>
              <a:t>Конструкция </a:t>
            </a:r>
            <a:r>
              <a:rPr lang="ru-RU" b="1" dirty="0" err="1"/>
              <a:t>switch-case</a:t>
            </a:r>
            <a:r>
              <a:rPr lang="ru-RU" dirty="0"/>
              <a:t> позволяет сравнить некоторое выражение с набором значений. Она имеет следующую форму:</a:t>
            </a:r>
            <a:endParaRPr lang="en-US" dirty="0"/>
          </a:p>
          <a:p>
            <a:endParaRPr lang="en-US" dirty="0"/>
          </a:p>
          <a:p>
            <a:pPr lvl="1"/>
            <a:r>
              <a:rPr lang="ru-RU" b="1" dirty="0" err="1"/>
              <a:t>switch</a:t>
            </a:r>
            <a:r>
              <a:rPr lang="ru-RU" dirty="0"/>
              <a:t>(выражение)</a:t>
            </a:r>
          </a:p>
          <a:p>
            <a:pPr lvl="1"/>
            <a:r>
              <a:rPr lang="ru-RU" dirty="0"/>
              <a:t>{</a:t>
            </a:r>
          </a:p>
          <a:p>
            <a:pPr lvl="1"/>
            <a:r>
              <a:rPr lang="ru-RU" dirty="0"/>
              <a:t>    </a:t>
            </a:r>
            <a:r>
              <a:rPr lang="ru-RU" b="1" dirty="0" err="1"/>
              <a:t>case</a:t>
            </a:r>
            <a:r>
              <a:rPr lang="ru-RU" dirty="0"/>
              <a:t> значение_1: инструкции_1;</a:t>
            </a:r>
          </a:p>
          <a:p>
            <a:pPr lvl="1"/>
            <a:r>
              <a:rPr lang="ru-RU" dirty="0"/>
              <a:t>    </a:t>
            </a:r>
            <a:r>
              <a:rPr lang="ru-RU" b="1" dirty="0" err="1"/>
              <a:t>case</a:t>
            </a:r>
            <a:r>
              <a:rPr lang="ru-RU" dirty="0"/>
              <a:t> значение_2: инструкции_2;</a:t>
            </a:r>
          </a:p>
          <a:p>
            <a:pPr lvl="1"/>
            <a:r>
              <a:rPr lang="ru-RU" dirty="0"/>
              <a:t>    ...................</a:t>
            </a:r>
          </a:p>
          <a:p>
            <a:pPr lvl="1"/>
            <a:r>
              <a:rPr lang="ru-RU" dirty="0"/>
              <a:t>    </a:t>
            </a:r>
            <a:r>
              <a:rPr lang="ru-RU" b="1" dirty="0" err="1"/>
              <a:t>case</a:t>
            </a:r>
            <a:r>
              <a:rPr lang="ru-RU" dirty="0"/>
              <a:t> </a:t>
            </a:r>
            <a:r>
              <a:rPr lang="ru-RU" dirty="0" err="1"/>
              <a:t>значение_N</a:t>
            </a:r>
            <a:r>
              <a:rPr lang="ru-RU" dirty="0"/>
              <a:t>: </a:t>
            </a:r>
            <a:r>
              <a:rPr lang="ru-RU" dirty="0" err="1"/>
              <a:t>инструкции_N</a:t>
            </a:r>
            <a:r>
              <a:rPr lang="ru-RU" dirty="0"/>
              <a:t>;</a:t>
            </a:r>
          </a:p>
          <a:p>
            <a:pPr lvl="1"/>
            <a:r>
              <a:rPr lang="ru-RU" dirty="0"/>
              <a:t>     </a:t>
            </a:r>
          </a:p>
          <a:p>
            <a:pPr lvl="1"/>
            <a:r>
              <a:rPr lang="ru-RU" dirty="0"/>
              <a:t>    </a:t>
            </a:r>
            <a:r>
              <a:rPr lang="ru-RU" b="1" dirty="0" err="1"/>
              <a:t>default</a:t>
            </a:r>
            <a:r>
              <a:rPr lang="ru-RU" dirty="0"/>
              <a:t>: инструкции;</a:t>
            </a:r>
          </a:p>
          <a:p>
            <a:pPr lvl="1"/>
            <a:r>
              <a:rPr lang="ru-RU" dirty="0"/>
              <a:t>}</a:t>
            </a:r>
          </a:p>
          <a:p>
            <a:endParaRPr lang="ru-RU" dirty="0"/>
          </a:p>
        </p:txBody>
      </p:sp>
    </p:spTree>
    <p:extLst>
      <p:ext uri="{BB962C8B-B14F-4D97-AF65-F5344CB8AC3E}">
        <p14:creationId xmlns:p14="http://schemas.microsoft.com/office/powerpoint/2010/main" val="111372086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C610F9-7F93-C4A7-95EC-9ECECED22F19}"/>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F48FF1D9-AB34-2411-F745-CB1687DA61E4}"/>
              </a:ext>
            </a:extLst>
          </p:cNvPr>
          <p:cNvSpPr>
            <a:spLocks noGrp="1"/>
          </p:cNvSpPr>
          <p:nvPr>
            <p:ph idx="1"/>
          </p:nvPr>
        </p:nvSpPr>
        <p:spPr/>
        <p:txBody>
          <a:bodyPr/>
          <a:lstStyle/>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x{ 2 };</a:t>
            </a:r>
            <a:endParaRPr lang="ru-RU" sz="1400" dirty="0">
              <a:solidFill>
                <a:srgbClr val="000000"/>
              </a:solidFill>
              <a:latin typeface="Consolas" panose="020B0609020204030204" pitchFamily="49" charset="0"/>
            </a:endParaRP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switch</a:t>
            </a:r>
            <a:r>
              <a:rPr lang="de-CH" sz="1400" dirty="0">
                <a:solidFill>
                  <a:srgbClr val="000000"/>
                </a:solidFill>
                <a:latin typeface="Consolas" panose="020B0609020204030204" pitchFamily="49" charset="0"/>
              </a:rPr>
              <a:t> (x)</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1:</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"x = 1"</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"\n"</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2:</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"x = 2"</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"\n"</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3:</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"x = 3"</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"\n"</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default</a:t>
            </a:r>
            <a:r>
              <a:rPr lang="de-CH" sz="1400"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"x is undefined"</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"\n"</a:t>
            </a:r>
            <a:r>
              <a:rPr lang="en-US"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45013277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1A48B0-D842-62C0-E6DB-AC010674F7A6}"/>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968234EA-B2DF-478E-CB16-DFA5CB8D8FB9}"/>
              </a:ext>
            </a:extLst>
          </p:cNvPr>
          <p:cNvSpPr>
            <a:spLocks noGrp="1"/>
          </p:cNvSpPr>
          <p:nvPr>
            <p:ph idx="1"/>
          </p:nvPr>
        </p:nvSpPr>
        <p:spPr/>
        <p:txBody>
          <a:bodyPr/>
          <a:lstStyle/>
          <a:p>
            <a:r>
              <a:rPr lang="ru-RU" b="1" dirty="0"/>
              <a:t>Совмещение условий</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x{ 2 };</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switch</a:t>
            </a:r>
            <a:r>
              <a:rPr lang="de-CH" dirty="0">
                <a:solidFill>
                  <a:srgbClr val="000000"/>
                </a:solidFill>
                <a:latin typeface="Consolas" panose="020B0609020204030204" pitchFamily="49" charset="0"/>
              </a:rPr>
              <a:t> (x)</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1:</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2:</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"x = 1 or 2"</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3:</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4:</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"x = 3 or 4"</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case</a:t>
            </a:r>
            <a:r>
              <a:rPr lang="de-CH" dirty="0">
                <a:solidFill>
                  <a:srgbClr val="000000"/>
                </a:solidFill>
                <a:latin typeface="Consolas" panose="020B0609020204030204" pitchFamily="49" charset="0"/>
              </a:rPr>
              <a:t> 5:</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"x = 5"</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"\n"</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endParaRPr lang="ru-RU" dirty="0"/>
          </a:p>
        </p:txBody>
      </p:sp>
    </p:spTree>
    <p:extLst>
      <p:ext uri="{BB962C8B-B14F-4D97-AF65-F5344CB8AC3E}">
        <p14:creationId xmlns:p14="http://schemas.microsoft.com/office/powerpoint/2010/main" val="349994384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5F83EE-68FF-8041-E928-2707EC7862CB}"/>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7E70E170-3257-EA39-E96C-2934136D6E2E}"/>
              </a:ext>
            </a:extLst>
          </p:cNvPr>
          <p:cNvSpPr>
            <a:spLocks noGrp="1"/>
          </p:cNvSpPr>
          <p:nvPr>
            <p:ph idx="1"/>
          </p:nvPr>
        </p:nvSpPr>
        <p:spPr/>
        <p:txBody>
          <a:bodyPr/>
          <a:lstStyle/>
          <a:p>
            <a:r>
              <a:rPr lang="ru-RU" b="1" dirty="0"/>
              <a:t>Переменные в блоках </a:t>
            </a:r>
            <a:r>
              <a:rPr lang="de-CH" b="1" dirty="0" err="1"/>
              <a:t>case</a:t>
            </a:r>
            <a:endParaRPr lang="de-CH" b="1" dirty="0"/>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x{ 2 };</a:t>
            </a:r>
          </a:p>
          <a:p>
            <a:pPr lvl="1"/>
            <a:r>
              <a:rPr lang="ru-RU" sz="1200" dirty="0">
                <a:solidFill>
                  <a:srgbClr val="0000FF"/>
                </a:solidFill>
                <a:latin typeface="Consolas" panose="020B0609020204030204" pitchFamily="49" charset="0"/>
              </a:rPr>
              <a:t>    </a:t>
            </a:r>
            <a:r>
              <a:rPr lang="de-CH" sz="1200" dirty="0">
                <a:solidFill>
                  <a:srgbClr val="0000FF"/>
                </a:solidFill>
                <a:latin typeface="Consolas" panose="020B0609020204030204" pitchFamily="49" charset="0"/>
              </a:rPr>
              <a:t>switch</a:t>
            </a:r>
            <a:r>
              <a:rPr lang="de-CH" sz="1200" dirty="0">
                <a:solidFill>
                  <a:srgbClr val="000000"/>
                </a:solidFill>
                <a:latin typeface="Consolas" panose="020B0609020204030204" pitchFamily="49" charset="0"/>
              </a:rPr>
              <a:t> (x)</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case</a:t>
            </a:r>
            <a:r>
              <a:rPr lang="de-CH" sz="1200" dirty="0">
                <a:solidFill>
                  <a:srgbClr val="000000"/>
                </a:solidFill>
                <a:latin typeface="Consolas" panose="020B0609020204030204" pitchFamily="49" charset="0"/>
              </a:rPr>
              <a:t> 1:</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 10 };</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break</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case</a:t>
            </a:r>
            <a:r>
              <a:rPr lang="de-CH" sz="1200" dirty="0">
                <a:solidFill>
                  <a:srgbClr val="000000"/>
                </a:solidFill>
                <a:latin typeface="Consolas" panose="020B0609020204030204" pitchFamily="49" charset="0"/>
              </a:rPr>
              <a:t> 2:</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b{ 20 };</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b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break</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default</a:t>
            </a:r>
            <a:r>
              <a:rPr lang="de-CH"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c{ 30 };</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c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endParaRPr lang="ru-RU" sz="1200" dirty="0"/>
          </a:p>
        </p:txBody>
      </p:sp>
    </p:spTree>
    <p:extLst>
      <p:ext uri="{BB962C8B-B14F-4D97-AF65-F5344CB8AC3E}">
        <p14:creationId xmlns:p14="http://schemas.microsoft.com/office/powerpoint/2010/main" val="61368274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060090-31B7-931D-FE03-3D983ACA4943}"/>
              </a:ext>
            </a:extLst>
          </p:cNvPr>
          <p:cNvSpPr>
            <a:spLocks noGrp="1"/>
          </p:cNvSpPr>
          <p:nvPr>
            <p:ph type="title"/>
          </p:nvPr>
        </p:nvSpPr>
        <p:spPr/>
        <p:txBody>
          <a:bodyPr/>
          <a:lstStyle/>
          <a:p>
            <a:r>
              <a:rPr lang="ru-RU" b="1" dirty="0"/>
              <a:t>Конструкция </a:t>
            </a:r>
            <a:r>
              <a:rPr lang="de-CH" b="1" dirty="0"/>
              <a:t>switch-</a:t>
            </a:r>
            <a:r>
              <a:rPr lang="de-CH" b="1" dirty="0" err="1"/>
              <a:t>case</a:t>
            </a:r>
            <a:endParaRPr lang="ru-RU" dirty="0"/>
          </a:p>
        </p:txBody>
      </p:sp>
      <p:sp>
        <p:nvSpPr>
          <p:cNvPr id="3" name="Объект 2">
            <a:extLst>
              <a:ext uri="{FF2B5EF4-FFF2-40B4-BE49-F238E27FC236}">
                <a16:creationId xmlns:a16="http://schemas.microsoft.com/office/drawing/2014/main" id="{55E26DEC-26AC-4517-E27A-48502F82E35A}"/>
              </a:ext>
            </a:extLst>
          </p:cNvPr>
          <p:cNvSpPr>
            <a:spLocks noGrp="1"/>
          </p:cNvSpPr>
          <p:nvPr>
            <p:ph idx="1"/>
          </p:nvPr>
        </p:nvSpPr>
        <p:spPr/>
        <p:txBody>
          <a:bodyPr/>
          <a:lstStyle/>
          <a:p>
            <a:r>
              <a:rPr lang="ru-RU" dirty="0"/>
              <a:t>Блок </a:t>
            </a:r>
            <a:r>
              <a:rPr lang="ru-RU" dirty="0" err="1"/>
              <a:t>switch</a:t>
            </a:r>
            <a:r>
              <a:rPr lang="ru-RU" dirty="0"/>
              <a:t> с инициализацией переменной</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char</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op</a:t>
            </a:r>
            <a:r>
              <a:rPr lang="de-CH" sz="1400" dirty="0">
                <a:solidFill>
                  <a:srgbClr val="000000"/>
                </a:solidFill>
                <a:latin typeface="Consolas" panose="020B0609020204030204" pitchFamily="49" charset="0"/>
              </a:rPr>
              <a:t> = </a:t>
            </a:r>
            <a:r>
              <a:rPr lang="de-CH" sz="1400" dirty="0">
                <a:solidFill>
                  <a:srgbClr val="A31515"/>
                </a:solidFill>
                <a:latin typeface="Consolas" panose="020B0609020204030204" pitchFamily="49" charset="0"/>
              </a:rPr>
              <a:t>'+'</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n = 10;</a:t>
            </a:r>
          </a:p>
          <a:p>
            <a:pPr lvl="1"/>
            <a:r>
              <a:rPr lang="nl-NL" sz="1400" dirty="0">
                <a:solidFill>
                  <a:srgbClr val="000000"/>
                </a:solidFill>
                <a:latin typeface="Consolas" panose="020B0609020204030204" pitchFamily="49" charset="0"/>
              </a:rPr>
              <a:t>    </a:t>
            </a:r>
            <a:r>
              <a:rPr lang="nl-NL" sz="1400" dirty="0">
                <a:solidFill>
                  <a:srgbClr val="0000FF"/>
                </a:solidFill>
                <a:latin typeface="Consolas" panose="020B0609020204030204" pitchFamily="49" charset="0"/>
              </a:rPr>
              <a:t>switch</a:t>
            </a:r>
            <a:r>
              <a:rPr lang="nl-NL" sz="1400" dirty="0">
                <a:solidFill>
                  <a:srgbClr val="000000"/>
                </a:solidFill>
                <a:latin typeface="Consolas" panose="020B0609020204030204" pitchFamily="49" charset="0"/>
              </a:rPr>
              <a:t> (</a:t>
            </a:r>
            <a:r>
              <a:rPr lang="nl-NL" sz="1400" dirty="0">
                <a:solidFill>
                  <a:srgbClr val="0000FF"/>
                </a:solidFill>
                <a:latin typeface="Consolas" panose="020B0609020204030204" pitchFamily="49" charset="0"/>
              </a:rPr>
              <a:t>int</a:t>
            </a:r>
            <a:r>
              <a:rPr lang="nl-NL" sz="1400" dirty="0">
                <a:solidFill>
                  <a:srgbClr val="000000"/>
                </a:solidFill>
                <a:latin typeface="Consolas" panose="020B0609020204030204" pitchFamily="49" charset="0"/>
              </a:rPr>
              <a:t> k{ 2 }; op)</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 k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 k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case</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 k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break</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244010920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E8B667-CF61-99D5-D353-39678833BFE1}"/>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94872344-BB7A-B5F1-3332-693E89E24FB2}"/>
              </a:ext>
            </a:extLst>
          </p:cNvPr>
          <p:cNvSpPr>
            <a:spLocks noGrp="1"/>
          </p:cNvSpPr>
          <p:nvPr>
            <p:ph idx="1"/>
          </p:nvPr>
        </p:nvSpPr>
        <p:spPr/>
        <p:txBody>
          <a:bodyPr/>
          <a:lstStyle/>
          <a:p>
            <a:r>
              <a:rPr lang="ru-RU" dirty="0"/>
              <a:t>Циклы позволяют выполняет некоторый набор инструкций множество раз, пока соблюдается определенное условие. В языке C++ имеются следующие виды циклов:</a:t>
            </a:r>
          </a:p>
          <a:p>
            <a:endParaRPr lang="ru-RU" dirty="0"/>
          </a:p>
          <a:p>
            <a:pPr marL="342900" indent="-342900">
              <a:buFont typeface="Arial" panose="020B0604020202020204" pitchFamily="34" charset="0"/>
              <a:buChar char="•"/>
            </a:pPr>
            <a:r>
              <a:rPr lang="de-CH" b="1" dirty="0" err="1"/>
              <a:t>for</a:t>
            </a:r>
            <a:endParaRPr lang="de-CH" dirty="0"/>
          </a:p>
          <a:p>
            <a:pPr marL="342900" indent="-342900">
              <a:buFont typeface="Arial" panose="020B0604020202020204" pitchFamily="34" charset="0"/>
              <a:buChar char="•"/>
            </a:pPr>
            <a:r>
              <a:rPr lang="de-CH" b="1" dirty="0" err="1"/>
              <a:t>while</a:t>
            </a:r>
            <a:endParaRPr lang="de-CH" dirty="0"/>
          </a:p>
          <a:p>
            <a:pPr marL="342900" indent="-342900">
              <a:buFont typeface="Arial" panose="020B0604020202020204" pitchFamily="34" charset="0"/>
              <a:buChar char="•"/>
            </a:pPr>
            <a:r>
              <a:rPr lang="de-CH" b="1" dirty="0"/>
              <a:t>do...</a:t>
            </a:r>
            <a:r>
              <a:rPr lang="de-CH" b="1" dirty="0" err="1"/>
              <a:t>while</a:t>
            </a:r>
            <a:endParaRPr lang="de-CH" dirty="0"/>
          </a:p>
          <a:p>
            <a:endParaRPr lang="ru-RU" dirty="0"/>
          </a:p>
        </p:txBody>
      </p:sp>
    </p:spTree>
    <p:extLst>
      <p:ext uri="{BB962C8B-B14F-4D97-AF65-F5344CB8AC3E}">
        <p14:creationId xmlns:p14="http://schemas.microsoft.com/office/powerpoint/2010/main" val="328525825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D1B10-B71D-5F27-6D49-39FCCBB65EF0}"/>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E5F03BDE-2923-8BC2-82EF-2F5704C4FD55}"/>
              </a:ext>
            </a:extLst>
          </p:cNvPr>
          <p:cNvSpPr>
            <a:spLocks noGrp="1"/>
          </p:cNvSpPr>
          <p:nvPr>
            <p:ph idx="1"/>
          </p:nvPr>
        </p:nvSpPr>
        <p:spPr/>
        <p:txBody>
          <a:bodyPr/>
          <a:lstStyle/>
          <a:p>
            <a:r>
              <a:rPr lang="ru-RU" b="1" dirty="0"/>
              <a:t>Цикл </a:t>
            </a:r>
            <a:r>
              <a:rPr lang="de-CH" b="1" dirty="0" err="1"/>
              <a:t>while</a:t>
            </a:r>
            <a:endParaRPr lang="de-CH" b="1" dirty="0"/>
          </a:p>
          <a:p>
            <a:pPr lvl="1"/>
            <a:r>
              <a:rPr lang="ru-RU" dirty="0"/>
              <a:t>Цикл </a:t>
            </a:r>
            <a:r>
              <a:rPr lang="ru-RU" dirty="0" err="1"/>
              <a:t>while</a:t>
            </a:r>
            <a:r>
              <a:rPr lang="ru-RU" dirty="0"/>
              <a:t> выполняет некоторый код, пока его условие истинно, то есть воз</a:t>
            </a:r>
          </a:p>
          <a:p>
            <a:pPr lvl="1"/>
            <a:r>
              <a:rPr lang="ru-RU" dirty="0"/>
              <a:t>вращает </a:t>
            </a:r>
            <a:r>
              <a:rPr lang="ru-RU" dirty="0" err="1"/>
              <a:t>true</a:t>
            </a:r>
            <a:r>
              <a:rPr lang="ru-RU" dirty="0"/>
              <a:t>. Он имеет следующее формальное определение:</a:t>
            </a:r>
          </a:p>
          <a:p>
            <a:pPr lvl="1"/>
            <a:endParaRPr lang="ru-RU" dirty="0"/>
          </a:p>
          <a:p>
            <a:pPr lvl="1"/>
            <a:r>
              <a:rPr lang="de-CH" dirty="0" err="1"/>
              <a:t>while</a:t>
            </a:r>
            <a:r>
              <a:rPr lang="de-CH" dirty="0"/>
              <a:t>(</a:t>
            </a:r>
            <a:r>
              <a:rPr lang="ru-RU" dirty="0"/>
              <a:t>условие)</a:t>
            </a:r>
          </a:p>
          <a:p>
            <a:pPr lvl="1"/>
            <a:r>
              <a:rPr lang="ru-RU" dirty="0"/>
              <a:t>{</a:t>
            </a:r>
          </a:p>
          <a:p>
            <a:pPr lvl="1"/>
            <a:r>
              <a:rPr lang="ru-RU" dirty="0"/>
              <a:t>    // выполняемые действия</a:t>
            </a:r>
          </a:p>
          <a:p>
            <a:pPr lvl="1"/>
            <a:r>
              <a:rPr lang="ru-RU" dirty="0"/>
              <a:t>}</a:t>
            </a:r>
          </a:p>
        </p:txBody>
      </p:sp>
      <p:sp>
        <p:nvSpPr>
          <p:cNvPr id="4" name="Ромб 3">
            <a:extLst>
              <a:ext uri="{FF2B5EF4-FFF2-40B4-BE49-F238E27FC236}">
                <a16:creationId xmlns:a16="http://schemas.microsoft.com/office/drawing/2014/main" id="{96C9285C-2259-8D09-5EA6-66987FF11B92}"/>
              </a:ext>
            </a:extLst>
          </p:cNvPr>
          <p:cNvSpPr/>
          <p:nvPr/>
        </p:nvSpPr>
        <p:spPr>
          <a:xfrm>
            <a:off x="1691680" y="3933056"/>
            <a:ext cx="2376264" cy="648072"/>
          </a:xfrm>
          <a:prstGeom prst="diamond">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Условие</a:t>
            </a:r>
          </a:p>
        </p:txBody>
      </p:sp>
      <p:sp>
        <p:nvSpPr>
          <p:cNvPr id="6" name="Прямоугольник 5">
            <a:extLst>
              <a:ext uri="{FF2B5EF4-FFF2-40B4-BE49-F238E27FC236}">
                <a16:creationId xmlns:a16="http://schemas.microsoft.com/office/drawing/2014/main" id="{E228FCB3-15E7-C3A5-61F8-5AE421721889}"/>
              </a:ext>
            </a:extLst>
          </p:cNvPr>
          <p:cNvSpPr/>
          <p:nvPr/>
        </p:nvSpPr>
        <p:spPr>
          <a:xfrm>
            <a:off x="1691680" y="5013176"/>
            <a:ext cx="2376264" cy="79208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a:t>
            </a:r>
          </a:p>
        </p:txBody>
      </p:sp>
      <p:cxnSp>
        <p:nvCxnSpPr>
          <p:cNvPr id="8" name="Прямая соединительная линия 7">
            <a:extLst>
              <a:ext uri="{FF2B5EF4-FFF2-40B4-BE49-F238E27FC236}">
                <a16:creationId xmlns:a16="http://schemas.microsoft.com/office/drawing/2014/main" id="{3ECA3941-E545-CA01-5D1A-2764BF2F8C21}"/>
              </a:ext>
            </a:extLst>
          </p:cNvPr>
          <p:cNvCxnSpPr>
            <a:stCxn id="4" idx="2"/>
            <a:endCxn id="6" idx="0"/>
          </p:cNvCxnSpPr>
          <p:nvPr/>
        </p:nvCxnSpPr>
        <p:spPr>
          <a:xfrm>
            <a:off x="2879812" y="4581128"/>
            <a:ext cx="0" cy="432048"/>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95CA931D-504D-272E-A67C-D5FAD922CD1D}"/>
              </a:ext>
            </a:extLst>
          </p:cNvPr>
          <p:cNvSpPr txBox="1"/>
          <p:nvPr/>
        </p:nvSpPr>
        <p:spPr>
          <a:xfrm>
            <a:off x="2972314" y="4607700"/>
            <a:ext cx="447558" cy="369332"/>
          </a:xfrm>
          <a:prstGeom prst="rect">
            <a:avLst/>
          </a:prstGeom>
          <a:noFill/>
        </p:spPr>
        <p:txBody>
          <a:bodyPr wrap="none" rtlCol="0">
            <a:spAutoFit/>
          </a:bodyPr>
          <a:lstStyle/>
          <a:p>
            <a:r>
              <a:rPr lang="ru-RU" dirty="0"/>
              <a:t>да</a:t>
            </a:r>
          </a:p>
        </p:txBody>
      </p:sp>
      <p:cxnSp>
        <p:nvCxnSpPr>
          <p:cNvPr id="13" name="Соединитель: уступ 12">
            <a:extLst>
              <a:ext uri="{FF2B5EF4-FFF2-40B4-BE49-F238E27FC236}">
                <a16:creationId xmlns:a16="http://schemas.microsoft.com/office/drawing/2014/main" id="{8389FC1F-62FC-DACC-E3EA-3BBE3E3D470B}"/>
              </a:ext>
            </a:extLst>
          </p:cNvPr>
          <p:cNvCxnSpPr>
            <a:stCxn id="6" idx="2"/>
            <a:endCxn id="4" idx="1"/>
          </p:cNvCxnSpPr>
          <p:nvPr/>
        </p:nvCxnSpPr>
        <p:spPr>
          <a:xfrm rot="5400000" flipH="1">
            <a:off x="1511660" y="4437112"/>
            <a:ext cx="1548172" cy="1188132"/>
          </a:xfrm>
          <a:prstGeom prst="bentConnector4">
            <a:avLst>
              <a:gd name="adj1" fmla="val -14766"/>
              <a:gd name="adj2" fmla="val 158506"/>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Соединитель: уступ 15">
            <a:extLst>
              <a:ext uri="{FF2B5EF4-FFF2-40B4-BE49-F238E27FC236}">
                <a16:creationId xmlns:a16="http://schemas.microsoft.com/office/drawing/2014/main" id="{22699AF8-A464-6D8B-AEE7-0271C59DC4A3}"/>
              </a:ext>
            </a:extLst>
          </p:cNvPr>
          <p:cNvCxnSpPr>
            <a:stCxn id="4" idx="3"/>
          </p:cNvCxnSpPr>
          <p:nvPr/>
        </p:nvCxnSpPr>
        <p:spPr>
          <a:xfrm>
            <a:off x="4067944" y="4257092"/>
            <a:ext cx="611212" cy="176419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59EFAA6-1665-4F27-C28A-27F66B5D4C7B}"/>
              </a:ext>
            </a:extLst>
          </p:cNvPr>
          <p:cNvSpPr txBox="1"/>
          <p:nvPr/>
        </p:nvSpPr>
        <p:spPr>
          <a:xfrm>
            <a:off x="4691326" y="4846512"/>
            <a:ext cx="539250" cy="369332"/>
          </a:xfrm>
          <a:prstGeom prst="rect">
            <a:avLst/>
          </a:prstGeom>
          <a:noFill/>
        </p:spPr>
        <p:txBody>
          <a:bodyPr wrap="none" rtlCol="0">
            <a:spAutoFit/>
          </a:bodyPr>
          <a:lstStyle/>
          <a:p>
            <a:r>
              <a:rPr lang="ru-RU" dirty="0"/>
              <a:t>нет</a:t>
            </a:r>
          </a:p>
        </p:txBody>
      </p:sp>
      <p:cxnSp>
        <p:nvCxnSpPr>
          <p:cNvPr id="19" name="Прямая со стрелкой 18">
            <a:extLst>
              <a:ext uri="{FF2B5EF4-FFF2-40B4-BE49-F238E27FC236}">
                <a16:creationId xmlns:a16="http://schemas.microsoft.com/office/drawing/2014/main" id="{4B56283E-7ED7-560D-D879-FFE72AA07322}"/>
              </a:ext>
            </a:extLst>
          </p:cNvPr>
          <p:cNvCxnSpPr>
            <a:endCxn id="4" idx="0"/>
          </p:cNvCxnSpPr>
          <p:nvPr/>
        </p:nvCxnSpPr>
        <p:spPr>
          <a:xfrm>
            <a:off x="2879812" y="3501008"/>
            <a:ext cx="0" cy="432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76772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CC82A8-EE0C-D028-28E2-9654018DF934}"/>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E32CEF1F-65F4-F838-7355-4E1E024FC08E}"/>
              </a:ext>
            </a:extLst>
          </p:cNvPr>
          <p:cNvSpPr>
            <a:spLocks noGrp="1"/>
          </p:cNvSpPr>
          <p:nvPr>
            <p:ph idx="1"/>
          </p:nvPr>
        </p:nvSpPr>
        <p:spPr/>
        <p:txBody>
          <a:bodyPr/>
          <a:lstStyle/>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i{ 1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while</a:t>
            </a:r>
            <a:r>
              <a:rPr lang="de-CH" dirty="0">
                <a:solidFill>
                  <a:srgbClr val="000000"/>
                </a:solidFill>
                <a:latin typeface="Consolas" panose="020B0609020204030204" pitchFamily="49" charset="0"/>
              </a:rPr>
              <a:t> (i &lt; 10)</a:t>
            </a:r>
          </a:p>
          <a:p>
            <a:pPr lvl="1"/>
            <a:r>
              <a:rPr lang="ru-RU" dirty="0">
                <a:solidFill>
                  <a:srgbClr val="000000"/>
                </a:solidFill>
                <a:latin typeface="Consolas" panose="020B0609020204030204" pitchFamily="49" charset="0"/>
              </a:rPr>
              <a:t>    {</a:t>
            </a:r>
          </a:p>
          <a:p>
            <a:pPr lvl="1"/>
            <a:r>
              <a:rPr lang="nn-NO" dirty="0">
                <a:solidFill>
                  <a:srgbClr val="000000"/>
                </a:solidFill>
                <a:latin typeface="Consolas" panose="020B0609020204030204" pitchFamily="49" charset="0"/>
              </a:rPr>
              <a:t>        std::cout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std::endl;</a:t>
            </a:r>
          </a:p>
          <a:p>
            <a:pPr lvl="1"/>
            <a:r>
              <a:rPr lang="de-CH"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01981330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F6D962-05DB-893E-F697-2C4ED2B74054}"/>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CD4A9D3E-FDBD-A8F6-1DA7-CEFE43ECAE8C}"/>
              </a:ext>
            </a:extLst>
          </p:cNvPr>
          <p:cNvSpPr>
            <a:spLocks noGrp="1"/>
          </p:cNvSpPr>
          <p:nvPr>
            <p:ph idx="1"/>
          </p:nvPr>
        </p:nvSpPr>
        <p:spPr/>
        <p:txBody>
          <a:bodyPr/>
          <a:lstStyle/>
          <a:p>
            <a:r>
              <a:rPr lang="ru-RU" b="1" dirty="0"/>
              <a:t>Цикл </a:t>
            </a:r>
            <a:r>
              <a:rPr lang="de-CH" b="1" dirty="0" err="1"/>
              <a:t>for</a:t>
            </a:r>
            <a:endParaRPr lang="de-CH" b="1" dirty="0"/>
          </a:p>
          <a:p>
            <a:pPr lvl="1"/>
            <a:r>
              <a:rPr lang="ru-RU" b="1" dirty="0" err="1"/>
              <a:t>for</a:t>
            </a:r>
            <a:r>
              <a:rPr lang="ru-RU" dirty="0"/>
              <a:t> (инициализатор; условие; итерация)</a:t>
            </a:r>
          </a:p>
          <a:p>
            <a:pPr lvl="1"/>
            <a:r>
              <a:rPr lang="ru-RU" dirty="0"/>
              <a:t>{</a:t>
            </a:r>
          </a:p>
          <a:p>
            <a:pPr lvl="1"/>
            <a:r>
              <a:rPr lang="ru-RU" dirty="0"/>
              <a:t>    // тело цикла</a:t>
            </a:r>
          </a:p>
          <a:p>
            <a:pPr lvl="1"/>
            <a:r>
              <a:rPr lang="ru-RU" dirty="0"/>
              <a:t>}</a:t>
            </a:r>
          </a:p>
          <a:p>
            <a:pPr lvl="1"/>
            <a:r>
              <a:rPr lang="ru-RU" b="1" dirty="0"/>
              <a:t>инициализатор</a:t>
            </a:r>
            <a:r>
              <a:rPr lang="ru-RU" dirty="0"/>
              <a:t> выполняется один раз при начале выполнения цикла и представляет установку начальных условий, как правило, это инициализация счетчиков - специальных переменных, которые используются для контроля за циклом.</a:t>
            </a:r>
          </a:p>
          <a:p>
            <a:pPr lvl="1"/>
            <a:r>
              <a:rPr lang="ru-RU" b="1" dirty="0"/>
              <a:t>условие</a:t>
            </a:r>
            <a:r>
              <a:rPr lang="ru-RU" dirty="0"/>
              <a:t> представляет условие, при соблюдении которого выполняется цикл. Как правило, в качестве условия используется операция сравнения, и если она возвращает ненулевое значение (то есть условие истинно), то выполняется тело цикла, а затем выполняется итерация.</a:t>
            </a:r>
          </a:p>
          <a:p>
            <a:pPr lvl="1"/>
            <a:r>
              <a:rPr lang="ru-RU" b="1" dirty="0"/>
              <a:t>итерация</a:t>
            </a:r>
            <a:r>
              <a:rPr lang="ru-RU" dirty="0"/>
              <a:t> выполняется после каждого завершения блока цикла и задает изменение параметров цикла. Обычно здесь происходит увеличение счетчиков цикла.</a:t>
            </a:r>
          </a:p>
          <a:p>
            <a:endParaRPr lang="ru-RU" dirty="0"/>
          </a:p>
        </p:txBody>
      </p:sp>
    </p:spTree>
    <p:extLst>
      <p:ext uri="{BB962C8B-B14F-4D97-AF65-F5344CB8AC3E}">
        <p14:creationId xmlns:p14="http://schemas.microsoft.com/office/powerpoint/2010/main" val="289042687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D0D1D2-948C-7931-4A67-72CE9C6667B6}"/>
              </a:ext>
            </a:extLst>
          </p:cNvPr>
          <p:cNvSpPr>
            <a:spLocks noGrp="1"/>
          </p:cNvSpPr>
          <p:nvPr>
            <p:ph type="title"/>
          </p:nvPr>
        </p:nvSpPr>
        <p:spPr/>
        <p:txBody>
          <a:bodyPr/>
          <a:lstStyle/>
          <a:p>
            <a:r>
              <a:rPr lang="ru-RU" b="1" dirty="0"/>
              <a:t>Циклы</a:t>
            </a:r>
            <a:endParaRPr lang="ru-RU" dirty="0"/>
          </a:p>
        </p:txBody>
      </p:sp>
      <p:sp>
        <p:nvSpPr>
          <p:cNvPr id="6" name="Объект 5">
            <a:extLst>
              <a:ext uri="{FF2B5EF4-FFF2-40B4-BE49-F238E27FC236}">
                <a16:creationId xmlns:a16="http://schemas.microsoft.com/office/drawing/2014/main" id="{7546CABD-9F5F-07EB-52B5-09D35CC01484}"/>
              </a:ext>
            </a:extLst>
          </p:cNvPr>
          <p:cNvSpPr>
            <a:spLocks noGrp="1"/>
          </p:cNvSpPr>
          <p:nvPr>
            <p:ph idx="1"/>
          </p:nvPr>
        </p:nvSpPr>
        <p:spPr/>
        <p:txBody>
          <a:bodyPr/>
          <a:lstStyle/>
          <a:p>
            <a:endParaRPr lang="ru-RU" dirty="0"/>
          </a:p>
        </p:txBody>
      </p:sp>
      <p:sp>
        <p:nvSpPr>
          <p:cNvPr id="7" name="Прямоугольник 6">
            <a:extLst>
              <a:ext uri="{FF2B5EF4-FFF2-40B4-BE49-F238E27FC236}">
                <a16:creationId xmlns:a16="http://schemas.microsoft.com/office/drawing/2014/main" id="{DFF4080B-95A3-4A80-A59D-8BB1315D4DFE}"/>
              </a:ext>
            </a:extLst>
          </p:cNvPr>
          <p:cNvSpPr/>
          <p:nvPr/>
        </p:nvSpPr>
        <p:spPr>
          <a:xfrm>
            <a:off x="3347864" y="1556792"/>
            <a:ext cx="2448272" cy="36004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ln w="0"/>
                <a:solidFill>
                  <a:schemeClr val="tx1"/>
                </a:solidFill>
                <a:effectLst>
                  <a:outerShdw blurRad="38100" dist="19050" dir="2700000" algn="tl" rotWithShape="0">
                    <a:schemeClr val="dk1">
                      <a:alpha val="40000"/>
                    </a:schemeClr>
                  </a:outerShdw>
                </a:effectLst>
              </a:rPr>
              <a:t>Инициализатор</a:t>
            </a:r>
          </a:p>
        </p:txBody>
      </p:sp>
      <p:sp>
        <p:nvSpPr>
          <p:cNvPr id="8" name="Ромб 7">
            <a:extLst>
              <a:ext uri="{FF2B5EF4-FFF2-40B4-BE49-F238E27FC236}">
                <a16:creationId xmlns:a16="http://schemas.microsoft.com/office/drawing/2014/main" id="{8557D40D-D561-4A21-D54F-65653374F502}"/>
              </a:ext>
            </a:extLst>
          </p:cNvPr>
          <p:cNvSpPr/>
          <p:nvPr/>
        </p:nvSpPr>
        <p:spPr>
          <a:xfrm>
            <a:off x="3344213" y="2204864"/>
            <a:ext cx="2448272" cy="648072"/>
          </a:xfrm>
          <a:prstGeom prst="diamond">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Условие</a:t>
            </a:r>
          </a:p>
        </p:txBody>
      </p:sp>
      <p:sp>
        <p:nvSpPr>
          <p:cNvPr id="9" name="Прямоугольник 8">
            <a:extLst>
              <a:ext uri="{FF2B5EF4-FFF2-40B4-BE49-F238E27FC236}">
                <a16:creationId xmlns:a16="http://schemas.microsoft.com/office/drawing/2014/main" id="{CF1E78DD-C02B-2505-2E2A-23D6C1DA1F4B}"/>
              </a:ext>
            </a:extLst>
          </p:cNvPr>
          <p:cNvSpPr/>
          <p:nvPr/>
        </p:nvSpPr>
        <p:spPr>
          <a:xfrm>
            <a:off x="3340562" y="3140968"/>
            <a:ext cx="2451923" cy="36004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Итерация</a:t>
            </a:r>
          </a:p>
        </p:txBody>
      </p:sp>
      <p:sp>
        <p:nvSpPr>
          <p:cNvPr id="10" name="Прямоугольник 9">
            <a:extLst>
              <a:ext uri="{FF2B5EF4-FFF2-40B4-BE49-F238E27FC236}">
                <a16:creationId xmlns:a16="http://schemas.microsoft.com/office/drawing/2014/main" id="{FAB6185E-DF51-5C97-0632-EA220FAFC55D}"/>
              </a:ext>
            </a:extLst>
          </p:cNvPr>
          <p:cNvSpPr/>
          <p:nvPr/>
        </p:nvSpPr>
        <p:spPr>
          <a:xfrm>
            <a:off x="3340562" y="4097127"/>
            <a:ext cx="2455574" cy="79208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a:t>
            </a:r>
          </a:p>
        </p:txBody>
      </p:sp>
      <p:cxnSp>
        <p:nvCxnSpPr>
          <p:cNvPr id="12" name="Прямая со стрелкой 11">
            <a:extLst>
              <a:ext uri="{FF2B5EF4-FFF2-40B4-BE49-F238E27FC236}">
                <a16:creationId xmlns:a16="http://schemas.microsoft.com/office/drawing/2014/main" id="{91A661BD-594F-E20A-D3AA-94CCFC14155C}"/>
              </a:ext>
            </a:extLst>
          </p:cNvPr>
          <p:cNvCxnSpPr>
            <a:endCxn id="8" idx="0"/>
          </p:cNvCxnSpPr>
          <p:nvPr/>
        </p:nvCxnSpPr>
        <p:spPr>
          <a:xfrm flipH="1">
            <a:off x="4568349" y="1916832"/>
            <a:ext cx="3651"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a:extLst>
              <a:ext uri="{FF2B5EF4-FFF2-40B4-BE49-F238E27FC236}">
                <a16:creationId xmlns:a16="http://schemas.microsoft.com/office/drawing/2014/main" id="{26CAF6D5-2571-A4F0-21C9-047F4EE0C607}"/>
              </a:ext>
            </a:extLst>
          </p:cNvPr>
          <p:cNvCxnSpPr>
            <a:stCxn id="8" idx="2"/>
            <a:endCxn id="9" idx="0"/>
          </p:cNvCxnSpPr>
          <p:nvPr/>
        </p:nvCxnSpPr>
        <p:spPr>
          <a:xfrm flipH="1">
            <a:off x="4566524" y="2852936"/>
            <a:ext cx="1825"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a:extLst>
              <a:ext uri="{FF2B5EF4-FFF2-40B4-BE49-F238E27FC236}">
                <a16:creationId xmlns:a16="http://schemas.microsoft.com/office/drawing/2014/main" id="{8CE5E96D-C3EC-62AF-82F5-ACEA23B152E4}"/>
              </a:ext>
            </a:extLst>
          </p:cNvPr>
          <p:cNvCxnSpPr>
            <a:stCxn id="9" idx="2"/>
            <a:endCxn id="10" idx="0"/>
          </p:cNvCxnSpPr>
          <p:nvPr/>
        </p:nvCxnSpPr>
        <p:spPr>
          <a:xfrm>
            <a:off x="4566524" y="3501008"/>
            <a:ext cx="1825" cy="5961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Соединитель: уступ 19">
            <a:extLst>
              <a:ext uri="{FF2B5EF4-FFF2-40B4-BE49-F238E27FC236}">
                <a16:creationId xmlns:a16="http://schemas.microsoft.com/office/drawing/2014/main" id="{DF854557-2E1A-2B93-A6B1-5911392619DC}"/>
              </a:ext>
            </a:extLst>
          </p:cNvPr>
          <p:cNvCxnSpPr>
            <a:stCxn id="10" idx="1"/>
            <a:endCxn id="8" idx="1"/>
          </p:cNvCxnSpPr>
          <p:nvPr/>
        </p:nvCxnSpPr>
        <p:spPr>
          <a:xfrm rot="10800000" flipH="1">
            <a:off x="3340561" y="2528900"/>
            <a:ext cx="3651" cy="1964272"/>
          </a:xfrm>
          <a:prstGeom prst="bentConnector3">
            <a:avLst>
              <a:gd name="adj1" fmla="val -2261733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9612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9E6544-5665-FF92-3516-C22AA8CEF20F}"/>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E623FB37-A500-61D1-7D85-81AE9488B0BD}"/>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1 }; i &lt; 10; i++)</a:t>
            </a:r>
          </a:p>
          <a:p>
            <a:pPr lvl="1"/>
            <a:r>
              <a:rPr lang="ru-RU" dirty="0">
                <a:solidFill>
                  <a:srgbClr val="000000"/>
                </a:solidFill>
                <a:latin typeface="Consolas" panose="020B0609020204030204" pitchFamily="49" charset="0"/>
              </a:rPr>
              <a:t>    {</a:t>
            </a:r>
          </a:p>
          <a:p>
            <a:pPr lvl="1"/>
            <a:r>
              <a:rPr lang="nn-NO" dirty="0">
                <a:solidFill>
                  <a:srgbClr val="000000"/>
                </a:solidFill>
                <a:latin typeface="Consolas" panose="020B0609020204030204" pitchFamily="49" charset="0"/>
              </a:rPr>
              <a:t>        std::cout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i{ 1 };</a:t>
            </a:r>
          </a:p>
          <a:p>
            <a:pPr lvl="1"/>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 i &lt; 10;)</a:t>
            </a:r>
          </a:p>
          <a:p>
            <a:pPr lvl="1"/>
            <a:r>
              <a:rPr lang="ru-RU"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std::cout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a:t>
            </a:r>
            <a:r>
              <a:rPr lang="nn-NO" dirty="0">
                <a:solidFill>
                  <a:srgbClr val="A31515"/>
                </a:solidFill>
                <a:latin typeface="Consolas" panose="020B0609020204030204" pitchFamily="49" charset="0"/>
              </a:rPr>
              <a:t>" = "</a:t>
            </a:r>
            <a:r>
              <a:rPr lang="nn-NO" dirty="0">
                <a:solidFill>
                  <a:srgbClr val="000000"/>
                </a:solidFill>
                <a:latin typeface="Consolas" panose="020B0609020204030204" pitchFamily="49" charset="0"/>
              </a:rPr>
              <a:t>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i * i </a:t>
            </a:r>
            <a:r>
              <a:rPr lang="nn-NO" dirty="0">
                <a:solidFill>
                  <a:srgbClr val="008080"/>
                </a:solidFill>
                <a:latin typeface="Consolas" panose="020B0609020204030204" pitchFamily="49" charset="0"/>
              </a:rPr>
              <a:t>&lt;&lt;</a:t>
            </a:r>
            <a:r>
              <a:rPr lang="nn-NO" dirty="0">
                <a:solidFill>
                  <a:srgbClr val="000000"/>
                </a:solidFill>
                <a:latin typeface="Consolas" panose="020B0609020204030204" pitchFamily="49" charset="0"/>
              </a:rPr>
              <a:t> std::endl;</a:t>
            </a:r>
          </a:p>
          <a:p>
            <a:pPr lvl="1"/>
            <a:r>
              <a:rPr lang="de-CH"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03820705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E818F2-BD1E-60EE-8016-F6122B982C72}"/>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800C210C-5641-ED76-2897-66FDA15368D7}"/>
              </a:ext>
            </a:extLst>
          </p:cNvPr>
          <p:cNvSpPr>
            <a:spLocks noGrp="1"/>
          </p:cNvSpPr>
          <p:nvPr>
            <p:ph idx="1"/>
          </p:nvPr>
        </p:nvSpPr>
        <p:spPr/>
        <p:txBody>
          <a:bodyPr/>
          <a:lstStyle/>
          <a:p>
            <a:r>
              <a:rPr lang="ru-RU" dirty="0"/>
              <a:t>Также цикл не обязательно должен содержать тело. Например, вычислим с помощью цикла сумму чисел от 1 до 5:</a:t>
            </a:r>
          </a:p>
          <a:p>
            <a:endParaRPr lang="ru-RU" dirty="0"/>
          </a:p>
          <a:p>
            <a:pPr lvl="1"/>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i{}; i &lt; 6;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 += i++);</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"Sum: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Sum: 15</a:t>
            </a:r>
            <a:endParaRPr lang="ru-RU" dirty="0"/>
          </a:p>
        </p:txBody>
      </p:sp>
    </p:spTree>
    <p:extLst>
      <p:ext uri="{BB962C8B-B14F-4D97-AF65-F5344CB8AC3E}">
        <p14:creationId xmlns:p14="http://schemas.microsoft.com/office/powerpoint/2010/main" val="399478973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88ED46-16CD-C155-5585-F00098F7BA84}"/>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38FF45C9-7FE0-EE10-4CA4-C7497851A8E2}"/>
              </a:ext>
            </a:extLst>
          </p:cNvPr>
          <p:cNvSpPr>
            <a:spLocks noGrp="1"/>
          </p:cNvSpPr>
          <p:nvPr>
            <p:ph idx="1"/>
          </p:nvPr>
        </p:nvSpPr>
        <p:spPr/>
        <p:txBody>
          <a:bodyPr/>
          <a:lstStyle/>
          <a:p>
            <a:r>
              <a:rPr lang="ru-RU" b="1" dirty="0"/>
              <a:t>Перебор значений в стиле </a:t>
            </a:r>
            <a:r>
              <a:rPr lang="ru-RU" b="1" dirty="0" err="1"/>
              <a:t>for-each</a:t>
            </a:r>
            <a:endParaRPr lang="ru-RU" b="1" dirty="0"/>
          </a:p>
          <a:p>
            <a:endParaRPr lang="ru-RU" b="1" dirty="0"/>
          </a:p>
          <a:p>
            <a:pPr lvl="1"/>
            <a:r>
              <a:rPr lang="ru-RU" dirty="0"/>
              <a:t>Существует также особая форма цикла </a:t>
            </a:r>
            <a:r>
              <a:rPr lang="ru-RU" b="1" dirty="0" err="1"/>
              <a:t>for</a:t>
            </a:r>
            <a:r>
              <a:rPr lang="ru-RU" dirty="0"/>
              <a:t>, которая предназначена специально для работы с последовательностями значений. Эта форма имеет следующее формальное определение:</a:t>
            </a:r>
          </a:p>
          <a:p>
            <a:pPr lvl="1"/>
            <a:endParaRPr lang="ru-RU" dirty="0"/>
          </a:p>
          <a:p>
            <a:pPr lvl="1"/>
            <a:r>
              <a:rPr lang="ru-RU" b="1" dirty="0" err="1"/>
              <a:t>for</a:t>
            </a:r>
            <a:r>
              <a:rPr lang="ru-RU" dirty="0"/>
              <a:t>(тип переменная : последовательность)</a:t>
            </a:r>
          </a:p>
          <a:p>
            <a:pPr lvl="1"/>
            <a:r>
              <a:rPr lang="ru-RU" dirty="0"/>
              <a:t>{</a:t>
            </a:r>
          </a:p>
          <a:p>
            <a:pPr lvl="1"/>
            <a:r>
              <a:rPr lang="ru-RU" dirty="0"/>
              <a:t>    инструкции;</a:t>
            </a:r>
          </a:p>
          <a:p>
            <a:pPr lvl="1"/>
            <a:r>
              <a:rPr lang="ru-RU" dirty="0"/>
              <a:t>}</a:t>
            </a:r>
          </a:p>
          <a:p>
            <a:pPr lvl="1"/>
            <a:endParaRPr lang="ru-RU" dirty="0"/>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for</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 {2, 3, 4, 5})</a:t>
            </a:r>
          </a:p>
          <a:p>
            <a:pPr lvl="1"/>
            <a:r>
              <a:rPr lang="ru-RU" sz="1200" dirty="0">
                <a:solidFill>
                  <a:srgbClr val="000000"/>
                </a:solidFill>
                <a:latin typeface="Consolas" panose="020B0609020204030204" pitchFamily="49" charset="0"/>
              </a:rPr>
              <a:t>    {</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n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2892669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7D4A18-4C13-E6D1-8A12-3A5A15E3941A}"/>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FF7C583E-164E-C519-2137-5E0854FB8FC9}"/>
              </a:ext>
            </a:extLst>
          </p:cNvPr>
          <p:cNvSpPr>
            <a:spLocks noGrp="1"/>
          </p:cNvSpPr>
          <p:nvPr>
            <p:ph idx="1"/>
          </p:nvPr>
        </p:nvSpPr>
        <p:spPr/>
        <p:txBody>
          <a:bodyPr/>
          <a:lstStyle/>
          <a:p>
            <a:r>
              <a:rPr lang="ru-RU" b="1" dirty="0"/>
              <a:t>Цикл </a:t>
            </a:r>
            <a:r>
              <a:rPr lang="de-CH" b="1" dirty="0"/>
              <a:t>do</a:t>
            </a:r>
          </a:p>
          <a:p>
            <a:r>
              <a:rPr lang="ru-RU" dirty="0"/>
              <a:t>В цикле </a:t>
            </a:r>
            <a:r>
              <a:rPr lang="ru-RU" dirty="0" err="1"/>
              <a:t>do</a:t>
            </a:r>
            <a:r>
              <a:rPr lang="ru-RU" dirty="0"/>
              <a:t> сначала выполняется код цикла, а потом происходит проверка условия в инструкции </a:t>
            </a:r>
            <a:r>
              <a:rPr lang="ru-RU" dirty="0" err="1"/>
              <a:t>while</a:t>
            </a:r>
            <a:r>
              <a:rPr lang="ru-RU" dirty="0"/>
              <a:t>. И пока это условие истинно, то есть не равно 0(</a:t>
            </a:r>
            <a:r>
              <a:rPr lang="en-US" dirty="0"/>
              <a:t>false</a:t>
            </a:r>
            <a:r>
              <a:rPr lang="ru-RU" dirty="0"/>
              <a:t>), то цикл повторяется. Формальное определение цикла:</a:t>
            </a:r>
            <a:endParaRPr lang="en-US" dirty="0"/>
          </a:p>
          <a:p>
            <a:endParaRPr lang="en-US" dirty="0"/>
          </a:p>
          <a:p>
            <a:pPr lvl="1"/>
            <a:r>
              <a:rPr lang="de-CH" b="1" dirty="0"/>
              <a:t>do</a:t>
            </a:r>
            <a:endParaRPr lang="de-CH" dirty="0"/>
          </a:p>
          <a:p>
            <a:pPr lvl="1"/>
            <a:r>
              <a:rPr lang="de-CH" dirty="0"/>
              <a:t>{</a:t>
            </a:r>
          </a:p>
          <a:p>
            <a:pPr lvl="1"/>
            <a:r>
              <a:rPr lang="de-CH" dirty="0"/>
              <a:t>    </a:t>
            </a:r>
            <a:r>
              <a:rPr lang="ru-RU" dirty="0"/>
              <a:t>инструкции</a:t>
            </a:r>
          </a:p>
          <a:p>
            <a:pPr lvl="1"/>
            <a:r>
              <a:rPr lang="ru-RU" dirty="0"/>
              <a:t>}</a:t>
            </a:r>
          </a:p>
          <a:p>
            <a:pPr lvl="1"/>
            <a:r>
              <a:rPr lang="de-CH" b="1" dirty="0" err="1"/>
              <a:t>while</a:t>
            </a:r>
            <a:r>
              <a:rPr lang="de-CH" dirty="0"/>
              <a:t>(</a:t>
            </a:r>
            <a:r>
              <a:rPr lang="ru-RU" dirty="0"/>
              <a:t>условие);</a:t>
            </a:r>
          </a:p>
        </p:txBody>
      </p:sp>
      <p:sp>
        <p:nvSpPr>
          <p:cNvPr id="4" name="Прямоугольник 3">
            <a:extLst>
              <a:ext uri="{FF2B5EF4-FFF2-40B4-BE49-F238E27FC236}">
                <a16:creationId xmlns:a16="http://schemas.microsoft.com/office/drawing/2014/main" id="{BFEB8CBF-33BA-51FF-E112-02703C00591C}"/>
              </a:ext>
            </a:extLst>
          </p:cNvPr>
          <p:cNvSpPr/>
          <p:nvPr/>
        </p:nvSpPr>
        <p:spPr>
          <a:xfrm>
            <a:off x="5292080" y="3645024"/>
            <a:ext cx="2304256" cy="79208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Действия</a:t>
            </a:r>
          </a:p>
        </p:txBody>
      </p:sp>
      <p:sp>
        <p:nvSpPr>
          <p:cNvPr id="5" name="Ромб 4">
            <a:extLst>
              <a:ext uri="{FF2B5EF4-FFF2-40B4-BE49-F238E27FC236}">
                <a16:creationId xmlns:a16="http://schemas.microsoft.com/office/drawing/2014/main" id="{C738F240-40DC-CD42-EAB7-0BBDBE5C8009}"/>
              </a:ext>
            </a:extLst>
          </p:cNvPr>
          <p:cNvSpPr/>
          <p:nvPr/>
        </p:nvSpPr>
        <p:spPr>
          <a:xfrm>
            <a:off x="5292080" y="4982960"/>
            <a:ext cx="2304256" cy="1080120"/>
          </a:xfrm>
          <a:prstGeom prst="diamond">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ru-RU" dirty="0">
                <a:solidFill>
                  <a:schemeClr val="tx1"/>
                </a:solidFill>
              </a:rPr>
              <a:t>Условия</a:t>
            </a:r>
          </a:p>
        </p:txBody>
      </p:sp>
      <p:cxnSp>
        <p:nvCxnSpPr>
          <p:cNvPr id="7" name="Прямая со стрелкой 6">
            <a:extLst>
              <a:ext uri="{FF2B5EF4-FFF2-40B4-BE49-F238E27FC236}">
                <a16:creationId xmlns:a16="http://schemas.microsoft.com/office/drawing/2014/main" id="{B9EDF76F-E400-116B-86B6-524FD4D2C8D6}"/>
              </a:ext>
            </a:extLst>
          </p:cNvPr>
          <p:cNvCxnSpPr>
            <a:stCxn id="4" idx="2"/>
            <a:endCxn id="5" idx="0"/>
          </p:cNvCxnSpPr>
          <p:nvPr/>
        </p:nvCxnSpPr>
        <p:spPr>
          <a:xfrm>
            <a:off x="6444208" y="4437112"/>
            <a:ext cx="0" cy="545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Соединитель: уступ 8">
            <a:extLst>
              <a:ext uri="{FF2B5EF4-FFF2-40B4-BE49-F238E27FC236}">
                <a16:creationId xmlns:a16="http://schemas.microsoft.com/office/drawing/2014/main" id="{6ABA6A33-31C6-8227-DA7A-FFEEA78CADC6}"/>
              </a:ext>
            </a:extLst>
          </p:cNvPr>
          <p:cNvCxnSpPr>
            <a:cxnSpLocks/>
            <a:stCxn id="5" idx="3"/>
            <a:endCxn id="4" idx="3"/>
          </p:cNvCxnSpPr>
          <p:nvPr/>
        </p:nvCxnSpPr>
        <p:spPr>
          <a:xfrm flipV="1">
            <a:off x="7596336" y="4041068"/>
            <a:ext cx="12700" cy="1481952"/>
          </a:xfrm>
          <a:prstGeom prst="bentConnector3">
            <a:avLst>
              <a:gd name="adj1" fmla="val 606122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a:extLst>
              <a:ext uri="{FF2B5EF4-FFF2-40B4-BE49-F238E27FC236}">
                <a16:creationId xmlns:a16="http://schemas.microsoft.com/office/drawing/2014/main" id="{74AEBFF0-493D-83D3-5774-94715893E976}"/>
              </a:ext>
            </a:extLst>
          </p:cNvPr>
          <p:cNvCxnSpPr>
            <a:stCxn id="5" idx="2"/>
          </p:cNvCxnSpPr>
          <p:nvPr/>
        </p:nvCxnSpPr>
        <p:spPr>
          <a:xfrm>
            <a:off x="6444208" y="6063080"/>
            <a:ext cx="0" cy="318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C309F81-9431-2130-EAAD-5D003419042F}"/>
              </a:ext>
            </a:extLst>
          </p:cNvPr>
          <p:cNvSpPr txBox="1"/>
          <p:nvPr/>
        </p:nvSpPr>
        <p:spPr>
          <a:xfrm>
            <a:off x="7812360" y="4710036"/>
            <a:ext cx="470000" cy="369332"/>
          </a:xfrm>
          <a:prstGeom prst="rect">
            <a:avLst/>
          </a:prstGeom>
          <a:noFill/>
        </p:spPr>
        <p:txBody>
          <a:bodyPr wrap="none" rtlCol="0">
            <a:spAutoFit/>
          </a:bodyPr>
          <a:lstStyle/>
          <a:p>
            <a:r>
              <a:rPr lang="ru-RU" dirty="0"/>
              <a:t>Да</a:t>
            </a:r>
          </a:p>
        </p:txBody>
      </p:sp>
      <p:sp>
        <p:nvSpPr>
          <p:cNvPr id="15" name="TextBox 14">
            <a:extLst>
              <a:ext uri="{FF2B5EF4-FFF2-40B4-BE49-F238E27FC236}">
                <a16:creationId xmlns:a16="http://schemas.microsoft.com/office/drawing/2014/main" id="{753B107E-5C31-18F7-6192-E4798B3DB2E9}"/>
              </a:ext>
            </a:extLst>
          </p:cNvPr>
          <p:cNvSpPr txBox="1"/>
          <p:nvPr/>
        </p:nvSpPr>
        <p:spPr>
          <a:xfrm>
            <a:off x="6736103" y="6063080"/>
            <a:ext cx="577722" cy="369332"/>
          </a:xfrm>
          <a:prstGeom prst="rect">
            <a:avLst/>
          </a:prstGeom>
          <a:noFill/>
        </p:spPr>
        <p:txBody>
          <a:bodyPr wrap="none" rtlCol="0">
            <a:spAutoFit/>
          </a:bodyPr>
          <a:lstStyle/>
          <a:p>
            <a:r>
              <a:rPr lang="ru-RU" dirty="0"/>
              <a:t>Нет</a:t>
            </a:r>
          </a:p>
        </p:txBody>
      </p:sp>
      <p:cxnSp>
        <p:nvCxnSpPr>
          <p:cNvPr id="17" name="Прямая со стрелкой 16">
            <a:extLst>
              <a:ext uri="{FF2B5EF4-FFF2-40B4-BE49-F238E27FC236}">
                <a16:creationId xmlns:a16="http://schemas.microsoft.com/office/drawing/2014/main" id="{081DEF2A-B057-6D1E-34BD-58909602AC6C}"/>
              </a:ext>
            </a:extLst>
          </p:cNvPr>
          <p:cNvCxnSpPr/>
          <p:nvPr/>
        </p:nvCxnSpPr>
        <p:spPr>
          <a:xfrm>
            <a:off x="6444208" y="3140968"/>
            <a:ext cx="0" cy="50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23068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1D1B9D-65C6-AFC6-7E1D-D502AB21F7FC}"/>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994F8AAA-FB6C-B899-B814-0A38ADBAB6C0}"/>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i{ 6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i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i--;</a:t>
            </a:r>
          </a:p>
          <a:p>
            <a:pPr lvl="1"/>
            <a:r>
              <a:rPr lang="de-CH" dirty="0">
                <a:solidFill>
                  <a:srgbClr val="000000"/>
                </a:solidFill>
                <a:latin typeface="Consolas" panose="020B0609020204030204" pitchFamily="49" charset="0"/>
              </a:rPr>
              <a:t>    } </a:t>
            </a:r>
            <a:r>
              <a:rPr lang="de-CH" dirty="0" err="1">
                <a:solidFill>
                  <a:srgbClr val="0000FF"/>
                </a:solidFill>
                <a:latin typeface="Consolas" panose="020B0609020204030204" pitchFamily="49" charset="0"/>
              </a:rPr>
              <a:t>while</a:t>
            </a:r>
            <a:r>
              <a:rPr lang="de-CH" dirty="0">
                <a:solidFill>
                  <a:srgbClr val="000000"/>
                </a:solidFill>
                <a:latin typeface="Consolas" panose="020B0609020204030204" pitchFamily="49" charset="0"/>
              </a:rPr>
              <a:t> (i &gt; 0);</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11134224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73FED9-08D3-7ED0-C0BE-7841BDAF90D8}"/>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F0607FA0-E8D9-1EAF-4B24-34F49B1945EC}"/>
              </a:ext>
            </a:extLst>
          </p:cNvPr>
          <p:cNvSpPr>
            <a:spLocks noGrp="1"/>
          </p:cNvSpPr>
          <p:nvPr>
            <p:ph idx="1"/>
          </p:nvPr>
        </p:nvSpPr>
        <p:spPr/>
        <p:txBody>
          <a:bodyPr/>
          <a:lstStyle/>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char</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reply</a:t>
            </a:r>
            <a:r>
              <a:rPr lang="de-CH" sz="1400" dirty="0">
                <a:solidFill>
                  <a:srgbClr val="000000"/>
                </a:solidFill>
                <a:latin typeface="Consolas" panose="020B0609020204030204" pitchFamily="49" charset="0"/>
              </a:rPr>
              <a:t>{};          </a:t>
            </a:r>
            <a:r>
              <a:rPr lang="de-CH" sz="1400" dirty="0">
                <a:solidFill>
                  <a:srgbClr val="008000"/>
                </a:solidFill>
                <a:latin typeface="Consolas" panose="020B0609020204030204" pitchFamily="49" charset="0"/>
              </a:rPr>
              <a:t>// </a:t>
            </a:r>
            <a:r>
              <a:rPr lang="ru-RU" sz="1400" dirty="0">
                <a:solidFill>
                  <a:srgbClr val="008000"/>
                </a:solidFill>
                <a:latin typeface="Consolas" panose="020B0609020204030204" pitchFamily="49" charset="0"/>
              </a:rPr>
              <a:t>ответ пользователя</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a:solidFill>
                  <a:srgbClr val="0000FF"/>
                </a:solidFill>
                <a:latin typeface="Consolas" panose="020B0609020204030204" pitchFamily="49" charset="0"/>
              </a:rPr>
              <a:t>int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count</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количество введенных чисел</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err="1">
                <a:solidFill>
                  <a:srgbClr val="0000FF"/>
                </a:solidFill>
                <a:latin typeface="Consolas" panose="020B0609020204030204" pitchFamily="49" charset="0"/>
              </a:rPr>
              <a:t>double</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number</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для ввода числа</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err="1">
                <a:solidFill>
                  <a:srgbClr val="0000FF"/>
                </a:solidFill>
                <a:latin typeface="Consolas" panose="020B0609020204030204" pitchFamily="49" charset="0"/>
              </a:rPr>
              <a:t>double</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total</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общая сумма чисел</a:t>
            </a:r>
            <a:endParaRPr lang="ru-RU" sz="1400" dirty="0">
              <a:solidFill>
                <a:srgbClr val="000000"/>
              </a:solidFill>
              <a:latin typeface="Consolas" panose="020B0609020204030204" pitchFamily="49" charset="0"/>
            </a:endParaRP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do</a:t>
            </a:r>
            <a:endParaRPr lang="de-CH"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"Enter a number: "</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std</a:t>
            </a:r>
            <a:r>
              <a:rPr lang="ru-RU" sz="1400" dirty="0">
                <a:solidFill>
                  <a:srgbClr val="000000"/>
                </a:solidFill>
                <a:latin typeface="Consolas" panose="020B0609020204030204" pitchFamily="49" charset="0"/>
              </a:rPr>
              <a:t>::</a:t>
            </a:r>
            <a:r>
              <a:rPr lang="ru-RU" sz="1400" dirty="0" err="1">
                <a:solidFill>
                  <a:srgbClr val="000000"/>
                </a:solidFill>
                <a:latin typeface="Consolas" panose="020B0609020204030204" pitchFamily="49" charset="0"/>
              </a:rPr>
              <a:t>cin</a:t>
            </a:r>
            <a:r>
              <a:rPr lang="ru-RU" sz="1400" dirty="0">
                <a:solidFill>
                  <a:srgbClr val="000000"/>
                </a:solidFill>
                <a:latin typeface="Consolas" panose="020B0609020204030204" pitchFamily="49" charset="0"/>
              </a:rPr>
              <a:t> </a:t>
            </a:r>
            <a:r>
              <a:rPr lang="ru-RU" sz="1400" dirty="0">
                <a:solidFill>
                  <a:srgbClr val="008080"/>
                </a:solidFill>
                <a:latin typeface="Consolas" panose="020B0609020204030204" pitchFamily="49" charset="0"/>
              </a:rPr>
              <a:t>&gt;&gt;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number</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Вводим число</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total</a:t>
            </a:r>
            <a:r>
              <a:rPr lang="ru-RU" sz="1400" dirty="0">
                <a:solidFill>
                  <a:srgbClr val="000000"/>
                </a:solidFill>
                <a:latin typeface="Consolas" panose="020B0609020204030204" pitchFamily="49" charset="0"/>
              </a:rPr>
              <a:t> += </a:t>
            </a:r>
            <a:r>
              <a:rPr lang="ru-RU" sz="1400" dirty="0" err="1">
                <a:solidFill>
                  <a:srgbClr val="000000"/>
                </a:solidFill>
                <a:latin typeface="Consolas" panose="020B0609020204030204" pitchFamily="49" charset="0"/>
              </a:rPr>
              <a:t>number</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прибавляем к совокупному числу</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count</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увеличиваем количество введенных чисел на 1</a:t>
            </a:r>
            <a:endParaRPr lang="ru-RU" sz="1400" dirty="0">
              <a:solidFill>
                <a:srgbClr val="000000"/>
              </a:solidFill>
              <a:latin typeface="Consolas" panose="020B0609020204030204" pitchFamily="49" charset="0"/>
            </a:endParaRP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"Finish? (y/n): "</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std</a:t>
            </a:r>
            <a:r>
              <a:rPr lang="ru-RU" sz="1400" dirty="0">
                <a:solidFill>
                  <a:srgbClr val="000000"/>
                </a:solidFill>
                <a:latin typeface="Consolas" panose="020B0609020204030204" pitchFamily="49" charset="0"/>
              </a:rPr>
              <a:t>::</a:t>
            </a:r>
            <a:r>
              <a:rPr lang="ru-RU" sz="1400" dirty="0" err="1">
                <a:solidFill>
                  <a:srgbClr val="000000"/>
                </a:solidFill>
                <a:latin typeface="Consolas" panose="020B0609020204030204" pitchFamily="49" charset="0"/>
              </a:rPr>
              <a:t>cin</a:t>
            </a:r>
            <a:r>
              <a:rPr lang="ru-RU" sz="1400" dirty="0">
                <a:solidFill>
                  <a:srgbClr val="000000"/>
                </a:solidFill>
                <a:latin typeface="Consolas" panose="020B0609020204030204" pitchFamily="49" charset="0"/>
              </a:rPr>
              <a:t> </a:t>
            </a:r>
            <a:r>
              <a:rPr lang="ru-RU" sz="1400" dirty="0">
                <a:solidFill>
                  <a:srgbClr val="008080"/>
                </a:solidFill>
                <a:latin typeface="Consolas" panose="020B0609020204030204" pitchFamily="49" charset="0"/>
              </a:rPr>
              <a:t>&gt;&gt;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reply</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считываем ответ пользователя</a:t>
            </a:r>
            <a:endParaRPr lang="ru-RU"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    } </a:t>
            </a:r>
            <a:r>
              <a:rPr lang="ru-RU" sz="1400" dirty="0" err="1">
                <a:solidFill>
                  <a:srgbClr val="0000FF"/>
                </a:solidFill>
                <a:latin typeface="Consolas" panose="020B0609020204030204" pitchFamily="49" charset="0"/>
              </a:rPr>
              <a:t>while</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reply</a:t>
            </a:r>
            <a:r>
              <a:rPr lang="ru-RU" sz="1400" dirty="0">
                <a:solidFill>
                  <a:srgbClr val="000000"/>
                </a:solidFill>
                <a:latin typeface="Consolas" panose="020B0609020204030204" pitchFamily="49" charset="0"/>
              </a:rPr>
              <a:t> != </a:t>
            </a:r>
            <a:r>
              <a:rPr lang="ru-RU" sz="1400" dirty="0">
                <a:solidFill>
                  <a:srgbClr val="A31515"/>
                </a:solidFill>
                <a:latin typeface="Consolas" panose="020B0609020204030204" pitchFamily="49" charset="0"/>
              </a:rPr>
              <a:t>'y'</a:t>
            </a:r>
            <a:r>
              <a:rPr lang="ru-RU" sz="1400" dirty="0">
                <a:solidFill>
                  <a:srgbClr val="000000"/>
                </a:solidFill>
                <a:latin typeface="Consolas" panose="020B0609020204030204" pitchFamily="49" charset="0"/>
              </a:rPr>
              <a:t> &amp;&amp; </a:t>
            </a:r>
            <a:r>
              <a:rPr lang="ru-RU" sz="1400" dirty="0" err="1">
                <a:solidFill>
                  <a:srgbClr val="000000"/>
                </a:solidFill>
                <a:latin typeface="Consolas" panose="020B0609020204030204" pitchFamily="49" charset="0"/>
              </a:rPr>
              <a:t>reply</a:t>
            </a:r>
            <a:r>
              <a:rPr lang="ru-RU" sz="1400" dirty="0">
                <a:solidFill>
                  <a:srgbClr val="000000"/>
                </a:solidFill>
                <a:latin typeface="Consolas" panose="020B0609020204030204" pitchFamily="49" charset="0"/>
              </a:rPr>
              <a:t> != </a:t>
            </a:r>
            <a:r>
              <a:rPr lang="ru-RU" sz="1400" dirty="0">
                <a:solidFill>
                  <a:srgbClr val="A31515"/>
                </a:solidFill>
                <a:latin typeface="Consolas" panose="020B0609020204030204" pitchFamily="49" charset="0"/>
              </a:rPr>
              <a:t>'Y'</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пока пользователь не введет символ y и Y</a:t>
            </a:r>
            <a:endParaRPr lang="ru-RU" sz="1400" dirty="0">
              <a:solidFill>
                <a:srgbClr val="000000"/>
              </a:solidFill>
              <a:latin typeface="Consolas" panose="020B0609020204030204" pitchFamily="49" charset="0"/>
            </a:endParaRPr>
          </a:p>
          <a:p>
            <a:pPr lvl="1"/>
            <a:endParaRPr lang="ru-RU" sz="1400" dirty="0">
              <a:solidFill>
                <a:srgbClr val="000000"/>
              </a:solidFill>
              <a:latin typeface="Consolas" panose="020B0609020204030204" pitchFamily="49" charset="0"/>
            </a:endParaRP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"The average value is "</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total / count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417788574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E2788A-196B-BF6B-40C0-3B179D172076}"/>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01679689-8984-BA3C-E9EA-143C67D8C8CA}"/>
              </a:ext>
            </a:extLst>
          </p:cNvPr>
          <p:cNvSpPr>
            <a:spLocks noGrp="1"/>
          </p:cNvSpPr>
          <p:nvPr>
            <p:ph idx="1"/>
          </p:nvPr>
        </p:nvSpPr>
        <p:spPr/>
        <p:txBody>
          <a:bodyPr/>
          <a:lstStyle/>
          <a:p>
            <a:r>
              <a:rPr lang="ru-RU" b="1" dirty="0"/>
              <a:t>Вложенные циклы</a:t>
            </a:r>
          </a:p>
          <a:p>
            <a:pPr lvl="1"/>
            <a:r>
              <a:rPr lang="ru-RU" dirty="0"/>
              <a:t>Можно определять вложенные циклы. Например, выведем таблицу умножения с помощью вложенного цикла </a:t>
            </a:r>
            <a:r>
              <a:rPr lang="ru-RU" dirty="0" err="1"/>
              <a:t>for</a:t>
            </a:r>
            <a:r>
              <a:rPr lang="ru-RU" dirty="0"/>
              <a:t>:</a:t>
            </a:r>
          </a:p>
          <a:p>
            <a:pPr lvl="1"/>
            <a:endParaRPr lang="ru-RU" dirty="0"/>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for</a:t>
            </a:r>
            <a:r>
              <a:rPr lang="nn-NO" sz="1200" dirty="0">
                <a:solidFill>
                  <a:srgbClr val="000000"/>
                </a:solidFill>
                <a:latin typeface="Consolas" panose="020B0609020204030204" pitchFamily="49" charset="0"/>
              </a:rPr>
              <a:t> (</a:t>
            </a:r>
            <a:r>
              <a:rPr lang="nn-NO" sz="1200" dirty="0">
                <a:solidFill>
                  <a:srgbClr val="0000FF"/>
                </a:solidFill>
                <a:latin typeface="Consolas" panose="020B0609020204030204" pitchFamily="49" charset="0"/>
              </a:rPr>
              <a:t>int</a:t>
            </a:r>
            <a:r>
              <a:rPr lang="nn-NO" sz="1200" dirty="0">
                <a:solidFill>
                  <a:srgbClr val="000000"/>
                </a:solidFill>
                <a:latin typeface="Consolas" panose="020B0609020204030204" pitchFamily="49" charset="0"/>
              </a:rPr>
              <a:t> i{ 1 }; i &lt; 10; i++)</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for</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j{ 1 }; j &lt; 10; </a:t>
            </a:r>
            <a:r>
              <a:rPr lang="de-CH" sz="1200" dirty="0" err="1">
                <a:solidFill>
                  <a:srgbClr val="000000"/>
                </a:solidFill>
                <a:latin typeface="Consolas" panose="020B0609020204030204" pitchFamily="49" charset="0"/>
              </a:rPr>
              <a:t>j++</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fr-FR" sz="1200" dirty="0">
                <a:solidFill>
                  <a:srgbClr val="000000"/>
                </a:solidFill>
                <a:latin typeface="Consolas" panose="020B0609020204030204" pitchFamily="49" charset="0"/>
              </a:rPr>
              <a:t>            std::cout </a:t>
            </a:r>
            <a:r>
              <a:rPr lang="fr-FR" sz="1200" dirty="0">
                <a:solidFill>
                  <a:srgbClr val="008080"/>
                </a:solidFill>
                <a:latin typeface="Consolas" panose="020B0609020204030204" pitchFamily="49" charset="0"/>
              </a:rPr>
              <a:t>&lt;&lt;</a:t>
            </a:r>
            <a:r>
              <a:rPr lang="fr-FR" sz="1200" dirty="0">
                <a:solidFill>
                  <a:srgbClr val="000000"/>
                </a:solidFill>
                <a:latin typeface="Consolas" panose="020B0609020204030204" pitchFamily="49" charset="0"/>
              </a:rPr>
              <a:t> i * j </a:t>
            </a:r>
            <a:r>
              <a:rPr lang="fr-FR" sz="1200" dirty="0">
                <a:solidFill>
                  <a:srgbClr val="008080"/>
                </a:solidFill>
                <a:latin typeface="Consolas" panose="020B0609020204030204" pitchFamily="49" charset="0"/>
              </a:rPr>
              <a:t>&lt;&lt;</a:t>
            </a:r>
            <a:r>
              <a:rPr lang="fr-FR" sz="1200" dirty="0">
                <a:solidFill>
                  <a:srgbClr val="000000"/>
                </a:solidFill>
                <a:latin typeface="Consolas" panose="020B0609020204030204" pitchFamily="49" charset="0"/>
              </a:rPr>
              <a:t> </a:t>
            </a:r>
            <a:r>
              <a:rPr lang="fr-FR" sz="1200" dirty="0">
                <a:solidFill>
                  <a:srgbClr val="A31515"/>
                </a:solidFill>
                <a:latin typeface="Consolas" panose="020B0609020204030204" pitchFamily="49" charset="0"/>
              </a:rPr>
              <a:t>"\t"</a:t>
            </a:r>
            <a:r>
              <a:rPr lang="fr-FR"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29595772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A75A5F-C5A4-EF6A-D007-94BB25A63ED6}"/>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85AC65F0-6875-92FC-FA71-58124038B345}"/>
              </a:ext>
            </a:extLst>
          </p:cNvPr>
          <p:cNvSpPr>
            <a:spLocks noGrp="1"/>
          </p:cNvSpPr>
          <p:nvPr>
            <p:ph idx="1"/>
          </p:nvPr>
        </p:nvSpPr>
        <p:spPr/>
        <p:txBody>
          <a:bodyPr/>
          <a:lstStyle/>
          <a:p>
            <a:r>
              <a:rPr lang="ru-RU" b="1" dirty="0"/>
              <a:t>Операторы </a:t>
            </a:r>
            <a:r>
              <a:rPr lang="de-CH" b="1" dirty="0" err="1"/>
              <a:t>continue</a:t>
            </a:r>
            <a:r>
              <a:rPr lang="de-CH" b="1" dirty="0"/>
              <a:t> </a:t>
            </a:r>
            <a:r>
              <a:rPr lang="ru-RU" b="1" dirty="0"/>
              <a:t>и </a:t>
            </a:r>
            <a:r>
              <a:rPr lang="de-CH" b="1" dirty="0"/>
              <a:t>break</a:t>
            </a:r>
          </a:p>
          <a:p>
            <a:r>
              <a:rPr lang="ru-RU" dirty="0"/>
              <a:t>Оператор </a:t>
            </a:r>
            <a:r>
              <a:rPr lang="en-US" dirty="0"/>
              <a:t>break </a:t>
            </a:r>
            <a:r>
              <a:rPr lang="ru-RU" dirty="0"/>
              <a:t>служит для выхода из цикла до его завершения</a:t>
            </a:r>
            <a:r>
              <a:rPr lang="en-US" dirty="0"/>
              <a:t>;</a:t>
            </a:r>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1 }; i &lt; 10; i++)</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 i;</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&gt; 20)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en-US" dirty="0"/>
          </a:p>
        </p:txBody>
      </p:sp>
    </p:spTree>
    <p:extLst>
      <p:ext uri="{BB962C8B-B14F-4D97-AF65-F5344CB8AC3E}">
        <p14:creationId xmlns:p14="http://schemas.microsoft.com/office/powerpoint/2010/main" val="13413381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A9FE6A-0B6D-46E3-C9C5-503D11C7B83B}"/>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675834FE-6226-0DC3-0BAA-FA57FCA5030E}"/>
              </a:ext>
            </a:extLst>
          </p:cNvPr>
          <p:cNvSpPr>
            <a:spLocks noGrp="1"/>
          </p:cNvSpPr>
          <p:nvPr>
            <p:ph idx="1"/>
          </p:nvPr>
        </p:nvSpPr>
        <p:spPr/>
        <p:txBody>
          <a:bodyPr/>
          <a:lstStyle/>
          <a:p>
            <a:r>
              <a:rPr lang="ru-RU" dirty="0"/>
              <a:t>Оператор </a:t>
            </a:r>
            <a:r>
              <a:rPr lang="en-US" b="1" dirty="0"/>
              <a:t>continue </a:t>
            </a:r>
            <a:r>
              <a:rPr lang="en-US" dirty="0"/>
              <a:t>– </a:t>
            </a:r>
            <a:r>
              <a:rPr lang="ru-RU" dirty="0"/>
              <a:t>служит для перехода к следующей итерации</a:t>
            </a:r>
          </a:p>
          <a:p>
            <a:endParaRPr lang="ru-RU" b="1"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1 }; i &lt; 10;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 2 == 0) </a:t>
            </a:r>
            <a:r>
              <a:rPr lang="en-US" dirty="0">
                <a:solidFill>
                  <a:srgbClr val="0000FF"/>
                </a:solidFill>
                <a:latin typeface="Consolas" panose="020B0609020204030204" pitchFamily="49" charset="0"/>
              </a:rPr>
              <a:t>continue</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"result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result = 25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b="1" dirty="0"/>
          </a:p>
        </p:txBody>
      </p:sp>
    </p:spTree>
    <p:extLst>
      <p:ext uri="{BB962C8B-B14F-4D97-AF65-F5344CB8AC3E}">
        <p14:creationId xmlns:p14="http://schemas.microsoft.com/office/powerpoint/2010/main" val="330219618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88D9B5-AED6-CD8D-1F51-23D825BC04DC}"/>
              </a:ext>
            </a:extLst>
          </p:cNvPr>
          <p:cNvSpPr>
            <a:spLocks noGrp="1"/>
          </p:cNvSpPr>
          <p:nvPr>
            <p:ph type="title"/>
          </p:nvPr>
        </p:nvSpPr>
        <p:spPr/>
        <p:txBody>
          <a:bodyPr/>
          <a:lstStyle/>
          <a:p>
            <a:r>
              <a:rPr lang="ru-RU" b="1" dirty="0"/>
              <a:t>Циклы</a:t>
            </a:r>
            <a:endParaRPr lang="ru-RU" dirty="0"/>
          </a:p>
        </p:txBody>
      </p:sp>
      <p:sp>
        <p:nvSpPr>
          <p:cNvPr id="3" name="Объект 2">
            <a:extLst>
              <a:ext uri="{FF2B5EF4-FFF2-40B4-BE49-F238E27FC236}">
                <a16:creationId xmlns:a16="http://schemas.microsoft.com/office/drawing/2014/main" id="{512DCCFE-D9FA-F5B6-98AC-E76D00D1745B}"/>
              </a:ext>
            </a:extLst>
          </p:cNvPr>
          <p:cNvSpPr>
            <a:spLocks noGrp="1"/>
          </p:cNvSpPr>
          <p:nvPr>
            <p:ph idx="1"/>
          </p:nvPr>
        </p:nvSpPr>
        <p:spPr/>
        <p:txBody>
          <a:bodyPr/>
          <a:lstStyle/>
          <a:p>
            <a:r>
              <a:rPr lang="ru-RU" b="1" dirty="0" err="1"/>
              <a:t>Бесоконечные</a:t>
            </a:r>
            <a:r>
              <a:rPr lang="ru-RU" b="1" dirty="0"/>
              <a:t> циклы</a:t>
            </a:r>
          </a:p>
          <a:p>
            <a:endParaRPr lang="ru-RU" dirty="0"/>
          </a:p>
          <a:p>
            <a:pPr lvl="1">
              <a:lnSpc>
                <a:spcPts val="1575"/>
              </a:lnSpc>
            </a:pPr>
            <a:r>
              <a:rPr lang="ru-RU" b="0" i="0" dirty="0">
                <a:solidFill>
                  <a:srgbClr val="008200"/>
                </a:solidFill>
                <a:effectLst/>
                <a:latin typeface="SFMono-Regular"/>
              </a:rPr>
              <a:t>// бесконечный цикл </a:t>
            </a:r>
            <a:r>
              <a:rPr lang="de-CH" b="0" i="0" dirty="0" err="1">
                <a:solidFill>
                  <a:srgbClr val="008200"/>
                </a:solidFill>
                <a:effectLst/>
                <a:latin typeface="SFMono-Regular"/>
              </a:rPr>
              <a:t>for</a:t>
            </a:r>
            <a:r>
              <a:rPr lang="de-CH" b="0" i="0" dirty="0">
                <a:solidFill>
                  <a:srgbClr val="008200"/>
                </a:solidFill>
                <a:effectLst/>
                <a:latin typeface="SFMono-Regular"/>
              </a:rPr>
              <a:t> - </a:t>
            </a:r>
            <a:r>
              <a:rPr lang="ru-RU" b="0" i="0" dirty="0">
                <a:solidFill>
                  <a:srgbClr val="008200"/>
                </a:solidFill>
                <a:effectLst/>
                <a:latin typeface="SFMono-Regular"/>
              </a:rPr>
              <a:t>условие завершения отсутствует</a:t>
            </a:r>
            <a:endParaRPr lang="ru-RU" b="0" i="0" dirty="0">
              <a:solidFill>
                <a:srgbClr val="000000"/>
              </a:solidFill>
              <a:effectLst/>
              <a:latin typeface="SFMono-Regular"/>
            </a:endParaRPr>
          </a:p>
          <a:p>
            <a:pPr lvl="1">
              <a:lnSpc>
                <a:spcPts val="1575"/>
              </a:lnSpc>
            </a:pPr>
            <a:r>
              <a:rPr lang="de-CH" b="1" i="0" dirty="0" err="1">
                <a:solidFill>
                  <a:srgbClr val="006699"/>
                </a:solidFill>
                <a:effectLst/>
                <a:latin typeface="SFMono-Regular"/>
              </a:rPr>
              <a:t>for</a:t>
            </a:r>
            <a:r>
              <a:rPr lang="de-CH" b="0" i="0" dirty="0">
                <a:solidFill>
                  <a:srgbClr val="000000"/>
                </a:solidFill>
                <a:effectLst/>
                <a:latin typeface="SFMono-Regular"/>
              </a:rPr>
              <a:t> (;;)</a:t>
            </a: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8200"/>
                </a:solidFill>
                <a:effectLst/>
                <a:latin typeface="SFMono-Regular"/>
              </a:rPr>
              <a:t>// </a:t>
            </a:r>
            <a:r>
              <a:rPr lang="ru-RU" b="0" i="0" dirty="0">
                <a:solidFill>
                  <a:srgbClr val="008200"/>
                </a:solidFill>
                <a:effectLst/>
                <a:latin typeface="SFMono-Regular"/>
              </a:rPr>
              <a:t>бесконечный цикл </a:t>
            </a:r>
            <a:r>
              <a:rPr lang="de-CH" b="0" i="0" dirty="0" err="1">
                <a:solidFill>
                  <a:srgbClr val="008200"/>
                </a:solidFill>
                <a:effectLst/>
                <a:latin typeface="SFMono-Regular"/>
              </a:rPr>
              <a:t>while</a:t>
            </a:r>
            <a:r>
              <a:rPr lang="de-CH" b="0" i="0" dirty="0">
                <a:solidFill>
                  <a:srgbClr val="008200"/>
                </a:solidFill>
                <a:effectLst/>
                <a:latin typeface="SFMono-Regular"/>
              </a:rPr>
              <a:t> - </a:t>
            </a:r>
            <a:r>
              <a:rPr lang="ru-RU" b="0" i="0" dirty="0">
                <a:solidFill>
                  <a:srgbClr val="008200"/>
                </a:solidFill>
                <a:effectLst/>
                <a:latin typeface="SFMono-Regular"/>
              </a:rPr>
              <a:t>условие всегда равно </a:t>
            </a:r>
            <a:r>
              <a:rPr lang="de-CH" b="0" i="0" dirty="0" err="1">
                <a:solidFill>
                  <a:srgbClr val="008200"/>
                </a:solidFill>
                <a:effectLst/>
                <a:latin typeface="SFMono-Regular"/>
              </a:rPr>
              <a:t>true</a:t>
            </a:r>
            <a:endParaRPr lang="de-CH" b="0" i="0" dirty="0">
              <a:solidFill>
                <a:srgbClr val="000000"/>
              </a:solidFill>
              <a:effectLst/>
              <a:latin typeface="SFMono-Regular"/>
            </a:endParaRPr>
          </a:p>
          <a:p>
            <a:pPr lvl="1">
              <a:lnSpc>
                <a:spcPts val="1575"/>
              </a:lnSpc>
            </a:pPr>
            <a:r>
              <a:rPr lang="de-CH" b="1" i="0" dirty="0" err="1">
                <a:solidFill>
                  <a:srgbClr val="006699"/>
                </a:solidFill>
                <a:effectLst/>
                <a:latin typeface="SFMono-Regular"/>
              </a:rPr>
              <a:t>while</a:t>
            </a:r>
            <a:r>
              <a:rPr lang="de-CH" b="0" i="0" dirty="0">
                <a:solidFill>
                  <a:srgbClr val="000000"/>
                </a:solidFill>
                <a:effectLst/>
                <a:latin typeface="SFMono-Regular"/>
              </a:rPr>
              <a:t> (</a:t>
            </a:r>
            <a:r>
              <a:rPr lang="de-CH" b="1" i="0" dirty="0" err="1">
                <a:solidFill>
                  <a:srgbClr val="006699"/>
                </a:solidFill>
                <a:effectLst/>
                <a:latin typeface="SFMono-Regular"/>
              </a:rPr>
              <a:t>true</a:t>
            </a:r>
            <a:r>
              <a:rPr lang="de-CH" b="0" i="0" dirty="0">
                <a:solidFill>
                  <a:srgbClr val="000000"/>
                </a:solidFill>
                <a:effectLst/>
                <a:latin typeface="SFMono-Regular"/>
              </a:rPr>
              <a:t>)</a:t>
            </a: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8200"/>
                </a:solidFill>
                <a:effectLst/>
                <a:latin typeface="SFMono-Regular"/>
              </a:rPr>
              <a:t>// </a:t>
            </a:r>
            <a:r>
              <a:rPr lang="ru-RU" b="0" i="0" dirty="0">
                <a:solidFill>
                  <a:srgbClr val="008200"/>
                </a:solidFill>
                <a:effectLst/>
                <a:latin typeface="SFMono-Regular"/>
              </a:rPr>
              <a:t>бесконечный цикл </a:t>
            </a:r>
            <a:r>
              <a:rPr lang="de-CH" b="0" i="0" dirty="0">
                <a:solidFill>
                  <a:srgbClr val="008200"/>
                </a:solidFill>
                <a:effectLst/>
                <a:latin typeface="SFMono-Regular"/>
              </a:rPr>
              <a:t>do-</a:t>
            </a:r>
            <a:r>
              <a:rPr lang="de-CH" b="0" i="0" dirty="0" err="1">
                <a:solidFill>
                  <a:srgbClr val="008200"/>
                </a:solidFill>
                <a:effectLst/>
                <a:latin typeface="SFMono-Regular"/>
              </a:rPr>
              <a:t>while</a:t>
            </a:r>
            <a:r>
              <a:rPr lang="de-CH" b="0" i="0" dirty="0">
                <a:solidFill>
                  <a:srgbClr val="008200"/>
                </a:solidFill>
                <a:effectLst/>
                <a:latin typeface="SFMono-Regular"/>
              </a:rPr>
              <a:t> - </a:t>
            </a:r>
            <a:r>
              <a:rPr lang="ru-RU" b="0" i="0" dirty="0">
                <a:solidFill>
                  <a:srgbClr val="008200"/>
                </a:solidFill>
                <a:effectLst/>
                <a:latin typeface="SFMono-Regular"/>
              </a:rPr>
              <a:t>условие всегда равно </a:t>
            </a:r>
            <a:r>
              <a:rPr lang="de-CH" b="0" i="0" dirty="0" err="1">
                <a:solidFill>
                  <a:srgbClr val="008200"/>
                </a:solidFill>
                <a:effectLst/>
                <a:latin typeface="SFMono-Regular"/>
              </a:rPr>
              <a:t>true</a:t>
            </a:r>
            <a:endParaRPr lang="de-CH" b="0" i="0" dirty="0">
              <a:solidFill>
                <a:srgbClr val="000000"/>
              </a:solidFill>
              <a:effectLst/>
              <a:latin typeface="SFMono-Regular"/>
            </a:endParaRPr>
          </a:p>
          <a:p>
            <a:pPr lvl="1">
              <a:lnSpc>
                <a:spcPts val="1575"/>
              </a:lnSpc>
            </a:pPr>
            <a:r>
              <a:rPr lang="de-CH" b="1" i="0" dirty="0">
                <a:solidFill>
                  <a:srgbClr val="006699"/>
                </a:solidFill>
                <a:effectLst/>
                <a:latin typeface="SFMono-Regular"/>
              </a:rPr>
              <a:t>do</a:t>
            </a:r>
            <a:endParaRPr lang="de-CH" b="0" i="0" dirty="0">
              <a:solidFill>
                <a:srgbClr val="000000"/>
              </a:solidFill>
              <a:effectLst/>
              <a:latin typeface="SFMono-Regular"/>
            </a:endParaRPr>
          </a:p>
          <a:p>
            <a:pPr lvl="1">
              <a:lnSpc>
                <a:spcPts val="1575"/>
              </a:lnSpc>
            </a:pPr>
            <a:r>
              <a:rPr lang="de-CH" b="0" i="0" dirty="0">
                <a:solidFill>
                  <a:srgbClr val="000000"/>
                </a:solidFill>
                <a:effectLst/>
                <a:latin typeface="SFMono-Regular"/>
              </a:rPr>
              <a:t>{</a:t>
            </a:r>
          </a:p>
          <a:p>
            <a:pPr lvl="1">
              <a:lnSpc>
                <a:spcPts val="1575"/>
              </a:lnSpc>
            </a:pPr>
            <a:r>
              <a:rPr lang="de-CH" b="0" i="0" dirty="0">
                <a:solidFill>
                  <a:srgbClr val="000000"/>
                </a:solidFill>
                <a:effectLst/>
                <a:latin typeface="SFMono-Regular"/>
              </a:rPr>
              <a:t>}</a:t>
            </a:r>
          </a:p>
          <a:p>
            <a:pPr lvl="1">
              <a:lnSpc>
                <a:spcPts val="1575"/>
              </a:lnSpc>
            </a:pPr>
            <a:r>
              <a:rPr lang="de-CH" b="1" i="0" dirty="0" err="1">
                <a:solidFill>
                  <a:srgbClr val="006699"/>
                </a:solidFill>
                <a:effectLst/>
                <a:latin typeface="SFMono-Regular"/>
              </a:rPr>
              <a:t>while</a:t>
            </a:r>
            <a:r>
              <a:rPr lang="de-CH" b="0" i="0" dirty="0">
                <a:solidFill>
                  <a:srgbClr val="000000"/>
                </a:solidFill>
                <a:effectLst/>
                <a:latin typeface="SFMono-Regular"/>
              </a:rPr>
              <a:t> (</a:t>
            </a:r>
            <a:r>
              <a:rPr lang="de-CH" b="1" i="0" dirty="0" err="1">
                <a:solidFill>
                  <a:srgbClr val="006699"/>
                </a:solidFill>
                <a:effectLst/>
                <a:latin typeface="SFMono-Regular"/>
              </a:rPr>
              <a:t>true</a:t>
            </a:r>
            <a:r>
              <a:rPr lang="de-CH" b="0" i="0" dirty="0">
                <a:solidFill>
                  <a:srgbClr val="000000"/>
                </a:solidFill>
                <a:effectLst/>
                <a:latin typeface="SFMono-Regular"/>
              </a:rPr>
              <a:t>);</a:t>
            </a:r>
          </a:p>
          <a:p>
            <a:endParaRPr lang="ru-RU" dirty="0"/>
          </a:p>
        </p:txBody>
      </p:sp>
    </p:spTree>
    <p:extLst>
      <p:ext uri="{BB962C8B-B14F-4D97-AF65-F5344CB8AC3E}">
        <p14:creationId xmlns:p14="http://schemas.microsoft.com/office/powerpoint/2010/main" val="427464756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7ED2CD-5B33-B209-7C04-FE39124DDE76}"/>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36C237D8-D2FA-0F79-E70F-567FBED6FAC4}"/>
              </a:ext>
            </a:extLst>
          </p:cNvPr>
          <p:cNvSpPr>
            <a:spLocks noGrp="1"/>
          </p:cNvSpPr>
          <p:nvPr>
            <p:ph idx="1"/>
          </p:nvPr>
        </p:nvSpPr>
        <p:spPr/>
        <p:txBody>
          <a:bodyPr/>
          <a:lstStyle/>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a:t>
            </a:r>
            <a:r>
              <a:rPr lang="ru-RU" dirty="0">
                <a:solidFill>
                  <a:srgbClr val="008000"/>
                </a:solidFill>
                <a:latin typeface="Consolas" panose="020B0609020204030204" pitchFamily="49" charset="0"/>
              </a:rPr>
              <a:t>// для ввода числа</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бесконечный цикл</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while</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true</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"Enter a number: "</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cin</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&gt;&gt;</a:t>
            </a:r>
            <a:r>
              <a:rPr lang="ru-RU" dirty="0">
                <a:solidFill>
                  <a:srgbClr val="000000"/>
                </a:solidFill>
                <a:latin typeface="Consolas" panose="020B0609020204030204" pitchFamily="49" charset="0"/>
              </a:rPr>
              <a:t> n; </a:t>
            </a:r>
            <a:r>
              <a:rPr lang="ru-RU" dirty="0">
                <a:solidFill>
                  <a:srgbClr val="008000"/>
                </a:solidFill>
                <a:latin typeface="Consolas" panose="020B0609020204030204" pitchFamily="49" charset="0"/>
              </a:rPr>
              <a:t>// Вводим число</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если пользователь ввел 0, то выходим из цикла</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(n == 0) </a:t>
            </a:r>
            <a:r>
              <a:rPr lang="de-CH" dirty="0">
                <a:solidFill>
                  <a:srgbClr val="0000FF"/>
                </a:solidFill>
                <a:latin typeface="Consolas" panose="020B0609020204030204" pitchFamily="49" charset="0"/>
              </a:rPr>
              <a:t>break</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иначе выводим квадрат числа</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5426919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1F5834-FF01-0369-566E-B9560968A1D3}"/>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60D40083-33D9-A8A8-D4A5-DCECE0FB2CAB}"/>
              </a:ext>
            </a:extLst>
          </p:cNvPr>
          <p:cNvSpPr>
            <a:spLocks noGrp="1"/>
          </p:cNvSpPr>
          <p:nvPr>
            <p:ph idx="1"/>
          </p:nvPr>
        </p:nvSpPr>
        <p:spPr/>
        <p:txBody>
          <a:bodyPr/>
          <a:lstStyle/>
          <a:p>
            <a:endParaRPr lang="ru-RU" dirty="0"/>
          </a:p>
          <a:p>
            <a:r>
              <a:rPr lang="ru-RU" dirty="0"/>
              <a:t>Все переменные имеют определенное </a:t>
            </a:r>
            <a:r>
              <a:rPr lang="ru-RU" b="1" dirty="0"/>
              <a:t>время жизни</a:t>
            </a:r>
            <a:r>
              <a:rPr lang="ru-RU" dirty="0"/>
              <a:t> (</a:t>
            </a:r>
            <a:r>
              <a:rPr lang="ru-RU" dirty="0" err="1"/>
              <a:t>lifetime</a:t>
            </a:r>
            <a:r>
              <a:rPr lang="ru-RU" dirty="0"/>
              <a:t>) и </a:t>
            </a:r>
            <a:r>
              <a:rPr lang="ru-RU" b="1" dirty="0"/>
              <a:t>область видимости</a:t>
            </a:r>
            <a:r>
              <a:rPr lang="ru-RU" dirty="0"/>
              <a:t> (</a:t>
            </a:r>
            <a:r>
              <a:rPr lang="ru-RU" dirty="0" err="1"/>
              <a:t>scope</a:t>
            </a:r>
            <a:r>
              <a:rPr lang="ru-RU" dirty="0"/>
              <a:t>). Время жизни начинается с момента определения переменной и длится до ее уничтожения. Область видимости представляет часть программы, в пределах которой можно использовать объект. Как правило, область видимости ограничивается блоком кода, который заключается в фигурные скобки. В зависимости от области видимости создаваемые объекты могут быть глобальными, локальными или автоматическими.</a:t>
            </a:r>
          </a:p>
        </p:txBody>
      </p:sp>
    </p:spTree>
    <p:extLst>
      <p:ext uri="{BB962C8B-B14F-4D97-AF65-F5344CB8AC3E}">
        <p14:creationId xmlns:p14="http://schemas.microsoft.com/office/powerpoint/2010/main" val="389988920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50E0A5-8C0B-C0CF-9DE0-D6AA55DCA853}"/>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BFDCDD41-12C4-6E1D-40E1-0FFD65AECF3B}"/>
              </a:ext>
            </a:extLst>
          </p:cNvPr>
          <p:cNvSpPr>
            <a:spLocks noGrp="1"/>
          </p:cNvSpPr>
          <p:nvPr>
            <p:ph idx="1"/>
          </p:nvPr>
        </p:nvSpPr>
        <p:spPr/>
        <p:txBody>
          <a:bodyPr/>
          <a:lstStyle/>
          <a:p>
            <a:r>
              <a:rPr lang="ru-RU" b="1" dirty="0"/>
              <a:t>Глобальные объекты</a:t>
            </a:r>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5 };   </a:t>
            </a:r>
            <a:r>
              <a:rPr lang="ru-RU" dirty="0">
                <a:solidFill>
                  <a:srgbClr val="008000"/>
                </a:solidFill>
                <a:latin typeface="Consolas" panose="020B0609020204030204" pitchFamily="49" charset="0"/>
              </a:rPr>
              <a:t>// глобальная переменная</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n++;</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n=6</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n++;</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n=7</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04618765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977DF8-7CC1-7C21-3178-39F9F6DE59EC}"/>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5814A0BC-21F3-9185-AF50-081A550F14FD}"/>
              </a:ext>
            </a:extLst>
          </p:cNvPr>
          <p:cNvSpPr>
            <a:spLocks noGrp="1"/>
          </p:cNvSpPr>
          <p:nvPr>
            <p:ph idx="1"/>
          </p:nvPr>
        </p:nvSpPr>
        <p:spPr/>
        <p:txBody>
          <a:bodyPr/>
          <a:lstStyle/>
          <a:p>
            <a:r>
              <a:rPr lang="ru-RU" b="1" dirty="0"/>
              <a:t>Локальные объекты</a:t>
            </a:r>
          </a:p>
          <a:p>
            <a:r>
              <a:rPr lang="ru-RU" dirty="0"/>
              <a:t>Объекты, которые создаются внутри блока кода (он может представлять функцию или какую-либо конструкцию типа циклов), называются </a:t>
            </a:r>
            <a:r>
              <a:rPr lang="ru-RU" b="1" dirty="0"/>
              <a:t>локальными</a:t>
            </a:r>
            <a:r>
              <a:rPr lang="ru-RU" dirty="0"/>
              <a:t>. Такие объекты доступны в пределах только того блока кода, в котором они определены.</a:t>
            </a:r>
            <a:endParaRPr lang="en-US" dirty="0"/>
          </a:p>
          <a:p>
            <a:endParaRPr lang="en-US" dirty="0"/>
          </a:p>
          <a:p>
            <a:r>
              <a:rPr lang="ru-RU" dirty="0"/>
              <a:t>Локальные объекты, которые существуют только во время выполнения того блока, в котором они определены, являются </a:t>
            </a:r>
            <a:r>
              <a:rPr lang="ru-RU" b="1" dirty="0"/>
              <a:t>автоматическими</a:t>
            </a:r>
            <a:r>
              <a:rPr lang="ru-RU" dirty="0"/>
              <a:t>.</a:t>
            </a:r>
          </a:p>
          <a:p>
            <a:r>
              <a:rPr lang="ru-RU" dirty="0"/>
              <a:t>При входе в блок для подобных переменных выделяется память, а после завершения работы этого блока, выделенная память освобождается, а объекты удаляются.</a:t>
            </a:r>
          </a:p>
          <a:p>
            <a:endParaRPr lang="ru-RU" dirty="0"/>
          </a:p>
        </p:txBody>
      </p:sp>
    </p:spTree>
    <p:extLst>
      <p:ext uri="{BB962C8B-B14F-4D97-AF65-F5344CB8AC3E}">
        <p14:creationId xmlns:p14="http://schemas.microsoft.com/office/powerpoint/2010/main" val="116004784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19D3F7-C24A-ECFD-EBF0-9E912711EBC3}"/>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80C2352E-41BE-699E-BAA6-2AB887F322E4}"/>
              </a:ext>
            </a:extLst>
          </p:cNvPr>
          <p:cNvSpPr>
            <a:spLocks noGrp="1"/>
          </p:cNvSpPr>
          <p:nvPr>
            <p:ph idx="1"/>
          </p:nvPr>
        </p:nvSpPr>
        <p:spPr/>
        <p:txBody>
          <a:bodyPr/>
          <a:lstStyle/>
          <a:p>
            <a:r>
              <a:rPr lang="ru-RU" b="1" dirty="0"/>
              <a:t>Скрытие объектов</a:t>
            </a:r>
          </a:p>
          <a:p>
            <a:endParaRPr lang="en-US" dirty="0"/>
          </a:p>
          <a:p>
            <a:r>
              <a:rPr lang="ru-RU" dirty="0"/>
              <a:t>Локальные объекты, определенные внутри одного контекста, могут скрывать объекты с тем же именем, определенные во внешнем контексте:</a:t>
            </a:r>
          </a:p>
          <a:p>
            <a:br>
              <a:rPr lang="ru-RU" dirty="0"/>
            </a:br>
            <a:endParaRPr lang="ru-RU" dirty="0"/>
          </a:p>
        </p:txBody>
      </p:sp>
    </p:spTree>
    <p:extLst>
      <p:ext uri="{BB962C8B-B14F-4D97-AF65-F5344CB8AC3E}">
        <p14:creationId xmlns:p14="http://schemas.microsoft.com/office/powerpoint/2010/main" val="300210776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321293-8107-C2A2-0E70-20F498ED2A36}"/>
              </a:ext>
            </a:extLst>
          </p:cNvPr>
          <p:cNvSpPr>
            <a:spLocks noGrp="1"/>
          </p:cNvSpPr>
          <p:nvPr>
            <p:ph type="title"/>
          </p:nvPr>
        </p:nvSpPr>
        <p:spPr/>
        <p:txBody>
          <a:bodyPr/>
          <a:lstStyle/>
          <a:p>
            <a:r>
              <a:rPr lang="ru-RU" dirty="0"/>
              <a:t>Область видимости</a:t>
            </a:r>
          </a:p>
        </p:txBody>
      </p:sp>
      <p:sp>
        <p:nvSpPr>
          <p:cNvPr id="3" name="Объект 2">
            <a:extLst>
              <a:ext uri="{FF2B5EF4-FFF2-40B4-BE49-F238E27FC236}">
                <a16:creationId xmlns:a16="http://schemas.microsoft.com/office/drawing/2014/main" id="{5BDB6940-9EA5-0843-E67C-ADD5F8CC4D73}"/>
              </a:ext>
            </a:extLst>
          </p:cNvPr>
          <p:cNvSpPr>
            <a:spLocks noGrp="1"/>
          </p:cNvSpPr>
          <p:nvPr>
            <p:ph idx="1"/>
          </p:nvPr>
        </p:nvSpPr>
        <p:spPr/>
        <p:txBody>
          <a:bodyPr/>
          <a:lstStyle/>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n=10</a:t>
            </a:r>
            <a:endParaRPr lang="pt-BR"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20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n=20</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377987300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143A68-BF77-DD2C-B3C3-04FD63EE1090}"/>
              </a:ext>
            </a:extLst>
          </p:cNvPr>
          <p:cNvSpPr>
            <a:spLocks noGrp="1"/>
          </p:cNvSpPr>
          <p:nvPr>
            <p:ph type="title"/>
          </p:nvPr>
        </p:nvSpPr>
        <p:spPr/>
        <p:txBody>
          <a:bodyPr/>
          <a:lstStyle/>
          <a:p>
            <a:endParaRPr lang="ru-RU" dirty="0"/>
          </a:p>
        </p:txBody>
      </p:sp>
      <p:sp>
        <p:nvSpPr>
          <p:cNvPr id="3" name="Объект 2">
            <a:extLst>
              <a:ext uri="{FF2B5EF4-FFF2-40B4-BE49-F238E27FC236}">
                <a16:creationId xmlns:a16="http://schemas.microsoft.com/office/drawing/2014/main" id="{7C6F4381-354A-5DDA-61B4-3244C08FF25C}"/>
              </a:ext>
            </a:extLst>
          </p:cNvPr>
          <p:cNvSpPr>
            <a:spLocks noGrp="1"/>
          </p:cNvSpPr>
          <p:nvPr>
            <p:ph idx="1"/>
          </p:nvPr>
        </p:nvSpPr>
        <p:spPr/>
        <p:txBody>
          <a:bodyPr/>
          <a:lstStyle/>
          <a:p>
            <a:r>
              <a:rPr lang="ru-RU" b="1" dirty="0"/>
              <a:t>Статические объекты</a:t>
            </a:r>
          </a:p>
          <a:p>
            <a:r>
              <a:rPr lang="ru-RU" dirty="0"/>
              <a:t>Кроме автоматических есть особый тип локальных объектов - статические объекты. Они определяются на уровне функций с помощью ключевого слова </a:t>
            </a:r>
            <a:r>
              <a:rPr lang="ru-RU" b="1" dirty="0" err="1"/>
              <a:t>static</a:t>
            </a:r>
            <a:r>
              <a:rPr lang="ru-RU" dirty="0"/>
              <a:t>. Если автоматические переменные определяются и инициализируются при каждом входе в функцию, то статические переменные инициализируются только один раз, а при последующих вызовах функции используется старое значение статической переменной. То есть разница между локальными автоматическими и локальными статическими переменными состоит во времени жизни: автоматические переменные существуют до конца выполнения блока кода, а статические - до конца выполнения программы.</a:t>
            </a:r>
          </a:p>
          <a:p>
            <a:endParaRPr lang="ru-RU" dirty="0"/>
          </a:p>
        </p:txBody>
      </p:sp>
    </p:spTree>
    <p:extLst>
      <p:ext uri="{BB962C8B-B14F-4D97-AF65-F5344CB8AC3E}">
        <p14:creationId xmlns:p14="http://schemas.microsoft.com/office/powerpoint/2010/main" val="266709673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F87B39-BE6F-C0F4-AE73-9C98C1C209C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AF97EDF0-DC38-AC43-87DD-6AB42BF35011}"/>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marL="914400" lvl="2" indent="0">
              <a:buNone/>
            </a:pP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2B91AF"/>
                </a:solidFill>
                <a:latin typeface="Consolas" panose="020B0609020204030204" pitchFamily="49" charset="0"/>
              </a:rPr>
              <a:t>size_t</a:t>
            </a:r>
            <a:r>
              <a:rPr lang="nn-NO" dirty="0">
                <a:solidFill>
                  <a:srgbClr val="000000"/>
                </a:solidFill>
                <a:latin typeface="Consolas" panose="020B0609020204030204" pitchFamily="49" charset="0"/>
              </a:rPr>
              <a:t> i = 0; i &lt; 5; i++)</a:t>
            </a:r>
          </a:p>
          <a:p>
            <a:pPr marL="914400" lvl="2" indent="0">
              <a:buNone/>
            </a:pPr>
            <a:r>
              <a:rPr lang="ru-RU" dirty="0">
                <a:solidFill>
                  <a:srgbClr val="000000"/>
                </a:solidFill>
                <a:latin typeface="Consolas" panose="020B0609020204030204" pitchFamily="49" charset="0"/>
              </a:rPr>
              <a:t>{</a:t>
            </a:r>
          </a:p>
          <a:p>
            <a:pPr marL="1371600" lvl="3" indent="0">
              <a:buNone/>
            </a:pPr>
            <a:r>
              <a:rPr lang="de-CH" dirty="0" err="1">
                <a:solidFill>
                  <a:srgbClr val="0000FF"/>
                </a:solidFill>
                <a:latin typeface="Consolas" panose="020B0609020204030204" pitchFamily="49" charset="0"/>
              </a:rPr>
              <a:t>static</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stInt</a:t>
            </a:r>
            <a:r>
              <a:rPr lang="de-CH" dirty="0">
                <a:solidFill>
                  <a:srgbClr val="000000"/>
                </a:solidFill>
                <a:latin typeface="Consolas" panose="020B0609020204030204" pitchFamily="49" charset="0"/>
              </a:rPr>
              <a:t> = 0;</a:t>
            </a:r>
          </a:p>
          <a:p>
            <a:pPr marL="1371600" lvl="3" indent="0">
              <a:buNone/>
            </a:pPr>
            <a:r>
              <a:rPr lang="de-CH" dirty="0" err="1">
                <a:solidFill>
                  <a:srgbClr val="000000"/>
                </a:solidFill>
                <a:latin typeface="Consolas" panose="020B0609020204030204" pitchFamily="49" charset="0"/>
              </a:rPr>
              <a:t>stInt</a:t>
            </a:r>
            <a:r>
              <a:rPr lang="de-CH" dirty="0">
                <a:solidFill>
                  <a:srgbClr val="000000"/>
                </a:solidFill>
                <a:latin typeface="Consolas" panose="020B0609020204030204" pitchFamily="49" charset="0"/>
              </a:rPr>
              <a:t>++;</a:t>
            </a:r>
          </a:p>
          <a:p>
            <a:pPr marL="1371600" lvl="3"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lInt</a:t>
            </a:r>
            <a:r>
              <a:rPr lang="de-CH" dirty="0">
                <a:solidFill>
                  <a:srgbClr val="000000"/>
                </a:solidFill>
                <a:latin typeface="Consolas" panose="020B0609020204030204" pitchFamily="49" charset="0"/>
              </a:rPr>
              <a:t> = 0;</a:t>
            </a:r>
          </a:p>
          <a:p>
            <a:pPr marL="1371600" lvl="3" indent="0">
              <a:buNone/>
            </a:pPr>
            <a:r>
              <a:rPr lang="de-CH" dirty="0" err="1">
                <a:solidFill>
                  <a:srgbClr val="000000"/>
                </a:solidFill>
                <a:latin typeface="Consolas" panose="020B0609020204030204" pitchFamily="49" charset="0"/>
              </a:rPr>
              <a:t>lInt</a:t>
            </a:r>
            <a:r>
              <a:rPr lang="de-CH" dirty="0">
                <a:solidFill>
                  <a:srgbClr val="000000"/>
                </a:solidFill>
                <a:latin typeface="Consolas" panose="020B0609020204030204" pitchFamily="49" charset="0"/>
              </a:rPr>
              <a:t>++;</a:t>
            </a:r>
          </a:p>
          <a:p>
            <a:pPr marL="1371600" lvl="3" indent="0">
              <a:buNone/>
            </a:pP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lInt</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lInt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stInt</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stInt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marL="914400" lvl="2" indent="0">
              <a:buNone/>
            </a:pPr>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76292030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Заголовок 1"/>
          <p:cNvSpPr>
            <a:spLocks noGrp="1"/>
          </p:cNvSpPr>
          <p:nvPr>
            <p:ph type="title"/>
          </p:nvPr>
        </p:nvSpPr>
        <p:spPr/>
        <p:txBody>
          <a:bodyPr/>
          <a:lstStyle/>
          <a:p>
            <a:r>
              <a:rPr lang="ru-RU" altLang="ru-RU" b="1"/>
              <a:t>Задачи</a:t>
            </a:r>
          </a:p>
        </p:txBody>
      </p:sp>
      <p:sp>
        <p:nvSpPr>
          <p:cNvPr id="106499" name="Объект 2"/>
          <p:cNvSpPr>
            <a:spLocks noGrp="1"/>
          </p:cNvSpPr>
          <p:nvPr>
            <p:ph idx="1"/>
          </p:nvPr>
        </p:nvSpPr>
        <p:spPr/>
        <p:txBody>
          <a:bodyPr/>
          <a:lstStyle/>
          <a:p>
            <a:r>
              <a:rPr lang="ru-RU" altLang="ru-RU" sz="2400"/>
              <a:t>Создайте программу, выводящую на экран все четырёхзначные числа последовательности 1000 1003 1006 1009 1012 1015 ….</a:t>
            </a:r>
          </a:p>
          <a:p>
            <a:r>
              <a:rPr lang="ru-RU" altLang="ru-RU" sz="2400"/>
              <a:t>Создайте программу, выводящую на экран первые 55 элементов последовательности 1 3 5 7 9 11 13 15 17 ….</a:t>
            </a:r>
          </a:p>
          <a:p>
            <a:r>
              <a:rPr lang="ru-RU" altLang="ru-RU" sz="2400"/>
              <a:t>Создайте программу, выводящую на экран все неотрицательные элементы последовательности 90 85 80 75 70 65 60 ….</a:t>
            </a:r>
          </a:p>
          <a:p>
            <a:r>
              <a:rPr lang="ru-RU" altLang="ru-RU" sz="2400"/>
              <a:t>Создайте программу, выводящую на экран первые 20 элементов последовательности 2 4 8 16 32 64 128 ….</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Заголовок 1"/>
          <p:cNvSpPr>
            <a:spLocks noGrp="1"/>
          </p:cNvSpPr>
          <p:nvPr>
            <p:ph type="title"/>
          </p:nvPr>
        </p:nvSpPr>
        <p:spPr/>
        <p:txBody>
          <a:bodyPr/>
          <a:lstStyle/>
          <a:p>
            <a:r>
              <a:rPr lang="ru-RU" altLang="ru-RU" b="1"/>
              <a:t>Задачи</a:t>
            </a:r>
          </a:p>
        </p:txBody>
      </p:sp>
      <p:sp>
        <p:nvSpPr>
          <p:cNvPr id="107523" name="Объект 2"/>
          <p:cNvSpPr>
            <a:spLocks noGrp="1"/>
          </p:cNvSpPr>
          <p:nvPr>
            <p:ph idx="1"/>
          </p:nvPr>
        </p:nvSpPr>
        <p:spPr/>
        <p:txBody>
          <a:bodyPr/>
          <a:lstStyle/>
          <a:p>
            <a:r>
              <a:rPr lang="ru-RU" altLang="ru-RU" sz="2400"/>
              <a:t>Выведите на экран все члены последовательности 2a</a:t>
            </a:r>
            <a:r>
              <a:rPr lang="ru-RU" altLang="ru-RU" sz="2400" baseline="-25000"/>
              <a:t>n-1</a:t>
            </a:r>
            <a:r>
              <a:rPr lang="ru-RU" altLang="ru-RU" sz="2400"/>
              <a:t>–1, где a</a:t>
            </a:r>
            <a:r>
              <a:rPr lang="ru-RU" altLang="ru-RU" sz="2400" baseline="-25000"/>
              <a:t>1</a:t>
            </a:r>
            <a:r>
              <a:rPr lang="ru-RU" altLang="ru-RU" sz="2400"/>
              <a:t>=2, которые меньше 10000.</a:t>
            </a:r>
          </a:p>
          <a:p>
            <a:r>
              <a:rPr lang="ru-RU" altLang="ru-RU" sz="2400"/>
              <a:t>Выведите на экран все двузначные члены последовательности 2a</a:t>
            </a:r>
            <a:r>
              <a:rPr lang="ru-RU" altLang="ru-RU" sz="2400" baseline="-25000"/>
              <a:t>n-1</a:t>
            </a:r>
            <a:r>
              <a:rPr lang="ru-RU" altLang="ru-RU" sz="2400"/>
              <a:t>+200, где a</a:t>
            </a:r>
            <a:r>
              <a:rPr lang="ru-RU" altLang="ru-RU" sz="2400" baseline="-25000"/>
              <a:t>1</a:t>
            </a:r>
            <a:r>
              <a:rPr lang="ru-RU" altLang="ru-RU" sz="2400"/>
              <a:t>= –166.</a:t>
            </a:r>
          </a:p>
          <a:p>
            <a:r>
              <a:rPr lang="ru-RU" altLang="ru-RU" sz="2400"/>
              <a:t>Создайте программу, вычисляющую факториал натурального числа n, которое пользователь введёт с клавиатуры.</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Заголовок 1"/>
          <p:cNvSpPr>
            <a:spLocks noGrp="1"/>
          </p:cNvSpPr>
          <p:nvPr>
            <p:ph type="title"/>
          </p:nvPr>
        </p:nvSpPr>
        <p:spPr/>
        <p:txBody>
          <a:bodyPr/>
          <a:lstStyle/>
          <a:p>
            <a:r>
              <a:rPr lang="ru-RU" altLang="ru-RU" b="1"/>
              <a:t>Задачи</a:t>
            </a:r>
          </a:p>
        </p:txBody>
      </p:sp>
      <p:sp>
        <p:nvSpPr>
          <p:cNvPr id="3" name="Объект 2"/>
          <p:cNvSpPr>
            <a:spLocks noGrp="1"/>
          </p:cNvSpPr>
          <p:nvPr>
            <p:ph idx="1"/>
          </p:nvPr>
        </p:nvSpPr>
        <p:spPr/>
        <p:txBody>
          <a:bodyPr/>
          <a:lstStyle/>
          <a:p>
            <a:pPr>
              <a:defRPr/>
            </a:pPr>
            <a:r>
              <a:rPr lang="ru-RU" sz="2400" dirty="0"/>
              <a:t>Выведите на экран все положительные делители натурального числа, введённого пользователем с клавиатуры.</a:t>
            </a:r>
          </a:p>
          <a:p>
            <a:pPr marL="0" indent="0" algn="just">
              <a:buFont typeface="Wingdings" pitchFamily="2" charset="2"/>
              <a:buNone/>
              <a:defRPr/>
            </a:pPr>
            <a:r>
              <a:rPr lang="ru-RU" sz="2400" dirty="0"/>
              <a:t>      Проверьте, является ли введённое пользователем с клавиатуры натуральное число — простым. Постарайтесь не выполнять лишних действий (например, после того, как вы нашли хотя бы один нетривиальный делитель уже ясно, что число составное и проверку продолжать не нужно). Также учтите, что наименьший делитель натурального числа n, если он вообще имеется, обязательно располагается в отрезке [2; √n].</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Заголовок 1"/>
          <p:cNvSpPr>
            <a:spLocks noGrp="1"/>
          </p:cNvSpPr>
          <p:nvPr>
            <p:ph type="title"/>
          </p:nvPr>
        </p:nvSpPr>
        <p:spPr/>
        <p:txBody>
          <a:bodyPr/>
          <a:lstStyle/>
          <a:p>
            <a:r>
              <a:rPr lang="ru-RU" altLang="ru-RU" b="1" dirty="0"/>
              <a:t>Задачи</a:t>
            </a:r>
          </a:p>
        </p:txBody>
      </p:sp>
      <p:sp>
        <p:nvSpPr>
          <p:cNvPr id="109571" name="Объект 2"/>
          <p:cNvSpPr>
            <a:spLocks noGrp="1"/>
          </p:cNvSpPr>
          <p:nvPr>
            <p:ph idx="1"/>
          </p:nvPr>
        </p:nvSpPr>
        <p:spPr>
          <a:xfrm>
            <a:off x="468313" y="1484313"/>
            <a:ext cx="8229600" cy="1878012"/>
          </a:xfrm>
        </p:spPr>
        <p:txBody>
          <a:bodyPr/>
          <a:lstStyle/>
          <a:p>
            <a:r>
              <a:rPr lang="ru-RU" altLang="ru-RU" sz="2400"/>
              <a:t>Для введённого пользователем с клавиатуры натурального числа посчитайте сумму всех его цифр (заранее не известно сколько цифр будет в числе).</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Заголовок 1"/>
          <p:cNvSpPr>
            <a:spLocks noGrp="1"/>
          </p:cNvSpPr>
          <p:nvPr>
            <p:ph type="title"/>
          </p:nvPr>
        </p:nvSpPr>
        <p:spPr/>
        <p:txBody>
          <a:bodyPr/>
          <a:lstStyle/>
          <a:p>
            <a:r>
              <a:rPr lang="ru-RU" altLang="ru-RU" b="1" dirty="0"/>
              <a:t>Задачи</a:t>
            </a:r>
            <a:endParaRPr lang="ru-RU" altLang="ru-RU" dirty="0"/>
          </a:p>
        </p:txBody>
      </p:sp>
      <p:sp>
        <p:nvSpPr>
          <p:cNvPr id="110595" name="Объект 2"/>
          <p:cNvSpPr>
            <a:spLocks noGrp="1"/>
          </p:cNvSpPr>
          <p:nvPr>
            <p:ph idx="1"/>
          </p:nvPr>
        </p:nvSpPr>
        <p:spPr/>
        <p:txBody>
          <a:bodyPr/>
          <a:lstStyle/>
          <a:p>
            <a:r>
              <a:rPr lang="ru-RU" altLang="ru-RU"/>
              <a:t>Пользователь вводит с клавиатуры последовательность ненулевых целых чисел. Программа должна вывести на экран максимальный и минимальный элементы последовательности сразу после того, как пользователь введёт 0 (т.е. заранее длина последовательности неизвестна).</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Заголовок 1"/>
          <p:cNvSpPr>
            <a:spLocks noGrp="1"/>
          </p:cNvSpPr>
          <p:nvPr>
            <p:ph type="title"/>
          </p:nvPr>
        </p:nvSpPr>
        <p:spPr/>
        <p:txBody>
          <a:bodyPr/>
          <a:lstStyle/>
          <a:p>
            <a:r>
              <a:rPr lang="ru-RU" altLang="ru-RU" b="1"/>
              <a:t>Задачи</a:t>
            </a:r>
          </a:p>
        </p:txBody>
      </p:sp>
      <p:sp>
        <p:nvSpPr>
          <p:cNvPr id="111619" name="Объект 2"/>
          <p:cNvSpPr>
            <a:spLocks noGrp="1"/>
          </p:cNvSpPr>
          <p:nvPr>
            <p:ph idx="1"/>
          </p:nvPr>
        </p:nvSpPr>
        <p:spPr/>
        <p:txBody>
          <a:bodyPr/>
          <a:lstStyle/>
          <a:p>
            <a:pPr algn="just"/>
            <a:r>
              <a:rPr lang="ru-RU" altLang="ru-RU" sz="2400"/>
              <a:t>        </a:t>
            </a:r>
            <a:r>
              <a:rPr lang="ru-RU" altLang="ru-RU">
                <a:latin typeface="Times New Roman" pitchFamily="18" charset="0"/>
                <a:cs typeface="Times New Roman" pitchFamily="18" charset="0"/>
              </a:rPr>
              <a:t>Пользователь вводит с клавиатуры арифметический пример в таком формате «2+3.5» или «3.14*8», программа должна вычислить и вывести правильный ответ на экран. В примере должны быть допустимы операции сложения, умножения, вычитания, деления (с остатком). После вывода ответа программа должна спросить пользователя, требуется ли решить другой пример? Если пользователь введёт «y» программа должна запуститься повторно, иначе — завершиться.</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Заголовок 1"/>
          <p:cNvSpPr>
            <a:spLocks noGrp="1"/>
          </p:cNvSpPr>
          <p:nvPr>
            <p:ph type="title"/>
          </p:nvPr>
        </p:nvSpPr>
        <p:spPr/>
        <p:txBody>
          <a:bodyPr/>
          <a:lstStyle/>
          <a:p>
            <a:r>
              <a:rPr lang="ru-RU" altLang="ru-RU" b="1"/>
              <a:t>Задачи</a:t>
            </a:r>
          </a:p>
        </p:txBody>
      </p:sp>
      <p:sp>
        <p:nvSpPr>
          <p:cNvPr id="119811" name="Объект 2"/>
          <p:cNvSpPr>
            <a:spLocks noGrp="1"/>
          </p:cNvSpPr>
          <p:nvPr>
            <p:ph idx="1"/>
          </p:nvPr>
        </p:nvSpPr>
        <p:spPr/>
        <p:txBody>
          <a:bodyPr/>
          <a:lstStyle/>
          <a:p>
            <a:pPr algn="just"/>
            <a:r>
              <a:rPr lang="ru-RU" altLang="ru-RU" dirty="0"/>
              <a:t>  </a:t>
            </a:r>
            <a:r>
              <a:rPr lang="ru-RU" altLang="ru-RU" sz="2400" dirty="0"/>
              <a:t>В американской армии считается несчастливым число 13, а в японской — 4. Перед международными учениями штаб российской армии решил исключить номера боевой техники, содержащие числа 4 или 13 (например, 40123, 13313, 12345 или 13040), чтобы не смущать иностранных коллег. Если в распоряжении армии имеется 100 тыс. единиц боевой техники и каждая боевая машина имеет номер от 00001 до 99999, то сколько всего номеров придётся исключить?</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DA6695-4AB8-FEEC-51D9-A3E2CBA8A776}"/>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A8822D42-4249-E988-1958-BD3AC1C04070}"/>
              </a:ext>
            </a:extLst>
          </p:cNvPr>
          <p:cNvSpPr>
            <a:spLocks noGrp="1"/>
          </p:cNvSpPr>
          <p:nvPr>
            <p:ph idx="1"/>
          </p:nvPr>
        </p:nvSpPr>
        <p:spPr/>
        <p:txBody>
          <a:bodyPr/>
          <a:lstStyle/>
          <a:p>
            <a:r>
              <a:rPr lang="ru-RU" dirty="0"/>
              <a:t>Указатели представляют собой объекты, значением которых служат адреса других объектов (переменных, констант, указателей) или функций. Указатели применяются для косвенного доступа к объекту. Однако в отличие от ссылок указатели обладают большими возможностями.</a:t>
            </a:r>
          </a:p>
          <a:p>
            <a:endParaRPr lang="ru-RU" dirty="0"/>
          </a:p>
          <a:p>
            <a:r>
              <a:rPr lang="ru-RU" dirty="0"/>
              <a:t>Определение указателя</a:t>
            </a:r>
            <a:r>
              <a:rPr lang="en-US" dirty="0"/>
              <a:t>:</a:t>
            </a:r>
          </a:p>
          <a:p>
            <a:r>
              <a:rPr lang="ru-RU" dirty="0"/>
              <a:t>	</a:t>
            </a:r>
          </a:p>
          <a:p>
            <a:r>
              <a:rPr lang="ru-RU" dirty="0"/>
              <a:t>		</a:t>
            </a:r>
            <a:r>
              <a:rPr lang="ru-RU" dirty="0" err="1"/>
              <a:t>тип_данных</a:t>
            </a:r>
            <a:r>
              <a:rPr lang="ru-RU" dirty="0"/>
              <a:t>* </a:t>
            </a:r>
            <a:r>
              <a:rPr lang="ru-RU" dirty="0" err="1"/>
              <a:t>название_указателя</a:t>
            </a:r>
            <a:r>
              <a:rPr lang="ru-RU" dirty="0"/>
              <a:t>;</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p;</a:t>
            </a:r>
            <a:endParaRPr lang="ru-RU" sz="2000" dirty="0">
              <a:solidFill>
                <a:srgbClr val="000000"/>
              </a:solidFill>
              <a:latin typeface="Consolas" panose="020B0609020204030204" pitchFamily="49" charset="0"/>
            </a:endParaRPr>
          </a:p>
          <a:p>
            <a:r>
              <a:rPr lang="ru-RU" dirty="0"/>
              <a:t>Такой указатель может хранить только адрес переменной типа </a:t>
            </a:r>
            <a:r>
              <a:rPr lang="ru-RU" b="1" dirty="0"/>
              <a:t>int</a:t>
            </a:r>
            <a:r>
              <a:rPr lang="ru-RU" dirty="0"/>
              <a:t>, но пока данный указатель не ссылается ни на какой объект и хранит </a:t>
            </a:r>
            <a:r>
              <a:rPr lang="ru-RU" b="1" u="sng" dirty="0"/>
              <a:t>случайное</a:t>
            </a:r>
            <a:r>
              <a:rPr lang="ru-RU" dirty="0"/>
              <a:t> значение. </a:t>
            </a:r>
          </a:p>
        </p:txBody>
      </p:sp>
    </p:spTree>
    <p:extLst>
      <p:ext uri="{BB962C8B-B14F-4D97-AF65-F5344CB8AC3E}">
        <p14:creationId xmlns:p14="http://schemas.microsoft.com/office/powerpoint/2010/main" val="276869431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DE6533-6BC8-ED6F-9A5C-F86547B1ACE0}"/>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7DC668AF-7D8B-B481-E35E-2024D24E83B3}"/>
              </a:ext>
            </a:extLst>
          </p:cNvPr>
          <p:cNvSpPr>
            <a:spLocks noGrp="1"/>
          </p:cNvSpPr>
          <p:nvPr>
            <p:ph idx="1"/>
          </p:nvPr>
        </p:nvSpPr>
        <p:spPr/>
        <p:txBody>
          <a:bodyPr/>
          <a:lstStyle/>
          <a:p>
            <a:r>
              <a:rPr lang="ru-RU" dirty="0"/>
              <a:t>Инициализация указателей</a:t>
            </a:r>
            <a:r>
              <a:rPr lang="en-US" dirty="0"/>
              <a:t>: </a:t>
            </a:r>
          </a:p>
          <a:p>
            <a:endParaRPr lang="en-US" dirty="0"/>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p{};</a:t>
            </a:r>
          </a:p>
          <a:p>
            <a:endParaRPr lang="ru-RU"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p{ </a:t>
            </a:r>
            <a:r>
              <a:rPr lang="de-CH" sz="2000" dirty="0" err="1">
                <a:solidFill>
                  <a:srgbClr val="0000FF"/>
                </a:solidFill>
                <a:latin typeface="Consolas" panose="020B0609020204030204" pitchFamily="49" charset="0"/>
              </a:rPr>
              <a:t>nullptr</a:t>
            </a:r>
            <a:r>
              <a:rPr lang="de-CH" sz="2000" dirty="0">
                <a:solidFill>
                  <a:srgbClr val="000000"/>
                </a:solidFill>
                <a:latin typeface="Consolas" panose="020B0609020204030204" pitchFamily="49" charset="0"/>
              </a:rPr>
              <a:t> };</a:t>
            </a:r>
          </a:p>
          <a:p>
            <a:endParaRPr lang="de-CH" dirty="0">
              <a:solidFill>
                <a:srgbClr val="000000"/>
              </a:solidFill>
              <a:latin typeface="Consolas" panose="020B0609020204030204" pitchFamily="49" charset="0"/>
            </a:endParaRPr>
          </a:p>
          <a:p>
            <a:r>
              <a:rPr lang="ru-RU" b="1" dirty="0"/>
              <a:t>Получение адреса и оператор &amp;</a:t>
            </a:r>
          </a:p>
          <a:p>
            <a:endParaRPr lang="en-US" dirty="0"/>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25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pnumber</a:t>
            </a:r>
            <a:r>
              <a:rPr lang="de-CH" dirty="0">
                <a:solidFill>
                  <a:srgbClr val="000000"/>
                </a:solidFill>
                <a:latin typeface="Consolas" panose="020B0609020204030204" pitchFamily="49" charset="0"/>
              </a:rPr>
              <a:t>{ &amp;</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указатель </a:t>
            </a:r>
            <a:r>
              <a:rPr lang="de-CH" dirty="0" err="1">
                <a:solidFill>
                  <a:srgbClr val="008000"/>
                </a:solidFill>
                <a:latin typeface="Consolas" panose="020B0609020204030204" pitchFamily="49" charset="0"/>
              </a:rPr>
              <a:t>pnumber</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хранит адрес </a:t>
            </a:r>
            <a:r>
              <a:rPr lang="en-US"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переменной </a:t>
            </a:r>
            <a:r>
              <a:rPr lang="de-CH" dirty="0" err="1">
                <a:solidFill>
                  <a:srgbClr val="008000"/>
                </a:solidFill>
                <a:latin typeface="Consolas" panose="020B0609020204030204" pitchFamily="49" charset="0"/>
              </a:rPr>
              <a:t>number</a:t>
            </a:r>
            <a:endParaRPr lang="de-CH" dirty="0">
              <a:solidFill>
                <a:srgbClr val="008000"/>
              </a:solidFill>
              <a:latin typeface="Consolas" panose="020B0609020204030204" pitchFamily="49" charset="0"/>
            </a:endParaRPr>
          </a:p>
          <a:p>
            <a:pPr lvl="1"/>
            <a:endParaRPr lang="de-CH" dirty="0">
              <a:solidFill>
                <a:srgbClr val="008000"/>
              </a:solidFill>
              <a:latin typeface="Consolas" panose="020B0609020204030204" pitchFamily="49" charset="0"/>
            </a:endParaRPr>
          </a:p>
          <a:p>
            <a:r>
              <a:rPr lang="de-CH" sz="1600" dirty="0">
                <a:solidFill>
                  <a:srgbClr val="0000FF"/>
                </a:solidFill>
                <a:latin typeface="Consolas" panose="020B0609020204030204" pitchFamily="49" charset="0"/>
              </a:rPr>
              <a:t>	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number</a:t>
            </a:r>
            <a:r>
              <a:rPr lang="de-CH" sz="1600" dirty="0">
                <a:solidFill>
                  <a:srgbClr val="000000"/>
                </a:solidFill>
                <a:latin typeface="Consolas" panose="020B0609020204030204" pitchFamily="49" charset="0"/>
              </a:rPr>
              <a:t>{ 25 };</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auto</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pnumber</a:t>
            </a:r>
            <a:r>
              <a:rPr lang="de-CH" sz="1600" dirty="0">
                <a:solidFill>
                  <a:srgbClr val="000000"/>
                </a:solidFill>
                <a:latin typeface="Consolas" panose="020B0609020204030204" pitchFamily="49" charset="0"/>
              </a:rPr>
              <a:t>{ &amp;</a:t>
            </a:r>
            <a:r>
              <a:rPr lang="de-CH" sz="1600" dirty="0" err="1">
                <a:solidFill>
                  <a:srgbClr val="000000"/>
                </a:solidFill>
                <a:latin typeface="Consolas" panose="020B0609020204030204" pitchFamily="49" charset="0"/>
              </a:rPr>
              <a:t>number</a:t>
            </a:r>
            <a:r>
              <a:rPr lang="de-CH" sz="1600" dirty="0">
                <a:solidFill>
                  <a:srgbClr val="000000"/>
                </a:solidFill>
                <a:latin typeface="Consolas" panose="020B0609020204030204" pitchFamily="49" charset="0"/>
              </a:rPr>
              <a:t> }; </a:t>
            </a:r>
            <a:r>
              <a:rPr lang="de-CH" sz="1600" dirty="0">
                <a:solidFill>
                  <a:srgbClr val="008000"/>
                </a:solidFill>
                <a:latin typeface="Consolas" panose="020B0609020204030204" pitchFamily="49" charset="0"/>
              </a:rPr>
              <a:t>// </a:t>
            </a:r>
            <a:r>
              <a:rPr lang="ru-RU" sz="1600" dirty="0">
                <a:solidFill>
                  <a:srgbClr val="008000"/>
                </a:solidFill>
                <a:latin typeface="Consolas" panose="020B0609020204030204" pitchFamily="49" charset="0"/>
              </a:rPr>
              <a:t>указатель </a:t>
            </a:r>
            <a:r>
              <a:rPr lang="de-CH" sz="1600" dirty="0" err="1">
                <a:solidFill>
                  <a:srgbClr val="008000"/>
                </a:solidFill>
                <a:latin typeface="Consolas" panose="020B0609020204030204" pitchFamily="49" charset="0"/>
              </a:rPr>
              <a:t>pnumber</a:t>
            </a:r>
            <a:r>
              <a:rPr lang="de-CH" sz="1600" dirty="0">
                <a:solidFill>
                  <a:srgbClr val="008000"/>
                </a:solidFill>
                <a:latin typeface="Consolas" panose="020B0609020204030204" pitchFamily="49" charset="0"/>
              </a:rPr>
              <a:t> </a:t>
            </a:r>
            <a:r>
              <a:rPr lang="ru-RU" sz="1600" dirty="0">
                <a:solidFill>
                  <a:srgbClr val="008000"/>
                </a:solidFill>
                <a:latin typeface="Consolas" panose="020B0609020204030204" pitchFamily="49" charset="0"/>
              </a:rPr>
              <a:t>хранит адрес </a:t>
            </a:r>
            <a:r>
              <a:rPr lang="en-US" sz="1600" dirty="0">
                <a:solidFill>
                  <a:srgbClr val="008000"/>
                </a:solidFill>
                <a:latin typeface="Consolas" panose="020B0609020204030204" pitchFamily="49" charset="0"/>
              </a:rPr>
              <a:t>	</a:t>
            </a:r>
            <a:r>
              <a:rPr lang="ru-RU" sz="1600" dirty="0">
                <a:solidFill>
                  <a:srgbClr val="008000"/>
                </a:solidFill>
                <a:latin typeface="Consolas" panose="020B0609020204030204" pitchFamily="49" charset="0"/>
              </a:rPr>
              <a:t>переменной </a:t>
            </a:r>
            <a:r>
              <a:rPr lang="de-CH" sz="1600" dirty="0" err="1">
                <a:solidFill>
                  <a:srgbClr val="008000"/>
                </a:solidFill>
                <a:latin typeface="Consolas" panose="020B0609020204030204" pitchFamily="49" charset="0"/>
              </a:rPr>
              <a:t>number</a:t>
            </a:r>
            <a:endParaRPr lang="ru-RU" dirty="0"/>
          </a:p>
        </p:txBody>
      </p:sp>
    </p:spTree>
    <p:extLst>
      <p:ext uri="{BB962C8B-B14F-4D97-AF65-F5344CB8AC3E}">
        <p14:creationId xmlns:p14="http://schemas.microsoft.com/office/powerpoint/2010/main" val="40887778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896195-06BB-A5F0-DF26-57933B5668AB}"/>
              </a:ext>
            </a:extLst>
          </p:cNvPr>
          <p:cNvSpPr>
            <a:spLocks noGrp="1"/>
          </p:cNvSpPr>
          <p:nvPr>
            <p:ph type="title"/>
          </p:nvPr>
        </p:nvSpPr>
        <p:spPr/>
        <p:txBody>
          <a:bodyPr/>
          <a:lstStyle/>
          <a:p>
            <a:r>
              <a:rPr lang="ru-RU" dirty="0"/>
              <a:t>Указатели</a:t>
            </a:r>
          </a:p>
        </p:txBody>
      </p:sp>
      <p:pic>
        <p:nvPicPr>
          <p:cNvPr id="6" name="Объект 5">
            <a:extLst>
              <a:ext uri="{FF2B5EF4-FFF2-40B4-BE49-F238E27FC236}">
                <a16:creationId xmlns:a16="http://schemas.microsoft.com/office/drawing/2014/main" id="{8636320C-9746-E5A5-0966-076675EAAE08}"/>
              </a:ext>
            </a:extLst>
          </p:cNvPr>
          <p:cNvPicPr>
            <a:picLocks noGrp="1" noChangeAspect="1"/>
          </p:cNvPicPr>
          <p:nvPr>
            <p:ph idx="1"/>
          </p:nvPr>
        </p:nvPicPr>
        <p:blipFill>
          <a:blip r:embed="rId2"/>
          <a:stretch>
            <a:fillRect/>
          </a:stretch>
        </p:blipFill>
        <p:spPr bwMode="auto">
          <a:xfrm>
            <a:off x="1340177" y="2090529"/>
            <a:ext cx="6677957" cy="2981741"/>
          </a:xfrm>
          <a:prstGeom prst="rect">
            <a:avLst/>
          </a:prstGeom>
          <a:noFill/>
          <a:ln w="9525">
            <a:noFill/>
            <a:miter lim="800000"/>
            <a:headEnd/>
            <a:tailEnd/>
          </a:ln>
          <a:effectLst/>
        </p:spPr>
      </p:pic>
      <p:sp>
        <p:nvSpPr>
          <p:cNvPr id="4" name="AutoShape 2" descr="Указатели в C++">
            <a:extLst>
              <a:ext uri="{FF2B5EF4-FFF2-40B4-BE49-F238E27FC236}">
                <a16:creationId xmlns:a16="http://schemas.microsoft.com/office/drawing/2014/main" id="{829BC4A6-497B-4454-9597-08CACE7E179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59498676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4CAAEE-FCCE-DA60-03E4-CBF7A6523071}"/>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A53D912-D02D-FC93-30E5-657E359743AB}"/>
              </a:ext>
            </a:extLst>
          </p:cNvPr>
          <p:cNvSpPr>
            <a:spLocks noGrp="1"/>
          </p:cNvSpPr>
          <p:nvPr>
            <p:ph idx="1"/>
          </p:nvPr>
        </p:nvSpPr>
        <p:spPr/>
        <p:txBody>
          <a:bodyPr/>
          <a:lstStyle/>
          <a:p>
            <a:r>
              <a:rPr lang="ru-RU" b="1" dirty="0"/>
              <a:t>Получение значения по адресу</a:t>
            </a:r>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25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pnumber</a:t>
            </a:r>
            <a:r>
              <a:rPr lang="de-CH" dirty="0">
                <a:solidFill>
                  <a:srgbClr val="000000"/>
                </a:solidFill>
                <a:latin typeface="Consolas" panose="020B0609020204030204" pitchFamily="49" charset="0"/>
              </a:rPr>
              <a:t>{ &amp;</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"Value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70954937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B681F4-E0CD-1749-FA51-A31657D0F2D8}"/>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D6028926-09FD-5127-ED84-62886700A491}"/>
              </a:ext>
            </a:extLst>
          </p:cNvPr>
          <p:cNvSpPr>
            <a:spLocks noGrp="1"/>
          </p:cNvSpPr>
          <p:nvPr>
            <p:ph idx="1"/>
          </p:nvPr>
        </p:nvSpPr>
        <p:spPr/>
        <p:txBody>
          <a:bodyPr/>
          <a:lstStyle/>
          <a:p>
            <a:r>
              <a:rPr lang="de-CH" sz="2000" dirty="0">
                <a:solidFill>
                  <a:srgbClr val="0000FF"/>
                </a:solidFill>
                <a:latin typeface="Consolas" panose="020B0609020204030204" pitchFamily="49" charset="0"/>
              </a:rPr>
              <a:t>	</a:t>
            </a:r>
          </a:p>
          <a:p>
            <a:r>
              <a:rPr lang="de-CH"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25 };</a:t>
            </a:r>
          </a:p>
          <a:p>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pnumber</a:t>
            </a:r>
            <a:r>
              <a:rPr lang="de-CH" sz="2000" dirty="0">
                <a:solidFill>
                  <a:srgbClr val="000000"/>
                </a:solidFill>
                <a:latin typeface="Consolas" panose="020B0609020204030204" pitchFamily="49" charset="0"/>
              </a:rPr>
              <a:t>{ &amp;</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a:t>
            </a:r>
          </a:p>
          <a:p>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"Address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pnumber</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a:t>
            </a:r>
          </a:p>
          <a:p>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"Value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pnumber</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a:t>
            </a:r>
          </a:p>
          <a:p>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914400" lvl="2"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x = 10;</a:t>
            </a:r>
          </a:p>
          <a:p>
            <a:pPr marL="914400" lvl="2" indent="0">
              <a:buNone/>
            </a:pP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px</a:t>
            </a:r>
            <a:r>
              <a:rPr lang="de-CH" sz="2000" dirty="0">
                <a:solidFill>
                  <a:srgbClr val="000000"/>
                </a:solidFill>
                <a:latin typeface="Consolas" panose="020B0609020204030204" pitchFamily="49" charset="0"/>
              </a:rPr>
              <a:t> = &amp;x;</a:t>
            </a:r>
          </a:p>
          <a:p>
            <a:pPr marL="914400" lvl="2" indent="0">
              <a:buNone/>
            </a:pPr>
            <a:r>
              <a:rPr lang="de-CH" sz="2000" dirty="0">
                <a:solidFill>
                  <a:srgbClr val="000000"/>
                </a:solidFill>
                <a:latin typeface="Consolas" panose="020B0609020204030204" pitchFamily="49" charset="0"/>
              </a:rPr>
              <a:t>*</a:t>
            </a:r>
            <a:r>
              <a:rPr lang="de-CH" sz="2000" dirty="0" err="1">
                <a:solidFill>
                  <a:srgbClr val="000000"/>
                </a:solidFill>
                <a:latin typeface="Consolas" panose="020B0609020204030204" pitchFamily="49" charset="0"/>
              </a:rPr>
              <a:t>px</a:t>
            </a:r>
            <a:r>
              <a:rPr lang="de-CH" sz="2000" dirty="0">
                <a:solidFill>
                  <a:srgbClr val="000000"/>
                </a:solidFill>
                <a:latin typeface="Consolas" panose="020B0609020204030204" pitchFamily="49" charset="0"/>
              </a:rPr>
              <a:t> = 45;</a:t>
            </a:r>
          </a:p>
          <a:p>
            <a:pPr marL="914400" lvl="2" indent="0">
              <a:buNone/>
            </a:pP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a:solidFill>
                  <a:srgbClr val="A31515"/>
                </a:solidFill>
                <a:latin typeface="Consolas" panose="020B0609020204030204" pitchFamily="49" charset="0"/>
              </a:rPr>
              <a:t>"x = "</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x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45</a:t>
            </a:r>
            <a:endParaRPr lang="en-US" sz="2000"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endParaRPr lang="ru-RU" dirty="0"/>
          </a:p>
        </p:txBody>
      </p:sp>
    </p:spTree>
    <p:extLst>
      <p:ext uri="{BB962C8B-B14F-4D97-AF65-F5344CB8AC3E}">
        <p14:creationId xmlns:p14="http://schemas.microsoft.com/office/powerpoint/2010/main" val="84548090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A22D07-CBDC-6C69-A8BD-AC64322AD5C2}"/>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B4B1669-C822-D47C-18AA-483480529A8B}"/>
              </a:ext>
            </a:extLst>
          </p:cNvPr>
          <p:cNvSpPr>
            <a:spLocks noGrp="1"/>
          </p:cNvSpPr>
          <p:nvPr>
            <p:ph idx="1"/>
          </p:nvPr>
        </p:nvSpPr>
        <p:spPr/>
        <p:txBody>
          <a:bodyPr/>
          <a:lstStyle/>
          <a:p>
            <a:r>
              <a:rPr lang="ru-RU" b="1" dirty="0"/>
              <a:t>Операции с указателями</a:t>
            </a:r>
          </a:p>
          <a:p>
            <a:r>
              <a:rPr lang="ru-RU" b="1" dirty="0"/>
              <a:t>Присваивание адреса</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&amp;a };  </a:t>
            </a:r>
            <a:r>
              <a:rPr lang="ru-RU" dirty="0">
                <a:solidFill>
                  <a:srgbClr val="008000"/>
                </a:solidFill>
                <a:latin typeface="Consolas" panose="020B0609020204030204" pitchFamily="49" charset="0"/>
              </a:rPr>
              <a:t>// указатель </a:t>
            </a:r>
            <a:r>
              <a:rPr lang="ru-RU" dirty="0" err="1">
                <a:solidFill>
                  <a:srgbClr val="008000"/>
                </a:solidFill>
                <a:latin typeface="Consolas" panose="020B0609020204030204" pitchFamily="49" charset="0"/>
              </a:rPr>
              <a:t>pa</a:t>
            </a:r>
            <a:r>
              <a:rPr lang="ru-RU" dirty="0">
                <a:solidFill>
                  <a:srgbClr val="008000"/>
                </a:solidFill>
                <a:latin typeface="Consolas" panose="020B0609020204030204" pitchFamily="49" charset="0"/>
              </a:rPr>
              <a:t> хранит адрес переменной a</a:t>
            </a:r>
            <a:endParaRPr lang="en-US" dirty="0">
              <a:solidFill>
                <a:srgbClr val="008000"/>
              </a:solidFill>
              <a:latin typeface="Consolas" panose="020B0609020204030204" pitchFamily="49" charset="0"/>
            </a:endParaRPr>
          </a:p>
          <a:p>
            <a:pPr lvl="1"/>
            <a:endParaRPr lang="en-US" dirty="0">
              <a:solidFill>
                <a:srgbClr val="008000"/>
              </a:solidFill>
              <a:latin typeface="Consolas" panose="020B0609020204030204" pitchFamily="49" charset="0"/>
            </a:endParaRPr>
          </a:p>
          <a:p>
            <a:r>
              <a:rPr lang="ru-RU" b="1" dirty="0"/>
              <a:t>Разыменование указателя</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&amp;a };   </a:t>
            </a:r>
            <a:r>
              <a:rPr lang="ru-RU" dirty="0">
                <a:solidFill>
                  <a:srgbClr val="008000"/>
                </a:solidFill>
                <a:latin typeface="Consolas" panose="020B0609020204030204" pitchFamily="49" charset="0"/>
              </a:rPr>
              <a:t>// хранит адрес переменной a</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pa</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pa</a:t>
            </a:r>
            <a:r>
              <a:rPr lang="de-CH" dirty="0">
                <a:solidFill>
                  <a:srgbClr val="008000"/>
                </a:solidFill>
                <a:latin typeface="Consolas" panose="020B0609020204030204" pitchFamily="49" charset="0"/>
              </a:rPr>
              <a:t> = 10</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10</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25;   </a:t>
            </a:r>
            <a:r>
              <a:rPr lang="ru-RU" dirty="0">
                <a:solidFill>
                  <a:srgbClr val="008000"/>
                </a:solidFill>
                <a:latin typeface="Consolas" panose="020B0609020204030204" pitchFamily="49" charset="0"/>
              </a:rPr>
              <a:t>// меняем значение по адресу в указателе</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pa</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pa</a:t>
            </a:r>
            <a:r>
              <a:rPr lang="de-CH" dirty="0">
                <a:solidFill>
                  <a:srgbClr val="008000"/>
                </a:solidFill>
                <a:latin typeface="Consolas" panose="020B0609020204030204" pitchFamily="49" charset="0"/>
              </a:rPr>
              <a:t> = 25</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25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en-US" dirty="0">
              <a:solidFill>
                <a:srgbClr val="008000"/>
              </a:solidFill>
              <a:latin typeface="Consolas" panose="020B0609020204030204" pitchFamily="49" charset="0"/>
            </a:endParaRPr>
          </a:p>
        </p:txBody>
      </p:sp>
    </p:spTree>
    <p:extLst>
      <p:ext uri="{BB962C8B-B14F-4D97-AF65-F5344CB8AC3E}">
        <p14:creationId xmlns:p14="http://schemas.microsoft.com/office/powerpoint/2010/main" val="7815327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470A95-7121-18EF-0189-6977B1EBDA5A}"/>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47F66662-BAC2-0DEC-7EC8-032945C4299A}"/>
              </a:ext>
            </a:extLst>
          </p:cNvPr>
          <p:cNvSpPr>
            <a:spLocks noGrp="1"/>
          </p:cNvSpPr>
          <p:nvPr>
            <p:ph idx="1"/>
          </p:nvPr>
        </p:nvSpPr>
        <p:spPr/>
        <p:txBody>
          <a:bodyPr/>
          <a:lstStyle/>
          <a:p>
            <a:r>
              <a:rPr lang="ru-RU" b="1" dirty="0"/>
              <a:t>Присвоение указателю другого указателя</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2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&amp;a };   </a:t>
            </a:r>
            <a:r>
              <a:rPr lang="ru-RU" dirty="0">
                <a:solidFill>
                  <a:srgbClr val="008000"/>
                </a:solidFill>
                <a:latin typeface="Consolas" panose="020B0609020204030204" pitchFamily="49" charset="0"/>
              </a:rPr>
              <a:t>// указатель на переменную a</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pb</a:t>
            </a:r>
            <a:r>
              <a:rPr lang="ru-RU" dirty="0">
                <a:solidFill>
                  <a:srgbClr val="000000"/>
                </a:solidFill>
                <a:latin typeface="Consolas" panose="020B0609020204030204" pitchFamily="49" charset="0"/>
              </a:rPr>
              <a:t>{ &amp;b };   </a:t>
            </a:r>
            <a:r>
              <a:rPr lang="ru-RU" dirty="0">
                <a:solidFill>
                  <a:srgbClr val="008000"/>
                </a:solidFill>
                <a:latin typeface="Consolas" panose="020B0609020204030204" pitchFamily="49" charset="0"/>
              </a:rPr>
              <a:t>// указатель на переменную b</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"pa: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 value="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"pb: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 value="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a:t>
            </a:r>
            <a:r>
              <a:rPr lang="ru-RU" dirty="0" err="1">
                <a:solidFill>
                  <a:srgbClr val="000000"/>
                </a:solidFill>
                <a:latin typeface="Consolas" panose="020B0609020204030204" pitchFamily="49" charset="0"/>
              </a:rPr>
              <a:t>pb</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теперь указатель </a:t>
            </a:r>
            <a:r>
              <a:rPr lang="ru-RU" dirty="0" err="1">
                <a:solidFill>
                  <a:srgbClr val="008000"/>
                </a:solidFill>
                <a:latin typeface="Consolas" panose="020B0609020204030204" pitchFamily="49" charset="0"/>
              </a:rPr>
              <a:t>pa</a:t>
            </a:r>
            <a:r>
              <a:rPr lang="ru-RU" dirty="0">
                <a:solidFill>
                  <a:srgbClr val="008000"/>
                </a:solidFill>
                <a:latin typeface="Consolas" panose="020B0609020204030204" pitchFamily="49" charset="0"/>
              </a:rPr>
              <a:t> хранит адрес переменной b</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"pa: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 value="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125;  </a:t>
            </a:r>
            <a:r>
              <a:rPr lang="ru-RU" dirty="0">
                <a:solidFill>
                  <a:srgbClr val="008000"/>
                </a:solidFill>
                <a:latin typeface="Consolas" panose="020B0609020204030204" pitchFamily="49" charset="0"/>
              </a:rPr>
              <a:t>// меняем значение по адресу в указателе </a:t>
            </a:r>
            <a:r>
              <a:rPr lang="ru-RU" dirty="0" err="1">
                <a:solidFill>
                  <a:srgbClr val="008000"/>
                </a:solidFill>
                <a:latin typeface="Consolas" panose="020B0609020204030204" pitchFamily="49" charset="0"/>
              </a:rPr>
              <a:t>pa</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value="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en-US" dirty="0"/>
          </a:p>
          <a:p>
            <a:endParaRPr lang="ru-RU" dirty="0"/>
          </a:p>
        </p:txBody>
      </p:sp>
    </p:spTree>
    <p:extLst>
      <p:ext uri="{BB962C8B-B14F-4D97-AF65-F5344CB8AC3E}">
        <p14:creationId xmlns:p14="http://schemas.microsoft.com/office/powerpoint/2010/main" val="171078283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65B548-ED08-0717-88D3-7CCA9E2FB136}"/>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BC60B7B-974D-3204-104C-ADF674A4F638}"/>
              </a:ext>
            </a:extLst>
          </p:cNvPr>
          <p:cNvSpPr>
            <a:spLocks noGrp="1"/>
          </p:cNvSpPr>
          <p:nvPr>
            <p:ph idx="1"/>
          </p:nvPr>
        </p:nvSpPr>
        <p:spPr/>
        <p:txBody>
          <a:bodyPr/>
          <a:lstStyle/>
          <a:p>
            <a:r>
              <a:rPr lang="ru-RU" b="1" dirty="0"/>
              <a:t>Нулевые указатели</a:t>
            </a:r>
          </a:p>
          <a:p>
            <a:r>
              <a:rPr lang="ru-RU" dirty="0"/>
              <a:t>Нулевой указатель (</a:t>
            </a:r>
            <a:r>
              <a:rPr lang="ru-RU" dirty="0" err="1"/>
              <a:t>null</a:t>
            </a:r>
            <a:r>
              <a:rPr lang="ru-RU" dirty="0"/>
              <a:t> </a:t>
            </a:r>
            <a:r>
              <a:rPr lang="ru-RU" dirty="0" err="1"/>
              <a:t>pointer</a:t>
            </a:r>
            <a:r>
              <a:rPr lang="ru-RU" dirty="0"/>
              <a:t>) - это указатель, который не указывает ни на какой объект. Если мы не хотим, чтобы указатель указывал на какой-то конкретный адрес, то можно присвоить ему условное нулевое значение. Для определения нулевого указателя можно инициализировать указатель нулем или константой </a:t>
            </a:r>
            <a:r>
              <a:rPr lang="ru-RU" b="1" dirty="0" err="1"/>
              <a:t>nullptr</a:t>
            </a:r>
            <a:r>
              <a:rPr lang="ru-RU" dirty="0"/>
              <a:t>:</a:t>
            </a:r>
            <a:endParaRPr lang="en-US" dirty="0"/>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p1{ </a:t>
            </a:r>
            <a:r>
              <a:rPr lang="de-CH" dirty="0" err="1">
                <a:solidFill>
                  <a:srgbClr val="0000FF"/>
                </a:solidFill>
                <a:latin typeface="Consolas" panose="020B0609020204030204" pitchFamily="49" charset="0"/>
              </a:rPr>
              <a:t>nullptr</a:t>
            </a:r>
            <a:r>
              <a:rPr lang="de-CH" dirty="0">
                <a:solidFill>
                  <a:srgbClr val="000000"/>
                </a:solidFill>
                <a:latin typeface="Consolas" panose="020B0609020204030204" pitchFamily="49" charset="0"/>
              </a:rPr>
              <a:t>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p2{};</a:t>
            </a:r>
            <a:endParaRPr lang="ru-RU" dirty="0"/>
          </a:p>
        </p:txBody>
      </p:sp>
    </p:spTree>
    <p:extLst>
      <p:ext uri="{BB962C8B-B14F-4D97-AF65-F5344CB8AC3E}">
        <p14:creationId xmlns:p14="http://schemas.microsoft.com/office/powerpoint/2010/main" val="379897444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A041CB-3193-8DE3-67FF-E4956B8A5AFF}"/>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11539D5D-71FF-E2F7-7384-17AAAA52896C}"/>
              </a:ext>
            </a:extLst>
          </p:cNvPr>
          <p:cNvSpPr>
            <a:spLocks noGrp="1"/>
          </p:cNvSpPr>
          <p:nvPr>
            <p:ph idx="1"/>
          </p:nvPr>
        </p:nvSpPr>
        <p:spPr/>
        <p:txBody>
          <a:bodyPr/>
          <a:lstStyle/>
          <a:p>
            <a:r>
              <a:rPr lang="ru-RU" b="1" dirty="0"/>
              <a:t>Адрес указателя</a:t>
            </a:r>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&amp;a };</a:t>
            </a:r>
          </a:p>
          <a:p>
            <a:pPr lvl="1"/>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 of pointer="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&amp;pa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адрес</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указателя</a:t>
            </a:r>
            <a:endParaRPr lang="en-US" dirty="0">
              <a:solidFill>
                <a:srgbClr val="000000"/>
              </a:solidFill>
              <a:latin typeface="Consolas" panose="020B0609020204030204" pitchFamily="49" charset="0"/>
            </a:endParaRPr>
          </a:p>
          <a:p>
            <a:pPr lvl="1"/>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address</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stored</a:t>
            </a:r>
            <a:r>
              <a:rPr lang="de-CH" dirty="0">
                <a:solidFill>
                  <a:srgbClr val="A31515"/>
                </a:solidFill>
                <a:latin typeface="Consolas" panose="020B0609020204030204" pitchFamily="49" charset="0"/>
              </a:rPr>
              <a:t> in </a:t>
            </a:r>
            <a:r>
              <a:rPr lang="de-CH" dirty="0" err="1">
                <a:solidFill>
                  <a:srgbClr val="A31515"/>
                </a:solidFill>
                <a:latin typeface="Consolas" panose="020B0609020204030204" pitchFamily="49" charset="0"/>
              </a:rPr>
              <a:t>pointer</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адрес, который хранится в указателе - адрес переменной </a:t>
            </a:r>
            <a:r>
              <a:rPr lang="de-CH" dirty="0">
                <a:solidFill>
                  <a:srgbClr val="008000"/>
                </a:solidFill>
                <a:latin typeface="Consolas" panose="020B0609020204030204" pitchFamily="49" charset="0"/>
              </a:rPr>
              <a:t>a         </a:t>
            </a:r>
            <a:endParaRPr lang="de-CH" dirty="0">
              <a:solidFill>
                <a:srgbClr val="000000"/>
              </a:solidFill>
              <a:latin typeface="Consolas" panose="020B0609020204030204" pitchFamily="49" charset="0"/>
            </a:endParaRPr>
          </a:p>
          <a:p>
            <a:pPr lvl="1"/>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cout</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a:solidFill>
                  <a:srgbClr val="A31515"/>
                </a:solidFill>
                <a:latin typeface="Consolas" panose="020B0609020204030204" pitchFamily="49" charset="0"/>
              </a:rPr>
              <a:t>"</a:t>
            </a:r>
            <a:r>
              <a:rPr lang="ru-RU" dirty="0" err="1">
                <a:solidFill>
                  <a:srgbClr val="A31515"/>
                </a:solidFill>
                <a:latin typeface="Consolas" panose="020B0609020204030204" pitchFamily="49" charset="0"/>
              </a:rPr>
              <a:t>value</a:t>
            </a:r>
            <a:r>
              <a:rPr lang="ru-RU" dirty="0">
                <a:solidFill>
                  <a:srgbClr val="A31515"/>
                </a:solidFill>
                <a:latin typeface="Consolas" panose="020B0609020204030204" pitchFamily="49" charset="0"/>
              </a:rPr>
              <a:t> </a:t>
            </a:r>
            <a:r>
              <a:rPr lang="ru-RU" dirty="0" err="1">
                <a:solidFill>
                  <a:srgbClr val="A31515"/>
                </a:solidFill>
                <a:latin typeface="Consolas" panose="020B0609020204030204" pitchFamily="49" charset="0"/>
              </a:rPr>
              <a:t>on</a:t>
            </a:r>
            <a:r>
              <a:rPr lang="ru-RU" dirty="0">
                <a:solidFill>
                  <a:srgbClr val="A31515"/>
                </a:solidFill>
                <a:latin typeface="Consolas" panose="020B0609020204030204" pitchFamily="49" charset="0"/>
              </a:rPr>
              <a:t> </a:t>
            </a:r>
            <a:r>
              <a:rPr lang="ru-RU" dirty="0" err="1">
                <a:solidFill>
                  <a:srgbClr val="A31515"/>
                </a:solidFill>
                <a:latin typeface="Consolas" panose="020B0609020204030204" pitchFamily="49" charset="0"/>
              </a:rPr>
              <a:t>pointer</a:t>
            </a:r>
            <a:r>
              <a:rPr lang="ru-RU" dirty="0">
                <a:solidFill>
                  <a:srgbClr val="A31515"/>
                </a:solidFill>
                <a:latin typeface="Consolas" panose="020B0609020204030204" pitchFamily="49" charset="0"/>
              </a:rPr>
              <a:t>="</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endl</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значение по адресу в указателе - значение переменной a</a:t>
            </a:r>
            <a:endParaRPr lang="ru-RU" dirty="0"/>
          </a:p>
        </p:txBody>
      </p:sp>
    </p:spTree>
    <p:extLst>
      <p:ext uri="{BB962C8B-B14F-4D97-AF65-F5344CB8AC3E}">
        <p14:creationId xmlns:p14="http://schemas.microsoft.com/office/powerpoint/2010/main" val="221748532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A4A6CE-266B-02BA-099D-1124D2F4CAB5}"/>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D852B25E-C5FC-682B-8C84-FB6F59D644BF}"/>
              </a:ext>
            </a:extLst>
          </p:cNvPr>
          <p:cNvSpPr>
            <a:spLocks noGrp="1"/>
          </p:cNvSpPr>
          <p:nvPr>
            <p:ph idx="1"/>
          </p:nvPr>
        </p:nvSpPr>
        <p:spPr/>
        <p:txBody>
          <a:bodyPr/>
          <a:lstStyle/>
          <a:p>
            <a:r>
              <a:rPr lang="ru-RU" b="1" dirty="0"/>
              <a:t>Разыменование указателя</a:t>
            </a:r>
          </a:p>
          <a:p>
            <a:r>
              <a:rPr lang="ru-RU" dirty="0"/>
              <a:t>Операция разыменования указателя представляет выражение в виде *</a:t>
            </a:r>
            <a:r>
              <a:rPr lang="ru-RU" dirty="0" err="1"/>
              <a:t>имя_указателя</a:t>
            </a:r>
            <a:r>
              <a:rPr lang="ru-RU" dirty="0"/>
              <a:t>. Эта операция позволяет получить объект по адресу, который хранится в указателе.</a:t>
            </a:r>
            <a:endParaRPr lang="en-US" dirty="0"/>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&amp;a };   </a:t>
            </a:r>
            <a:r>
              <a:rPr lang="ru-RU" dirty="0">
                <a:solidFill>
                  <a:srgbClr val="008000"/>
                </a:solidFill>
                <a:latin typeface="Consolas" panose="020B0609020204030204" pitchFamily="49" charset="0"/>
              </a:rPr>
              <a:t>// хранит адрес переменной a</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pa</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pa</a:t>
            </a:r>
            <a:r>
              <a:rPr lang="de-CH" dirty="0">
                <a:solidFill>
                  <a:srgbClr val="008000"/>
                </a:solidFill>
                <a:latin typeface="Consolas" panose="020B0609020204030204" pitchFamily="49" charset="0"/>
              </a:rPr>
              <a:t> = 10</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10</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25;   </a:t>
            </a:r>
            <a:r>
              <a:rPr lang="ru-RU" dirty="0">
                <a:solidFill>
                  <a:srgbClr val="008000"/>
                </a:solidFill>
                <a:latin typeface="Consolas" panose="020B0609020204030204" pitchFamily="49" charset="0"/>
              </a:rPr>
              <a:t>// меняем значение по адресу в указателе</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pa</a:t>
            </a:r>
            <a:r>
              <a:rPr lang="de-CH" dirty="0">
                <a:solidFill>
                  <a:srgbClr val="A31515"/>
                </a:solidFill>
                <a:latin typeface="Consolas" panose="020B0609020204030204" pitchFamily="49" charset="0"/>
              </a:rPr>
              <a:t>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pa</a:t>
            </a:r>
            <a:r>
              <a:rPr lang="de-CH" dirty="0">
                <a:solidFill>
                  <a:srgbClr val="008000"/>
                </a:solidFill>
                <a:latin typeface="Consolas" panose="020B0609020204030204" pitchFamily="49" charset="0"/>
              </a:rPr>
              <a:t> = 25</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 = 25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82668788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6D682F-4E32-9FB2-AA30-F375E6B765C2}"/>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3CF44D26-07A6-800E-568E-C6A8EF4B0DDC}"/>
              </a:ext>
            </a:extLst>
          </p:cNvPr>
          <p:cNvSpPr>
            <a:spLocks noGrp="1"/>
          </p:cNvSpPr>
          <p:nvPr>
            <p:ph idx="1"/>
          </p:nvPr>
        </p:nvSpPr>
        <p:spPr/>
        <p:txBody>
          <a:bodyPr/>
          <a:lstStyle/>
          <a:p>
            <a:r>
              <a:rPr lang="ru-RU" b="1" dirty="0"/>
              <a:t>Присвоение указателю другого указателя</a:t>
            </a: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 10 };</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b{ 2 };</a:t>
            </a:r>
          </a:p>
          <a:p>
            <a:pPr lvl="1"/>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00FF"/>
                </a:solidFill>
                <a:latin typeface="Consolas" panose="020B0609020204030204" pitchFamily="49" charset="0"/>
              </a:rPr>
              <a:t>int</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pa</a:t>
            </a:r>
            <a:r>
              <a:rPr lang="ru-RU" sz="1200" dirty="0">
                <a:solidFill>
                  <a:srgbClr val="000000"/>
                </a:solidFill>
                <a:latin typeface="Consolas" panose="020B0609020204030204" pitchFamily="49" charset="0"/>
              </a:rPr>
              <a:t>{ &amp;a };   </a:t>
            </a:r>
            <a:r>
              <a:rPr lang="ru-RU" sz="1200" dirty="0">
                <a:solidFill>
                  <a:srgbClr val="008000"/>
                </a:solidFill>
                <a:latin typeface="Consolas" panose="020B0609020204030204" pitchFamily="49" charset="0"/>
              </a:rPr>
              <a:t>// указатель на переменную a</a:t>
            </a:r>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00FF"/>
                </a:solidFill>
                <a:latin typeface="Consolas" panose="020B0609020204030204" pitchFamily="49" charset="0"/>
              </a:rPr>
              <a:t>int</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pb</a:t>
            </a:r>
            <a:r>
              <a:rPr lang="ru-RU" sz="1200" dirty="0">
                <a:solidFill>
                  <a:srgbClr val="000000"/>
                </a:solidFill>
                <a:latin typeface="Consolas" panose="020B0609020204030204" pitchFamily="49" charset="0"/>
              </a:rPr>
              <a:t>{ &amp;b };   </a:t>
            </a:r>
            <a:r>
              <a:rPr lang="ru-RU" sz="1200" dirty="0">
                <a:solidFill>
                  <a:srgbClr val="008000"/>
                </a:solidFill>
                <a:latin typeface="Consolas" panose="020B0609020204030204" pitchFamily="49" charset="0"/>
              </a:rPr>
              <a:t>// указатель на переменную b</a:t>
            </a:r>
            <a:endParaRPr lang="ru-RU"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"pa: address="</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 value="</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"pb: address="</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pb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 value="</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*pb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pa</a:t>
            </a:r>
            <a:r>
              <a:rPr lang="ru-RU" sz="1200" dirty="0">
                <a:solidFill>
                  <a:srgbClr val="000000"/>
                </a:solidFill>
                <a:latin typeface="Consolas" panose="020B0609020204030204" pitchFamily="49" charset="0"/>
              </a:rPr>
              <a:t> = </a:t>
            </a:r>
            <a:r>
              <a:rPr lang="ru-RU" sz="1200" dirty="0" err="1">
                <a:solidFill>
                  <a:srgbClr val="000000"/>
                </a:solidFill>
                <a:latin typeface="Consolas" panose="020B0609020204030204" pitchFamily="49" charset="0"/>
              </a:rPr>
              <a:t>pb</a:t>
            </a:r>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теперь указатель </a:t>
            </a:r>
            <a:r>
              <a:rPr lang="ru-RU" sz="1200" dirty="0" err="1">
                <a:solidFill>
                  <a:srgbClr val="008000"/>
                </a:solidFill>
                <a:latin typeface="Consolas" panose="020B0609020204030204" pitchFamily="49" charset="0"/>
              </a:rPr>
              <a:t>pa</a:t>
            </a:r>
            <a:r>
              <a:rPr lang="ru-RU" sz="1200" dirty="0">
                <a:solidFill>
                  <a:srgbClr val="008000"/>
                </a:solidFill>
                <a:latin typeface="Consolas" panose="020B0609020204030204" pitchFamily="49" charset="0"/>
              </a:rPr>
              <a:t> хранит адрес переменной b</a:t>
            </a:r>
            <a:endParaRPr lang="ru-RU" sz="1200" dirty="0">
              <a:solidFill>
                <a:srgbClr val="000000"/>
              </a:solidFill>
              <a:latin typeface="Consolas" panose="020B0609020204030204" pitchFamily="49" charset="0"/>
            </a:endParaRP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"pa: address="</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 value="</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*pa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pa</a:t>
            </a:r>
            <a:r>
              <a:rPr lang="ru-RU" sz="1200" dirty="0">
                <a:solidFill>
                  <a:srgbClr val="000000"/>
                </a:solidFill>
                <a:latin typeface="Consolas" panose="020B0609020204030204" pitchFamily="49" charset="0"/>
              </a:rPr>
              <a:t> = 125;  </a:t>
            </a:r>
            <a:r>
              <a:rPr lang="ru-RU" sz="1200" dirty="0">
                <a:solidFill>
                  <a:srgbClr val="008000"/>
                </a:solidFill>
                <a:latin typeface="Consolas" panose="020B0609020204030204" pitchFamily="49" charset="0"/>
              </a:rPr>
              <a:t>// меняем значение по адресу в указателе </a:t>
            </a:r>
            <a:r>
              <a:rPr lang="ru-RU" sz="1200" dirty="0" err="1">
                <a:solidFill>
                  <a:srgbClr val="008000"/>
                </a:solidFill>
                <a:latin typeface="Consolas" panose="020B0609020204030204" pitchFamily="49" charset="0"/>
              </a:rPr>
              <a:t>pa</a:t>
            </a:r>
            <a:endParaRPr lang="ru-RU" sz="1200" dirty="0">
              <a:solidFill>
                <a:srgbClr val="000000"/>
              </a:solidFill>
              <a:latin typeface="Consolas" panose="020B0609020204030204" pitchFamily="49" charset="0"/>
            </a:endParaRPr>
          </a:p>
          <a:p>
            <a:pPr lvl="1"/>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"b value="</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b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endParaRPr lang="de-CH" dirty="0">
              <a:solidFill>
                <a:srgbClr val="0000FF"/>
              </a:solidFill>
              <a:latin typeface="Consolas" panose="020B0609020204030204" pitchFamily="49" charset="0"/>
            </a:endParaRPr>
          </a:p>
        </p:txBody>
      </p:sp>
    </p:spTree>
    <p:extLst>
      <p:ext uri="{BB962C8B-B14F-4D97-AF65-F5344CB8AC3E}">
        <p14:creationId xmlns:p14="http://schemas.microsoft.com/office/powerpoint/2010/main" val="141569099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8C089D-9852-0154-C819-2B27722BCCF3}"/>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9A45E2F0-DA25-58D9-9D93-AD1453C17C4A}"/>
              </a:ext>
            </a:extLst>
          </p:cNvPr>
          <p:cNvSpPr>
            <a:spLocks noGrp="1"/>
          </p:cNvSpPr>
          <p:nvPr>
            <p:ph idx="1"/>
          </p:nvPr>
        </p:nvSpPr>
        <p:spPr/>
        <p:txBody>
          <a:bodyPr/>
          <a:lstStyle/>
          <a:p>
            <a:r>
              <a:rPr lang="ru-RU" b="1" dirty="0"/>
              <a:t>Нулевые указатели</a:t>
            </a:r>
          </a:p>
          <a:p>
            <a:pPr lvl="1"/>
            <a:endParaRPr lang="de-CH" b="1" dirty="0"/>
          </a:p>
          <a:p>
            <a:pPr lvl="1"/>
            <a:r>
              <a:rPr lang="de-CH" b="1" dirty="0"/>
              <a:t>int</a:t>
            </a:r>
            <a:r>
              <a:rPr lang="de-CH" dirty="0"/>
              <a:t> *p1{</a:t>
            </a:r>
            <a:r>
              <a:rPr lang="de-CH" dirty="0" err="1"/>
              <a:t>nullptr</a:t>
            </a:r>
            <a:r>
              <a:rPr lang="de-CH" dirty="0"/>
              <a:t>};</a:t>
            </a:r>
          </a:p>
          <a:p>
            <a:pPr lvl="1"/>
            <a:r>
              <a:rPr lang="de-CH" b="1" dirty="0"/>
              <a:t>int</a:t>
            </a:r>
            <a:r>
              <a:rPr lang="de-CH" dirty="0"/>
              <a:t> *p2{};</a:t>
            </a:r>
          </a:p>
          <a:p>
            <a:endParaRPr lang="ru-RU" dirty="0"/>
          </a:p>
        </p:txBody>
      </p:sp>
    </p:spTree>
    <p:extLst>
      <p:ext uri="{BB962C8B-B14F-4D97-AF65-F5344CB8AC3E}">
        <p14:creationId xmlns:p14="http://schemas.microsoft.com/office/powerpoint/2010/main" val="367991548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69CF4C-47E4-C1C6-A189-991207CD3293}"/>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1E016AC4-8311-153D-C5F0-1A2899715AD9}"/>
              </a:ext>
            </a:extLst>
          </p:cNvPr>
          <p:cNvSpPr>
            <a:spLocks noGrp="1"/>
          </p:cNvSpPr>
          <p:nvPr>
            <p:ph idx="1"/>
          </p:nvPr>
        </p:nvSpPr>
        <p:spPr/>
        <p:txBody>
          <a:bodyPr/>
          <a:lstStyle/>
          <a:p>
            <a:r>
              <a:rPr lang="ru-RU" b="1" dirty="0"/>
              <a:t>Адрес указателя</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&amp;a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 of pointer="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&amp;pa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адрес</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указателя</a:t>
            </a:r>
            <a:endParaRPr lang="en-US"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address</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stored</a:t>
            </a:r>
            <a:r>
              <a:rPr lang="de-CH" dirty="0">
                <a:solidFill>
                  <a:srgbClr val="A31515"/>
                </a:solidFill>
                <a:latin typeface="Consolas" panose="020B0609020204030204" pitchFamily="49" charset="0"/>
              </a:rPr>
              <a:t> in </a:t>
            </a:r>
            <a:r>
              <a:rPr lang="de-CH" dirty="0" err="1">
                <a:solidFill>
                  <a:srgbClr val="A31515"/>
                </a:solidFill>
                <a:latin typeface="Consolas" panose="020B0609020204030204" pitchFamily="49" charset="0"/>
              </a:rPr>
              <a:t>pointer</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адрес, который хранится в указателе - адрес переменной </a:t>
            </a:r>
            <a:r>
              <a:rPr lang="de-CH" dirty="0">
                <a:solidFill>
                  <a:srgbClr val="008000"/>
                </a:solidFill>
                <a:latin typeface="Consolas" panose="020B0609020204030204" pitchFamily="49" charset="0"/>
              </a:rPr>
              <a:t>a         </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cout</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a:solidFill>
                  <a:srgbClr val="A31515"/>
                </a:solidFill>
                <a:latin typeface="Consolas" panose="020B0609020204030204" pitchFamily="49" charset="0"/>
              </a:rPr>
              <a:t>"</a:t>
            </a:r>
            <a:r>
              <a:rPr lang="ru-RU" dirty="0" err="1">
                <a:solidFill>
                  <a:srgbClr val="A31515"/>
                </a:solidFill>
                <a:latin typeface="Consolas" panose="020B0609020204030204" pitchFamily="49" charset="0"/>
              </a:rPr>
              <a:t>value</a:t>
            </a:r>
            <a:r>
              <a:rPr lang="ru-RU" dirty="0">
                <a:solidFill>
                  <a:srgbClr val="A31515"/>
                </a:solidFill>
                <a:latin typeface="Consolas" panose="020B0609020204030204" pitchFamily="49" charset="0"/>
              </a:rPr>
              <a:t> </a:t>
            </a:r>
            <a:r>
              <a:rPr lang="ru-RU" dirty="0" err="1">
                <a:solidFill>
                  <a:srgbClr val="A31515"/>
                </a:solidFill>
                <a:latin typeface="Consolas" panose="020B0609020204030204" pitchFamily="49" charset="0"/>
              </a:rPr>
              <a:t>on</a:t>
            </a:r>
            <a:r>
              <a:rPr lang="ru-RU" dirty="0">
                <a:solidFill>
                  <a:srgbClr val="A31515"/>
                </a:solidFill>
                <a:latin typeface="Consolas" panose="020B0609020204030204" pitchFamily="49" charset="0"/>
              </a:rPr>
              <a:t> </a:t>
            </a:r>
            <a:r>
              <a:rPr lang="ru-RU" dirty="0" err="1">
                <a:solidFill>
                  <a:srgbClr val="A31515"/>
                </a:solidFill>
                <a:latin typeface="Consolas" panose="020B0609020204030204" pitchFamily="49" charset="0"/>
              </a:rPr>
              <a:t>pointer</a:t>
            </a:r>
            <a:r>
              <a:rPr lang="ru-RU" dirty="0">
                <a:solidFill>
                  <a:srgbClr val="A31515"/>
                </a:solidFill>
                <a:latin typeface="Consolas" panose="020B0609020204030204" pitchFamily="49" charset="0"/>
              </a:rPr>
              <a:t>="</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t>
            </a:r>
            <a:r>
              <a:rPr lang="ru-RU" dirty="0">
                <a:solidFill>
                  <a:srgbClr val="008080"/>
                </a:solidFill>
                <a:latin typeface="Consolas" panose="020B0609020204030204" pitchFamily="49" charset="0"/>
              </a:rPr>
              <a:t>&lt;&lt;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std</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endl</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значение по адресу в указателе - значение переменной a</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57836183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AB3562-69D7-E1F3-2F83-8143DC4D6247}"/>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5AA3BB3-BD4E-0D8A-82CF-B1CA174796BE}"/>
              </a:ext>
            </a:extLst>
          </p:cNvPr>
          <p:cNvSpPr>
            <a:spLocks noGrp="1"/>
          </p:cNvSpPr>
          <p:nvPr>
            <p:ph idx="1"/>
          </p:nvPr>
        </p:nvSpPr>
        <p:spPr/>
        <p:txBody>
          <a:bodyPr/>
          <a:lstStyle/>
          <a:p>
            <a:r>
              <a:rPr lang="ru-RU" b="1" dirty="0"/>
              <a:t>Операции сравнения</a:t>
            </a:r>
          </a:p>
          <a:p>
            <a:r>
              <a:rPr lang="ru-RU" dirty="0"/>
              <a:t>К указателям могут применяться операции сравнения </a:t>
            </a:r>
            <a:r>
              <a:rPr lang="ru-RU" b="1" dirty="0"/>
              <a:t>&gt;</a:t>
            </a:r>
            <a:r>
              <a:rPr lang="ru-RU" dirty="0"/>
              <a:t>, </a:t>
            </a:r>
            <a:r>
              <a:rPr lang="ru-RU" b="1" dirty="0"/>
              <a:t>&gt;=</a:t>
            </a:r>
            <a:r>
              <a:rPr lang="ru-RU" dirty="0"/>
              <a:t>, </a:t>
            </a:r>
            <a:r>
              <a:rPr lang="ru-RU" b="1" dirty="0"/>
              <a:t>&lt;</a:t>
            </a:r>
            <a:r>
              <a:rPr lang="ru-RU" dirty="0"/>
              <a:t>, </a:t>
            </a:r>
            <a:r>
              <a:rPr lang="ru-RU" b="1" dirty="0"/>
              <a:t>&lt;=</a:t>
            </a:r>
            <a:r>
              <a:rPr lang="ru-RU" dirty="0"/>
              <a:t>,</a:t>
            </a:r>
            <a:r>
              <a:rPr lang="ru-RU" b="1" dirty="0"/>
              <a:t>==</a:t>
            </a:r>
            <a:r>
              <a:rPr lang="ru-RU" dirty="0"/>
              <a:t>, </a:t>
            </a:r>
            <a:r>
              <a:rPr lang="ru-RU" b="1" dirty="0"/>
              <a:t>!=</a:t>
            </a:r>
            <a:r>
              <a:rPr lang="ru-RU" dirty="0"/>
              <a:t>. Операции сравнения применяются только к указателям одного типа. Для сравнения используются номера адресов:</a:t>
            </a:r>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20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&amp;a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pb</a:t>
            </a:r>
            <a:r>
              <a:rPr lang="de-CH" dirty="0">
                <a:solidFill>
                  <a:srgbClr val="000000"/>
                </a:solidFill>
                <a:latin typeface="Consolas" panose="020B0609020204030204" pitchFamily="49" charset="0"/>
              </a:rPr>
              <a:t>{ &amp;b };</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&gt; </a:t>
            </a:r>
            <a:r>
              <a:rPr lang="de-CH" dirty="0" err="1">
                <a:solidFill>
                  <a:srgbClr val="000000"/>
                </a:solidFill>
                <a:latin typeface="Consolas" panose="020B0609020204030204" pitchFamily="49" charset="0"/>
              </a:rPr>
              <a:t>pb</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"pa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is greater than pb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"pa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pa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is less or equal pb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45375350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555381-2099-96B1-2175-C9038B47F00C}"/>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EB9B1F39-6C0E-8C0B-0AB5-250725D2B9A8}"/>
              </a:ext>
            </a:extLst>
          </p:cNvPr>
          <p:cNvSpPr>
            <a:spLocks noGrp="1"/>
          </p:cNvSpPr>
          <p:nvPr>
            <p:ph idx="1"/>
          </p:nvPr>
        </p:nvSpPr>
        <p:spPr/>
        <p:txBody>
          <a:bodyPr/>
          <a:lstStyle/>
          <a:p>
            <a:r>
              <a:rPr lang="ru-RU" b="1" dirty="0"/>
              <a:t>Приведение типов</a:t>
            </a:r>
          </a:p>
          <a:p>
            <a:pPr lvl="1"/>
            <a:endParaRPr lang="de-CH"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c{ </a:t>
            </a:r>
            <a:r>
              <a:rPr lang="de-CH" dirty="0">
                <a:solidFill>
                  <a:srgbClr val="A31515"/>
                </a:solidFill>
                <a:latin typeface="Consolas" panose="020B0609020204030204" pitchFamily="49" charset="0"/>
              </a:rPr>
              <a:t>'N'</a:t>
            </a:r>
            <a:r>
              <a:rPr lang="de-CH"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char</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pc</a:t>
            </a:r>
            <a:r>
              <a:rPr lang="ru-RU" dirty="0">
                <a:solidFill>
                  <a:srgbClr val="000000"/>
                </a:solidFill>
                <a:latin typeface="Consolas" panose="020B0609020204030204" pitchFamily="49" charset="0"/>
              </a:rPr>
              <a:t>{ &amp;c };            </a:t>
            </a:r>
            <a:r>
              <a:rPr lang="ru-RU" dirty="0">
                <a:solidFill>
                  <a:srgbClr val="008000"/>
                </a:solidFill>
                <a:latin typeface="Consolas" panose="020B0609020204030204" pitchFamily="49" charset="0"/>
              </a:rPr>
              <a:t>// указатель на символ</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pd</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pc</a:t>
            </a:r>
            <a:r>
              <a:rPr lang="ru-RU" dirty="0">
                <a:solidFill>
                  <a:srgbClr val="000000"/>
                </a:solidFill>
                <a:latin typeface="Consolas" panose="020B0609020204030204" pitchFamily="49" charset="0"/>
              </a:rPr>
              <a:t> };      </a:t>
            </a:r>
            <a:r>
              <a:rPr lang="ru-RU" dirty="0">
                <a:solidFill>
                  <a:srgbClr val="008000"/>
                </a:solidFill>
                <a:latin typeface="Consolas" panose="020B0609020204030204" pitchFamily="49" charset="0"/>
              </a:rPr>
              <a:t>// указатель на int</a:t>
            </a:r>
            <a:endParaRPr lang="ru-RU" dirty="0">
              <a:solidFill>
                <a:srgbClr val="000000"/>
              </a:solidFill>
              <a:latin typeface="Consolas" panose="020B0609020204030204" pitchFamily="49" charset="0"/>
            </a:endParaRPr>
          </a:p>
          <a:p>
            <a:pPr lvl="1"/>
            <a:r>
              <a:rPr lang="da-DK" dirty="0">
                <a:solidFill>
                  <a:srgbClr val="000000"/>
                </a:solidFill>
                <a:latin typeface="Consolas" panose="020B0609020204030204" pitchFamily="49" charset="0"/>
              </a:rPr>
              <a:t>   std::cout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a:t>
            </a:r>
            <a:r>
              <a:rPr lang="da-DK" dirty="0">
                <a:solidFill>
                  <a:srgbClr val="A31515"/>
                </a:solidFill>
                <a:latin typeface="Consolas" panose="020B0609020204030204" pitchFamily="49" charset="0"/>
              </a:rPr>
              <a:t>"pv="</a:t>
            </a:r>
            <a:r>
              <a:rPr lang="da-DK" dirty="0">
                <a:solidFill>
                  <a:srgbClr val="000000"/>
                </a:solidFill>
                <a:latin typeface="Consolas" panose="020B0609020204030204" pitchFamily="49" charset="0"/>
              </a:rPr>
              <a:t>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pv </a:t>
            </a:r>
            <a:r>
              <a:rPr lang="da-DK" dirty="0">
                <a:solidFill>
                  <a:srgbClr val="008080"/>
                </a:solidFill>
                <a:latin typeface="Consolas" panose="020B0609020204030204" pitchFamily="49" charset="0"/>
              </a:rPr>
              <a:t>&lt;&lt;</a:t>
            </a:r>
            <a:r>
              <a:rPr lang="da-DK" dirty="0">
                <a:solidFill>
                  <a:srgbClr val="000000"/>
                </a:solidFill>
                <a:latin typeface="Consolas" panose="020B0609020204030204" pitchFamily="49" charset="0"/>
              </a:rPr>
              <a:t> std::endl;</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pd</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pd</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49665497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C9CC47-B16B-F96D-704E-C4B706CF5626}"/>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C511577A-7233-AE68-C76A-FD19BE59FF48}"/>
              </a:ext>
            </a:extLst>
          </p:cNvPr>
          <p:cNvSpPr>
            <a:spLocks noGrp="1"/>
          </p:cNvSpPr>
          <p:nvPr>
            <p:ph idx="1"/>
          </p:nvPr>
        </p:nvSpPr>
        <p:spPr/>
        <p:txBody>
          <a:bodyPr/>
          <a:lstStyle/>
          <a:p>
            <a:r>
              <a:rPr lang="ru-RU" dirty="0"/>
              <a:t>Инкремент / декремент</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a:t>
            </a:r>
            <a:r>
              <a:rPr lang="de-CH" dirty="0">
                <a:solidFill>
                  <a:srgbClr val="000000"/>
                </a:solidFill>
                <a:latin typeface="Consolas" panose="020B0609020204030204" pitchFamily="49" charset="0"/>
              </a:rPr>
              <a:t>{ &amp;n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tvalue</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tvalue</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tvalue</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2103582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FF6344-CAE7-8F19-E7DE-0959480BFE89}"/>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3BA88A9E-D4AF-2841-91ED-B5A6C43791E6}"/>
              </a:ext>
            </a:extLst>
          </p:cNvPr>
          <p:cNvSpPr>
            <a:spLocks noGrp="1"/>
          </p:cNvSpPr>
          <p:nvPr>
            <p:ph idx="1"/>
          </p:nvPr>
        </p:nvSpPr>
        <p:spPr/>
        <p:txBody>
          <a:bodyPr/>
          <a:lstStyle/>
          <a:p>
            <a:r>
              <a:rPr lang="ru-RU" dirty="0"/>
              <a:t>Сложение / вычитание</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d{ 10.6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pd</a:t>
            </a:r>
            <a:r>
              <a:rPr lang="de-CH" dirty="0">
                <a:solidFill>
                  <a:srgbClr val="000000"/>
                </a:solidFill>
                <a:latin typeface="Consolas" panose="020B0609020204030204" pitchFamily="49" charset="0"/>
              </a:rPr>
              <a:t>{ &amp;d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"Pointer pd: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pd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pd</a:t>
            </a:r>
            <a:r>
              <a:rPr lang="ru-RU" dirty="0">
                <a:solidFill>
                  <a:srgbClr val="000000"/>
                </a:solidFill>
                <a:latin typeface="Consolas" panose="020B0609020204030204" pitchFamily="49" charset="0"/>
              </a:rPr>
              <a:t> = </a:t>
            </a:r>
            <a:r>
              <a:rPr lang="ru-RU" dirty="0" err="1">
                <a:solidFill>
                  <a:srgbClr val="000000"/>
                </a:solidFill>
                <a:latin typeface="Consolas" panose="020B0609020204030204" pitchFamily="49" charset="0"/>
              </a:rPr>
              <a:t>pd</a:t>
            </a:r>
            <a:r>
              <a:rPr lang="ru-RU" dirty="0">
                <a:solidFill>
                  <a:srgbClr val="000000"/>
                </a:solidFill>
                <a:latin typeface="Consolas" panose="020B0609020204030204" pitchFamily="49" charset="0"/>
              </a:rPr>
              <a:t> + 2;   </a:t>
            </a:r>
            <a:r>
              <a:rPr lang="ru-RU" dirty="0">
                <a:solidFill>
                  <a:srgbClr val="008000"/>
                </a:solidFill>
                <a:latin typeface="Consolas" panose="020B0609020204030204" pitchFamily="49" charset="0"/>
              </a:rPr>
              <a:t>// увеличение адреса на 16 байт - 2 объекта </a:t>
            </a:r>
            <a:r>
              <a:rPr lang="ru-RU" dirty="0" err="1">
                <a:solidFill>
                  <a:srgbClr val="008000"/>
                </a:solidFill>
                <a:latin typeface="Consolas" panose="020B0609020204030204" pitchFamily="49" charset="0"/>
              </a:rPr>
              <a:t>double</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"Pointer pd: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pd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short</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short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pn</a:t>
            </a:r>
            <a:r>
              <a:rPr lang="de-CH" dirty="0">
                <a:solidFill>
                  <a:srgbClr val="000000"/>
                </a:solidFill>
                <a:latin typeface="Consolas" panose="020B0609020204030204" pitchFamily="49" charset="0"/>
              </a:rPr>
              <a:t>{ &amp;n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"Pointer </a:t>
            </a:r>
            <a:r>
              <a:rPr lang="en-US" dirty="0" err="1">
                <a:solidFill>
                  <a:srgbClr val="A31515"/>
                </a:solidFill>
                <a:latin typeface="Consolas" panose="020B0609020204030204" pitchFamily="49" charset="0"/>
              </a:rPr>
              <a:t>pn</a:t>
            </a:r>
            <a:r>
              <a:rPr lang="en-US" dirty="0">
                <a:solidFill>
                  <a:srgbClr val="A31515"/>
                </a:solidFill>
                <a:latin typeface="Consolas" panose="020B0609020204030204" pitchFamily="49" charset="0"/>
              </a:rPr>
              <a:t>: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pn</a:t>
            </a:r>
            <a:r>
              <a:rPr lang="ru-RU" dirty="0">
                <a:solidFill>
                  <a:srgbClr val="000000"/>
                </a:solidFill>
                <a:latin typeface="Consolas" panose="020B0609020204030204" pitchFamily="49" charset="0"/>
              </a:rPr>
              <a:t> = </a:t>
            </a:r>
            <a:r>
              <a:rPr lang="ru-RU" dirty="0" err="1">
                <a:solidFill>
                  <a:srgbClr val="000000"/>
                </a:solidFill>
                <a:latin typeface="Consolas" panose="020B0609020204030204" pitchFamily="49" charset="0"/>
              </a:rPr>
              <a:t>pn</a:t>
            </a:r>
            <a:r>
              <a:rPr lang="ru-RU" dirty="0">
                <a:solidFill>
                  <a:srgbClr val="000000"/>
                </a:solidFill>
                <a:latin typeface="Consolas" panose="020B0609020204030204" pitchFamily="49" charset="0"/>
              </a:rPr>
              <a:t> - 3;   </a:t>
            </a:r>
            <a:r>
              <a:rPr lang="ru-RU" dirty="0">
                <a:solidFill>
                  <a:srgbClr val="008000"/>
                </a:solidFill>
                <a:latin typeface="Consolas" panose="020B0609020204030204" pitchFamily="49" charset="0"/>
              </a:rPr>
              <a:t>// уменьшение адреса на 6 байт - размер 3 объектов </a:t>
            </a:r>
            <a:r>
              <a:rPr lang="ru-RU" dirty="0" err="1">
                <a:solidFill>
                  <a:srgbClr val="008000"/>
                </a:solidFill>
                <a:latin typeface="Consolas" panose="020B0609020204030204" pitchFamily="49" charset="0"/>
              </a:rPr>
              <a:t>short</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"Pointer </a:t>
            </a:r>
            <a:r>
              <a:rPr lang="en-US" dirty="0" err="1">
                <a:solidFill>
                  <a:srgbClr val="A31515"/>
                </a:solidFill>
                <a:latin typeface="Consolas" panose="020B0609020204030204" pitchFamily="49" charset="0"/>
              </a:rPr>
              <a:t>pn</a:t>
            </a:r>
            <a:r>
              <a:rPr lang="en-US" dirty="0">
                <a:solidFill>
                  <a:srgbClr val="A31515"/>
                </a:solidFill>
                <a:latin typeface="Consolas" panose="020B0609020204030204" pitchFamily="49" charset="0"/>
              </a:rPr>
              <a:t>: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87751329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70B8E2-DA0E-D7E1-7EE5-3166CE6D2378}"/>
              </a:ext>
            </a:extLst>
          </p:cNvPr>
          <p:cNvSpPr>
            <a:spLocks noGrp="1"/>
          </p:cNvSpPr>
          <p:nvPr>
            <p:ph type="title"/>
          </p:nvPr>
        </p:nvSpPr>
        <p:spPr/>
        <p:txBody>
          <a:bodyPr/>
          <a:lstStyle/>
          <a:p>
            <a:r>
              <a:rPr lang="ru-RU" dirty="0"/>
              <a:t>Указатели</a:t>
            </a:r>
          </a:p>
        </p:txBody>
      </p:sp>
      <p:sp>
        <p:nvSpPr>
          <p:cNvPr id="3" name="Объект 2">
            <a:extLst>
              <a:ext uri="{FF2B5EF4-FFF2-40B4-BE49-F238E27FC236}">
                <a16:creationId xmlns:a16="http://schemas.microsoft.com/office/drawing/2014/main" id="{41537A9B-2B90-E1C2-90F9-BD3933E88D77}"/>
              </a:ext>
            </a:extLst>
          </p:cNvPr>
          <p:cNvSpPr>
            <a:spLocks noGrp="1"/>
          </p:cNvSpPr>
          <p:nvPr>
            <p:ph idx="1"/>
          </p:nvPr>
        </p:nvSpPr>
        <p:spPr/>
        <p:txBody>
          <a:bodyPr/>
          <a:lstStyle/>
          <a:p>
            <a:r>
              <a:rPr lang="ru-RU" dirty="0"/>
              <a:t>При работе с указателями надо отличать операции с самим указателем и операции со значением по адресу, на который указывает указатель.</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pa</a:t>
            </a:r>
            <a:r>
              <a:rPr lang="de-CH" dirty="0">
                <a:solidFill>
                  <a:srgbClr val="000000"/>
                </a:solidFill>
                <a:latin typeface="Consolas" panose="020B0609020204030204" pitchFamily="49" charset="0"/>
              </a:rPr>
              <a:t>{ &amp;a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b{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+ 20 };   </a:t>
            </a:r>
            <a:r>
              <a:rPr lang="ru-RU" dirty="0">
                <a:solidFill>
                  <a:srgbClr val="008000"/>
                </a:solidFill>
                <a:latin typeface="Consolas" panose="020B0609020204030204" pitchFamily="49" charset="0"/>
              </a:rPr>
              <a:t>// операция со значением, на который 	указывает указатель</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pa</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операция с самим указателем</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b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  </a:t>
            </a:r>
            <a:r>
              <a:rPr lang="en-US" dirty="0">
                <a:solidFill>
                  <a:srgbClr val="008000"/>
                </a:solidFill>
                <a:latin typeface="Consolas" panose="020B0609020204030204" pitchFamily="49" charset="0"/>
              </a:rPr>
              <a:t>// 30</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71227404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B8A245-10B5-4079-2966-ABA4134197C3}"/>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11C043D2-35B3-A656-EEEF-E695B34A07CD}"/>
              </a:ext>
            </a:extLst>
          </p:cNvPr>
          <p:cNvSpPr>
            <a:spLocks noGrp="1"/>
          </p:cNvSpPr>
          <p:nvPr>
            <p:ph idx="1"/>
          </p:nvPr>
        </p:nvSpPr>
        <p:spPr/>
        <p:txBody>
          <a:bodyPr/>
          <a:lstStyle/>
          <a:p>
            <a:r>
              <a:rPr lang="ru-RU" dirty="0"/>
              <a:t>Массив представляет набор однотипных данных. Формальное определение массива выглядит следующим образом:</a:t>
            </a:r>
          </a:p>
          <a:p>
            <a:endParaRPr lang="ru-RU" dirty="0"/>
          </a:p>
          <a:p>
            <a:r>
              <a:rPr lang="ru-RU" dirty="0" err="1"/>
              <a:t>тип_переменной</a:t>
            </a:r>
            <a:r>
              <a:rPr lang="ru-RU" dirty="0"/>
              <a:t> </a:t>
            </a:r>
            <a:r>
              <a:rPr lang="ru-RU" dirty="0" err="1"/>
              <a:t>название_массива</a:t>
            </a:r>
            <a:r>
              <a:rPr lang="ru-RU" dirty="0"/>
              <a:t> [</a:t>
            </a:r>
            <a:r>
              <a:rPr lang="ru-RU" dirty="0" err="1"/>
              <a:t>длина_массива</a:t>
            </a:r>
            <a:r>
              <a:rPr lang="ru-RU" dirty="0"/>
              <a:t>]</a:t>
            </a:r>
          </a:p>
          <a:p>
            <a:endParaRPr lang="ru-RU" dirty="0"/>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[4];</a:t>
            </a:r>
            <a:endParaRPr lang="ru-RU" sz="2000" dirty="0">
              <a:solidFill>
                <a:srgbClr val="000000"/>
              </a:solidFill>
              <a:latin typeface="Consolas" panose="020B0609020204030204" pitchFamily="49" charset="0"/>
            </a:endParaRPr>
          </a:p>
          <a:p>
            <a:endParaRPr lang="ru-RU" dirty="0">
              <a:solidFill>
                <a:srgbClr val="000000"/>
              </a:solidFill>
              <a:latin typeface="Consolas" panose="020B0609020204030204" pitchFamily="49" charset="0"/>
            </a:endParaRPr>
          </a:p>
          <a:p>
            <a:r>
              <a:rPr lang="ru-RU" dirty="0"/>
              <a:t>число элементов массива также можно определять через </a:t>
            </a:r>
            <a:r>
              <a:rPr lang="ru-RU" u="sng" dirty="0"/>
              <a:t>константу:</a:t>
            </a:r>
          </a:p>
          <a:p>
            <a:endParaRPr lang="ru-RU" u="sng" dirty="0"/>
          </a:p>
          <a:p>
            <a:r>
              <a:rPr lang="de-CH" sz="2000" dirty="0" err="1">
                <a:solidFill>
                  <a:srgbClr val="0000FF"/>
                </a:solidFill>
                <a:latin typeface="Consolas" panose="020B0609020204030204" pitchFamily="49" charset="0"/>
              </a:rPr>
              <a:t>const</a:t>
            </a:r>
            <a:r>
              <a:rPr lang="de-CH"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n = 4;</a:t>
            </a:r>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[n];</a:t>
            </a:r>
            <a:endParaRPr lang="ru-RU" u="sng" dirty="0"/>
          </a:p>
        </p:txBody>
      </p:sp>
    </p:spTree>
    <p:extLst>
      <p:ext uri="{BB962C8B-B14F-4D97-AF65-F5344CB8AC3E}">
        <p14:creationId xmlns:p14="http://schemas.microsoft.com/office/powerpoint/2010/main" val="116247876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B8CF91-11F1-8F63-0EAC-5085372CE8EE}"/>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CE11EEFC-D2D8-6C80-BB26-CA61AF111FA2}"/>
              </a:ext>
            </a:extLst>
          </p:cNvPr>
          <p:cNvSpPr>
            <a:spLocks noGrp="1"/>
          </p:cNvSpPr>
          <p:nvPr>
            <p:ph idx="1"/>
          </p:nvPr>
        </p:nvSpPr>
        <p:spPr/>
        <p:txBody>
          <a:bodyPr/>
          <a:lstStyle/>
          <a:p>
            <a:r>
              <a:rPr lang="ru-RU" dirty="0"/>
              <a:t>Инициализация массива</a:t>
            </a:r>
          </a:p>
          <a:p>
            <a:endParaRPr lang="ru-RU" dirty="0"/>
          </a:p>
          <a:p>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numbers[4]{};   </a:t>
            </a:r>
            <a:r>
              <a:rPr lang="en-US" sz="2000" dirty="0">
                <a:solidFill>
                  <a:srgbClr val="008000"/>
                </a:solidFill>
                <a:latin typeface="Consolas" panose="020B0609020204030204" pitchFamily="49" charset="0"/>
              </a:rPr>
              <a:t>//  {0, 0, 0, 0}</a:t>
            </a:r>
            <a:endParaRPr lang="ru-RU" sz="2000" dirty="0">
              <a:solidFill>
                <a:srgbClr val="008000"/>
              </a:solidFill>
              <a:latin typeface="Consolas" panose="020B0609020204030204" pitchFamily="49" charset="0"/>
            </a:endParaRPr>
          </a:p>
          <a:p>
            <a:endParaRPr lang="ru-RU" sz="2000" dirty="0">
              <a:solidFill>
                <a:srgbClr val="0000FF"/>
              </a:solidFill>
              <a:latin typeface="Consolas" panose="020B0609020204030204" pitchFamily="49" charset="0"/>
            </a:endParaRPr>
          </a:p>
          <a:p>
            <a:endParaRPr lang="ru-RU" sz="2000" dirty="0">
              <a:solidFill>
                <a:srgbClr val="0000FF"/>
              </a:solidFill>
              <a:latin typeface="Consolas" panose="020B0609020204030204" pitchFamily="49" charset="0"/>
            </a:endParaRPr>
          </a:p>
          <a:p>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numbers[4]{ 1, 2, 3, 4 };</a:t>
            </a:r>
            <a:r>
              <a:rPr lang="ru-RU" sz="2000" dirty="0">
                <a:solidFill>
                  <a:srgbClr val="000000"/>
                </a:solidFill>
                <a:latin typeface="Consolas" panose="020B0609020204030204" pitchFamily="49" charset="0"/>
              </a:rPr>
              <a:t> </a:t>
            </a:r>
          </a:p>
          <a:p>
            <a:endParaRPr lang="ru-RU" dirty="0">
              <a:solidFill>
                <a:srgbClr val="000000"/>
              </a:solidFill>
              <a:latin typeface="Consolas" panose="020B0609020204030204" pitchFamily="49" charset="0"/>
            </a:endParaRPr>
          </a:p>
          <a:p>
            <a:endParaRPr lang="ru-RU" sz="2000" dirty="0">
              <a:solidFill>
                <a:srgbClr val="0000FF"/>
              </a:solidFill>
              <a:latin typeface="Consolas" panose="020B0609020204030204" pitchFamily="49" charset="0"/>
            </a:endParaRPr>
          </a:p>
          <a:p>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numbers[4]{ 1, 2, 3, 4, 5, 6 };   </a:t>
            </a:r>
            <a:r>
              <a:rPr lang="en-US" sz="2000" dirty="0">
                <a:solidFill>
                  <a:srgbClr val="008000"/>
                </a:solidFill>
                <a:latin typeface="Consolas" panose="020B0609020204030204" pitchFamily="49" charset="0"/>
              </a:rPr>
              <a:t>// ! </a:t>
            </a:r>
            <a:r>
              <a:rPr lang="en-US" sz="2000" dirty="0" err="1">
                <a:solidFill>
                  <a:srgbClr val="008000"/>
                </a:solidFill>
                <a:latin typeface="Consolas" panose="020B0609020204030204" pitchFamily="49" charset="0"/>
              </a:rPr>
              <a:t>Ошибка</a:t>
            </a:r>
            <a:endParaRPr lang="ru-RU" sz="2000" dirty="0">
              <a:solidFill>
                <a:srgbClr val="008000"/>
              </a:solidFill>
              <a:latin typeface="Consolas" panose="020B0609020204030204" pitchFamily="49" charset="0"/>
            </a:endParaRPr>
          </a:p>
          <a:p>
            <a:endParaRPr lang="ru-RU" dirty="0">
              <a:solidFill>
                <a:srgbClr val="008000"/>
              </a:solidFill>
              <a:latin typeface="Consolas" panose="020B0609020204030204" pitchFamily="49" charset="0"/>
            </a:endParaRPr>
          </a:p>
          <a:p>
            <a:endParaRPr lang="ru-RU" sz="2000" dirty="0">
              <a:solidFill>
                <a:srgbClr val="0000FF"/>
              </a:solidFill>
              <a:latin typeface="Consolas" panose="020B0609020204030204" pitchFamily="49" charset="0"/>
            </a:endParaRPr>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nums1[]{ 1,2,3,4,5 };</a:t>
            </a:r>
          </a:p>
          <a:p>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nums2[] = nums1;    </a:t>
            </a:r>
            <a:r>
              <a:rPr lang="de-CH" sz="2000" dirty="0">
                <a:solidFill>
                  <a:srgbClr val="008000"/>
                </a:solidFill>
                <a:latin typeface="Consolas" panose="020B0609020204030204" pitchFamily="49" charset="0"/>
              </a:rPr>
              <a:t>// </a:t>
            </a:r>
            <a:r>
              <a:rPr lang="ru-RU" sz="2000" dirty="0">
                <a:solidFill>
                  <a:srgbClr val="008000"/>
                </a:solidFill>
                <a:latin typeface="Consolas" panose="020B0609020204030204" pitchFamily="49" charset="0"/>
              </a:rPr>
              <a:t>ошибка</a:t>
            </a:r>
            <a:endParaRPr lang="ru-RU" dirty="0"/>
          </a:p>
        </p:txBody>
      </p:sp>
    </p:spTree>
    <p:extLst>
      <p:ext uri="{BB962C8B-B14F-4D97-AF65-F5344CB8AC3E}">
        <p14:creationId xmlns:p14="http://schemas.microsoft.com/office/powerpoint/2010/main" val="339995875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FFB07F-C0B1-E4FF-5530-8CA21778C31F}"/>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C519CE26-0749-EB95-97B9-B22C3477D184}"/>
              </a:ext>
            </a:extLst>
          </p:cNvPr>
          <p:cNvSpPr>
            <a:spLocks noGrp="1"/>
          </p:cNvSpPr>
          <p:nvPr>
            <p:ph idx="1"/>
          </p:nvPr>
        </p:nvSpPr>
        <p:spPr/>
        <p:txBody>
          <a:bodyPr/>
          <a:lstStyle/>
          <a:p>
            <a:r>
              <a:rPr lang="ru-RU" b="1" dirty="0"/>
              <a:t>Индексы. Получение и изменение элементов массива</a:t>
            </a:r>
          </a:p>
          <a:p>
            <a:endParaRPr lang="ru-RU" b="1"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[1];</a:t>
            </a:r>
          </a:p>
          <a:p>
            <a:pPr lvl="1"/>
            <a:r>
              <a:rPr lang="de-CH" dirty="0">
                <a:solidFill>
                  <a:srgbClr val="000000"/>
                </a:solidFill>
                <a:latin typeface="Consolas" panose="020B0609020204030204" pitchFamily="49" charset="0"/>
              </a:rPr>
              <a:t>    </a:t>
            </a:r>
            <a:r>
              <a:rPr lang="ru-RU" dirty="0">
                <a:solidFill>
                  <a:srgbClr val="000000"/>
                </a:solidFill>
                <a:latin typeface="Consolas" panose="020B0609020204030204" pitchFamily="49" charset="0"/>
              </a:rPr>
              <a:t>	</a:t>
            </a:r>
          </a:p>
          <a:p>
            <a:pPr lvl="1"/>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[1] = 123;</a:t>
            </a:r>
            <a:endParaRPr lang="ru-RU" b="1" dirty="0"/>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[4]{ 1,2,3,4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first</a:t>
            </a:r>
            <a:r>
              <a:rPr lang="ru-RU" dirty="0">
                <a:solidFill>
                  <a:srgbClr val="000000"/>
                </a:solidFill>
                <a:latin typeface="Consolas" panose="020B0609020204030204" pitchFamily="49" charset="0"/>
              </a:rPr>
              <a:t> = </a:t>
            </a:r>
            <a:r>
              <a:rPr lang="ru-RU" dirty="0" err="1">
                <a:solidFill>
                  <a:srgbClr val="000000"/>
                </a:solidFill>
                <a:latin typeface="Consolas" panose="020B0609020204030204" pitchFamily="49" charset="0"/>
              </a:rPr>
              <a:t>numbers</a:t>
            </a:r>
            <a:r>
              <a:rPr lang="ru-RU" dirty="0">
                <a:solidFill>
                  <a:srgbClr val="000000"/>
                </a:solidFill>
                <a:latin typeface="Consolas" panose="020B0609020204030204" pitchFamily="49" charset="0"/>
              </a:rPr>
              <a:t>[0];     </a:t>
            </a:r>
            <a:r>
              <a:rPr lang="ru-RU" dirty="0">
                <a:solidFill>
                  <a:srgbClr val="008000"/>
                </a:solidFill>
                <a:latin typeface="Consolas" panose="020B0609020204030204" pitchFamily="49" charset="0"/>
              </a:rPr>
              <a:t>// получаем первый элемент</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first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1</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numbers</a:t>
            </a:r>
            <a:r>
              <a:rPr lang="ru-RU" dirty="0">
                <a:solidFill>
                  <a:srgbClr val="000000"/>
                </a:solidFill>
                <a:latin typeface="Consolas" panose="020B0609020204030204" pitchFamily="49" charset="0"/>
              </a:rPr>
              <a:t>[0] = 34; </a:t>
            </a:r>
            <a:r>
              <a:rPr lang="ru-RU" dirty="0">
                <a:solidFill>
                  <a:srgbClr val="008000"/>
                </a:solidFill>
                <a:latin typeface="Consolas" panose="020B0609020204030204" pitchFamily="49" charset="0"/>
              </a:rPr>
              <a:t>// изменяем значение элемента</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numbers[0]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34</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ru-RU" dirty="0"/>
          </a:p>
          <a:p>
            <a:endParaRPr lang="ru-RU" dirty="0"/>
          </a:p>
          <a:p>
            <a:endParaRPr lang="ru-RU" dirty="0"/>
          </a:p>
        </p:txBody>
      </p:sp>
    </p:spTree>
    <p:extLst>
      <p:ext uri="{BB962C8B-B14F-4D97-AF65-F5344CB8AC3E}">
        <p14:creationId xmlns:p14="http://schemas.microsoft.com/office/powerpoint/2010/main" val="126390227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5D1868-4EC9-CE59-A9E8-F2941F8C8C24}"/>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AECCD608-F108-6EB0-04D9-D33C169854E6}"/>
              </a:ext>
            </a:extLst>
          </p:cNvPr>
          <p:cNvSpPr>
            <a:spLocks noGrp="1"/>
          </p:cNvSpPr>
          <p:nvPr>
            <p:ph idx="1"/>
          </p:nvPr>
        </p:nvSpPr>
        <p:spPr/>
        <p:txBody>
          <a:bodyPr/>
          <a:lstStyle/>
          <a:p>
            <a:r>
              <a:rPr lang="ru-RU" dirty="0"/>
              <a:t>Обращение за пределами массива.</a:t>
            </a:r>
          </a:p>
          <a:p>
            <a:r>
              <a:rPr lang="ru-RU" sz="2000" dirty="0">
                <a:solidFill>
                  <a:srgbClr val="0000FF"/>
                </a:solidFill>
                <a:latin typeface="Consolas" panose="020B0609020204030204" pitchFamily="49" charset="0"/>
              </a:rPr>
              <a:t>	</a:t>
            </a:r>
          </a:p>
          <a:p>
            <a:endParaRPr lang="ru-RU" dirty="0">
              <a:solidFill>
                <a:srgbClr val="0000FF"/>
              </a:solidFill>
              <a:latin typeface="Consolas" panose="020B0609020204030204" pitchFamily="49" charset="0"/>
            </a:endParaRPr>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[4]{ 1,2,3,4 };</a:t>
            </a:r>
          </a:p>
          <a:p>
            <a:r>
              <a:rPr lang="ru-RU" sz="2000" dirty="0">
                <a:solidFill>
                  <a:srgbClr val="000000"/>
                </a:solidFill>
                <a:latin typeface="Consolas" panose="020B0609020204030204" pitchFamily="49" charset="0"/>
              </a:rPr>
              <a:t>    	</a:t>
            </a:r>
            <a:r>
              <a:rPr lang="ru-RU" sz="2000" dirty="0">
                <a:solidFill>
                  <a:srgbClr val="0000FF"/>
                </a:solidFill>
                <a:latin typeface="Consolas" panose="020B0609020204030204" pitchFamily="49" charset="0"/>
              </a:rPr>
              <a:t>int</a:t>
            </a:r>
            <a:r>
              <a:rPr lang="ru-RU" sz="2000" dirty="0">
                <a:solidFill>
                  <a:srgbClr val="000000"/>
                </a:solidFill>
                <a:latin typeface="Consolas" panose="020B0609020204030204" pitchFamily="49" charset="0"/>
              </a:rPr>
              <a:t> </a:t>
            </a:r>
            <a:r>
              <a:rPr lang="ru-RU" sz="2000" dirty="0" err="1">
                <a:solidFill>
                  <a:srgbClr val="000000"/>
                </a:solidFill>
                <a:latin typeface="Consolas" panose="020B0609020204030204" pitchFamily="49" charset="0"/>
              </a:rPr>
              <a:t>forth</a:t>
            </a:r>
            <a:r>
              <a:rPr lang="ru-RU" sz="2000" dirty="0">
                <a:solidFill>
                  <a:srgbClr val="000000"/>
                </a:solidFill>
                <a:latin typeface="Consolas" panose="020B0609020204030204" pitchFamily="49" charset="0"/>
              </a:rPr>
              <a:t> = </a:t>
            </a:r>
            <a:r>
              <a:rPr lang="ru-RU" sz="2000" dirty="0" err="1">
                <a:solidFill>
                  <a:srgbClr val="000000"/>
                </a:solidFill>
                <a:latin typeface="Consolas" panose="020B0609020204030204" pitchFamily="49" charset="0"/>
              </a:rPr>
              <a:t>numbers</a:t>
            </a:r>
            <a:r>
              <a:rPr lang="ru-RU" sz="2000" dirty="0">
                <a:solidFill>
                  <a:srgbClr val="000000"/>
                </a:solidFill>
                <a:latin typeface="Consolas" panose="020B0609020204030204" pitchFamily="49" charset="0"/>
              </a:rPr>
              <a:t>[4]; </a:t>
            </a:r>
            <a:r>
              <a:rPr lang="ru-RU" sz="2000" dirty="0">
                <a:solidFill>
                  <a:srgbClr val="008000"/>
                </a:solidFill>
                <a:latin typeface="Consolas" panose="020B0609020204030204" pitchFamily="49" charset="0"/>
              </a:rPr>
              <a:t>// !Ошибка - в массиве 	только 4 элемента</a:t>
            </a:r>
            <a:endParaRPr lang="ru-RU" dirty="0"/>
          </a:p>
        </p:txBody>
      </p:sp>
    </p:spTree>
    <p:extLst>
      <p:ext uri="{BB962C8B-B14F-4D97-AF65-F5344CB8AC3E}">
        <p14:creationId xmlns:p14="http://schemas.microsoft.com/office/powerpoint/2010/main" val="142157221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A8FE86-F791-52D6-5499-C534859D4CE5}"/>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4E3646FF-0BEC-4106-F08B-5D506D11A235}"/>
              </a:ext>
            </a:extLst>
          </p:cNvPr>
          <p:cNvSpPr>
            <a:spLocks noGrp="1"/>
          </p:cNvSpPr>
          <p:nvPr>
            <p:ph idx="1"/>
          </p:nvPr>
        </p:nvSpPr>
        <p:spPr/>
        <p:txBody>
          <a:bodyPr/>
          <a:lstStyle/>
          <a:p>
            <a:r>
              <a:rPr lang="ru-RU" b="1" dirty="0"/>
              <a:t>Константные массивы</a:t>
            </a:r>
          </a:p>
          <a:p>
            <a:endParaRPr lang="ru-RU" dirty="0"/>
          </a:p>
          <a:p>
            <a:r>
              <a:rPr lang="en-US" sz="2000" dirty="0">
                <a:solidFill>
                  <a:srgbClr val="0000FF"/>
                </a:solidFill>
                <a:latin typeface="Consolas" panose="020B0609020204030204" pitchFamily="49" charset="0"/>
              </a:rPr>
              <a:t>const</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int</a:t>
            </a:r>
            <a:r>
              <a:rPr lang="en-US" sz="2000" dirty="0">
                <a:solidFill>
                  <a:srgbClr val="000000"/>
                </a:solidFill>
                <a:latin typeface="Consolas" panose="020B0609020204030204" pitchFamily="49" charset="0"/>
              </a:rPr>
              <a:t> numbers[4]{ 1,2,3,4 };</a:t>
            </a:r>
          </a:p>
          <a:p>
            <a:r>
              <a:rPr lang="ru-RU" sz="2000" dirty="0">
                <a:solidFill>
                  <a:srgbClr val="008000"/>
                </a:solidFill>
                <a:latin typeface="Consolas" panose="020B0609020204030204" pitchFamily="49" charset="0"/>
              </a:rPr>
              <a:t>// </a:t>
            </a:r>
            <a:r>
              <a:rPr lang="ru-RU" sz="2000" dirty="0" err="1">
                <a:solidFill>
                  <a:srgbClr val="008000"/>
                </a:solidFill>
                <a:latin typeface="Consolas" panose="020B0609020204030204" pitchFamily="49" charset="0"/>
              </a:rPr>
              <a:t>numbers</a:t>
            </a:r>
            <a:r>
              <a:rPr lang="ru-RU" sz="2000" dirty="0">
                <a:solidFill>
                  <a:srgbClr val="008000"/>
                </a:solidFill>
                <a:latin typeface="Consolas" panose="020B0609020204030204" pitchFamily="49" charset="0"/>
              </a:rPr>
              <a:t>[1] = 23;    // ошибка - значения элементов массива изменить нельзя</a:t>
            </a:r>
            <a:endParaRPr lang="ru-RU" dirty="0"/>
          </a:p>
        </p:txBody>
      </p:sp>
    </p:spTree>
    <p:extLst>
      <p:ext uri="{BB962C8B-B14F-4D97-AF65-F5344CB8AC3E}">
        <p14:creationId xmlns:p14="http://schemas.microsoft.com/office/powerpoint/2010/main" val="91875105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D35895D-5778-F38A-363A-EE6349E50A9F}"/>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41F0B132-154B-79A3-E409-4EBD9E41E481}"/>
              </a:ext>
            </a:extLst>
          </p:cNvPr>
          <p:cNvSpPr>
            <a:spLocks noGrp="1"/>
          </p:cNvSpPr>
          <p:nvPr>
            <p:ph idx="1"/>
          </p:nvPr>
        </p:nvSpPr>
        <p:spPr/>
        <p:txBody>
          <a:bodyPr/>
          <a:lstStyle/>
          <a:p>
            <a:r>
              <a:rPr lang="ru-RU" b="1" dirty="0"/>
              <a:t>Длина массива</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 11, 12, 13, 14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"Length: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sizeof</a:t>
            </a:r>
            <a:r>
              <a:rPr lang="en-US" dirty="0">
                <a:solidFill>
                  <a:srgbClr val="000000"/>
                </a:solidFill>
                <a:latin typeface="Consolas" panose="020B0609020204030204" pitchFamily="49" charset="0"/>
              </a:rPr>
              <a:t>(numbers) / </a:t>
            </a:r>
            <a:r>
              <a:rPr lang="en-US" dirty="0" err="1">
                <a:solidFill>
                  <a:srgbClr val="0000FF"/>
                </a:solidFill>
                <a:latin typeface="Consolas" panose="020B0609020204030204" pitchFamily="49" charset="0"/>
              </a:rPr>
              <a:t>sizeof</a:t>
            </a:r>
            <a:r>
              <a:rPr lang="en-US" dirty="0">
                <a:solidFill>
                  <a:srgbClr val="000000"/>
                </a:solidFill>
                <a:latin typeface="Consolas" panose="020B0609020204030204" pitchFamily="49" charset="0"/>
              </a:rPr>
              <a:t>(numbers[0])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Length: 4</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ru-RU" dirty="0"/>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 11, 12, 13, 14 };</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count = std::size(numbers);</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"Length: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count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Length: 4</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96896692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FF4515-0E3A-64B0-AFAE-BD7B4539DABE}"/>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9FD96472-85E3-C1FD-8A12-5159102D4A9A}"/>
              </a:ext>
            </a:extLst>
          </p:cNvPr>
          <p:cNvSpPr>
            <a:spLocks noGrp="1"/>
          </p:cNvSpPr>
          <p:nvPr>
            <p:ph idx="1"/>
          </p:nvPr>
        </p:nvSpPr>
        <p:spPr/>
        <p:txBody>
          <a:bodyPr/>
          <a:lstStyle/>
          <a:p>
            <a:r>
              <a:rPr lang="ru-RU" b="1" dirty="0"/>
              <a:t>Перебор массивов</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4;</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numbers[n]{ 11, 12, 13, 14 };</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 0; i &lt; n;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numbers[</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08126850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EFEFF9-C7A1-B06E-4391-91EDAA406D01}"/>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D63FD2D4-7E69-E427-06BD-5573BDEC3AC9}"/>
              </a:ext>
            </a:extLst>
          </p:cNvPr>
          <p:cNvSpPr>
            <a:spLocks noGrp="1"/>
          </p:cNvSpPr>
          <p:nvPr>
            <p:ph idx="1"/>
          </p:nvPr>
        </p:nvSpPr>
        <p:spPr/>
        <p:txBody>
          <a:bodyPr/>
          <a:lstStyle/>
          <a:p>
            <a:r>
              <a:rPr lang="ru-RU" b="1" dirty="0"/>
              <a:t>Перебор элементов в стиле </a:t>
            </a:r>
            <a:r>
              <a:rPr lang="ru-RU" b="1" dirty="0" err="1"/>
              <a:t>for-each</a:t>
            </a:r>
            <a:endParaRPr lang="ru-RU" b="1" dirty="0"/>
          </a:p>
          <a:p>
            <a:endParaRPr lang="ru-RU" dirty="0"/>
          </a:p>
          <a:p>
            <a:pPr lvl="1"/>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[4]{ 1,2,3,4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FF"/>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[4]{ 1,2,3,4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endParaRPr lang="ru-RU" dirty="0">
              <a:solidFill>
                <a:srgbClr val="000000"/>
              </a:solidFill>
              <a:latin typeface="Consolas" panose="020B0609020204030204" pitchFamily="49" charset="0"/>
            </a:endParaRPr>
          </a:p>
          <a:p>
            <a:pPr lvl="1"/>
            <a:endParaRPr lang="ru-RU" dirty="0"/>
          </a:p>
        </p:txBody>
      </p:sp>
    </p:spTree>
    <p:extLst>
      <p:ext uri="{BB962C8B-B14F-4D97-AF65-F5344CB8AC3E}">
        <p14:creationId xmlns:p14="http://schemas.microsoft.com/office/powerpoint/2010/main" val="57119029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161CDD-7A4A-CCF7-5D1A-2FEDBA90DEE4}"/>
              </a:ext>
            </a:extLst>
          </p:cNvPr>
          <p:cNvSpPr>
            <a:spLocks noGrp="1"/>
          </p:cNvSpPr>
          <p:nvPr>
            <p:ph type="title"/>
          </p:nvPr>
        </p:nvSpPr>
        <p:spPr/>
        <p:txBody>
          <a:bodyPr/>
          <a:lstStyle/>
          <a:p>
            <a:r>
              <a:rPr lang="ru-RU" b="1" dirty="0"/>
              <a:t>Массивы</a:t>
            </a:r>
            <a:endParaRPr lang="ru-RU" dirty="0"/>
          </a:p>
        </p:txBody>
      </p:sp>
      <p:sp>
        <p:nvSpPr>
          <p:cNvPr id="3" name="Объект 2">
            <a:extLst>
              <a:ext uri="{FF2B5EF4-FFF2-40B4-BE49-F238E27FC236}">
                <a16:creationId xmlns:a16="http://schemas.microsoft.com/office/drawing/2014/main" id="{B2382096-30FC-24E6-053D-CA54DD4D1291}"/>
              </a:ext>
            </a:extLst>
          </p:cNvPr>
          <p:cNvSpPr>
            <a:spLocks noGrp="1"/>
          </p:cNvSpPr>
          <p:nvPr>
            <p:ph idx="1"/>
          </p:nvPr>
        </p:nvSpPr>
        <p:spPr/>
        <p:txBody>
          <a:bodyPr/>
          <a:lstStyle/>
          <a:p>
            <a:r>
              <a:rPr lang="ru-RU" b="1" dirty="0"/>
              <a:t>Ввод значений массива с консоли</a:t>
            </a:r>
          </a:p>
          <a:p>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    </a:t>
            </a:r>
            <a:r>
              <a:rPr lang="ru-RU" sz="1400" dirty="0" err="1">
                <a:solidFill>
                  <a:srgbClr val="0000FF"/>
                </a:solidFill>
                <a:latin typeface="Consolas" panose="020B0609020204030204" pitchFamily="49" charset="0"/>
              </a:rPr>
              <a:t>const</a:t>
            </a:r>
            <a:r>
              <a:rPr lang="ru-RU" sz="1400" dirty="0">
                <a:solidFill>
                  <a:srgbClr val="000000"/>
                </a:solidFill>
                <a:latin typeface="Consolas" panose="020B0609020204030204" pitchFamily="49" charset="0"/>
              </a:rPr>
              <a:t> </a:t>
            </a:r>
            <a:r>
              <a:rPr lang="ru-RU" sz="1400" dirty="0">
                <a:solidFill>
                  <a:srgbClr val="0000FF"/>
                </a:solidFill>
                <a:latin typeface="Consolas" panose="020B0609020204030204" pitchFamily="49" charset="0"/>
              </a:rPr>
              <a:t>int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max</a:t>
            </a:r>
            <a:r>
              <a:rPr lang="ru-RU" sz="1400" dirty="0">
                <a:solidFill>
                  <a:srgbClr val="000000"/>
                </a:solidFill>
                <a:latin typeface="Consolas" panose="020B0609020204030204" pitchFamily="49" charset="0"/>
              </a:rPr>
              <a:t>{ 6 };     </a:t>
            </a:r>
            <a:r>
              <a:rPr lang="ru-RU" sz="1400" dirty="0">
                <a:solidFill>
                  <a:srgbClr val="008000"/>
                </a:solidFill>
                <a:latin typeface="Consolas" panose="020B0609020204030204" pitchFamily="49" charset="0"/>
              </a:rPr>
              <a:t>// максимальная длина массива - не больше 6 чисел</a:t>
            </a:r>
            <a:endParaRPr lang="ru-RU" sz="1400" dirty="0">
              <a:solidFill>
                <a:srgbClr val="000000"/>
              </a:solidFill>
              <a:latin typeface="Consolas" panose="020B0609020204030204" pitchFamily="49" charset="0"/>
            </a:endParaRPr>
          </a:p>
          <a:p>
            <a:r>
              <a:rPr lang="ru-RU" sz="1400" dirty="0">
                <a:solidFill>
                  <a:srgbClr val="000000"/>
                </a:solidFill>
                <a:latin typeface="Consolas" panose="020B0609020204030204" pitchFamily="49" charset="0"/>
              </a:rPr>
              <a:t>    </a:t>
            </a:r>
            <a:r>
              <a:rPr lang="ru-RU" sz="1400" dirty="0">
                <a:solidFill>
                  <a:srgbClr val="0000FF"/>
                </a:solidFill>
                <a:latin typeface="Consolas" panose="020B0609020204030204" pitchFamily="49" charset="0"/>
              </a:rPr>
              <a:t>int</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numbers</a:t>
            </a:r>
            <a:r>
              <a:rPr lang="ru-RU" sz="1400" dirty="0">
                <a:solidFill>
                  <a:srgbClr val="000000"/>
                </a:solidFill>
                <a:latin typeface="Consolas" panose="020B0609020204030204" pitchFamily="49" charset="0"/>
              </a:rPr>
              <a:t>[</a:t>
            </a:r>
            <a:r>
              <a:rPr lang="ru-RU" sz="1400" dirty="0" err="1">
                <a:solidFill>
                  <a:srgbClr val="000000"/>
                </a:solidFill>
                <a:latin typeface="Consolas" panose="020B0609020204030204" pitchFamily="49" charset="0"/>
              </a:rPr>
              <a:t>max</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массив для ввода чисел</a:t>
            </a:r>
            <a:endParaRPr lang="ru-RU" sz="1400" dirty="0">
              <a:solidFill>
                <a:srgbClr val="000000"/>
              </a:solidFill>
              <a:latin typeface="Consolas" panose="020B0609020204030204" pitchFamily="49" charset="0"/>
            </a:endParaRPr>
          </a:p>
          <a:p>
            <a:r>
              <a:rPr lang="ru-RU" sz="1400" dirty="0">
                <a:solidFill>
                  <a:srgbClr val="000000"/>
                </a:solidFill>
                <a:latin typeface="Consolas" panose="020B0609020204030204" pitchFamily="49" charset="0"/>
              </a:rPr>
              <a:t>    </a:t>
            </a:r>
            <a:r>
              <a:rPr lang="ru-RU" sz="1400" dirty="0">
                <a:solidFill>
                  <a:srgbClr val="0000FF"/>
                </a:solidFill>
                <a:latin typeface="Consolas" panose="020B0609020204030204" pitchFamily="49" charset="0"/>
              </a:rPr>
              <a:t>int</a:t>
            </a:r>
            <a:r>
              <a:rPr lang="ru-RU" sz="1400" dirty="0">
                <a:solidFill>
                  <a:srgbClr val="000000"/>
                </a:solidFill>
                <a:latin typeface="Consolas" panose="020B0609020204030204" pitchFamily="49" charset="0"/>
              </a:rPr>
              <a:t> i{};        </a:t>
            </a:r>
            <a:r>
              <a:rPr lang="ru-RU" sz="1400" dirty="0">
                <a:solidFill>
                  <a:srgbClr val="008000"/>
                </a:solidFill>
                <a:latin typeface="Consolas" panose="020B0609020204030204" pitchFamily="49" charset="0"/>
              </a:rPr>
              <a:t>// счетчик введенных чисел</a:t>
            </a:r>
            <a:endParaRPr lang="ru-RU"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"Enter numbers"</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while</a:t>
            </a:r>
            <a:r>
              <a:rPr lang="de-CH" sz="1400" dirty="0">
                <a:solidFill>
                  <a:srgbClr val="000000"/>
                </a:solidFill>
                <a:latin typeface="Consolas" panose="020B0609020204030204" pitchFamily="49" charset="0"/>
              </a:rPr>
              <a:t> (i &lt; </a:t>
            </a:r>
            <a:r>
              <a:rPr lang="de-CH" sz="1400" dirty="0" err="1">
                <a:solidFill>
                  <a:srgbClr val="000000"/>
                </a:solidFill>
                <a:latin typeface="Consolas" panose="020B0609020204030204" pitchFamily="49" charset="0"/>
              </a:rPr>
              <a:t>max</a:t>
            </a:r>
            <a:r>
              <a:rPr lang="de-CH"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    {</a:t>
            </a:r>
          </a:p>
          <a:p>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cin</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&gt;&gt;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numbers</a:t>
            </a:r>
            <a:r>
              <a:rPr lang="de-CH" sz="1400" dirty="0">
                <a:solidFill>
                  <a:srgbClr val="000000"/>
                </a:solidFill>
                <a:latin typeface="Consolas" panose="020B0609020204030204" pitchFamily="49" charset="0"/>
              </a:rPr>
              <a:t>[i];    </a:t>
            </a:r>
            <a:r>
              <a:rPr lang="de-CH" sz="1400" dirty="0">
                <a:solidFill>
                  <a:srgbClr val="008000"/>
                </a:solidFill>
                <a:latin typeface="Consolas" panose="020B0609020204030204" pitchFamily="49" charset="0"/>
              </a:rPr>
              <a:t>// </a:t>
            </a:r>
            <a:r>
              <a:rPr lang="ru-RU" sz="1400" dirty="0">
                <a:solidFill>
                  <a:srgbClr val="008000"/>
                </a:solidFill>
                <a:latin typeface="Consolas" panose="020B0609020204030204" pitchFamily="49" charset="0"/>
              </a:rPr>
              <a:t>вводим число</a:t>
            </a:r>
            <a:endParaRPr lang="ru-RU" sz="1400" dirty="0">
              <a:solidFill>
                <a:srgbClr val="000000"/>
              </a:solidFill>
              <a:latin typeface="Consolas" panose="020B0609020204030204" pitchFamily="49" charset="0"/>
            </a:endParaRPr>
          </a:p>
          <a:p>
            <a:r>
              <a:rPr lang="de-CH" sz="1400" dirty="0">
                <a:solidFill>
                  <a:srgbClr val="000000"/>
                </a:solidFill>
                <a:latin typeface="Consolas" panose="020B0609020204030204" pitchFamily="49" charset="0"/>
              </a:rPr>
              <a:t>        i++;</a:t>
            </a:r>
          </a:p>
          <a:p>
            <a:r>
              <a:rPr lang="ru-RU" sz="1400" dirty="0">
                <a:solidFill>
                  <a:srgbClr val="000000"/>
                </a:solidFill>
                <a:latin typeface="Consolas" panose="020B0609020204030204" pitchFamily="49" charset="0"/>
              </a:rPr>
              <a:t>    }</a:t>
            </a:r>
          </a:p>
          <a:p>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выводим массив</a:t>
            </a:r>
            <a:endParaRPr lang="ru-RU" sz="1400" dirty="0">
              <a:solidFill>
                <a:srgbClr val="000000"/>
              </a:solidFill>
              <a:latin typeface="Consolas" panose="020B0609020204030204" pitchFamily="49" charset="0"/>
            </a:endParaRPr>
          </a:p>
          <a:p>
            <a:r>
              <a:rPr lang="nn-NO" sz="1400" dirty="0">
                <a:solidFill>
                  <a:srgbClr val="000000"/>
                </a:solidFill>
                <a:latin typeface="Consolas" panose="020B0609020204030204" pitchFamily="49" charset="0"/>
              </a:rPr>
              <a:t>    </a:t>
            </a:r>
            <a:r>
              <a:rPr lang="nn-NO" sz="1400" dirty="0">
                <a:solidFill>
                  <a:srgbClr val="0000FF"/>
                </a:solidFill>
                <a:latin typeface="Consolas" panose="020B0609020204030204" pitchFamily="49" charset="0"/>
              </a:rPr>
              <a:t>for</a:t>
            </a:r>
            <a:r>
              <a:rPr lang="nn-NO" sz="1400" dirty="0">
                <a:solidFill>
                  <a:srgbClr val="000000"/>
                </a:solidFill>
                <a:latin typeface="Consolas" panose="020B0609020204030204" pitchFamily="49" charset="0"/>
              </a:rPr>
              <a:t> (i = 0; i &lt; max; ++i)</a:t>
            </a:r>
          </a:p>
          <a:p>
            <a:r>
              <a:rPr lang="ru-RU"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numbers[</a:t>
            </a:r>
            <a:r>
              <a:rPr lang="en-US" sz="1400" dirty="0" err="1">
                <a:solidFill>
                  <a:srgbClr val="000000"/>
                </a:solidFill>
                <a:latin typeface="Consolas" panose="020B0609020204030204" pitchFamily="49" charset="0"/>
              </a:rPr>
              <a:t>i</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"\t"</a:t>
            </a:r>
            <a:r>
              <a:rPr lang="en-US"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    }</a:t>
            </a:r>
          </a:p>
          <a:p>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7592270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B4F0FD-D808-B824-E892-B33A0A3C926C}"/>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F77CE02E-FA95-85BE-485D-19C683460473}"/>
              </a:ext>
            </a:extLst>
          </p:cNvPr>
          <p:cNvSpPr>
            <a:spLocks noGrp="1"/>
          </p:cNvSpPr>
          <p:nvPr>
            <p:ph idx="1"/>
          </p:nvPr>
        </p:nvSpPr>
        <p:spPr/>
        <p:txBody>
          <a:bodyPr/>
          <a:lstStyle/>
          <a:p>
            <a:r>
              <a:rPr lang="ru-RU" dirty="0"/>
              <a:t>Но кроме одномерных массивов в C++ есть и многомерные. Элементы таких массивов сами в свою очередь являются массивами, в которых также элементы могут быть массивами. Как правило, распространены двухмерные и трехмерные массивы. Например, определим двухмерный массив чисел:</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[3][2];</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numbers[3][2][2];</a:t>
            </a:r>
            <a:endParaRPr lang="ru-RU" dirty="0"/>
          </a:p>
        </p:txBody>
      </p:sp>
    </p:spTree>
    <p:extLst>
      <p:ext uri="{BB962C8B-B14F-4D97-AF65-F5344CB8AC3E}">
        <p14:creationId xmlns:p14="http://schemas.microsoft.com/office/powerpoint/2010/main" val="287065320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730000-1043-6739-4A1B-FAB6BB06485A}"/>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A9FC0CCB-2268-1723-65CC-7F0CFC598272}"/>
              </a:ext>
            </a:extLst>
          </p:cNvPr>
          <p:cNvSpPr>
            <a:spLocks noGrp="1"/>
          </p:cNvSpPr>
          <p:nvPr>
            <p:ph idx="1"/>
          </p:nvPr>
        </p:nvSpPr>
        <p:spPr/>
        <p:txBody>
          <a:bodyPr/>
          <a:lstStyle/>
          <a:p>
            <a:r>
              <a:rPr lang="ru-RU" dirty="0"/>
              <a:t>Инициализация многомерных массивов</a:t>
            </a:r>
            <a:r>
              <a:rPr lang="en-US" dirty="0"/>
              <a:t>:</a:t>
            </a:r>
          </a:p>
          <a:p>
            <a:endParaRPr lang="en-US" dirty="0"/>
          </a:p>
          <a:p>
            <a:r>
              <a:rPr lang="de-CH"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[3][2]{};</a:t>
            </a:r>
          </a:p>
          <a:p>
            <a:endParaRPr lang="de-CH"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[3][2]</a:t>
            </a:r>
          </a:p>
          <a:p>
            <a:pPr lvl="1"/>
            <a:r>
              <a:rPr lang="ru-RU" sz="2000" dirty="0">
                <a:solidFill>
                  <a:srgbClr val="000000"/>
                </a:solidFill>
                <a:latin typeface="Consolas" panose="020B0609020204030204" pitchFamily="49" charset="0"/>
              </a:rPr>
              <a:t>    {</a:t>
            </a:r>
          </a:p>
          <a:p>
            <a:pPr lvl="1"/>
            <a:r>
              <a:rPr lang="ru-RU" sz="2000" dirty="0">
                <a:solidFill>
                  <a:srgbClr val="000000"/>
                </a:solidFill>
                <a:latin typeface="Consolas" panose="020B0609020204030204" pitchFamily="49" charset="0"/>
              </a:rPr>
              <a:t>        {1, 2},     </a:t>
            </a:r>
            <a:r>
              <a:rPr lang="ru-RU" sz="2000" dirty="0">
                <a:solidFill>
                  <a:srgbClr val="008000"/>
                </a:solidFill>
                <a:latin typeface="Consolas" panose="020B0609020204030204" pitchFamily="49" charset="0"/>
              </a:rPr>
              <a:t>// первая строка</a:t>
            </a:r>
            <a:endParaRPr lang="ru-RU" sz="2000" dirty="0">
              <a:solidFill>
                <a:srgbClr val="000000"/>
              </a:solidFill>
              <a:latin typeface="Consolas" panose="020B0609020204030204" pitchFamily="49" charset="0"/>
            </a:endParaRPr>
          </a:p>
          <a:p>
            <a:pPr lvl="1"/>
            <a:r>
              <a:rPr lang="ru-RU" sz="2000" dirty="0">
                <a:solidFill>
                  <a:srgbClr val="000000"/>
                </a:solidFill>
                <a:latin typeface="Consolas" panose="020B0609020204030204" pitchFamily="49" charset="0"/>
              </a:rPr>
              <a:t>        {4, 5},     </a:t>
            </a:r>
            <a:r>
              <a:rPr lang="ru-RU" sz="2000" dirty="0">
                <a:solidFill>
                  <a:srgbClr val="008000"/>
                </a:solidFill>
                <a:latin typeface="Consolas" panose="020B0609020204030204" pitchFamily="49" charset="0"/>
              </a:rPr>
              <a:t>// вторая строка</a:t>
            </a:r>
            <a:endParaRPr lang="ru-RU" sz="2000" dirty="0">
              <a:solidFill>
                <a:srgbClr val="000000"/>
              </a:solidFill>
              <a:latin typeface="Consolas" panose="020B0609020204030204" pitchFamily="49" charset="0"/>
            </a:endParaRPr>
          </a:p>
          <a:p>
            <a:pPr lvl="1"/>
            <a:r>
              <a:rPr lang="ru-RU" sz="2000" dirty="0">
                <a:solidFill>
                  <a:srgbClr val="000000"/>
                </a:solidFill>
                <a:latin typeface="Consolas" panose="020B0609020204030204" pitchFamily="49" charset="0"/>
              </a:rPr>
              <a:t>        {7, 8}      </a:t>
            </a:r>
            <a:r>
              <a:rPr lang="ru-RU" sz="2000" dirty="0">
                <a:solidFill>
                  <a:srgbClr val="008000"/>
                </a:solidFill>
                <a:latin typeface="Consolas" panose="020B0609020204030204" pitchFamily="49" charset="0"/>
              </a:rPr>
              <a:t>// третья строка</a:t>
            </a:r>
            <a:endParaRPr lang="ru-RU" sz="2000" dirty="0">
              <a:solidFill>
                <a:srgbClr val="000000"/>
              </a:solidFill>
              <a:latin typeface="Consolas" panose="020B0609020204030204" pitchFamily="49" charset="0"/>
            </a:endParaRPr>
          </a:p>
          <a:p>
            <a:pPr lvl="1"/>
            <a:r>
              <a:rPr lang="ru-RU" sz="2000" dirty="0">
                <a:solidFill>
                  <a:srgbClr val="000000"/>
                </a:solidFill>
                <a:latin typeface="Consolas" panose="020B0609020204030204" pitchFamily="49" charset="0"/>
              </a:rPr>
              <a:t>    };</a:t>
            </a:r>
            <a:endParaRPr lang="ru-RU" sz="2000" dirty="0"/>
          </a:p>
        </p:txBody>
      </p:sp>
    </p:spTree>
    <p:extLst>
      <p:ext uri="{BB962C8B-B14F-4D97-AF65-F5344CB8AC3E}">
        <p14:creationId xmlns:p14="http://schemas.microsoft.com/office/powerpoint/2010/main" val="252118235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F64A94-26CE-E585-FC3B-ECEAC2FA6362}"/>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C300EAD7-73C6-1A04-A300-50E61178988E}"/>
              </a:ext>
            </a:extLst>
          </p:cNvPr>
          <p:cNvSpPr>
            <a:spLocks noGrp="1"/>
          </p:cNvSpPr>
          <p:nvPr>
            <p:ph idx="1"/>
          </p:nvPr>
        </p:nvSpPr>
        <p:spPr/>
        <p:txBody>
          <a:bodyPr/>
          <a:lstStyle/>
          <a:p>
            <a:r>
              <a:rPr lang="ru-RU" dirty="0"/>
              <a:t>Можно инициализировать не все элементы</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[3][2]{ {1, 2}, {}, {7} };</a:t>
            </a:r>
            <a:endParaRPr lang="ru-RU" sz="2000" dirty="0">
              <a:solidFill>
                <a:srgbClr val="000000"/>
              </a:solidFill>
              <a:latin typeface="Consolas" panose="020B0609020204030204" pitchFamily="49" charset="0"/>
            </a:endParaRPr>
          </a:p>
          <a:p>
            <a:endParaRPr lang="ru-RU" dirty="0">
              <a:solidFill>
                <a:srgbClr val="000000"/>
              </a:solidFill>
              <a:latin typeface="Consolas" panose="020B0609020204030204" pitchFamily="49" charset="0"/>
            </a:endParaRPr>
          </a:p>
          <a:p>
            <a:endParaRPr lang="ru-RU" dirty="0">
              <a:solidFill>
                <a:srgbClr val="000000"/>
              </a:solidFill>
              <a:latin typeface="Consolas" panose="020B0609020204030204" pitchFamily="49" charset="0"/>
            </a:endParaRPr>
          </a:p>
          <a:p>
            <a:r>
              <a:rPr lang="ru-RU" dirty="0"/>
              <a:t>При инициализации многомерных массивов тоже  можно опустить длину массива, но только первую размерность </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numbers</a:t>
            </a:r>
            <a:r>
              <a:rPr lang="de-CH" sz="2000" dirty="0">
                <a:solidFill>
                  <a:srgbClr val="000000"/>
                </a:solidFill>
                <a:latin typeface="Consolas" panose="020B0609020204030204" pitchFamily="49" charset="0"/>
              </a:rPr>
              <a:t>[][2]{ {1, 2}, {3, 4}, {5, 6} };</a:t>
            </a:r>
            <a:endParaRPr lang="ru-RU" dirty="0"/>
          </a:p>
        </p:txBody>
      </p:sp>
    </p:spTree>
    <p:extLst>
      <p:ext uri="{BB962C8B-B14F-4D97-AF65-F5344CB8AC3E}">
        <p14:creationId xmlns:p14="http://schemas.microsoft.com/office/powerpoint/2010/main" val="403434201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F580D9-AE4F-5307-5D8A-FEC3963098A8}"/>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2C631D3D-FFF9-CAC8-BEAC-1A90EEBCC845}"/>
              </a:ext>
            </a:extLst>
          </p:cNvPr>
          <p:cNvSpPr>
            <a:spLocks noGrp="1"/>
          </p:cNvSpPr>
          <p:nvPr>
            <p:ph idx="1"/>
          </p:nvPr>
        </p:nvSpPr>
        <p:spPr/>
        <p:txBody>
          <a:bodyPr/>
          <a:lstStyle/>
          <a:p>
            <a:pPr lvl="1">
              <a:lnSpc>
                <a:spcPts val="1920"/>
              </a:lnSpc>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lnSpc>
                <a:spcPts val="1920"/>
              </a:lnSpc>
            </a:pPr>
            <a:r>
              <a:rPr lang="ru-RU" dirty="0">
                <a:solidFill>
                  <a:srgbClr val="000000"/>
                </a:solidFill>
                <a:latin typeface="Consolas" panose="020B0609020204030204" pitchFamily="49" charset="0"/>
              </a:rPr>
              <a:t>{</a:t>
            </a:r>
          </a:p>
          <a:p>
            <a:pPr lvl="1">
              <a:lnSpc>
                <a:spcPts val="1920"/>
              </a:lnSpc>
            </a:pP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[3][2]</a:t>
            </a:r>
          </a:p>
          <a:p>
            <a:pPr lvl="1">
              <a:lnSpc>
                <a:spcPts val="1920"/>
              </a:lnSpc>
            </a:pPr>
            <a:r>
              <a:rPr lang="ru-RU" dirty="0">
                <a:solidFill>
                  <a:srgbClr val="000000"/>
                </a:solidFill>
                <a:latin typeface="Consolas" panose="020B0609020204030204" pitchFamily="49" charset="0"/>
              </a:rPr>
              <a:t>    {</a:t>
            </a:r>
          </a:p>
          <a:p>
            <a:pPr lvl="1">
              <a:lnSpc>
                <a:spcPts val="1920"/>
              </a:lnSpc>
            </a:pPr>
            <a:r>
              <a:rPr lang="ru-RU" dirty="0">
                <a:solidFill>
                  <a:srgbClr val="000000"/>
                </a:solidFill>
                <a:latin typeface="Consolas" panose="020B0609020204030204" pitchFamily="49" charset="0"/>
              </a:rPr>
              <a:t>        {1, 2},</a:t>
            </a:r>
          </a:p>
          <a:p>
            <a:pPr lvl="1">
              <a:lnSpc>
                <a:spcPts val="1920"/>
              </a:lnSpc>
            </a:pPr>
            <a:r>
              <a:rPr lang="ru-RU" dirty="0">
                <a:solidFill>
                  <a:srgbClr val="000000"/>
                </a:solidFill>
                <a:latin typeface="Consolas" panose="020B0609020204030204" pitchFamily="49" charset="0"/>
              </a:rPr>
              <a:t>        {3, 4},</a:t>
            </a:r>
          </a:p>
          <a:p>
            <a:pPr lvl="1">
              <a:lnSpc>
                <a:spcPts val="1920"/>
              </a:lnSpc>
            </a:pPr>
            <a:r>
              <a:rPr lang="ru-RU" dirty="0">
                <a:solidFill>
                  <a:srgbClr val="000000"/>
                </a:solidFill>
                <a:latin typeface="Consolas" panose="020B0609020204030204" pitchFamily="49" charset="0"/>
              </a:rPr>
              <a:t>        {5, 6}</a:t>
            </a:r>
          </a:p>
          <a:p>
            <a:pPr lvl="1">
              <a:lnSpc>
                <a:spcPts val="1920"/>
              </a:lnSpc>
            </a:pPr>
            <a:r>
              <a:rPr lang="ru-RU" dirty="0">
                <a:solidFill>
                  <a:srgbClr val="000000"/>
                </a:solidFill>
                <a:latin typeface="Consolas" panose="020B0609020204030204" pitchFamily="49" charset="0"/>
              </a:rPr>
              <a:t>    };</a:t>
            </a:r>
          </a:p>
          <a:p>
            <a:pPr lvl="1">
              <a:lnSpc>
                <a:spcPts val="1920"/>
              </a:lnSpc>
            </a:pP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получаем значение элемента</a:t>
            </a:r>
            <a:endParaRPr lang="ru-RU"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 </a:t>
            </a:r>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[1][0];     </a:t>
            </a:r>
            <a:r>
              <a:rPr lang="ru-RU" dirty="0">
                <a:solidFill>
                  <a:srgbClr val="008000"/>
                </a:solidFill>
                <a:latin typeface="Consolas" panose="020B0609020204030204" pitchFamily="49" charset="0"/>
              </a:rPr>
              <a:t>// вторая строка, первый столбец</a:t>
            </a:r>
            <a:endParaRPr lang="ru-RU" dirty="0">
              <a:solidFill>
                <a:srgbClr val="000000"/>
              </a:solidFill>
              <a:latin typeface="Consolas" panose="020B0609020204030204" pitchFamily="49" charset="0"/>
            </a:endParaRPr>
          </a:p>
          <a:p>
            <a:pPr lvl="1">
              <a:lnSpc>
                <a:spcPts val="1920"/>
              </a:lnSpc>
            </a:pPr>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 = 3</a:t>
            </a:r>
            <a:endParaRPr lang="pt-BR"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nums</a:t>
            </a:r>
            <a:r>
              <a:rPr lang="de-CH" dirty="0">
                <a:solidFill>
                  <a:srgbClr val="A31515"/>
                </a:solidFill>
                <a:latin typeface="Consolas" panose="020B0609020204030204" pitchFamily="49" charset="0"/>
              </a:rPr>
              <a:t>[2][1]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[2][1]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nums</a:t>
            </a:r>
            <a:r>
              <a:rPr lang="de-CH" dirty="0">
                <a:solidFill>
                  <a:srgbClr val="008000"/>
                </a:solidFill>
                <a:latin typeface="Consolas" panose="020B0609020204030204" pitchFamily="49" charset="0"/>
              </a:rPr>
              <a:t>[2][1] = 6 </a:t>
            </a:r>
            <a:endParaRPr lang="de-CH"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изменяем значение элемента</a:t>
            </a:r>
            <a:endParaRPr lang="ru-RU"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[2][1] = 123;       </a:t>
            </a:r>
            <a:r>
              <a:rPr lang="ru-RU" dirty="0">
                <a:solidFill>
                  <a:srgbClr val="008000"/>
                </a:solidFill>
                <a:latin typeface="Consolas" panose="020B0609020204030204" pitchFamily="49" charset="0"/>
              </a:rPr>
              <a:t>// третья строка, второй столбец</a:t>
            </a:r>
            <a:endParaRPr lang="ru-RU" dirty="0">
              <a:solidFill>
                <a:srgbClr val="000000"/>
              </a:solidFill>
              <a:latin typeface="Consolas" panose="020B0609020204030204" pitchFamily="49" charset="0"/>
            </a:endParaRPr>
          </a:p>
          <a:p>
            <a:pPr lvl="1">
              <a:lnSpc>
                <a:spcPts val="1920"/>
              </a:lnSpc>
            </a:pP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nums</a:t>
            </a:r>
            <a:r>
              <a:rPr lang="de-CH" dirty="0">
                <a:solidFill>
                  <a:srgbClr val="A31515"/>
                </a:solidFill>
                <a:latin typeface="Consolas" panose="020B0609020204030204" pitchFamily="49" charset="0"/>
              </a:rPr>
              <a:t>[2][1] =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[2][1]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nums</a:t>
            </a:r>
            <a:r>
              <a:rPr lang="de-CH" dirty="0">
                <a:solidFill>
                  <a:srgbClr val="008000"/>
                </a:solidFill>
                <a:latin typeface="Consolas" panose="020B0609020204030204" pitchFamily="49" charset="0"/>
              </a:rPr>
              <a:t>[2][1] = 123 </a:t>
            </a:r>
            <a:endParaRPr lang="de-CH" dirty="0">
              <a:solidFill>
                <a:srgbClr val="000000"/>
              </a:solidFill>
              <a:latin typeface="Consolas" panose="020B0609020204030204" pitchFamily="49" charset="0"/>
            </a:endParaRPr>
          </a:p>
          <a:p>
            <a:pPr lvl="1">
              <a:lnSpc>
                <a:spcPts val="1920"/>
              </a:lnSpc>
            </a:pPr>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89217982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E4C76E-B4C3-4075-91F5-F57C6C4AC9F4}"/>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0CE48154-1434-904B-BF29-D555D8D2B039}"/>
              </a:ext>
            </a:extLst>
          </p:cNvPr>
          <p:cNvSpPr>
            <a:spLocks noGrp="1"/>
          </p:cNvSpPr>
          <p:nvPr>
            <p:ph idx="1"/>
          </p:nvPr>
        </p:nvSpPr>
        <p:spPr/>
        <p:txBody>
          <a:bodyPr/>
          <a:lstStyle/>
          <a:p>
            <a:r>
              <a:rPr lang="ru-RU" b="1" dirty="0"/>
              <a:t>Перебор многомерного массива</a:t>
            </a:r>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rows = 3, columns = 2;</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rows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columns</a:t>
            </a:r>
            <a:r>
              <a:rPr lang="de-CH" dirty="0">
                <a:solidFill>
                  <a:srgbClr val="000000"/>
                </a:solidFill>
                <a:latin typeface="Consolas" panose="020B0609020204030204" pitchFamily="49" charset="0"/>
              </a:rPr>
              <a:t>]{ {1, 2}, {3, 4}, {5, 6} };</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 0; i &lt; rows; i++)</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j = 0; j &lt; </a:t>
            </a:r>
            <a:r>
              <a:rPr lang="de-CH" dirty="0" err="1">
                <a:solidFill>
                  <a:srgbClr val="000000"/>
                </a:solidFill>
                <a:latin typeface="Consolas" panose="020B0609020204030204" pitchFamily="49" charset="0"/>
              </a:rPr>
              <a:t>columns</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j++</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numbers[</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][j]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1152716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45A8FE-82D6-3B93-EDF6-57480B5E3E66}"/>
              </a:ext>
            </a:extLst>
          </p:cNvPr>
          <p:cNvSpPr>
            <a:spLocks noGrp="1"/>
          </p:cNvSpPr>
          <p:nvPr>
            <p:ph type="title"/>
          </p:nvPr>
        </p:nvSpPr>
        <p:spPr/>
        <p:txBody>
          <a:bodyPr/>
          <a:lstStyle/>
          <a:p>
            <a:r>
              <a:rPr lang="ru-RU" b="1" dirty="0"/>
              <a:t>Многомерные Массивы</a:t>
            </a:r>
            <a:endParaRPr lang="ru-RU" dirty="0"/>
          </a:p>
        </p:txBody>
      </p:sp>
      <p:sp>
        <p:nvSpPr>
          <p:cNvPr id="3" name="Объект 2">
            <a:extLst>
              <a:ext uri="{FF2B5EF4-FFF2-40B4-BE49-F238E27FC236}">
                <a16:creationId xmlns:a16="http://schemas.microsoft.com/office/drawing/2014/main" id="{F81CB944-5B34-5AF4-27ED-D7A198E515BC}"/>
              </a:ext>
            </a:extLst>
          </p:cNvPr>
          <p:cNvSpPr>
            <a:spLocks noGrp="1"/>
          </p:cNvSpPr>
          <p:nvPr>
            <p:ph idx="1"/>
          </p:nvPr>
        </p:nvSpPr>
        <p:spPr/>
        <p:txBody>
          <a:bodyPr/>
          <a:lstStyle/>
          <a:p>
            <a:r>
              <a:rPr lang="ru-RU" dirty="0"/>
              <a:t>Перебор двухмерного массива</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rows = 3, columns = 2;</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rows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columns</a:t>
            </a:r>
            <a:r>
              <a:rPr lang="de-CH" dirty="0">
                <a:solidFill>
                  <a:srgbClr val="000000"/>
                </a:solidFill>
                <a:latin typeface="Consolas" panose="020B0609020204030204" pitchFamily="49" charset="0"/>
              </a:rPr>
              <a:t>]{ {1, 2}, {3, 4}, {5, 6} };</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subnumbers</a:t>
            </a:r>
            <a:r>
              <a:rPr lang="de-CH" dirty="0">
                <a:solidFill>
                  <a:srgbClr val="000000"/>
                </a:solidFill>
                <a:latin typeface="Consolas" panose="020B0609020204030204" pitchFamily="49" charset="0"/>
              </a:rPr>
              <a:t>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a:t>
            </a:r>
            <a:r>
              <a:rPr lang="de-CH" dirty="0" err="1">
                <a:solidFill>
                  <a:srgbClr val="000000"/>
                </a:solidFill>
                <a:latin typeface="Consolas" panose="020B0609020204030204" pitchFamily="49" charset="0"/>
              </a:rPr>
              <a:t>subnumbers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78798309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50FCC2-12B3-1A5F-0841-90C2CB14CC0B}"/>
              </a:ext>
            </a:extLst>
          </p:cNvPr>
          <p:cNvSpPr>
            <a:spLocks noGrp="1"/>
          </p:cNvSpPr>
          <p:nvPr>
            <p:ph type="title"/>
          </p:nvPr>
        </p:nvSpPr>
        <p:spPr/>
        <p:txBody>
          <a:bodyPr/>
          <a:lstStyle/>
          <a:p>
            <a:r>
              <a:rPr lang="ru-RU" b="1" dirty="0"/>
              <a:t>Массивы и указатели</a:t>
            </a:r>
          </a:p>
        </p:txBody>
      </p:sp>
      <p:sp>
        <p:nvSpPr>
          <p:cNvPr id="3" name="Объект 2">
            <a:extLst>
              <a:ext uri="{FF2B5EF4-FFF2-40B4-BE49-F238E27FC236}">
                <a16:creationId xmlns:a16="http://schemas.microsoft.com/office/drawing/2014/main" id="{04842707-F242-67C7-D8CB-2CBF8DFDAA93}"/>
              </a:ext>
            </a:extLst>
          </p:cNvPr>
          <p:cNvSpPr>
            <a:spLocks noGrp="1"/>
          </p:cNvSpPr>
          <p:nvPr>
            <p:ph idx="1"/>
          </p:nvPr>
        </p:nvSpPr>
        <p:spPr/>
        <p:txBody>
          <a:bodyPr/>
          <a:lstStyle/>
          <a:p>
            <a:r>
              <a:rPr lang="ru-RU" dirty="0"/>
              <a:t>Имя массива по сути является адресом его первого элемента. Соответственно через операцию разыменования мы можем получить значение по этому адресу:</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nums</a:t>
            </a:r>
            <a:r>
              <a:rPr lang="en-US" dirty="0">
                <a:solidFill>
                  <a:srgbClr val="A31515"/>
                </a:solidFill>
                <a:latin typeface="Consolas" panose="020B0609020204030204" pitchFamily="49" charset="0"/>
              </a:rPr>
              <a:t>[0] address: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nums</a:t>
            </a:r>
            <a:r>
              <a:rPr lang="en-US" dirty="0">
                <a:solidFill>
                  <a:srgbClr val="A31515"/>
                </a:solidFill>
                <a:latin typeface="Consolas" panose="020B0609020204030204" pitchFamily="49" charset="0"/>
              </a:rPr>
              <a:t>[0] value: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20027120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D1FB33-76BA-0324-802C-4BB55A851613}"/>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0E40314C-DEBE-E5C3-E8E3-38D3A586EDC6}"/>
              </a:ext>
            </a:extLst>
          </p:cNvPr>
          <p:cNvSpPr>
            <a:spLocks noGrp="1"/>
          </p:cNvSpPr>
          <p:nvPr>
            <p:ph idx="1"/>
          </p:nvPr>
        </p:nvSpPr>
        <p:spPr/>
        <p:txBody>
          <a:bodyPr/>
          <a:lstStyle/>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num2 = *(</a:t>
            </a:r>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 + 1);    </a:t>
            </a:r>
            <a:r>
              <a:rPr lang="ru-RU" dirty="0">
                <a:solidFill>
                  <a:srgbClr val="008000"/>
                </a:solidFill>
                <a:latin typeface="Consolas" panose="020B0609020204030204" pitchFamily="49" charset="0"/>
              </a:rPr>
              <a:t>// второй элемент</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num3 = *(</a:t>
            </a:r>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 + 2);    </a:t>
            </a:r>
            <a:r>
              <a:rPr lang="ru-RU" dirty="0">
                <a:solidFill>
                  <a:srgbClr val="008000"/>
                </a:solidFill>
                <a:latin typeface="Consolas" panose="020B0609020204030204" pitchFamily="49" charset="0"/>
              </a:rPr>
              <a:t>// третий элемент</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"num2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num2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num2 = 2</a:t>
            </a:r>
            <a:endParaRPr lang="pt-BR"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"num3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num3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num3 = 3</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89142603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126C53-3293-C546-9432-87E81B5884FD}"/>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265E05AF-FA64-1BBD-8543-44FDFCCB6A9F}"/>
              </a:ext>
            </a:extLst>
          </p:cNvPr>
          <p:cNvSpPr>
            <a:spLocks noGrp="1"/>
          </p:cNvSpPr>
          <p:nvPr>
            <p:ph idx="1"/>
          </p:nvPr>
        </p:nvSpPr>
        <p:spPr/>
        <p:txBody>
          <a:bodyPr/>
          <a:lstStyle/>
          <a:p>
            <a:pPr lvl="1"/>
            <a:endParaRPr lang="ru-RU" dirty="0">
              <a:solidFill>
                <a:srgbClr val="0000FF"/>
              </a:solidFill>
              <a:latin typeface="Consolas" panose="020B0609020204030204" pitchFamily="49" charset="0"/>
            </a:endParaRPr>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i{}; i &lt;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size</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nums</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address="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tvalue</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90844983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D8E8CB-60C6-E2FF-4CF8-945098E907C4}"/>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BBF72AEB-2C9B-FA4B-25A1-73430DD2AB4E}"/>
              </a:ext>
            </a:extLst>
          </p:cNvPr>
          <p:cNvSpPr>
            <a:spLocks noGrp="1"/>
          </p:cNvSpPr>
          <p:nvPr>
            <p:ph idx="1"/>
          </p:nvPr>
        </p:nvSpPr>
        <p:spPr/>
        <p:txBody>
          <a:bodyPr/>
          <a:lstStyle/>
          <a:p>
            <a:r>
              <a:rPr lang="ru-RU" dirty="0"/>
              <a:t>Но при этом имя массива это не стандартный указатель, и мы не можем изменить его адрес, например, так:</a:t>
            </a:r>
          </a:p>
          <a:p>
            <a:endParaRPr lang="ru-RU" dirty="0"/>
          </a:p>
          <a:p>
            <a:pPr lvl="1"/>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так сделать нельзя</a:t>
            </a:r>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8 };</a:t>
            </a:r>
          </a:p>
          <a:p>
            <a:pPr lvl="1"/>
            <a:r>
              <a:rPr lang="ru-RU" dirty="0" err="1">
                <a:solidFill>
                  <a:srgbClr val="000000"/>
                </a:solidFill>
                <a:latin typeface="Consolas" panose="020B0609020204030204" pitchFamily="49" charset="0"/>
              </a:rPr>
              <a:t>nums</a:t>
            </a:r>
            <a:r>
              <a:rPr lang="ru-RU" dirty="0">
                <a:solidFill>
                  <a:srgbClr val="000000"/>
                </a:solidFill>
                <a:latin typeface="Consolas" panose="020B0609020204030204" pitchFamily="49" charset="0"/>
              </a:rPr>
              <a:t> = &amp;b;          </a:t>
            </a:r>
            <a:r>
              <a:rPr lang="ru-RU" dirty="0">
                <a:solidFill>
                  <a:srgbClr val="008000"/>
                </a:solidFill>
                <a:latin typeface="Consolas" panose="020B0609020204030204" pitchFamily="49" charset="0"/>
              </a:rPr>
              <a:t>// так тоже сделать нельзя</a:t>
            </a:r>
            <a:endParaRPr lang="ru-RU" dirty="0"/>
          </a:p>
        </p:txBody>
      </p:sp>
    </p:spTree>
    <p:extLst>
      <p:ext uri="{BB962C8B-B14F-4D97-AF65-F5344CB8AC3E}">
        <p14:creationId xmlns:p14="http://schemas.microsoft.com/office/powerpoint/2010/main" val="375634024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7D7850-2E37-5A19-D8EB-849C9EDFD376}"/>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63EAB096-4733-6DEF-6E8E-7C13240E4652}"/>
              </a:ext>
            </a:extLst>
          </p:cNvPr>
          <p:cNvSpPr>
            <a:spLocks noGrp="1"/>
          </p:cNvSpPr>
          <p:nvPr>
            <p:ph idx="1"/>
          </p:nvPr>
        </p:nvSpPr>
        <p:spPr/>
        <p:txBody>
          <a:bodyPr/>
          <a:lstStyle/>
          <a:p>
            <a:r>
              <a:rPr lang="ru-RU" b="1" dirty="0"/>
              <a:t>Указатели на массивы</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marL="914400" lvl="2" indent="0">
              <a:buNone/>
            </a:pP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marL="914400" lvl="2"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a:t>
            </a:r>
          </a:p>
          <a:p>
            <a:pPr marL="914400" lvl="2" indent="0">
              <a:buNone/>
            </a:pP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num3 =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+ 2);</a:t>
            </a:r>
          </a:p>
          <a:p>
            <a:pPr marL="914400" lvl="2" indent="0">
              <a:buNone/>
            </a:pPr>
            <a:r>
              <a:rPr lang="pt-BR" dirty="0">
                <a:solidFill>
                  <a:srgbClr val="000000"/>
                </a:solidFill>
                <a:latin typeface="Consolas" panose="020B0609020204030204" pitchFamily="49" charset="0"/>
              </a:rPr>
              <a:t>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"num3: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num3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num3: 3</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endParaRPr lang="ru-RU" dirty="0"/>
          </a:p>
        </p:txBody>
      </p:sp>
    </p:spTree>
    <p:extLst>
      <p:ext uri="{BB962C8B-B14F-4D97-AF65-F5344CB8AC3E}">
        <p14:creationId xmlns:p14="http://schemas.microsoft.com/office/powerpoint/2010/main" val="55954443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DFD70C-8C9F-EA6C-EE1E-6C5E5DAB29DA}"/>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A75C161B-EF10-3B9B-B22E-3B12F686036B}"/>
              </a:ext>
            </a:extLst>
          </p:cNvPr>
          <p:cNvSpPr>
            <a:spLocks noGrp="1"/>
          </p:cNvSpPr>
          <p:nvPr>
            <p:ph idx="1"/>
          </p:nvPr>
        </p:nvSpPr>
        <p:spPr/>
        <p:txBody>
          <a:bodyPr/>
          <a:lstStyle/>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lang="ru-RU" sz="2000" dirty="0"/>
              <a:t>Перебор массива</a:t>
            </a:r>
            <a:endParaRPr kumimoji="0" lang="ru-RU" sz="2000" b="0" i="0" u="none" strike="noStrike" kern="1200" cap="none" spc="0" normalizeH="0" baseline="0" noProof="0" dirty="0">
              <a:ln>
                <a:noFill/>
              </a:ln>
              <a:effectLst/>
              <a:uLnTx/>
              <a:uFillTx/>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endParaRPr lang="ru-RU" sz="1200" dirty="0">
              <a:solidFill>
                <a:srgbClr val="0000FF"/>
              </a:solidFill>
              <a:latin typeface="Consolas" panose="020B0609020204030204" pitchFamily="49" charset="0"/>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main</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Arial" panose="020B0604020202020204" pitchFamily="34" charset="0"/>
              </a:rPr>
              <a:t>const</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n = 5;</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pt-BR"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pt-BR"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pt-BR"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nums[n]{ 1, 2, 3, 4, 5 };</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endPar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Arial" panose="020B0604020202020204" pitchFamily="34" charset="0"/>
              </a:rPr>
              <a:t>for</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nums</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&lt;= &amp;</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nums</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[n - 1]; </a:t>
            </a:r>
            <a:r>
              <a:rPr kumimoji="0" lang="de-CH"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de-CH"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std::</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cout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Arial" panose="020B0604020202020204" pitchFamily="34" charset="0"/>
              </a:rPr>
              <a:t>"address="</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Arial" panose="020B0604020202020204" pitchFamily="34" charset="0"/>
              </a:rPr>
              <a:t>"\</a:t>
            </a:r>
            <a:r>
              <a:rPr kumimoji="0" lang="en-US"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Arial" panose="020B0604020202020204" pitchFamily="34" charset="0"/>
              </a:rPr>
              <a:t>tvalue</a:t>
            </a:r>
            <a:r>
              <a:rPr kumimoji="0" lang="en-US"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Arial" panose="020B0604020202020204" pitchFamily="34" charset="0"/>
              </a:rPr>
              <a: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ptr</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2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std::</a:t>
            </a:r>
            <a:r>
              <a:rPr kumimoji="0" lang="en-US"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endl</a:t>
            </a:r>
            <a:r>
              <a:rPr kumimoji="0" lang="en-US"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endParaRPr lang="ru-RU" dirty="0"/>
          </a:p>
        </p:txBody>
      </p:sp>
    </p:spTree>
    <p:extLst>
      <p:ext uri="{BB962C8B-B14F-4D97-AF65-F5344CB8AC3E}">
        <p14:creationId xmlns:p14="http://schemas.microsoft.com/office/powerpoint/2010/main" val="76646193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9EB60F-2CB1-FF00-9118-DB2454097BFA}"/>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61B952C9-B187-6A43-304C-104C3E58E900}"/>
              </a:ext>
            </a:extLst>
          </p:cNvPr>
          <p:cNvSpPr>
            <a:spLocks noGrp="1"/>
          </p:cNvSpPr>
          <p:nvPr>
            <p:ph idx="1"/>
          </p:nvPr>
        </p:nvSpPr>
        <p:spPr/>
        <p:txBody>
          <a:bodyPr/>
          <a:lstStyle/>
          <a:p>
            <a:pPr lvl="1"/>
            <a:endParaRPr lang="ru-RU" sz="1200" dirty="0">
              <a:solidFill>
                <a:srgbClr val="0000FF"/>
              </a:solidFill>
              <a:latin typeface="Consolas" panose="020B0609020204030204" pitchFamily="49" charset="0"/>
            </a:endParaRPr>
          </a:p>
          <a:p>
            <a:pPr lvl="1"/>
            <a:r>
              <a:rPr lang="ru-RU" sz="1800" dirty="0"/>
              <a:t>Перебор многомерного массива</a:t>
            </a:r>
          </a:p>
          <a:p>
            <a:pPr lvl="1"/>
            <a:endParaRPr lang="ru-RU" sz="1200" dirty="0">
              <a:solidFill>
                <a:srgbClr val="0000FF"/>
              </a:solidFill>
              <a:latin typeface="Consolas" panose="020B0609020204030204" pitchFamily="49" charset="0"/>
            </a:endParaRP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[3][4]{ {1, 2, 3, 4} , {5, 6, 7, 8}, {9, 10, 11, 12} };</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unsigned</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a:t>
            </a:r>
            <a:r>
              <a:rPr lang="de-CH" sz="1200" dirty="0" err="1">
                <a:solidFill>
                  <a:srgbClr val="0000FF"/>
                </a:solidFill>
                <a:latin typeface="Consolas" panose="020B0609020204030204" pitchFamily="49" charset="0"/>
              </a:rPr>
              <a:t>sizeof</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 / </a:t>
            </a:r>
            <a:r>
              <a:rPr lang="de-CH" sz="1200" dirty="0" err="1">
                <a:solidFill>
                  <a:srgbClr val="0000FF"/>
                </a:solidFill>
                <a:latin typeface="Consolas" panose="020B0609020204030204" pitchFamily="49" charset="0"/>
              </a:rPr>
              <a:t>sizeof</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[0])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число строк</a:t>
            </a:r>
            <a:endParaRPr lang="ru-RU"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unsigned</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m{ </a:t>
            </a:r>
            <a:r>
              <a:rPr lang="de-CH" sz="1200" dirty="0" err="1">
                <a:solidFill>
                  <a:srgbClr val="0000FF"/>
                </a:solidFill>
                <a:latin typeface="Consolas" panose="020B0609020204030204" pitchFamily="49" charset="0"/>
              </a:rPr>
              <a:t>sizeof</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[0]) / </a:t>
            </a:r>
            <a:r>
              <a:rPr lang="de-CH" sz="1200" dirty="0" err="1">
                <a:solidFill>
                  <a:srgbClr val="0000FF"/>
                </a:solidFill>
                <a:latin typeface="Consolas" panose="020B0609020204030204" pitchFamily="49" charset="0"/>
              </a:rPr>
              <a:t>sizeof</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nums</a:t>
            </a:r>
            <a:r>
              <a:rPr lang="de-CH" sz="1200" dirty="0">
                <a:solidFill>
                  <a:srgbClr val="000000"/>
                </a:solidFill>
                <a:latin typeface="Consolas" panose="020B0609020204030204" pitchFamily="49" charset="0"/>
              </a:rPr>
              <a:t>[0][0])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число столбцов</a:t>
            </a:r>
            <a:endParaRPr lang="ru-RU"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00FF"/>
                </a:solidFill>
                <a:latin typeface="Consolas" panose="020B0609020204030204" pitchFamily="49" charset="0"/>
              </a:rPr>
              <a:t>int</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end</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nums</a:t>
            </a:r>
            <a:r>
              <a:rPr lang="ru-RU" sz="1200" dirty="0">
                <a:solidFill>
                  <a:srgbClr val="000000"/>
                </a:solidFill>
                <a:latin typeface="Consolas" panose="020B0609020204030204" pitchFamily="49" charset="0"/>
              </a:rPr>
              <a:t>[0] + n * m - 1 };    </a:t>
            </a:r>
            <a:r>
              <a:rPr lang="ru-RU" sz="1200" dirty="0">
                <a:solidFill>
                  <a:srgbClr val="008000"/>
                </a:solidFill>
                <a:latin typeface="Consolas" panose="020B0609020204030204" pitchFamily="49" charset="0"/>
              </a:rPr>
              <a:t>// указатель на самый последний элемент 0 + 3 * 4 - 1 = 11</a:t>
            </a:r>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00FF"/>
                </a:solidFill>
                <a:latin typeface="Consolas" panose="020B0609020204030204" pitchFamily="49" charset="0"/>
              </a:rPr>
              <a:t>int</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ptr</a:t>
            </a:r>
            <a:r>
              <a:rPr lang="ru-RU" sz="1200" dirty="0">
                <a:solidFill>
                  <a:srgbClr val="000000"/>
                </a:solidFill>
                <a:latin typeface="Consolas" panose="020B0609020204030204" pitchFamily="49" charset="0"/>
              </a:rPr>
              <a:t>{ </a:t>
            </a:r>
            <a:r>
              <a:rPr lang="ru-RU" sz="1200" dirty="0" err="1">
                <a:solidFill>
                  <a:srgbClr val="000000"/>
                </a:solidFill>
                <a:latin typeface="Consolas" panose="020B0609020204030204" pitchFamily="49" charset="0"/>
              </a:rPr>
              <a:t>nums</a:t>
            </a:r>
            <a:r>
              <a:rPr lang="ru-RU" sz="1200" dirty="0">
                <a:solidFill>
                  <a:srgbClr val="000000"/>
                </a:solidFill>
                <a:latin typeface="Consolas" panose="020B0609020204030204" pitchFamily="49" charset="0"/>
              </a:rPr>
              <a:t>[0] };                </a:t>
            </a:r>
            <a:r>
              <a:rPr lang="ru-RU" sz="1200" dirty="0">
                <a:solidFill>
                  <a:srgbClr val="008000"/>
                </a:solidFill>
                <a:latin typeface="Consolas" panose="020B0609020204030204" pitchFamily="49" charset="0"/>
              </a:rPr>
              <a:t>// указатель на первый элемент</a:t>
            </a:r>
            <a:endParaRPr lang="ru-RU" sz="1200" dirty="0">
              <a:solidFill>
                <a:srgbClr val="000000"/>
              </a:solidFill>
              <a:latin typeface="Consolas" panose="020B0609020204030204" pitchFamily="49" charset="0"/>
            </a:endParaRPr>
          </a:p>
          <a:p>
            <a:pPr lvl="1"/>
            <a:r>
              <a:rPr lang="da-DK" sz="1200" dirty="0">
                <a:solidFill>
                  <a:srgbClr val="000000"/>
                </a:solidFill>
                <a:latin typeface="Consolas" panose="020B0609020204030204" pitchFamily="49" charset="0"/>
              </a:rPr>
              <a:t>    </a:t>
            </a:r>
            <a:r>
              <a:rPr lang="da-DK" sz="1200" dirty="0">
                <a:solidFill>
                  <a:srgbClr val="0000FF"/>
                </a:solidFill>
                <a:latin typeface="Consolas" panose="020B0609020204030204" pitchFamily="49" charset="0"/>
              </a:rPr>
              <a:t>for</a:t>
            </a:r>
            <a:r>
              <a:rPr lang="da-DK" sz="1200" dirty="0">
                <a:solidFill>
                  <a:srgbClr val="000000"/>
                </a:solidFill>
                <a:latin typeface="Consolas" panose="020B0609020204030204" pitchFamily="49" charset="0"/>
              </a:rPr>
              <a:t> (</a:t>
            </a:r>
            <a:r>
              <a:rPr lang="da-DK" sz="1200" dirty="0">
                <a:solidFill>
                  <a:srgbClr val="0000FF"/>
                </a:solidFill>
                <a:latin typeface="Consolas" panose="020B0609020204030204" pitchFamily="49" charset="0"/>
              </a:rPr>
              <a:t>unsigned</a:t>
            </a:r>
            <a:r>
              <a:rPr lang="da-DK" sz="1200" dirty="0">
                <a:solidFill>
                  <a:srgbClr val="000000"/>
                </a:solidFill>
                <a:latin typeface="Consolas" panose="020B0609020204030204" pitchFamily="49" charset="0"/>
              </a:rPr>
              <a:t> i{ 1 }; ptr &lt;= end; ptr++, i++)</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ptr</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a:solidFill>
                  <a:srgbClr val="A31515"/>
                </a:solidFill>
                <a:latin typeface="Consolas" panose="020B0609020204030204" pitchFamily="49" charset="0"/>
              </a:rPr>
              <a:t>"\t"</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если остаток от целочисленного деления равен 0,</a:t>
            </a:r>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переходим на новую строку</a:t>
            </a:r>
            <a:endParaRPr lang="ru-RU"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if</a:t>
            </a:r>
            <a:r>
              <a:rPr lang="de-CH" sz="1200" dirty="0">
                <a:solidFill>
                  <a:srgbClr val="000000"/>
                </a:solidFill>
                <a:latin typeface="Consolas" panose="020B0609020204030204" pitchFamily="49" charset="0"/>
              </a:rPr>
              <a:t> (i % m == 0)</a:t>
            </a: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37310044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5190A2-AB3E-33F0-0E34-5B36E3C3D183}"/>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BAE4C27A-AF59-E248-32DD-CE4991C5101C}"/>
              </a:ext>
            </a:extLst>
          </p:cNvPr>
          <p:cNvSpPr>
            <a:spLocks noGrp="1"/>
          </p:cNvSpPr>
          <p:nvPr>
            <p:ph idx="1"/>
          </p:nvPr>
        </p:nvSpPr>
        <p:spPr/>
        <p:txBody>
          <a:bodyPr/>
          <a:lstStyle/>
          <a:p>
            <a:r>
              <a:rPr lang="ru-RU" b="1" dirty="0"/>
              <a:t>Указатель на строки и массивы символов</a:t>
            </a:r>
          </a:p>
          <a:p>
            <a:endParaRPr lang="ru-RU" dirty="0"/>
          </a:p>
          <a:p>
            <a:r>
              <a:rPr lang="ru-RU" dirty="0"/>
              <a:t>Поскольку массив символов может интерпретироваться как строка, то указатель на значения типа </a:t>
            </a:r>
            <a:r>
              <a:rPr lang="ru-RU" dirty="0" err="1"/>
              <a:t>char</a:t>
            </a:r>
            <a:r>
              <a:rPr lang="ru-RU" dirty="0"/>
              <a:t> тоже может интерпретироваться как строка:</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hello</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phello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phello</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hello</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54107454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AE0B3F-BBEC-6BA3-1552-43B8FF05E521}"/>
              </a:ext>
            </a:extLst>
          </p:cNvPr>
          <p:cNvSpPr>
            <a:spLocks noGrp="1"/>
          </p:cNvSpPr>
          <p:nvPr>
            <p:ph type="title"/>
          </p:nvPr>
        </p:nvSpPr>
        <p:spPr/>
        <p:txBody>
          <a:bodyPr/>
          <a:lstStyle/>
          <a:p>
            <a:r>
              <a:rPr lang="ru-RU" b="1" dirty="0"/>
              <a:t>Массивы и указатели</a:t>
            </a:r>
            <a:endParaRPr lang="ru-RU" dirty="0"/>
          </a:p>
        </p:txBody>
      </p:sp>
      <p:sp>
        <p:nvSpPr>
          <p:cNvPr id="3" name="Объект 2">
            <a:extLst>
              <a:ext uri="{FF2B5EF4-FFF2-40B4-BE49-F238E27FC236}">
                <a16:creationId xmlns:a16="http://schemas.microsoft.com/office/drawing/2014/main" id="{D01DA543-F5DC-5EA9-2D47-9EFDFD4E6EEC}"/>
              </a:ext>
            </a:extLst>
          </p:cNvPr>
          <p:cNvSpPr>
            <a:spLocks noGrp="1"/>
          </p:cNvSpPr>
          <p:nvPr>
            <p:ph idx="1"/>
          </p:nvPr>
        </p:nvSpPr>
        <p:spPr/>
        <p:txBody>
          <a:bodyPr/>
          <a:lstStyle/>
          <a:p>
            <a:r>
              <a:rPr lang="ru-RU" b="1" dirty="0"/>
              <a:t>Массивы указателей</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hello</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phello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phello</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hello</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64629627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FA4D11-3BDC-2F65-6D56-6EBBB657A1F9}"/>
              </a:ext>
            </a:extLst>
          </p:cNvPr>
          <p:cNvSpPr>
            <a:spLocks noGrp="1"/>
          </p:cNvSpPr>
          <p:nvPr>
            <p:ph type="title"/>
          </p:nvPr>
        </p:nvSpPr>
        <p:spPr/>
        <p:txBody>
          <a:bodyPr/>
          <a:lstStyle/>
          <a:p>
            <a:r>
              <a:rPr lang="ru-RU" b="1" dirty="0"/>
              <a:t>Массивы символов</a:t>
            </a:r>
          </a:p>
        </p:txBody>
      </p:sp>
      <p:sp>
        <p:nvSpPr>
          <p:cNvPr id="3" name="Объект 2">
            <a:extLst>
              <a:ext uri="{FF2B5EF4-FFF2-40B4-BE49-F238E27FC236}">
                <a16:creationId xmlns:a16="http://schemas.microsoft.com/office/drawing/2014/main" id="{FE550950-534D-C69A-A1C3-14FD6420BF4A}"/>
              </a:ext>
            </a:extLst>
          </p:cNvPr>
          <p:cNvSpPr>
            <a:spLocks noGrp="1"/>
          </p:cNvSpPr>
          <p:nvPr>
            <p:ph idx="1"/>
          </p:nvPr>
        </p:nvSpPr>
        <p:spPr/>
        <p:txBody>
          <a:bodyPr/>
          <a:lstStyle/>
          <a:p>
            <a:pPr algn="just"/>
            <a:r>
              <a:rPr lang="ru-RU" dirty="0"/>
              <a:t>Свои особенности имеют символьные массивы. </a:t>
            </a:r>
          </a:p>
          <a:p>
            <a:pPr algn="just"/>
            <a:r>
              <a:rPr lang="ru-RU" dirty="0"/>
              <a:t>При инициализации мы можем передать символьному массиву как набор символов, так и строку:</a:t>
            </a:r>
          </a:p>
          <a:p>
            <a:pPr algn="just"/>
            <a:endParaRPr lang="ru-RU" dirty="0"/>
          </a:p>
          <a:p>
            <a:pPr lvl="1"/>
            <a:r>
              <a:rPr lang="it-IT" dirty="0">
                <a:solidFill>
                  <a:srgbClr val="0000FF"/>
                </a:solidFill>
                <a:latin typeface="Consolas" panose="020B0609020204030204" pitchFamily="49" charset="0"/>
              </a:rPr>
              <a:t>char</a:t>
            </a:r>
            <a:r>
              <a:rPr lang="it-IT" dirty="0">
                <a:solidFill>
                  <a:srgbClr val="000000"/>
                </a:solidFill>
                <a:latin typeface="Consolas" panose="020B0609020204030204" pitchFamily="49" charset="0"/>
              </a:rPr>
              <a:t> hello1[]{ </a:t>
            </a:r>
            <a:r>
              <a:rPr lang="it-IT" dirty="0">
                <a:solidFill>
                  <a:srgbClr val="A31515"/>
                </a:solidFill>
                <a:latin typeface="Consolas" panose="020B0609020204030204" pitchFamily="49" charset="0"/>
              </a:rPr>
              <a:t>'h'</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'e'</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'l'</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'l'</a:t>
            </a:r>
            <a:r>
              <a:rPr lang="it-IT" dirty="0">
                <a:solidFill>
                  <a:srgbClr val="000000"/>
                </a:solidFill>
                <a:latin typeface="Consolas" panose="020B0609020204030204" pitchFamily="49" charset="0"/>
              </a:rPr>
              <a:t>, </a:t>
            </a:r>
            <a:r>
              <a:rPr lang="it-IT" dirty="0">
                <a:solidFill>
                  <a:srgbClr val="A31515"/>
                </a:solidFill>
                <a:latin typeface="Consolas" panose="020B0609020204030204" pitchFamily="49" charset="0"/>
              </a:rPr>
              <a:t>'o'</a:t>
            </a:r>
            <a:r>
              <a:rPr lang="it-IT" dirty="0">
                <a:solidFill>
                  <a:srgbClr val="000000"/>
                </a:solidFill>
                <a:latin typeface="Consolas" panose="020B0609020204030204" pitchFamily="49" charset="0"/>
              </a:rPr>
              <a:t> };</a:t>
            </a:r>
          </a:p>
          <a:p>
            <a:pPr lvl="1"/>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hello2[]{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hello</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{'h', 'e', 'l', 'l', 'o', '0’}</a:t>
            </a:r>
            <a:endParaRPr lang="ru-RU" dirty="0">
              <a:solidFill>
                <a:srgbClr val="008000"/>
              </a:solidFill>
              <a:latin typeface="Consolas" panose="020B0609020204030204" pitchFamily="49" charset="0"/>
            </a:endParaRPr>
          </a:p>
          <a:p>
            <a:pPr lvl="1"/>
            <a:endParaRPr lang="ru-RU" dirty="0">
              <a:solidFill>
                <a:srgbClr val="008000"/>
              </a:solidFill>
              <a:latin typeface="Consolas" panose="020B0609020204030204" pitchFamily="49" charset="0"/>
            </a:endParaRPr>
          </a:p>
          <a:p>
            <a:pPr lvl="1"/>
            <a:endParaRPr lang="ru-RU" dirty="0">
              <a:solidFill>
                <a:srgbClr val="008000"/>
              </a:solidFill>
              <a:latin typeface="Consolas" panose="020B0609020204030204" pitchFamily="49" charset="0"/>
            </a:endParaRPr>
          </a:p>
          <a:p>
            <a:r>
              <a:rPr lang="it-IT" sz="1600" dirty="0">
                <a:solidFill>
                  <a:srgbClr val="000000"/>
                </a:solidFill>
                <a:latin typeface="Consolas" panose="020B0609020204030204" pitchFamily="49" charset="0"/>
              </a:rPr>
              <a:t> </a:t>
            </a:r>
            <a:r>
              <a:rPr lang="ru-RU" sz="1600" dirty="0">
                <a:solidFill>
                  <a:srgbClr val="000000"/>
                </a:solidFill>
                <a:latin typeface="Consolas" panose="020B0609020204030204" pitchFamily="49" charset="0"/>
              </a:rPr>
              <a:t>   </a:t>
            </a:r>
            <a:r>
              <a:rPr lang="it-IT" sz="1600" dirty="0">
                <a:solidFill>
                  <a:srgbClr val="0000FF"/>
                </a:solidFill>
                <a:latin typeface="Consolas" panose="020B0609020204030204" pitchFamily="49" charset="0"/>
              </a:rPr>
              <a:t>char</a:t>
            </a:r>
            <a:r>
              <a:rPr lang="it-IT" sz="1600" dirty="0">
                <a:solidFill>
                  <a:srgbClr val="000000"/>
                </a:solidFill>
                <a:latin typeface="Consolas" panose="020B0609020204030204" pitchFamily="49" charset="0"/>
              </a:rPr>
              <a:t> hello1[]{</a:t>
            </a:r>
            <a:r>
              <a:rPr lang="it-IT" sz="1600" dirty="0">
                <a:solidFill>
                  <a:srgbClr val="A31515"/>
                </a:solidFill>
                <a:latin typeface="Consolas" panose="020B0609020204030204" pitchFamily="49" charset="0"/>
              </a:rPr>
              <a:t>'h'</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'e'</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'l'</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'l'</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'o'</a:t>
            </a:r>
            <a:r>
              <a:rPr lang="it-IT" sz="1600" dirty="0">
                <a:solidFill>
                  <a:srgbClr val="000000"/>
                </a:solidFill>
                <a:latin typeface="Consolas" panose="020B0609020204030204" pitchFamily="49" charset="0"/>
              </a:rPr>
              <a:t>};</a:t>
            </a:r>
          </a:p>
          <a:p>
            <a:r>
              <a:rPr lang="it-IT" sz="1600" dirty="0">
                <a:solidFill>
                  <a:srgbClr val="000000"/>
                </a:solidFill>
                <a:latin typeface="Consolas" panose="020B0609020204030204" pitchFamily="49" charset="0"/>
              </a:rPr>
              <a:t>    </a:t>
            </a:r>
            <a:r>
              <a:rPr lang="it-IT" sz="1600" dirty="0">
                <a:solidFill>
                  <a:srgbClr val="0000FF"/>
                </a:solidFill>
                <a:latin typeface="Consolas" panose="020B0609020204030204" pitchFamily="49" charset="0"/>
              </a:rPr>
              <a:t>char</a:t>
            </a:r>
            <a:r>
              <a:rPr lang="it-IT" sz="1600" dirty="0">
                <a:solidFill>
                  <a:srgbClr val="000000"/>
                </a:solidFill>
                <a:latin typeface="Consolas" panose="020B0609020204030204" pitchFamily="49" charset="0"/>
              </a:rPr>
              <a:t> hello2[]{</a:t>
            </a:r>
            <a:r>
              <a:rPr lang="it-IT" sz="1600" dirty="0">
                <a:solidFill>
                  <a:srgbClr val="A31515"/>
                </a:solidFill>
                <a:latin typeface="Consolas" panose="020B0609020204030204" pitchFamily="49" charset="0"/>
              </a:rPr>
              <a:t>'h'</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'e'</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'l'</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'l'</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'o'</a:t>
            </a:r>
            <a:r>
              <a:rPr lang="it-IT" sz="1600" dirty="0">
                <a:solidFill>
                  <a:srgbClr val="000000"/>
                </a:solidFill>
                <a:latin typeface="Consolas" panose="020B0609020204030204" pitchFamily="49" charset="0"/>
              </a:rPr>
              <a:t>, </a:t>
            </a:r>
            <a:r>
              <a:rPr lang="it-IT" sz="1600" dirty="0">
                <a:solidFill>
                  <a:srgbClr val="A31515"/>
                </a:solidFill>
                <a:latin typeface="Consolas" panose="020B0609020204030204" pitchFamily="49" charset="0"/>
              </a:rPr>
              <a:t>'\0'</a:t>
            </a:r>
            <a:r>
              <a:rPr lang="it-IT"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char</a:t>
            </a:r>
            <a:r>
              <a:rPr lang="de-CH" sz="1600" dirty="0">
                <a:solidFill>
                  <a:srgbClr val="000000"/>
                </a:solidFill>
                <a:latin typeface="Consolas" panose="020B0609020204030204" pitchFamily="49" charset="0"/>
              </a:rPr>
              <a:t> hello3[]{</a:t>
            </a:r>
            <a:r>
              <a:rPr lang="de-CH" sz="1600" dirty="0">
                <a:solidFill>
                  <a:srgbClr val="A31515"/>
                </a:solidFill>
                <a:latin typeface="Consolas" panose="020B0609020204030204" pitchFamily="49" charset="0"/>
              </a:rPr>
              <a:t>"</a:t>
            </a:r>
            <a:r>
              <a:rPr lang="de-CH" sz="1600" dirty="0" err="1">
                <a:solidFill>
                  <a:srgbClr val="A31515"/>
                </a:solidFill>
                <a:latin typeface="Consolas" panose="020B0609020204030204" pitchFamily="49" charset="0"/>
              </a:rPr>
              <a:t>hello</a:t>
            </a:r>
            <a:r>
              <a:rPr lang="de-CH" sz="1600" dirty="0">
                <a:solidFill>
                  <a:srgbClr val="A31515"/>
                </a:solidFill>
                <a:latin typeface="Consolas" panose="020B0609020204030204" pitchFamily="49" charset="0"/>
              </a:rPr>
              <a:t>"</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hello1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hello2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hello3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40152178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01B271-595C-DBA6-35DD-BEFCF6DDE10F}"/>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199164A7-3E1F-8508-1728-B55F19B26E80}"/>
              </a:ext>
            </a:extLst>
          </p:cNvPr>
          <p:cNvSpPr>
            <a:spLocks noGrp="1"/>
          </p:cNvSpPr>
          <p:nvPr>
            <p:ph idx="1"/>
          </p:nvPr>
        </p:nvSpPr>
        <p:spPr/>
        <p:txBody>
          <a:bodyPr/>
          <a:lstStyle/>
          <a:p>
            <a:r>
              <a:rPr lang="ru-RU" b="1" dirty="0"/>
              <a:t>Двухмерные массивы символов</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50 }; </a:t>
            </a:r>
            <a:r>
              <a:rPr lang="ru-RU" dirty="0">
                <a:solidFill>
                  <a:srgbClr val="008000"/>
                </a:solidFill>
                <a:latin typeface="Consolas" panose="020B0609020204030204" pitchFamily="49" charset="0"/>
              </a:rPr>
              <a:t>// максимальная длина строки (включая нулевой байт \0)</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max_length</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"C++"</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"C#"</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"Python"</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"Java"</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Kotlin</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"Go"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"Dart"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"PHP"</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[0]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C++</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[1]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C#</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[2]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Python</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230065439"/>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EBE2A4-1A1D-49F4-432C-A033987ABC51}"/>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7062B694-897D-B81C-0686-E0399809FB3E}"/>
              </a:ext>
            </a:extLst>
          </p:cNvPr>
          <p:cNvSpPr>
            <a:spLocks noGrp="1"/>
          </p:cNvSpPr>
          <p:nvPr>
            <p:ph idx="1"/>
          </p:nvPr>
        </p:nvSpPr>
        <p:spPr/>
        <p:txBody>
          <a:bodyPr/>
          <a:lstStyle/>
          <a:p>
            <a:r>
              <a:rPr lang="ru-RU" b="1" dirty="0"/>
              <a:t>Перебор двухмерных символьных массивов</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[][20]{ </a:t>
            </a:r>
            <a:r>
              <a:rPr lang="de-CH" dirty="0">
                <a:solidFill>
                  <a:srgbClr val="A31515"/>
                </a:solidFill>
                <a:latin typeface="Consolas" panose="020B0609020204030204" pitchFamily="49" charset="0"/>
              </a:rPr>
              <a:t>"C++"</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"Python"</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"JavaScript"</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lang : </a:t>
            </a:r>
            <a:r>
              <a:rPr lang="de-CH" dirty="0" err="1">
                <a:solidFill>
                  <a:srgbClr val="000000"/>
                </a:solidFill>
                <a:latin typeface="Consolas" panose="020B0609020204030204" pitchFamily="49" charset="0"/>
              </a:rPr>
              <a:t>langs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lang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78209442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727EB8-F9A9-98A9-3B57-0C0FF72ECB23}"/>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58E12308-01DD-5C5A-39E5-6D0E492D575D}"/>
              </a:ext>
            </a:extLst>
          </p:cNvPr>
          <p:cNvSpPr>
            <a:spLocks noGrp="1"/>
          </p:cNvSpPr>
          <p:nvPr>
            <p:ph idx="1"/>
          </p:nvPr>
        </p:nvSpPr>
        <p:spPr/>
        <p:txBody>
          <a:bodyPr/>
          <a:lstStyle/>
          <a:p>
            <a:r>
              <a:rPr lang="ru-RU" b="1" dirty="0"/>
              <a:t>Ввод символьных массивов/строк с консоли</a:t>
            </a:r>
          </a:p>
          <a:p>
            <a:r>
              <a:rPr lang="ru-RU" dirty="0"/>
              <a:t>Функция </a:t>
            </a:r>
            <a:r>
              <a:rPr lang="ru-RU" dirty="0" err="1"/>
              <a:t>getline</a:t>
            </a:r>
            <a:r>
              <a:rPr lang="ru-RU" dirty="0"/>
              <a:t>() потока </a:t>
            </a:r>
            <a:r>
              <a:rPr lang="ru-RU" dirty="0" err="1"/>
              <a:t>cin</a:t>
            </a:r>
            <a:r>
              <a:rPr lang="ru-RU" dirty="0"/>
              <a:t> считывает последовательность символов, включая пробелы.</a:t>
            </a:r>
          </a:p>
          <a:p>
            <a:r>
              <a:rPr lang="ru-RU" dirty="0"/>
              <a:t> По умолчанию, ввод заканчивается, когда считывается символ перевода строки '\n' (например, при нажатии клавиши Enter). Функция </a:t>
            </a:r>
            <a:r>
              <a:rPr lang="ru-RU" dirty="0" err="1"/>
              <a:t>getline</a:t>
            </a:r>
            <a:r>
              <a:rPr lang="ru-RU" dirty="0"/>
              <a:t>() имеет две версии. Первая версия принимает два параметра: первый параметра указывает на массив символов для хранения введенных данных, а второй параметр указывает на максимальное количество символов, которое надо сохранить в массив. Это количество включает символ завершения строки - нулевой байт '\0', который автоматически добавляться в конец ввода:</a:t>
            </a:r>
          </a:p>
        </p:txBody>
      </p:sp>
    </p:spTree>
    <p:extLst>
      <p:ext uri="{BB962C8B-B14F-4D97-AF65-F5344CB8AC3E}">
        <p14:creationId xmlns:p14="http://schemas.microsoft.com/office/powerpoint/2010/main" val="5778231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5FDFE-11D9-D3DE-5654-6E08E5877352}"/>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6CB73F09-64C3-CAA9-A546-7FF77D1820D3}"/>
              </a:ext>
            </a:extLst>
          </p:cNvPr>
          <p:cNvSpPr>
            <a:spLocks noGrp="1"/>
          </p:cNvSpPr>
          <p:nvPr>
            <p:ph idx="1"/>
          </p:nvPr>
        </p:nvSpPr>
        <p:spPr/>
        <p:txBody>
          <a:bodyPr/>
          <a:lstStyle/>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100 };    </a:t>
            </a:r>
            <a:r>
              <a:rPr lang="ru-RU" dirty="0">
                <a:solidFill>
                  <a:srgbClr val="008000"/>
                </a:solidFill>
                <a:latin typeface="Consolas" panose="020B0609020204030204" pitchFamily="49" charset="0"/>
              </a:rPr>
              <a:t>// максимальное </a:t>
            </a:r>
            <a:r>
              <a:rPr lang="ru-RU" dirty="0" err="1">
                <a:solidFill>
                  <a:srgbClr val="008000"/>
                </a:solidFill>
                <a:latin typeface="Consolas" panose="020B0609020204030204" pitchFamily="49" charset="0"/>
              </a:rPr>
              <a:t>количиство</a:t>
            </a:r>
            <a:r>
              <a:rPr lang="ru-RU" dirty="0">
                <a:solidFill>
                  <a:srgbClr val="008000"/>
                </a:solidFill>
                <a:latin typeface="Consolas" panose="020B0609020204030204" pitchFamily="49" charset="0"/>
              </a:rPr>
              <a:t> считываемых символов</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char</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text</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массив для считывания строки</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"Enter some text:"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считываем символы, включая пробелы</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cin.getline</a:t>
            </a:r>
            <a:r>
              <a:rPr lang="en-US" dirty="0">
                <a:solidFill>
                  <a:srgbClr val="000000"/>
                </a:solidFill>
                <a:latin typeface="Consolas" panose="020B0609020204030204" pitchFamily="49" charset="0"/>
              </a:rPr>
              <a:t>(text, </a:t>
            </a:r>
            <a:r>
              <a:rPr lang="en-US" dirty="0" err="1">
                <a:solidFill>
                  <a:srgbClr val="000000"/>
                </a:solidFill>
                <a:latin typeface="Consolas" panose="020B0609020204030204" pitchFamily="49" charset="0"/>
              </a:rPr>
              <a:t>max_length</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 entered:\n"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text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58935952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B1DED4-0C02-A390-0D35-8A8BDC4392A1}"/>
              </a:ext>
            </a:extLst>
          </p:cNvPr>
          <p:cNvSpPr>
            <a:spLocks noGrp="1"/>
          </p:cNvSpPr>
          <p:nvPr>
            <p:ph type="title"/>
          </p:nvPr>
        </p:nvSpPr>
        <p:spPr/>
        <p:txBody>
          <a:bodyPr/>
          <a:lstStyle/>
          <a:p>
            <a:r>
              <a:rPr lang="ru-RU" b="1" dirty="0"/>
              <a:t>Массивы символов</a:t>
            </a:r>
            <a:endParaRPr lang="ru-RU" dirty="0"/>
          </a:p>
        </p:txBody>
      </p:sp>
      <p:sp>
        <p:nvSpPr>
          <p:cNvPr id="3" name="Объект 2">
            <a:extLst>
              <a:ext uri="{FF2B5EF4-FFF2-40B4-BE49-F238E27FC236}">
                <a16:creationId xmlns:a16="http://schemas.microsoft.com/office/drawing/2014/main" id="{DE49FDFE-9184-1491-20DC-55EBA2E07226}"/>
              </a:ext>
            </a:extLst>
          </p:cNvPr>
          <p:cNvSpPr>
            <a:spLocks noGrp="1"/>
          </p:cNvSpPr>
          <p:nvPr>
            <p:ph idx="1"/>
          </p:nvPr>
        </p:nvSpPr>
        <p:spPr/>
        <p:txBody>
          <a:bodyPr/>
          <a:lstStyle/>
          <a:p>
            <a:r>
              <a:rPr lang="ru-RU" dirty="0"/>
              <a:t>Другая форма функции </a:t>
            </a:r>
            <a:r>
              <a:rPr lang="ru-RU" dirty="0" err="1"/>
              <a:t>getline</a:t>
            </a:r>
            <a:r>
              <a:rPr lang="ru-RU" dirty="0"/>
              <a:t>() также принимает третий параметр - символ, который будет выступать </a:t>
            </a:r>
            <a:r>
              <a:rPr lang="ru-RU" dirty="0" err="1"/>
              <a:t>сиигналом</a:t>
            </a:r>
            <a:r>
              <a:rPr lang="ru-RU" dirty="0"/>
              <a:t> завершения ввода. Например</a:t>
            </a:r>
          </a:p>
          <a:p>
            <a:pPr lvl="1"/>
            <a:br>
              <a:rPr lang="ru-RU" dirty="0"/>
            </a:b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100 };    </a:t>
            </a:r>
            <a:r>
              <a:rPr lang="ru-RU" dirty="0">
                <a:solidFill>
                  <a:srgbClr val="008000"/>
                </a:solidFill>
                <a:latin typeface="Consolas" panose="020B0609020204030204" pitchFamily="49" charset="0"/>
              </a:rPr>
              <a:t>// максимальное </a:t>
            </a:r>
            <a:r>
              <a:rPr lang="ru-RU" dirty="0" err="1">
                <a:solidFill>
                  <a:srgbClr val="008000"/>
                </a:solidFill>
                <a:latin typeface="Consolas" panose="020B0609020204030204" pitchFamily="49" charset="0"/>
              </a:rPr>
              <a:t>количиство</a:t>
            </a:r>
            <a:r>
              <a:rPr lang="ru-RU" dirty="0">
                <a:solidFill>
                  <a:srgbClr val="008000"/>
                </a:solidFill>
                <a:latin typeface="Consolas" panose="020B0609020204030204" pitchFamily="49" charset="0"/>
              </a:rPr>
              <a:t> </a:t>
            </a:r>
            <a:r>
              <a:rPr lang="en-US"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считываемых символов</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char</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text</a:t>
            </a:r>
            <a:r>
              <a:rPr lang="ru-RU" dirty="0">
                <a:solidFill>
                  <a:srgbClr val="000000"/>
                </a:solidFill>
                <a:latin typeface="Consolas" panose="020B0609020204030204" pitchFamily="49" charset="0"/>
              </a:rPr>
              <a:t>[</a:t>
            </a:r>
            <a:r>
              <a:rPr lang="ru-RU" dirty="0" err="1">
                <a:solidFill>
                  <a:srgbClr val="000000"/>
                </a:solidFill>
                <a:latin typeface="Consolas" panose="020B0609020204030204" pitchFamily="49" charset="0"/>
              </a:rPr>
              <a:t>max_length</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массив для считывания строки</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"Enter some text:"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en-US"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считываем символы, включая пробелы</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cin.getline</a:t>
            </a:r>
            <a:r>
              <a:rPr lang="en-US" dirty="0">
                <a:solidFill>
                  <a:srgbClr val="000000"/>
                </a:solidFill>
                <a:latin typeface="Consolas" panose="020B0609020204030204" pitchFamily="49" charset="0"/>
              </a:rPr>
              <a:t>(text, </a:t>
            </a:r>
            <a:r>
              <a:rPr lang="en-US" dirty="0" err="1">
                <a:solidFill>
                  <a:srgbClr val="000000"/>
                </a:solidFill>
                <a:latin typeface="Consolas" panose="020B0609020204030204" pitchFamily="49" charset="0"/>
              </a:rPr>
              <a:t>max_length</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 entered:\n"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text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94927392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CC6DB8-46D7-0FFD-542E-4AC684364924}"/>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AF5C8A35-2334-AD7C-B7B7-FD88118E6132}"/>
              </a:ext>
            </a:extLst>
          </p:cNvPr>
          <p:cNvSpPr>
            <a:spLocks noGrp="1"/>
          </p:cNvSpPr>
          <p:nvPr>
            <p:ph idx="1"/>
          </p:nvPr>
        </p:nvSpPr>
        <p:spPr/>
        <p:txBody>
          <a:bodyPr/>
          <a:lstStyle/>
          <a:p>
            <a:endParaRPr lang="en-US" dirty="0"/>
          </a:p>
          <a:p>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std</a:t>
            </a:r>
            <a:r>
              <a:rPr lang="de-CH" sz="2000" dirty="0">
                <a:solidFill>
                  <a:srgbClr val="000000"/>
                </a:solidFill>
                <a:latin typeface="Consolas" panose="020B0609020204030204" pitchFamily="49" charset="0"/>
              </a:rPr>
              <a:t>::</a:t>
            </a:r>
            <a:r>
              <a:rPr lang="de-CH" sz="2000" dirty="0" err="1">
                <a:solidFill>
                  <a:srgbClr val="2B91AF"/>
                </a:solidFill>
                <a:latin typeface="Consolas" panose="020B0609020204030204" pitchFamily="49" charset="0"/>
              </a:rPr>
              <a:t>string</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message</a:t>
            </a:r>
            <a:r>
              <a:rPr lang="de-CH" sz="2000" dirty="0">
                <a:solidFill>
                  <a:srgbClr val="000000"/>
                </a:solidFill>
                <a:latin typeface="Consolas" panose="020B0609020204030204" pitchFamily="49" charset="0"/>
              </a:rPr>
              <a:t>;</a:t>
            </a:r>
          </a:p>
          <a:p>
            <a:endParaRPr lang="de-CH" dirty="0">
              <a:solidFill>
                <a:srgbClr val="000000"/>
              </a:solidFill>
              <a:latin typeface="Consolas" panose="020B0609020204030204" pitchFamily="49" charset="0"/>
            </a:endParaRPr>
          </a:p>
          <a:p>
            <a:endParaRPr lang="de-CH" dirty="0">
              <a:solidFill>
                <a:srgbClr val="000000"/>
              </a:solidFill>
              <a:latin typeface="Consolas" panose="020B0609020204030204" pitchFamily="49" charset="0"/>
            </a:endParaRPr>
          </a:p>
          <a:p>
            <a:pPr marL="914400" lvl="2" indent="0">
              <a:buNone/>
            </a:pP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message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"Hello METANIT.COM!"</a:t>
            </a:r>
            <a:r>
              <a:rPr lang="de-CH" dirty="0">
                <a:solidFill>
                  <a:srgbClr val="000000"/>
                </a:solidFill>
                <a:latin typeface="Consolas" panose="020B0609020204030204" pitchFamily="49" charset="0"/>
              </a:rPr>
              <a:t> };</a:t>
            </a:r>
          </a:p>
          <a:p>
            <a:pPr marL="914400" lvl="2" indent="0">
              <a:buNone/>
            </a:pPr>
            <a:r>
              <a:rPr lang="ru-RU" dirty="0">
                <a:solidFill>
                  <a:srgbClr val="008000"/>
                </a:solidFill>
                <a:latin typeface="Consolas" panose="020B0609020204030204" pitchFamily="49" charset="0"/>
              </a:rPr>
              <a:t>// или так</a:t>
            </a:r>
            <a:endParaRPr lang="ru-RU" dirty="0">
              <a:solidFill>
                <a:srgbClr val="000000"/>
              </a:solidFill>
              <a:latin typeface="Consolas" panose="020B0609020204030204" pitchFamily="49" charset="0"/>
            </a:endParaRPr>
          </a:p>
          <a:p>
            <a:pPr marL="914400" lvl="2" indent="0">
              <a:buNone/>
            </a:pP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message2 = </a:t>
            </a:r>
            <a:r>
              <a:rPr lang="de-CH" dirty="0">
                <a:solidFill>
                  <a:srgbClr val="A31515"/>
                </a:solidFill>
                <a:latin typeface="Consolas" panose="020B0609020204030204" pitchFamily="49" charset="0"/>
              </a:rPr>
              <a:t>"Hello METANIT.COM!"</a:t>
            </a:r>
            <a:r>
              <a:rPr lang="de-CH" dirty="0">
                <a:solidFill>
                  <a:srgbClr val="000000"/>
                </a:solidFill>
                <a:latin typeface="Consolas" panose="020B0609020204030204" pitchFamily="49" charset="0"/>
              </a:rPr>
              <a:t>;</a:t>
            </a:r>
          </a:p>
          <a:p>
            <a:pPr marL="914400" lvl="2" indent="0">
              <a:buNone/>
            </a:pP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message3(</a:t>
            </a:r>
            <a:r>
              <a:rPr lang="de-CH" dirty="0">
                <a:solidFill>
                  <a:srgbClr val="A31515"/>
                </a:solidFill>
                <a:latin typeface="Consolas" panose="020B0609020204030204" pitchFamily="49" charset="0"/>
              </a:rPr>
              <a:t>"Hello METANIT.COM!"</a:t>
            </a:r>
            <a:r>
              <a:rPr lang="de-CH"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66837277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AC7873-30A5-5735-7434-4C66681FF796}"/>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F3AAD179-6B78-5664-18A5-BC12279FD945}"/>
              </a:ext>
            </a:extLst>
          </p:cNvPr>
          <p:cNvSpPr>
            <a:spLocks noGrp="1"/>
          </p:cNvSpPr>
          <p:nvPr>
            <p:ph idx="1"/>
          </p:nvPr>
        </p:nvSpPr>
        <p:spPr/>
        <p:txBody>
          <a:bodyPr/>
          <a:lstStyle/>
          <a:p>
            <a:pPr lvl="1"/>
            <a:r>
              <a:rPr lang="ru-RU" dirty="0"/>
              <a:t>И можно инициализировать объект </a:t>
            </a:r>
            <a:r>
              <a:rPr lang="ru-RU" dirty="0" err="1"/>
              <a:t>string</a:t>
            </a:r>
            <a:r>
              <a:rPr lang="ru-RU" dirty="0"/>
              <a:t> другим объектом </a:t>
            </a:r>
            <a:r>
              <a:rPr lang="ru-RU" dirty="0" err="1"/>
              <a:t>string</a:t>
            </a:r>
            <a:r>
              <a:rPr lang="ru-RU" dirty="0"/>
              <a:t>:</a:t>
            </a:r>
            <a:endParaRPr lang="de-CH" dirty="0">
              <a:solidFill>
                <a:srgbClr val="000000"/>
              </a:solidFill>
              <a:latin typeface="Consolas" panose="020B0609020204030204" pitchFamily="49" charset="0"/>
            </a:endParaRPr>
          </a:p>
          <a:p>
            <a:pPr lvl="1"/>
            <a:endParaRPr lang="de-CH" dirty="0">
              <a:solidFill>
                <a:srgbClr val="000000"/>
              </a:solidFill>
              <a:latin typeface="Consolas" panose="020B0609020204030204" pitchFamily="49" charset="0"/>
            </a:endParaRPr>
          </a:p>
          <a:p>
            <a:pPr lvl="1"/>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hello</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world</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p>
          <a:p>
            <a:pPr lvl="1"/>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message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message</a:t>
            </a:r>
            <a:r>
              <a:rPr lang="de-CH" dirty="0">
                <a:solidFill>
                  <a:srgbClr val="008000"/>
                </a:solidFill>
                <a:latin typeface="Consolas" panose="020B0609020204030204" pitchFamily="49" charset="0"/>
              </a:rPr>
              <a:t> = "</a:t>
            </a:r>
            <a:r>
              <a:rPr lang="de-CH" dirty="0" err="1">
                <a:solidFill>
                  <a:srgbClr val="008000"/>
                </a:solidFill>
                <a:latin typeface="Consolas" panose="020B0609020204030204" pitchFamily="49" charset="0"/>
              </a:rPr>
              <a:t>hello</a:t>
            </a:r>
            <a:r>
              <a:rPr lang="de-CH" dirty="0">
                <a:solidFill>
                  <a:srgbClr val="008000"/>
                </a:solidFill>
                <a:latin typeface="Consolas" panose="020B0609020204030204" pitchFamily="49" charset="0"/>
              </a:rPr>
              <a:t> </a:t>
            </a:r>
            <a:r>
              <a:rPr lang="de-CH" dirty="0" err="1">
                <a:solidFill>
                  <a:srgbClr val="008000"/>
                </a:solidFill>
                <a:latin typeface="Consolas" panose="020B0609020204030204" pitchFamily="49" charset="0"/>
              </a:rPr>
              <a:t>world</a:t>
            </a:r>
            <a:r>
              <a:rPr lang="de-CH" dirty="0">
                <a:solidFill>
                  <a:srgbClr val="008000"/>
                </a:solidFill>
                <a:latin typeface="Consolas" panose="020B0609020204030204" pitchFamily="49" charset="0"/>
              </a:rPr>
              <a:t>«</a:t>
            </a:r>
          </a:p>
          <a:p>
            <a:pPr lvl="1"/>
            <a:endParaRPr lang="de-CH" dirty="0">
              <a:solidFill>
                <a:srgbClr val="008000"/>
              </a:solidFill>
              <a:latin typeface="Consolas" panose="020B0609020204030204" pitchFamily="49" charset="0"/>
            </a:endParaRPr>
          </a:p>
          <a:p>
            <a:pPr lvl="1"/>
            <a:r>
              <a:rPr lang="ru-RU" dirty="0">
                <a:latin typeface="Consolas" panose="020B0609020204030204" pitchFamily="49" charset="0"/>
              </a:rPr>
              <a:t>Вывод строки на консоль</a:t>
            </a:r>
          </a:p>
          <a:p>
            <a:pPr lvl="1"/>
            <a:endParaRPr lang="de-CH" dirty="0">
              <a:solidFill>
                <a:srgbClr val="008000"/>
              </a:solidFill>
              <a:latin typeface="Consolas" panose="020B0609020204030204" pitchFamily="49" charset="0"/>
            </a:endParaRPr>
          </a:p>
          <a:p>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std</a:t>
            </a:r>
            <a:r>
              <a:rPr lang="de-CH" sz="1600" dirty="0">
                <a:solidFill>
                  <a:srgbClr val="000000"/>
                </a:solidFill>
                <a:latin typeface="Consolas" panose="020B0609020204030204" pitchFamily="49" charset="0"/>
              </a:rPr>
              <a:t>::</a:t>
            </a:r>
            <a:r>
              <a:rPr lang="de-CH" sz="1600" dirty="0" err="1">
                <a:solidFill>
                  <a:srgbClr val="2B91AF"/>
                </a:solidFill>
                <a:latin typeface="Consolas" panose="020B0609020204030204" pitchFamily="49" charset="0"/>
              </a:rPr>
              <a:t>string</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message</a:t>
            </a:r>
            <a:r>
              <a:rPr lang="de-CH" sz="1600" dirty="0">
                <a:solidFill>
                  <a:srgbClr val="000000"/>
                </a:solidFill>
                <a:latin typeface="Consolas" panose="020B0609020204030204" pitchFamily="49" charset="0"/>
              </a:rPr>
              <a:t>{ </a:t>
            </a:r>
            <a:r>
              <a:rPr lang="de-CH" sz="1600" dirty="0">
                <a:solidFill>
                  <a:srgbClr val="A31515"/>
                </a:solidFill>
                <a:latin typeface="Consolas" panose="020B0609020204030204" pitchFamily="49" charset="0"/>
              </a:rPr>
              <a:t>"Hello METANIT.COM!"</a:t>
            </a:r>
            <a:r>
              <a:rPr lang="de-CH" sz="1600" dirty="0">
                <a:solidFill>
                  <a:srgbClr val="000000"/>
                </a:solidFill>
                <a:latin typeface="Consolas" panose="020B0609020204030204" pitchFamily="49" charset="0"/>
              </a:rPr>
              <a:t> };</a:t>
            </a:r>
          </a:p>
          <a:p>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std</a:t>
            </a:r>
            <a:r>
              <a:rPr lang="de-CH" sz="1600" dirty="0">
                <a:solidFill>
                  <a:srgbClr val="000000"/>
                </a:solidFill>
                <a:latin typeface="Consolas" panose="020B0609020204030204" pitchFamily="49" charset="0"/>
              </a:rPr>
              <a:t>::</a:t>
            </a:r>
            <a:r>
              <a:rPr lang="de-CH" sz="1600" dirty="0" err="1">
                <a:solidFill>
                  <a:srgbClr val="000000"/>
                </a:solidFill>
                <a:latin typeface="Consolas" panose="020B0609020204030204" pitchFamily="49" charset="0"/>
              </a:rPr>
              <a:t>cout</a:t>
            </a:r>
            <a:r>
              <a:rPr lang="de-CH" sz="1600" dirty="0">
                <a:solidFill>
                  <a:srgbClr val="000000"/>
                </a:solidFill>
                <a:latin typeface="Consolas" panose="020B0609020204030204" pitchFamily="49" charset="0"/>
              </a:rPr>
              <a:t> </a:t>
            </a:r>
            <a:r>
              <a:rPr lang="de-CH" sz="1600" dirty="0">
                <a:solidFill>
                  <a:srgbClr val="008080"/>
                </a:solidFill>
                <a:latin typeface="Consolas" panose="020B0609020204030204" pitchFamily="49" charset="0"/>
              </a:rPr>
              <a:t>&lt;&lt;</a:t>
            </a:r>
            <a:r>
              <a:rPr lang="de-CH" sz="1600" dirty="0">
                <a:solidFill>
                  <a:srgbClr val="000000"/>
                </a:solidFill>
                <a:latin typeface="Consolas" panose="020B0609020204030204" pitchFamily="49" charset="0"/>
              </a:rPr>
              <a:t> </a:t>
            </a:r>
            <a:r>
              <a:rPr lang="de-CH" sz="1600" dirty="0">
                <a:solidFill>
                  <a:srgbClr val="A31515"/>
                </a:solidFill>
                <a:latin typeface="Consolas" panose="020B0609020204030204" pitchFamily="49" charset="0"/>
              </a:rPr>
              <a:t>"Message: "</a:t>
            </a:r>
            <a:r>
              <a:rPr lang="de-CH" sz="1600" dirty="0">
                <a:solidFill>
                  <a:srgbClr val="000000"/>
                </a:solidFill>
                <a:latin typeface="Consolas" panose="020B0609020204030204" pitchFamily="49" charset="0"/>
              </a:rPr>
              <a:t> </a:t>
            </a:r>
            <a:r>
              <a:rPr lang="de-CH" sz="1600" dirty="0">
                <a:solidFill>
                  <a:srgbClr val="008080"/>
                </a:solidFill>
                <a:latin typeface="Consolas" panose="020B0609020204030204" pitchFamily="49" charset="0"/>
              </a:rPr>
              <a:t>&lt;&lt;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message</a:t>
            </a:r>
            <a:r>
              <a:rPr lang="de-CH" sz="1600" dirty="0">
                <a:solidFill>
                  <a:srgbClr val="000000"/>
                </a:solidFill>
                <a:latin typeface="Consolas" panose="020B0609020204030204" pitchFamily="49" charset="0"/>
              </a:rPr>
              <a:t> </a:t>
            </a:r>
            <a:r>
              <a:rPr lang="de-CH" sz="1600" dirty="0">
                <a:solidFill>
                  <a:srgbClr val="008080"/>
                </a:solidFill>
                <a:latin typeface="Consolas" panose="020B0609020204030204" pitchFamily="49" charset="0"/>
              </a:rPr>
              <a:t>&lt;&lt;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std</a:t>
            </a:r>
            <a:r>
              <a:rPr lang="de-CH" sz="1600" dirty="0">
                <a:solidFill>
                  <a:srgbClr val="000000"/>
                </a:solidFill>
                <a:latin typeface="Consolas" panose="020B0609020204030204" pitchFamily="49" charset="0"/>
              </a:rPr>
              <a:t>::</a:t>
            </a:r>
            <a:r>
              <a:rPr lang="de-CH" sz="1600" dirty="0" err="1">
                <a:solidFill>
                  <a:srgbClr val="000000"/>
                </a:solidFill>
                <a:latin typeface="Consolas" panose="020B0609020204030204" pitchFamily="49" charset="0"/>
              </a:rPr>
              <a:t>endl</a:t>
            </a:r>
            <a:r>
              <a:rPr lang="de-CH" sz="1600" dirty="0">
                <a:solidFill>
                  <a:srgbClr val="000000"/>
                </a:solidFill>
                <a:latin typeface="Consolas" panose="020B0609020204030204" pitchFamily="49" charset="0"/>
              </a:rPr>
              <a:t>; </a:t>
            </a:r>
            <a:r>
              <a:rPr lang="de-CH" sz="1600" dirty="0">
                <a:solidFill>
                  <a:srgbClr val="008000"/>
                </a:solidFill>
                <a:latin typeface="Consolas" panose="020B0609020204030204" pitchFamily="49" charset="0"/>
              </a:rPr>
              <a:t>// Message: Hello     	METANIT.COM</a:t>
            </a:r>
            <a:endParaRPr lang="ru-RU" dirty="0"/>
          </a:p>
        </p:txBody>
      </p:sp>
    </p:spTree>
    <p:extLst>
      <p:ext uri="{BB962C8B-B14F-4D97-AF65-F5344CB8AC3E}">
        <p14:creationId xmlns:p14="http://schemas.microsoft.com/office/powerpoint/2010/main" val="4194978110"/>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0C1B15-7F75-60CC-3275-5EEE9C353213}"/>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763C86B4-0BC1-D5DC-18D8-2A233AE2065B}"/>
              </a:ext>
            </a:extLst>
          </p:cNvPr>
          <p:cNvSpPr>
            <a:spLocks noGrp="1"/>
          </p:cNvSpPr>
          <p:nvPr>
            <p:ph idx="1"/>
          </p:nvPr>
        </p:nvSpPr>
        <p:spPr/>
        <p:txBody>
          <a:bodyPr/>
          <a:lstStyle/>
          <a:p>
            <a:r>
              <a:rPr lang="ru-RU" b="1" dirty="0"/>
              <a:t>Получение и изменение символов строки</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"Hello"</a:t>
            </a:r>
            <a:r>
              <a:rPr lang="de-CH" dirty="0">
                <a:solidFill>
                  <a:srgbClr val="000000"/>
                </a:solidFill>
                <a:latin typeface="Consolas" panose="020B0609020204030204" pitchFamily="49" charset="0"/>
              </a:rPr>
              <a:t> };</a:t>
            </a:r>
          </a:p>
          <a:p>
            <a:pPr lvl="1"/>
            <a:r>
              <a:rPr lang="it-IT" dirty="0">
                <a:solidFill>
                  <a:srgbClr val="000000"/>
                </a:solidFill>
                <a:latin typeface="Consolas" panose="020B0609020204030204" pitchFamily="49" charset="0"/>
              </a:rPr>
              <a:t>    </a:t>
            </a:r>
            <a:r>
              <a:rPr lang="it-IT" dirty="0">
                <a:solidFill>
                  <a:srgbClr val="0000FF"/>
                </a:solidFill>
                <a:latin typeface="Consolas" panose="020B0609020204030204" pitchFamily="49" charset="0"/>
              </a:rPr>
              <a:t>char</a:t>
            </a:r>
            <a:r>
              <a:rPr lang="it-IT" dirty="0">
                <a:solidFill>
                  <a:srgbClr val="000000"/>
                </a:solidFill>
                <a:latin typeface="Consolas" panose="020B0609020204030204" pitchFamily="49" charset="0"/>
              </a:rPr>
              <a:t> c{ hello</a:t>
            </a:r>
            <a:r>
              <a:rPr lang="it-IT" dirty="0">
                <a:solidFill>
                  <a:srgbClr val="008080"/>
                </a:solidFill>
                <a:latin typeface="Consolas" panose="020B0609020204030204" pitchFamily="49" charset="0"/>
              </a:rPr>
              <a:t>[</a:t>
            </a:r>
            <a:r>
              <a:rPr lang="it-IT" dirty="0">
                <a:solidFill>
                  <a:srgbClr val="000000"/>
                </a:solidFill>
                <a:latin typeface="Consolas" panose="020B0609020204030204" pitchFamily="49" charset="0"/>
              </a:rPr>
              <a:t>1</a:t>
            </a:r>
            <a:r>
              <a:rPr lang="it-IT" dirty="0">
                <a:solidFill>
                  <a:srgbClr val="008080"/>
                </a:solidFill>
                <a:latin typeface="Consolas" panose="020B0609020204030204" pitchFamily="49" charset="0"/>
              </a:rPr>
              <a:t>]</a:t>
            </a:r>
            <a:r>
              <a:rPr lang="it-IT" dirty="0">
                <a:solidFill>
                  <a:srgbClr val="000000"/>
                </a:solidFill>
                <a:latin typeface="Consolas" panose="020B0609020204030204" pitchFamily="49" charset="0"/>
              </a:rPr>
              <a:t> };      </a:t>
            </a:r>
            <a:r>
              <a:rPr lang="it-IT" dirty="0">
                <a:solidFill>
                  <a:srgbClr val="008000"/>
                </a:solidFill>
                <a:latin typeface="Consolas" panose="020B0609020204030204" pitchFamily="49" charset="0"/>
              </a:rPr>
              <a:t>// e</a:t>
            </a:r>
            <a:endParaRPr lang="it-IT"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8080"/>
                </a:solidFill>
                <a:latin typeface="Consolas" panose="020B0609020204030204" pitchFamily="49" charset="0"/>
              </a:rPr>
              <a:t>[</a:t>
            </a:r>
            <a:r>
              <a:rPr lang="de-CH" dirty="0">
                <a:solidFill>
                  <a:srgbClr val="000000"/>
                </a:solidFill>
                <a:latin typeface="Consolas" panose="020B0609020204030204" pitchFamily="49" charset="0"/>
              </a:rPr>
              <a:t>0</a:t>
            </a:r>
            <a:r>
              <a:rPr lang="de-CH" dirty="0">
                <a:solidFill>
                  <a:srgbClr val="008080"/>
                </a:solidFill>
                <a:latin typeface="Consolas" panose="020B0609020204030204" pitchFamily="49" charset="0"/>
              </a:rPr>
              <a:t>]</a:t>
            </a:r>
            <a:r>
              <a:rPr lang="de-CH" dirty="0">
                <a:solidFill>
                  <a:srgbClr val="000000"/>
                </a:solidFill>
                <a:latin typeface="Consolas" panose="020B0609020204030204" pitchFamily="49" charset="0"/>
              </a:rPr>
              <a:t> = </a:t>
            </a:r>
            <a:r>
              <a:rPr lang="de-CH" dirty="0">
                <a:solidFill>
                  <a:srgbClr val="A31515"/>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Mello</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57791045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FB333B-3736-0E36-0F2C-6526837C432C}"/>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ABE59FAB-A500-C834-3AF3-1373ED9B7634}"/>
              </a:ext>
            </a:extLst>
          </p:cNvPr>
          <p:cNvSpPr>
            <a:spLocks noGrp="1"/>
          </p:cNvSpPr>
          <p:nvPr>
            <p:ph idx="1"/>
          </p:nvPr>
        </p:nvSpPr>
        <p:spPr/>
        <p:txBody>
          <a:bodyPr/>
          <a:lstStyle/>
          <a:p>
            <a:pPr lvl="1"/>
            <a:r>
              <a:rPr lang="ru-RU" sz="2000" dirty="0">
                <a:latin typeface="Consolas" panose="020B0609020204030204" pitchFamily="49" charset="0"/>
              </a:rPr>
              <a:t>Перебор строк</a:t>
            </a:r>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unsigned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count</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счетчик, сколько раз встречается символ</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message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"Hello World"</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c : </a:t>
            </a:r>
            <a:r>
              <a:rPr lang="de-CH" dirty="0" err="1">
                <a:solidFill>
                  <a:srgbClr val="000000"/>
                </a:solidFill>
                <a:latin typeface="Consolas" panose="020B0609020204030204" pitchFamily="49" charset="0"/>
              </a:rPr>
              <a:t>message</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(c == </a:t>
            </a:r>
            <a:r>
              <a:rPr lang="de-CH" dirty="0">
                <a:solidFill>
                  <a:srgbClr val="A31515"/>
                </a:solidFill>
                <a:latin typeface="Consolas" panose="020B0609020204030204" pitchFamily="49" charset="0"/>
              </a:rPr>
              <a:t>'l'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count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"Count: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count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Count: 3</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82598879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5EF158-B2BF-E3A5-B144-F98E7061B2A1}"/>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C0FAC5C2-A311-29CC-813A-85836CB22869}"/>
              </a:ext>
            </a:extLst>
          </p:cNvPr>
          <p:cNvSpPr>
            <a:spLocks noGrp="1"/>
          </p:cNvSpPr>
          <p:nvPr>
            <p:ph idx="1"/>
          </p:nvPr>
        </p:nvSpPr>
        <p:spPr/>
        <p:txBody>
          <a:bodyPr/>
          <a:lstStyle/>
          <a:p>
            <a:r>
              <a:rPr lang="ru-RU" b="1" dirty="0"/>
              <a:t>Чтение строки с консоли</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name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"Input your name: "</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cin</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&gt;&gt;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name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"Your 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name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ru-RU" dirty="0"/>
              <a:t>Однако если при данном способе ввода строка будет содержать подстроки, разделенные пробелом, то </a:t>
            </a:r>
            <a:r>
              <a:rPr lang="ru-RU" dirty="0" err="1"/>
              <a:t>std</a:t>
            </a:r>
            <a:r>
              <a:rPr lang="ru-RU" dirty="0"/>
              <a:t>::</a:t>
            </a:r>
            <a:r>
              <a:rPr lang="ru-RU" dirty="0" err="1"/>
              <a:t>cin</a:t>
            </a:r>
            <a:r>
              <a:rPr lang="ru-RU" dirty="0"/>
              <a:t> будет использовать только первую подстроку:</a:t>
            </a:r>
          </a:p>
          <a:p>
            <a:pPr lvl="1"/>
            <a:endParaRPr lang="ru-RU" dirty="0"/>
          </a:p>
          <a:p>
            <a:pPr lvl="1"/>
            <a:endParaRPr lang="ru-RU" dirty="0"/>
          </a:p>
        </p:txBody>
      </p:sp>
    </p:spTree>
    <p:extLst>
      <p:ext uri="{BB962C8B-B14F-4D97-AF65-F5344CB8AC3E}">
        <p14:creationId xmlns:p14="http://schemas.microsoft.com/office/powerpoint/2010/main" val="228562018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2940B1-0206-C889-0EF2-E7F4717BC5D7}"/>
              </a:ext>
            </a:extLst>
          </p:cNvPr>
          <p:cNvSpPr>
            <a:spLocks noGrp="1"/>
          </p:cNvSpPr>
          <p:nvPr>
            <p:ph type="title"/>
          </p:nvPr>
        </p:nvSpPr>
        <p:spPr/>
        <p:txBody>
          <a:bodyPr/>
          <a:lstStyle/>
          <a:p>
            <a:r>
              <a:rPr lang="ru-RU" b="1" dirty="0"/>
              <a:t>Введение в строки</a:t>
            </a:r>
            <a:endParaRPr lang="ru-RU" dirty="0"/>
          </a:p>
        </p:txBody>
      </p:sp>
      <p:sp>
        <p:nvSpPr>
          <p:cNvPr id="3" name="Объект 2">
            <a:extLst>
              <a:ext uri="{FF2B5EF4-FFF2-40B4-BE49-F238E27FC236}">
                <a16:creationId xmlns:a16="http://schemas.microsoft.com/office/drawing/2014/main" id="{0428C988-6BB4-57C5-C962-A23ACF7B9670}"/>
              </a:ext>
            </a:extLst>
          </p:cNvPr>
          <p:cNvSpPr>
            <a:spLocks noGrp="1"/>
          </p:cNvSpPr>
          <p:nvPr>
            <p:ph idx="1"/>
          </p:nvPr>
        </p:nvSpPr>
        <p:spPr/>
        <p:txBody>
          <a:bodyPr/>
          <a:lstStyle/>
          <a:p>
            <a:pPr lvl="1"/>
            <a:endParaRPr lang="ru-RU" dirty="0">
              <a:solidFill>
                <a:srgbClr val="808080"/>
              </a:solidFill>
              <a:latin typeface="Consolas" panose="020B0609020204030204" pitchFamily="49" charset="0"/>
            </a:endParaRPr>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string</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name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"Input your name: "</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getline</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cin</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name</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"Your 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name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18383062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085BB6F-82E6-07D7-293B-5114A3793918}"/>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06A1EA75-F186-EE7C-778A-49A3255ACD6B}"/>
              </a:ext>
            </a:extLst>
          </p:cNvPr>
          <p:cNvSpPr>
            <a:spLocks noGrp="1"/>
          </p:cNvSpPr>
          <p:nvPr>
            <p:ph idx="1"/>
          </p:nvPr>
        </p:nvSpPr>
        <p:spPr/>
        <p:txBody>
          <a:bodyPr/>
          <a:lstStyle/>
          <a:p>
            <a:r>
              <a:rPr lang="ru-RU" dirty="0"/>
              <a:t>Ссылка (</a:t>
            </a:r>
            <a:r>
              <a:rPr lang="ru-RU" dirty="0" err="1"/>
              <a:t>reference</a:t>
            </a:r>
            <a:r>
              <a:rPr lang="ru-RU" dirty="0"/>
              <a:t>) представляет способ манипулировать каким-либо объектом. Фактически ссылка - это альтернативное имя для объекта. Для определения ссылки применяется знак амперсанда &amp;:</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5 };</a:t>
            </a:r>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&amp;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a:t>
            </a:r>
            <a:endParaRPr lang="ru-RU" sz="2000" dirty="0">
              <a:solidFill>
                <a:srgbClr val="000000"/>
              </a:solidFill>
              <a:latin typeface="Consolas" panose="020B0609020204030204" pitchFamily="49" charset="0"/>
            </a:endParaRPr>
          </a:p>
          <a:p>
            <a:endParaRPr lang="ru-RU" dirty="0">
              <a:solidFill>
                <a:srgbClr val="000000"/>
              </a:solidFill>
              <a:latin typeface="Consolas" panose="020B0609020204030204" pitchFamily="49" charset="0"/>
            </a:endParaRPr>
          </a:p>
          <a:p>
            <a:r>
              <a:rPr lang="ru-RU" dirty="0">
                <a:solidFill>
                  <a:srgbClr val="FF0000"/>
                </a:solidFill>
              </a:rPr>
              <a:t>При этом нельзя просто определить ссылку:</a:t>
            </a:r>
          </a:p>
          <a:p>
            <a:r>
              <a:rPr lang="ru-RU" sz="2000" dirty="0">
                <a:solidFill>
                  <a:srgbClr val="FF0000"/>
                </a:solidFill>
                <a:latin typeface="Consolas" panose="020B0609020204030204" pitchFamily="49" charset="0"/>
              </a:rPr>
              <a:t>	</a:t>
            </a:r>
          </a:p>
          <a:p>
            <a:r>
              <a:rPr lang="ru-RU" dirty="0">
                <a:solidFill>
                  <a:srgbClr val="FF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&amp;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a:t>
            </a:r>
            <a:r>
              <a:rPr lang="ru-RU" sz="2000" dirty="0">
                <a:solidFill>
                  <a:srgbClr val="000000"/>
                </a:solidFill>
                <a:latin typeface="Consolas" panose="020B0609020204030204" pitchFamily="49" charset="0"/>
              </a:rPr>
              <a:t>  </a:t>
            </a:r>
            <a:r>
              <a:rPr lang="ru-RU" sz="2000" dirty="0">
                <a:solidFill>
                  <a:srgbClr val="92D050"/>
                </a:solidFill>
                <a:latin typeface="Consolas" panose="020B0609020204030204" pitchFamily="49" charset="0"/>
              </a:rPr>
              <a:t>//ОШИБКА!!!</a:t>
            </a:r>
          </a:p>
          <a:p>
            <a:endParaRPr lang="ru-RU" dirty="0">
              <a:solidFill>
                <a:srgbClr val="000000"/>
              </a:solidFill>
              <a:latin typeface="Consolas" panose="020B0609020204030204" pitchFamily="49" charset="0"/>
            </a:endParaRPr>
          </a:p>
          <a:p>
            <a:endParaRPr lang="ru-RU" dirty="0"/>
          </a:p>
        </p:txBody>
      </p:sp>
    </p:spTree>
    <p:extLst>
      <p:ext uri="{BB962C8B-B14F-4D97-AF65-F5344CB8AC3E}">
        <p14:creationId xmlns:p14="http://schemas.microsoft.com/office/powerpoint/2010/main" val="345586734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05724CB-600A-4CFD-0E9A-0EE087CFE457}"/>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70FCAC55-E369-91BB-4FE8-8BE48960EF55}"/>
              </a:ext>
            </a:extLst>
          </p:cNvPr>
          <p:cNvSpPr>
            <a:spLocks noGrp="1"/>
          </p:cNvSpPr>
          <p:nvPr>
            <p:ph idx="1"/>
          </p:nvPr>
        </p:nvSpPr>
        <p:spPr/>
        <p:txBody>
          <a:bodyPr/>
          <a:lstStyle/>
          <a:p>
            <a:r>
              <a:rPr lang="ru-RU" dirty="0"/>
              <a:t>Также нельзя присвоить ссылке литеральное значение, например, число:</a:t>
            </a:r>
          </a:p>
          <a:p>
            <a:endParaRPr lang="ru-RU" dirty="0"/>
          </a:p>
          <a:p>
            <a:r>
              <a:rPr lang="ru-RU" sz="2000" dirty="0">
                <a:solidFill>
                  <a:srgbClr val="0000FF"/>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&amp;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 = 10;</a:t>
            </a:r>
            <a:endParaRPr lang="ru-RU" dirty="0"/>
          </a:p>
        </p:txBody>
      </p:sp>
    </p:spTree>
    <p:extLst>
      <p:ext uri="{BB962C8B-B14F-4D97-AF65-F5344CB8AC3E}">
        <p14:creationId xmlns:p14="http://schemas.microsoft.com/office/powerpoint/2010/main" val="390271771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ADAC2E-6564-4774-1E1A-A39CC0C99D5E}"/>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5DD8BB5E-1D03-9F1F-6961-AD5D5457BCC7}"/>
              </a:ext>
            </a:extLst>
          </p:cNvPr>
          <p:cNvSpPr>
            <a:spLocks noGrp="1"/>
          </p:cNvSpPr>
          <p:nvPr>
            <p:ph idx="1"/>
          </p:nvPr>
        </p:nvSpPr>
        <p:spPr/>
        <p:txBody>
          <a:bodyPr/>
          <a:lstStyle/>
          <a:p>
            <a:r>
              <a:rPr lang="ru-RU" dirty="0"/>
              <a:t>После установления ссылки мы можем через нее манипулировать самим объектом, на который она ссылается:</a:t>
            </a:r>
          </a:p>
          <a:p>
            <a:br>
              <a:rPr lang="ru-RU" dirty="0"/>
            </a:br>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5 };</a:t>
            </a:r>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a:solidFill>
                  <a:srgbClr val="0000FF"/>
                </a:solidFill>
                <a:latin typeface="Consolas" panose="020B0609020204030204" pitchFamily="49" charset="0"/>
              </a:rPr>
              <a:t>int</a:t>
            </a:r>
            <a:r>
              <a:rPr lang="de-CH" sz="2000" dirty="0">
                <a:solidFill>
                  <a:srgbClr val="000000"/>
                </a:solidFill>
                <a:latin typeface="Consolas" panose="020B0609020204030204" pitchFamily="49" charset="0"/>
              </a:rPr>
              <a:t>&amp;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number</a:t>
            </a:r>
            <a:r>
              <a:rPr lang="de-CH" sz="2000" dirty="0">
                <a:solidFill>
                  <a:srgbClr val="000000"/>
                </a:solidFill>
                <a:latin typeface="Consolas" panose="020B0609020204030204" pitchFamily="49" charset="0"/>
              </a:rPr>
              <a:t> };</a:t>
            </a: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refNumber</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5</a:t>
            </a:r>
            <a:endParaRPr lang="en-US" sz="2000" dirty="0">
              <a:solidFill>
                <a:srgbClr val="000000"/>
              </a:solidFill>
              <a:latin typeface="Consolas" panose="020B0609020204030204" pitchFamily="49" charset="0"/>
            </a:endParaRPr>
          </a:p>
          <a:p>
            <a:r>
              <a:rPr lang="de-CH"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de-CH" sz="2000" dirty="0" err="1">
                <a:solidFill>
                  <a:srgbClr val="000000"/>
                </a:solidFill>
                <a:latin typeface="Consolas" panose="020B0609020204030204" pitchFamily="49" charset="0"/>
              </a:rPr>
              <a:t>refNumber</a:t>
            </a:r>
            <a:r>
              <a:rPr lang="de-CH" sz="2000" dirty="0">
                <a:solidFill>
                  <a:srgbClr val="000000"/>
                </a:solidFill>
                <a:latin typeface="Consolas" panose="020B0609020204030204" pitchFamily="49" charset="0"/>
              </a:rPr>
              <a:t> = 20;</a:t>
            </a:r>
          </a:p>
          <a:p>
            <a:r>
              <a:rPr lang="en-US" sz="2000" dirty="0">
                <a:solidFill>
                  <a:srgbClr val="000000"/>
                </a:solidFill>
                <a:latin typeface="Consolas" panose="020B0609020204030204" pitchFamily="49" charset="0"/>
              </a:rPr>
              <a:t>   </a:t>
            </a:r>
            <a:r>
              <a:rPr lang="ru-RU" sz="20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std::</a:t>
            </a:r>
            <a:r>
              <a:rPr lang="en-US" sz="2000" dirty="0" err="1">
                <a:solidFill>
                  <a:srgbClr val="000000"/>
                </a:solidFill>
                <a:latin typeface="Consolas" panose="020B0609020204030204" pitchFamily="49" charset="0"/>
              </a:rPr>
              <a:t>cout</a:t>
            </a:r>
            <a:r>
              <a:rPr lang="en-US" sz="2000" dirty="0">
                <a:solidFill>
                  <a:srgbClr val="000000"/>
                </a:solidFill>
                <a:latin typeface="Consolas" panose="020B0609020204030204" pitchFamily="49" charset="0"/>
              </a:rPr>
              <a:t>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number </a:t>
            </a:r>
            <a:r>
              <a:rPr lang="en-US" sz="2000" dirty="0">
                <a:solidFill>
                  <a:srgbClr val="008080"/>
                </a:solidFill>
                <a:latin typeface="Consolas" panose="020B0609020204030204" pitchFamily="49" charset="0"/>
              </a:rPr>
              <a:t>&lt;&lt;</a:t>
            </a:r>
            <a:r>
              <a:rPr lang="en-US" sz="2000" dirty="0">
                <a:solidFill>
                  <a:srgbClr val="000000"/>
                </a:solidFill>
                <a:latin typeface="Consolas" panose="020B0609020204030204" pitchFamily="49" charset="0"/>
              </a:rPr>
              <a:t> std::</a:t>
            </a:r>
            <a:r>
              <a:rPr lang="en-US" sz="2000" dirty="0" err="1">
                <a:solidFill>
                  <a:srgbClr val="000000"/>
                </a:solidFill>
                <a:latin typeface="Consolas" panose="020B0609020204030204" pitchFamily="49" charset="0"/>
              </a:rPr>
              <a:t>endl</a:t>
            </a:r>
            <a:r>
              <a:rPr lang="en-US" sz="2000" dirty="0">
                <a:solidFill>
                  <a:srgbClr val="000000"/>
                </a:solidFill>
                <a:latin typeface="Consolas" panose="020B0609020204030204" pitchFamily="49" charset="0"/>
              </a:rPr>
              <a:t>;   </a:t>
            </a:r>
            <a:r>
              <a:rPr lang="en-US" sz="2000" dirty="0">
                <a:solidFill>
                  <a:srgbClr val="008000"/>
                </a:solidFill>
                <a:latin typeface="Consolas" panose="020B0609020204030204" pitchFamily="49" charset="0"/>
              </a:rPr>
              <a:t>// 20</a:t>
            </a:r>
            <a:endParaRPr lang="ru-RU" dirty="0"/>
          </a:p>
        </p:txBody>
      </p:sp>
    </p:spTree>
    <p:extLst>
      <p:ext uri="{BB962C8B-B14F-4D97-AF65-F5344CB8AC3E}">
        <p14:creationId xmlns:p14="http://schemas.microsoft.com/office/powerpoint/2010/main" val="374454608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47B779-A528-8EE6-9839-2E685F76577D}"/>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05D427DF-DA8B-3298-FE31-CD855D0AA14E}"/>
              </a:ext>
            </a:extLst>
          </p:cNvPr>
          <p:cNvSpPr>
            <a:spLocks noGrp="1"/>
          </p:cNvSpPr>
          <p:nvPr>
            <p:ph idx="1"/>
          </p:nvPr>
        </p:nvSpPr>
        <p:spPr/>
        <p:txBody>
          <a:bodyPr/>
          <a:lstStyle/>
          <a:p>
            <a:r>
              <a:rPr lang="ru-RU" dirty="0"/>
              <a:t>Можно определять не только ссылки на переменные, но и ссылки на константы. Но при этом ссылка сама должна быть константной:</a:t>
            </a:r>
          </a:p>
          <a:p>
            <a:endParaRPr lang="ru-RU" dirty="0"/>
          </a:p>
          <a:p>
            <a:pPr lvl="1"/>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5 };</a:t>
            </a:r>
          </a:p>
          <a:p>
            <a:pPr lvl="1"/>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refNumber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refNumber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5</a:t>
            </a:r>
            <a:endParaRPr lang="en-US" dirty="0">
              <a:solidFill>
                <a:srgbClr val="000000"/>
              </a:solidFill>
              <a:latin typeface="Consolas" panose="020B0609020204030204" pitchFamily="49" charset="0"/>
            </a:endParaRPr>
          </a:p>
          <a:p>
            <a:pPr lvl="1"/>
            <a:r>
              <a:rPr lang="ru-RU" dirty="0">
                <a:solidFill>
                  <a:srgbClr val="008000"/>
                </a:solidFill>
                <a:latin typeface="Consolas" panose="020B0609020204030204" pitchFamily="49" charset="0"/>
              </a:rPr>
              <a:t>//</a:t>
            </a:r>
            <a:r>
              <a:rPr lang="ru-RU" dirty="0" err="1">
                <a:solidFill>
                  <a:srgbClr val="008000"/>
                </a:solidFill>
                <a:latin typeface="Consolas" panose="020B0609020204030204" pitchFamily="49" charset="0"/>
              </a:rPr>
              <a:t>refNumber</a:t>
            </a:r>
            <a:r>
              <a:rPr lang="ru-RU" dirty="0">
                <a:solidFill>
                  <a:srgbClr val="008000"/>
                </a:solidFill>
                <a:latin typeface="Consolas" panose="020B0609020204030204" pitchFamily="49" charset="0"/>
              </a:rPr>
              <a:t> = 20;       изменять значение по ссылке нельзя</a:t>
            </a:r>
          </a:p>
          <a:p>
            <a:pPr lvl="1"/>
            <a:endParaRPr lang="ru-RU" dirty="0">
              <a:solidFill>
                <a:srgbClr val="008000"/>
              </a:solidFill>
              <a:latin typeface="Consolas" panose="020B0609020204030204" pitchFamily="49" charset="0"/>
            </a:endParaRPr>
          </a:p>
          <a:p>
            <a:r>
              <a:rPr lang="ru-RU" dirty="0"/>
              <a:t>Инициализировать </a:t>
            </a:r>
            <a:r>
              <a:rPr lang="ru-RU" dirty="0" err="1"/>
              <a:t>неконстантную</a:t>
            </a:r>
            <a:r>
              <a:rPr lang="ru-RU" dirty="0"/>
              <a:t> ссылку константным объектом мы не можем:</a:t>
            </a:r>
          </a:p>
          <a:p>
            <a:endParaRPr lang="ru-RU" dirty="0"/>
          </a:p>
          <a:p>
            <a:pPr lvl="1"/>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5 };</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refNumber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ошибка</a:t>
            </a:r>
            <a:endParaRPr lang="ru-RU" dirty="0"/>
          </a:p>
          <a:p>
            <a:pPr lvl="1"/>
            <a:endParaRPr lang="ru-RU" dirty="0"/>
          </a:p>
          <a:p>
            <a:endParaRPr lang="ru-RU" dirty="0"/>
          </a:p>
        </p:txBody>
      </p:sp>
    </p:spTree>
    <p:extLst>
      <p:ext uri="{BB962C8B-B14F-4D97-AF65-F5344CB8AC3E}">
        <p14:creationId xmlns:p14="http://schemas.microsoft.com/office/powerpoint/2010/main" val="1930042005"/>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C4338-79B1-C145-89C7-E4A6E971BA5B}"/>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A20579DD-1EB1-0441-5E60-45BBD8047B4F}"/>
              </a:ext>
            </a:extLst>
          </p:cNvPr>
          <p:cNvSpPr>
            <a:spLocks noGrp="1"/>
          </p:cNvSpPr>
          <p:nvPr>
            <p:ph idx="1"/>
          </p:nvPr>
        </p:nvSpPr>
        <p:spPr/>
        <p:txBody>
          <a:bodyPr/>
          <a:lstStyle/>
          <a:p>
            <a:r>
              <a:rPr lang="ru-RU" dirty="0"/>
              <a:t>Также константная ссылка может указывать и на обычную переменную, только значение по такой ссылке мы не сможем изменить:</a:t>
            </a:r>
          </a:p>
          <a:p>
            <a:pPr lvl="1"/>
            <a:br>
              <a:rPr lang="ru-RU" dirty="0"/>
            </a:b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5 };</a:t>
            </a:r>
          </a:p>
          <a:p>
            <a:pPr lvl="1"/>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refNumber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refNumber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5</a:t>
            </a:r>
            <a:endParaRPr lang="en-US"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8000"/>
                </a:solidFill>
                <a:latin typeface="Consolas" panose="020B0609020204030204" pitchFamily="49" charset="0"/>
              </a:rPr>
              <a:t>//</a:t>
            </a:r>
            <a:r>
              <a:rPr lang="ru-RU" dirty="0" err="1">
                <a:solidFill>
                  <a:srgbClr val="008000"/>
                </a:solidFill>
                <a:latin typeface="Consolas" panose="020B0609020204030204" pitchFamily="49" charset="0"/>
              </a:rPr>
              <a:t>refNumber</a:t>
            </a:r>
            <a:r>
              <a:rPr lang="ru-RU" dirty="0">
                <a:solidFill>
                  <a:srgbClr val="008000"/>
                </a:solidFill>
                <a:latin typeface="Consolas" panose="020B0609020204030204" pitchFamily="49" charset="0"/>
              </a:rPr>
              <a:t> = 20;       изменять значение по ссылке на константу нельзя</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8000"/>
                </a:solidFill>
                <a:latin typeface="Consolas" panose="020B0609020204030204" pitchFamily="49" charset="0"/>
              </a:rPr>
              <a:t>// но мы можем изменить саму переменную</a:t>
            </a:r>
            <a:endParaRPr lang="ru-RU" dirty="0">
              <a:solidFill>
                <a:srgbClr val="000000"/>
              </a:solidFill>
              <a:latin typeface="Consolas" panose="020B0609020204030204" pitchFamily="49" charset="0"/>
            </a:endParaRPr>
          </a:p>
          <a:p>
            <a:pPr lvl="1"/>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20;</a:t>
            </a:r>
          </a:p>
          <a:p>
            <a:pPr lvl="1"/>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refNumber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20</a:t>
            </a:r>
            <a:endParaRPr lang="ru-RU" dirty="0"/>
          </a:p>
        </p:txBody>
      </p:sp>
    </p:spTree>
    <p:extLst>
      <p:ext uri="{BB962C8B-B14F-4D97-AF65-F5344CB8AC3E}">
        <p14:creationId xmlns:p14="http://schemas.microsoft.com/office/powerpoint/2010/main" val="3847444005"/>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84833B-5EA8-6D3D-AFF8-177FA72A4FD6}"/>
              </a:ext>
            </a:extLst>
          </p:cNvPr>
          <p:cNvSpPr>
            <a:spLocks noGrp="1"/>
          </p:cNvSpPr>
          <p:nvPr>
            <p:ph type="title"/>
          </p:nvPr>
        </p:nvSpPr>
        <p:spPr/>
        <p:txBody>
          <a:bodyPr/>
          <a:lstStyle/>
          <a:p>
            <a:r>
              <a:rPr lang="ru-RU" dirty="0"/>
              <a:t>Ссылки</a:t>
            </a:r>
          </a:p>
        </p:txBody>
      </p:sp>
      <p:sp>
        <p:nvSpPr>
          <p:cNvPr id="3" name="Объект 2">
            <a:extLst>
              <a:ext uri="{FF2B5EF4-FFF2-40B4-BE49-F238E27FC236}">
                <a16:creationId xmlns:a16="http://schemas.microsoft.com/office/drawing/2014/main" id="{28B6CAF4-1850-7B03-2E8D-0524125A3C9E}"/>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numbers[]{ 1, 2, 3, 4, 5 };</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меняем число на его квадрат</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n = n * n;</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смотрим результат</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n : </a:t>
            </a:r>
            <a:r>
              <a:rPr lang="de-CH" dirty="0" err="1">
                <a:solidFill>
                  <a:srgbClr val="00000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n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651503141"/>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CA8475-C0B5-68C6-B9AD-8ED1C7A6F93B}"/>
              </a:ext>
            </a:extLst>
          </p:cNvPr>
          <p:cNvSpPr>
            <a:spLocks noGrp="1"/>
          </p:cNvSpPr>
          <p:nvPr>
            <p:ph type="title"/>
          </p:nvPr>
        </p:nvSpPr>
        <p:spPr/>
        <p:txBody>
          <a:bodyPr/>
          <a:lstStyle/>
          <a:p>
            <a:r>
              <a:rPr lang="ru-RU" b="1" dirty="0"/>
              <a:t>Функции</a:t>
            </a:r>
            <a:endParaRPr lang="ru-RU" dirty="0"/>
          </a:p>
        </p:txBody>
      </p:sp>
      <p:sp>
        <p:nvSpPr>
          <p:cNvPr id="3" name="Объект 2">
            <a:extLst>
              <a:ext uri="{FF2B5EF4-FFF2-40B4-BE49-F238E27FC236}">
                <a16:creationId xmlns:a16="http://schemas.microsoft.com/office/drawing/2014/main" id="{DFEED0E1-0E16-1D04-ADC6-31699C096170}"/>
              </a:ext>
            </a:extLst>
          </p:cNvPr>
          <p:cNvSpPr>
            <a:spLocks noGrp="1"/>
          </p:cNvSpPr>
          <p:nvPr>
            <p:ph idx="1"/>
          </p:nvPr>
        </p:nvSpPr>
        <p:spPr/>
        <p:txBody>
          <a:bodyPr/>
          <a:lstStyle/>
          <a:p>
            <a:r>
              <a:rPr lang="ru-RU" b="1" dirty="0"/>
              <a:t>Определение и объявление функций</a:t>
            </a:r>
          </a:p>
          <a:p>
            <a:endParaRPr lang="en-US" dirty="0"/>
          </a:p>
          <a:p>
            <a:pPr lvl="1"/>
            <a:r>
              <a:rPr lang="ru-RU" dirty="0"/>
              <a:t>Функция определяет действия, которые выполняет программа. Функции позволяют выделить набор инструкций и назначить ему имя. А затем многократно по присвоенному имени вызывать в различных частях программы. По сути функция - это именованный блок кода.</a:t>
            </a:r>
            <a:endParaRPr lang="en-US" dirty="0"/>
          </a:p>
          <a:p>
            <a:pPr lvl="1"/>
            <a:endParaRPr lang="en-US" dirty="0"/>
          </a:p>
          <a:p>
            <a:pPr lvl="1"/>
            <a:r>
              <a:rPr lang="ru-RU" dirty="0"/>
              <a:t>Формальное определение функции выглядит следующим образом:</a:t>
            </a:r>
            <a:endParaRPr lang="en-US" dirty="0"/>
          </a:p>
          <a:p>
            <a:pPr lvl="1"/>
            <a:endParaRPr lang="en-US" dirty="0"/>
          </a:p>
          <a:p>
            <a:pPr lvl="1"/>
            <a:r>
              <a:rPr lang="ru-RU" dirty="0"/>
              <a:t>тип </a:t>
            </a:r>
            <a:r>
              <a:rPr lang="ru-RU" i="1" dirty="0" err="1">
                <a:solidFill>
                  <a:schemeClr val="tx1">
                    <a:lumMod val="50000"/>
                  </a:schemeClr>
                </a:solidFill>
              </a:rPr>
              <a:t>имя_функции</a:t>
            </a:r>
            <a:r>
              <a:rPr lang="ru-RU" dirty="0"/>
              <a:t>(параметры)</a:t>
            </a:r>
          </a:p>
          <a:p>
            <a:pPr lvl="1"/>
            <a:r>
              <a:rPr lang="ru-RU" dirty="0"/>
              <a:t>{</a:t>
            </a:r>
          </a:p>
          <a:p>
            <a:pPr lvl="1"/>
            <a:r>
              <a:rPr lang="ru-RU" dirty="0"/>
              <a:t>  </a:t>
            </a:r>
            <a:r>
              <a:rPr lang="ru-RU" dirty="0">
                <a:solidFill>
                  <a:schemeClr val="tx1">
                    <a:lumMod val="50000"/>
                  </a:schemeClr>
                </a:solidFill>
              </a:rPr>
              <a:t>  инструкции</a:t>
            </a:r>
          </a:p>
          <a:p>
            <a:pPr lvl="1"/>
            <a:r>
              <a:rPr lang="ru-RU" dirty="0"/>
              <a:t>}</a:t>
            </a:r>
            <a:endParaRPr lang="en-US" dirty="0"/>
          </a:p>
          <a:p>
            <a:pPr lvl="1"/>
            <a:endParaRPr lang="en-US" dirty="0"/>
          </a:p>
          <a:p>
            <a:pPr lvl="1"/>
            <a:r>
              <a:rPr lang="ru-RU" dirty="0"/>
              <a:t>Если функция не возвращает никакого значения, то используется тип </a:t>
            </a:r>
            <a:r>
              <a:rPr lang="ru-RU" b="1" dirty="0" err="1"/>
              <a:t>void</a:t>
            </a:r>
            <a:r>
              <a:rPr lang="ru-RU" dirty="0"/>
              <a:t>.</a:t>
            </a:r>
            <a:endParaRPr lang="en-US" dirty="0"/>
          </a:p>
          <a:p>
            <a:pPr lvl="1"/>
            <a:endParaRPr lang="en-US" dirty="0"/>
          </a:p>
          <a:p>
            <a:pPr lvl="1"/>
            <a:endParaRPr lang="ru-RU" dirty="0"/>
          </a:p>
          <a:p>
            <a:pPr lvl="1"/>
            <a:endParaRPr lang="ru-RU" dirty="0"/>
          </a:p>
        </p:txBody>
      </p:sp>
    </p:spTree>
    <p:extLst>
      <p:ext uri="{BB962C8B-B14F-4D97-AF65-F5344CB8AC3E}">
        <p14:creationId xmlns:p14="http://schemas.microsoft.com/office/powerpoint/2010/main" val="211067255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012070-07D2-1F46-97A4-811C6EFC7B57}"/>
              </a:ext>
            </a:extLst>
          </p:cNvPr>
          <p:cNvSpPr>
            <a:spLocks noGrp="1"/>
          </p:cNvSpPr>
          <p:nvPr>
            <p:ph type="title"/>
          </p:nvPr>
        </p:nvSpPr>
        <p:spPr/>
        <p:txBody>
          <a:bodyPr/>
          <a:lstStyle/>
          <a:p>
            <a:r>
              <a:rPr lang="ru-RU" b="1" dirty="0"/>
              <a:t>Функции</a:t>
            </a:r>
            <a:endParaRPr lang="ru-RU" dirty="0"/>
          </a:p>
        </p:txBody>
      </p:sp>
      <p:sp>
        <p:nvSpPr>
          <p:cNvPr id="3" name="Объект 2">
            <a:extLst>
              <a:ext uri="{FF2B5EF4-FFF2-40B4-BE49-F238E27FC236}">
                <a16:creationId xmlns:a16="http://schemas.microsoft.com/office/drawing/2014/main" id="{7A33E30A-56A6-2B34-CC6D-9556AFE6B821}"/>
              </a:ext>
            </a:extLst>
          </p:cNvPr>
          <p:cNvSpPr>
            <a:spLocks noGrp="1"/>
          </p:cNvSpPr>
          <p:nvPr>
            <p:ph idx="1"/>
          </p:nvPr>
        </p:nvSpPr>
        <p:spPr/>
        <p:txBody>
          <a:bodyPr/>
          <a:lstStyle/>
          <a:p>
            <a:r>
              <a:rPr lang="ru-RU" dirty="0"/>
              <a:t>Для возвращения результата функция применяет оператор </a:t>
            </a:r>
            <a:r>
              <a:rPr lang="ru-RU" b="1" dirty="0" err="1"/>
              <a:t>return</a:t>
            </a:r>
            <a:r>
              <a:rPr lang="ru-RU" dirty="0"/>
              <a:t>. Если функция имеет в качестве возвращаемого типа любой тип, кроме </a:t>
            </a:r>
            <a:r>
              <a:rPr lang="ru-RU" dirty="0" err="1"/>
              <a:t>void</a:t>
            </a:r>
            <a:r>
              <a:rPr lang="ru-RU" dirty="0"/>
              <a:t>, то она должна обязательно с помощью оператора </a:t>
            </a:r>
            <a:r>
              <a:rPr lang="ru-RU" dirty="0" err="1"/>
              <a:t>return</a:t>
            </a:r>
            <a:r>
              <a:rPr lang="ru-RU" dirty="0"/>
              <a:t> возвращать какое-либо значение.</a:t>
            </a:r>
            <a:endParaRPr lang="en-US" dirty="0"/>
          </a:p>
          <a:p>
            <a:endParaRPr lang="en-US"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0;</a:t>
            </a:r>
          </a:p>
          <a:p>
            <a:pPr lvl="1"/>
            <a:r>
              <a:rPr lang="ru-RU" dirty="0">
                <a:solidFill>
                  <a:srgbClr val="000000"/>
                </a:solidFill>
                <a:latin typeface="Consolas" panose="020B0609020204030204" pitchFamily="49" charset="0"/>
              </a:rPr>
              <a:t>}</a:t>
            </a:r>
            <a:endParaRPr lang="en-US" dirty="0">
              <a:solidFill>
                <a:srgbClr val="000000"/>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lvl="1"/>
            <a:r>
              <a:rPr lang="ru-RU" dirty="0">
                <a:solidFill>
                  <a:srgbClr val="00B050"/>
                </a:solidFill>
              </a:rPr>
              <a:t>Стоит отметить, что С++ позволяет не использовать оператор </a:t>
            </a:r>
            <a:r>
              <a:rPr lang="ru-RU" dirty="0" err="1">
                <a:solidFill>
                  <a:srgbClr val="00B050"/>
                </a:solidFill>
              </a:rPr>
              <a:t>return</a:t>
            </a:r>
            <a:r>
              <a:rPr lang="ru-RU" dirty="0">
                <a:solidFill>
                  <a:srgbClr val="00B050"/>
                </a:solidFill>
              </a:rPr>
              <a:t> в функции </a:t>
            </a:r>
            <a:r>
              <a:rPr lang="ru-RU" dirty="0" err="1">
                <a:solidFill>
                  <a:srgbClr val="00B050"/>
                </a:solidFill>
              </a:rPr>
              <a:t>main</a:t>
            </a:r>
            <a:r>
              <a:rPr lang="ru-RU" dirty="0">
                <a:solidFill>
                  <a:srgbClr val="00B050"/>
                </a:solidFill>
              </a:rPr>
              <a:t>:</a:t>
            </a:r>
            <a:endParaRPr lang="en-US" dirty="0">
              <a:solidFill>
                <a:srgbClr val="00B050"/>
              </a:solidFill>
            </a:endParaRPr>
          </a:p>
          <a:p>
            <a:pPr lvl="1"/>
            <a:endParaRPr lang="en-US" dirty="0">
              <a:solidFill>
                <a:srgbClr val="00B050"/>
              </a:solidFill>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solidFill>
                <a:srgbClr val="00B050"/>
              </a:solidFill>
            </a:endParaRPr>
          </a:p>
        </p:txBody>
      </p:sp>
    </p:spTree>
    <p:extLst>
      <p:ext uri="{BB962C8B-B14F-4D97-AF65-F5344CB8AC3E}">
        <p14:creationId xmlns:p14="http://schemas.microsoft.com/office/powerpoint/2010/main" val="301070608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337D14-B9C6-0977-BC0C-0E3394FE1B54}"/>
              </a:ext>
            </a:extLst>
          </p:cNvPr>
          <p:cNvSpPr>
            <a:spLocks noGrp="1"/>
          </p:cNvSpPr>
          <p:nvPr>
            <p:ph type="title"/>
          </p:nvPr>
        </p:nvSpPr>
        <p:spPr/>
        <p:txBody>
          <a:bodyPr/>
          <a:lstStyle/>
          <a:p>
            <a:r>
              <a:rPr lang="ru-RU" b="1" dirty="0"/>
              <a:t>Функции</a:t>
            </a:r>
            <a:endParaRPr lang="ru-RU" dirty="0"/>
          </a:p>
        </p:txBody>
      </p:sp>
      <p:sp>
        <p:nvSpPr>
          <p:cNvPr id="3" name="Объект 2">
            <a:extLst>
              <a:ext uri="{FF2B5EF4-FFF2-40B4-BE49-F238E27FC236}">
                <a16:creationId xmlns:a16="http://schemas.microsoft.com/office/drawing/2014/main" id="{40D3D9E4-9DC7-5BDF-7E34-3B43872A3294}"/>
              </a:ext>
            </a:extLst>
          </p:cNvPr>
          <p:cNvSpPr>
            <a:spLocks noGrp="1"/>
          </p:cNvSpPr>
          <p:nvPr>
            <p:ph idx="1"/>
          </p:nvPr>
        </p:nvSpPr>
        <p:spPr/>
        <p:txBody>
          <a:bodyPr/>
          <a:lstStyle/>
          <a:p>
            <a:endParaRPr lang="en-US" dirty="0"/>
          </a:p>
          <a:p>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"hello"</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98835066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96A124-5541-08E5-331D-9F3D146C58E4}"/>
              </a:ext>
            </a:extLst>
          </p:cNvPr>
          <p:cNvSpPr>
            <a:spLocks noGrp="1"/>
          </p:cNvSpPr>
          <p:nvPr>
            <p:ph type="title"/>
          </p:nvPr>
        </p:nvSpPr>
        <p:spPr/>
        <p:txBody>
          <a:bodyPr/>
          <a:lstStyle/>
          <a:p>
            <a:r>
              <a:rPr lang="ru-RU" b="1" dirty="0"/>
              <a:t>Функции</a:t>
            </a:r>
            <a:endParaRPr lang="ru-RU" dirty="0"/>
          </a:p>
        </p:txBody>
      </p:sp>
      <p:sp>
        <p:nvSpPr>
          <p:cNvPr id="3" name="Объект 2">
            <a:extLst>
              <a:ext uri="{FF2B5EF4-FFF2-40B4-BE49-F238E27FC236}">
                <a16:creationId xmlns:a16="http://schemas.microsoft.com/office/drawing/2014/main" id="{433AE7F0-3BE6-3029-00D5-B6D6A28A7B8B}"/>
              </a:ext>
            </a:extLst>
          </p:cNvPr>
          <p:cNvSpPr>
            <a:spLocks noGrp="1"/>
          </p:cNvSpPr>
          <p:nvPr>
            <p:ph idx="1"/>
          </p:nvPr>
        </p:nvSpPr>
        <p:spPr/>
        <p:txBody>
          <a:bodyPr/>
          <a:lstStyle/>
          <a:p>
            <a:r>
              <a:rPr lang="ru-RU" b="1" dirty="0"/>
              <a:t>Выполнение функции</a:t>
            </a:r>
          </a:p>
          <a:p>
            <a:endParaRPr lang="en-US" dirty="0"/>
          </a:p>
          <a:p>
            <a:r>
              <a:rPr lang="ru-RU" dirty="0"/>
              <a:t>Когда запускается программа на языке C++, то запускается функция </a:t>
            </a:r>
            <a:r>
              <a:rPr lang="ru-RU" dirty="0" err="1"/>
              <a:t>main</a:t>
            </a:r>
            <a:r>
              <a:rPr lang="ru-RU" dirty="0"/>
              <a:t>. Никакие другие функции, определенные в программе, автоматически не выполняются. Для выполнения функции ее необходимо вызвать.</a:t>
            </a:r>
            <a:endParaRPr lang="en-US" dirty="0"/>
          </a:p>
          <a:p>
            <a:endParaRPr lang="en-US" dirty="0"/>
          </a:p>
          <a:p>
            <a:endParaRPr lang="ru-RU" dirty="0"/>
          </a:p>
        </p:txBody>
      </p:sp>
      <p:graphicFrame>
        <p:nvGraphicFramePr>
          <p:cNvPr id="4" name="Таблица 3">
            <a:extLst>
              <a:ext uri="{FF2B5EF4-FFF2-40B4-BE49-F238E27FC236}">
                <a16:creationId xmlns:a16="http://schemas.microsoft.com/office/drawing/2014/main" id="{24FA6CF6-1ED3-BABB-D275-8E30ED03DAA4}"/>
              </a:ext>
            </a:extLst>
          </p:cNvPr>
          <p:cNvGraphicFramePr>
            <a:graphicFrameLocks noGrp="1"/>
          </p:cNvGraphicFramePr>
          <p:nvPr/>
        </p:nvGraphicFramePr>
        <p:xfrm>
          <a:off x="914614" y="3678238"/>
          <a:ext cx="7314772" cy="415925"/>
        </p:xfrm>
        <a:graphic>
          <a:graphicData uri="http://schemas.openxmlformats.org/drawingml/2006/table">
            <a:tbl>
              <a:tblPr/>
              <a:tblGrid>
                <a:gridCol w="7314772">
                  <a:extLst>
                    <a:ext uri="{9D8B030D-6E8A-4147-A177-3AD203B41FA5}">
                      <a16:colId xmlns:a16="http://schemas.microsoft.com/office/drawing/2014/main" val="2803275707"/>
                    </a:ext>
                  </a:extLst>
                </a:gridCol>
              </a:tblGrid>
              <a:tr h="0">
                <a:tc>
                  <a:txBody>
                    <a:bodyPr/>
                    <a:lstStyle/>
                    <a:p>
                      <a:pPr algn="l" fontAlgn="base">
                        <a:lnSpc>
                          <a:spcPts val="1575"/>
                        </a:lnSpc>
                        <a:buNone/>
                      </a:pPr>
                      <a:br>
                        <a:rPr lang="ru-RU" b="0" i="0" dirty="0">
                          <a:solidFill>
                            <a:srgbClr val="000000"/>
                          </a:solidFill>
                          <a:effectLst/>
                          <a:latin typeface="SFMono-Regular"/>
                        </a:rPr>
                      </a:br>
                      <a:r>
                        <a:rPr lang="ru-RU" b="0" i="0" dirty="0" err="1">
                          <a:solidFill>
                            <a:srgbClr val="000000"/>
                          </a:solidFill>
                          <a:effectLst/>
                          <a:latin typeface="SFMono-Regular"/>
                        </a:rPr>
                        <a:t>имя_функции</a:t>
                      </a:r>
                      <a:r>
                        <a:rPr lang="ru-RU" b="0" i="0" dirty="0">
                          <a:solidFill>
                            <a:srgbClr val="000000"/>
                          </a:solidFill>
                          <a:effectLst/>
                          <a:latin typeface="SFMono-Regular"/>
                        </a:rPr>
                        <a:t>(аргументы);</a:t>
                      </a:r>
                      <a:endParaRPr lang="ru-RU" b="0" i="0" dirty="0">
                        <a:effectLst/>
                        <a:latin typeface="SFMono-Regular"/>
                      </a:endParaRPr>
                    </a:p>
                  </a:txBody>
                  <a:tcPr marL="0" marR="0" marT="0" marB="0" anchor="ctr">
                    <a:lnL>
                      <a:noFill/>
                    </a:lnL>
                    <a:lnR>
                      <a:noFill/>
                    </a:lnR>
                    <a:lnT>
                      <a:noFill/>
                    </a:lnT>
                    <a:lnB>
                      <a:noFill/>
                    </a:lnB>
                    <a:noFill/>
                  </a:tcPr>
                </a:tc>
                <a:extLst>
                  <a:ext uri="{0D108BD9-81ED-4DB2-BD59-A6C34878D82A}">
                    <a16:rowId xmlns:a16="http://schemas.microsoft.com/office/drawing/2014/main" val="4205792970"/>
                  </a:ext>
                </a:extLst>
              </a:tr>
            </a:tbl>
          </a:graphicData>
        </a:graphic>
      </p:graphicFrame>
    </p:spTree>
    <p:extLst>
      <p:ext uri="{BB962C8B-B14F-4D97-AF65-F5344CB8AC3E}">
        <p14:creationId xmlns:p14="http://schemas.microsoft.com/office/powerpoint/2010/main" val="1920919026"/>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AAEFB0-C3E4-C06B-BE03-C090046CF6B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DB7C4A81-077F-0191-5946-80D7383A008D}"/>
              </a:ext>
            </a:extLst>
          </p:cNvPr>
          <p:cNvSpPr>
            <a:spLocks noGrp="1"/>
          </p:cNvSpPr>
          <p:nvPr>
            <p:ph idx="1"/>
          </p:nvPr>
        </p:nvSpPr>
        <p:spPr/>
        <p:txBody>
          <a:bodyPr/>
          <a:lstStyle/>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"hello"</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91654626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5EBA047-9FAB-8609-8796-FF15E6916B99}"/>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E9D6F3B-23C4-8220-52CF-178B2083D1BC}"/>
              </a:ext>
            </a:extLst>
          </p:cNvPr>
          <p:cNvSpPr>
            <a:spLocks noGrp="1"/>
          </p:cNvSpPr>
          <p:nvPr>
            <p:ph idx="1"/>
          </p:nvPr>
        </p:nvSpPr>
        <p:spPr/>
        <p:txBody>
          <a:bodyPr/>
          <a:lstStyle/>
          <a:p>
            <a:r>
              <a:rPr lang="ru-RU" b="1" u="sng" dirty="0"/>
              <a:t>Объявление функции</a:t>
            </a:r>
          </a:p>
          <a:p>
            <a:endParaRPr lang="ru-RU" b="1" u="sng" dirty="0"/>
          </a:p>
          <a:p>
            <a:pPr lvl="1" algn="just"/>
            <a:r>
              <a:rPr lang="ru-RU" dirty="0"/>
              <a:t>При использовании функций стоит учитывать, что компилятор должен знать о функции до ее вызова. Поэтому вызов функции должен происходить после ее определения. И если, мы сначала вызовем, а потом определим функцию, то мы получим ошибку на этапе компиляции, как в следующем случае:</a:t>
            </a:r>
            <a:endParaRPr lang="ru-RU" b="1" u="sng" dirty="0"/>
          </a:p>
          <a:p>
            <a:pPr lvl="1"/>
            <a:endParaRPr lang="ru-RU"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hello</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"hello"</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508107289"/>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3A659F-CAC1-717B-7D58-376B954CD60A}"/>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D6C57A2E-A999-19A3-AADD-9ECAAF2434AF}"/>
              </a:ext>
            </a:extLst>
          </p:cNvPr>
          <p:cNvSpPr>
            <a:spLocks noGrp="1"/>
          </p:cNvSpPr>
          <p:nvPr>
            <p:ph idx="1"/>
          </p:nvPr>
        </p:nvSpPr>
        <p:spPr/>
        <p:txBody>
          <a:bodyPr/>
          <a:lstStyle/>
          <a:p>
            <a:r>
              <a:rPr lang="ru-RU" dirty="0"/>
              <a:t>В этом случае перед вызовом функции надо ее дополнительно объявить. Объявление функции еще называют прототипом. Формальное объявление выглядит следующим образом:</a:t>
            </a:r>
          </a:p>
          <a:p>
            <a:r>
              <a:rPr lang="ru-RU" dirty="0"/>
              <a:t>тип </a:t>
            </a:r>
            <a:r>
              <a:rPr lang="ru-RU" dirty="0" err="1"/>
              <a:t>имя_функции</a:t>
            </a:r>
            <a:r>
              <a:rPr lang="ru-RU" dirty="0"/>
              <a:t>(параметры);</a:t>
            </a:r>
          </a:p>
          <a:p>
            <a:endParaRPr lang="ru-RU" dirty="0"/>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lang="de-CH" sz="1600" dirty="0" err="1">
                <a:solidFill>
                  <a:srgbClr val="0000FF"/>
                </a:solidFill>
                <a:latin typeface="Consolas" panose="020B0609020204030204" pitchFamily="49" charset="0"/>
              </a:rPr>
              <a:t>void</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hello</a:t>
            </a:r>
            <a:r>
              <a:rPr lang="de-CH" sz="1600" dirty="0">
                <a:solidFill>
                  <a:srgbClr val="000000"/>
                </a:solidFill>
                <a:latin typeface="Consolas" panose="020B0609020204030204" pitchFamily="49" charset="0"/>
              </a:rPr>
              <a:t>();</a:t>
            </a:r>
            <a:endParaRPr kumimoji="0" lang="ru-RU" sz="1600" b="1"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Arial" panose="020B0604020202020204" pitchFamily="34" charset="0"/>
              </a:rPr>
              <a:t>int</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main</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hello</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hello</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endPar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endParaRP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de-CH"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Arial" panose="020B0604020202020204" pitchFamily="34" charset="0"/>
              </a:rPr>
              <a:t>void</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hello</a:t>
            </a:r>
            <a:r>
              <a:rPr kumimoji="0" lang="de-CH"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std::</a:t>
            </a:r>
            <a:r>
              <a:rPr kumimoji="0" lang="en-US"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cout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6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Arial" panose="020B0604020202020204" pitchFamily="34" charset="0"/>
              </a:rPr>
              <a:t>"hello"</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a:t>
            </a:r>
            <a:r>
              <a:rPr kumimoji="0" lang="en-US" sz="1600" b="0" i="0" u="none" strike="noStrike" kern="1200" cap="none" spc="0" normalizeH="0" baseline="0" noProof="0" dirty="0">
                <a:ln>
                  <a:noFill/>
                </a:ln>
                <a:solidFill>
                  <a:srgbClr val="008080"/>
                </a:solidFill>
                <a:effectLst/>
                <a:uLnTx/>
                <a:uFillTx/>
                <a:latin typeface="Consolas" panose="020B0609020204030204" pitchFamily="49" charset="0"/>
                <a:ea typeface="+mn-ea"/>
                <a:cs typeface="Arial" panose="020B0604020202020204" pitchFamily="34" charset="0"/>
              </a:rPr>
              <a:t>&lt;&lt;</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 std::</a:t>
            </a:r>
            <a:r>
              <a:rPr kumimoji="0" lang="en-US"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Arial" panose="020B0604020202020204" pitchFamily="34" charset="0"/>
              </a:rPr>
              <a:t>endl</a:t>
            </a:r>
            <a:r>
              <a:rPr kumimoji="0" lang="en-US"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p>
          <a:p>
            <a:pPr marL="457200" marR="0" lvl="1" indent="0" algn="l" defTabSz="914400" rtl="0" eaLnBrk="0" fontAlgn="base" latinLnBrk="0" hangingPunct="0">
              <a:lnSpc>
                <a:spcPct val="100000"/>
              </a:lnSpc>
              <a:spcBef>
                <a:spcPct val="20000"/>
              </a:spcBef>
              <a:spcAft>
                <a:spcPct val="0"/>
              </a:spcAft>
              <a:buClr>
                <a:srgbClr val="3E78C6"/>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Arial" panose="020B0604020202020204" pitchFamily="34" charset="0"/>
              </a:rPr>
              <a:t>}</a:t>
            </a:r>
            <a:endParaRPr kumimoji="0" lang="ru-RU" sz="1600" b="0" i="0" u="none" strike="noStrike" kern="1200" cap="none" spc="0" normalizeH="0" baseline="0" noProof="0" dirty="0">
              <a:ln>
                <a:noFill/>
              </a:ln>
              <a:solidFill>
                <a:srgbClr val="1A1A70"/>
              </a:solidFill>
              <a:effectLst/>
              <a:uLnTx/>
              <a:uFillTx/>
              <a:latin typeface="Arial" panose="020B0604020202020204" pitchFamily="34" charset="0"/>
              <a:ea typeface="+mn-ea"/>
              <a:cs typeface="Arial" panose="020B0604020202020204" pitchFamily="34" charset="0"/>
            </a:endParaRPr>
          </a:p>
          <a:p>
            <a:endParaRPr lang="ru-RU" dirty="0"/>
          </a:p>
        </p:txBody>
      </p:sp>
    </p:spTree>
    <p:extLst>
      <p:ext uri="{BB962C8B-B14F-4D97-AF65-F5344CB8AC3E}">
        <p14:creationId xmlns:p14="http://schemas.microsoft.com/office/powerpoint/2010/main" val="267169369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F94BF4-ED82-EE5C-6D9B-E2C12F922CB9}"/>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740C7967-F2B0-E100-0A5D-A5280842F627}"/>
              </a:ext>
            </a:extLst>
          </p:cNvPr>
          <p:cNvSpPr>
            <a:spLocks noGrp="1"/>
          </p:cNvSpPr>
          <p:nvPr>
            <p:ph idx="1"/>
          </p:nvPr>
        </p:nvSpPr>
        <p:spPr/>
        <p:txBody>
          <a:bodyPr/>
          <a:lstStyle/>
          <a:p>
            <a:pPr algn="just"/>
            <a:endParaRPr lang="en-US" dirty="0"/>
          </a:p>
          <a:p>
            <a:pPr algn="just"/>
            <a:r>
              <a:rPr lang="ru-RU" dirty="0"/>
              <a:t>Все переменные имеют определенное </a:t>
            </a:r>
            <a:r>
              <a:rPr lang="ru-RU" b="1" dirty="0"/>
              <a:t>время жизни</a:t>
            </a:r>
            <a:r>
              <a:rPr lang="ru-RU" dirty="0"/>
              <a:t> (</a:t>
            </a:r>
            <a:r>
              <a:rPr lang="ru-RU" dirty="0" err="1"/>
              <a:t>lifetime</a:t>
            </a:r>
            <a:r>
              <a:rPr lang="ru-RU" dirty="0"/>
              <a:t>) и </a:t>
            </a:r>
            <a:r>
              <a:rPr lang="ru-RU" b="1" dirty="0"/>
              <a:t>область видимости</a:t>
            </a:r>
            <a:r>
              <a:rPr lang="ru-RU" dirty="0"/>
              <a:t> (</a:t>
            </a:r>
            <a:r>
              <a:rPr lang="ru-RU" dirty="0" err="1"/>
              <a:t>scope</a:t>
            </a:r>
            <a:r>
              <a:rPr lang="ru-RU" dirty="0"/>
              <a:t>). Время жизни начинается с момента определения переменной и длится до ее уничтожения. Область видимости представляет часть программы, в пределах которой можно использовать объект. Как правило, область видимости ограничивается блоком кода, который заключается в фигурные скобки. В зависимости от области видимости создаваемые объекты могут быть глобальными, локальными или автоматическими.</a:t>
            </a:r>
          </a:p>
        </p:txBody>
      </p:sp>
    </p:spTree>
    <p:extLst>
      <p:ext uri="{BB962C8B-B14F-4D97-AF65-F5344CB8AC3E}">
        <p14:creationId xmlns:p14="http://schemas.microsoft.com/office/powerpoint/2010/main" val="301433854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DC3E31-E452-3C04-D67A-0B8613931A11}"/>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2D2720CC-6F1E-CBDD-8C69-238E71A2FEFA}"/>
              </a:ext>
            </a:extLst>
          </p:cNvPr>
          <p:cNvSpPr>
            <a:spLocks noGrp="1"/>
          </p:cNvSpPr>
          <p:nvPr>
            <p:ph idx="1"/>
          </p:nvPr>
        </p:nvSpPr>
        <p:spPr/>
        <p:txBody>
          <a:bodyPr/>
          <a:lstStyle/>
          <a:p>
            <a:r>
              <a:rPr lang="ru-RU" b="1" dirty="0"/>
              <a:t>Глобальные объекты</a:t>
            </a:r>
          </a:p>
          <a:p>
            <a:endParaRPr lang="en-US" dirty="0"/>
          </a:p>
          <a:p>
            <a:pPr algn="just"/>
            <a:r>
              <a:rPr lang="ru-RU" dirty="0"/>
              <a:t>Глобальные переменные определены в файле программы вне любой из функций или любого другого блока кода и могут использоваться любой функцией. </a:t>
            </a:r>
            <a:endParaRPr lang="en-US" dirty="0"/>
          </a:p>
          <a:p>
            <a:pPr algn="just"/>
            <a:r>
              <a:rPr lang="ru-RU" dirty="0"/>
              <a:t>Глобальные переменные существуют в течение всей жизни программы и уничтожаются лишь с завершением программы.</a:t>
            </a:r>
          </a:p>
          <a:p>
            <a:pPr algn="just"/>
            <a:endParaRPr lang="ru-RU" dirty="0"/>
          </a:p>
          <a:p>
            <a:pPr algn="just"/>
            <a:r>
              <a:rPr lang="ru-RU" dirty="0"/>
              <a:t>Если глобальные переменные не инициализированы, то они получают нулевые значения.</a:t>
            </a:r>
          </a:p>
        </p:txBody>
      </p:sp>
    </p:spTree>
    <p:extLst>
      <p:ext uri="{BB962C8B-B14F-4D97-AF65-F5344CB8AC3E}">
        <p14:creationId xmlns:p14="http://schemas.microsoft.com/office/powerpoint/2010/main" val="347815430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444645-35A5-6E61-37AC-21EFA6A78D2C}"/>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2722374B-0C69-EA74-5A3D-E77EEB0F648B}"/>
              </a:ext>
            </a:extLst>
          </p:cNvPr>
          <p:cNvSpPr>
            <a:spLocks noGrp="1"/>
          </p:cNvSpPr>
          <p:nvPr>
            <p:ph idx="1"/>
          </p:nvPr>
        </p:nvSpPr>
        <p:spPr/>
        <p:txBody>
          <a:bodyPr/>
          <a:lstStyle/>
          <a:p>
            <a:pPr lvl="1"/>
            <a:endParaRPr lang="en-US" dirty="0">
              <a:solidFill>
                <a:srgbClr val="0000FF"/>
              </a:solidFill>
              <a:latin typeface="Consolas" panose="020B0609020204030204" pitchFamily="49" charset="0"/>
            </a:endParaRPr>
          </a:p>
          <a:p>
            <a:pPr lvl="1"/>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5 };   </a:t>
            </a:r>
            <a:r>
              <a:rPr lang="ru-RU" dirty="0">
                <a:solidFill>
                  <a:srgbClr val="008000"/>
                </a:solidFill>
                <a:latin typeface="Consolas" panose="020B0609020204030204" pitchFamily="49" charset="0"/>
              </a:rPr>
              <a:t>// глобальная переменная</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n++;</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n=6</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n++;</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n=7</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60086541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296871-741A-73B1-2B88-DE20F3BD5337}"/>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41046060-ECD7-8DFD-485A-AFBE73F63B2F}"/>
              </a:ext>
            </a:extLst>
          </p:cNvPr>
          <p:cNvSpPr>
            <a:spLocks noGrp="1"/>
          </p:cNvSpPr>
          <p:nvPr>
            <p:ph idx="1"/>
          </p:nvPr>
        </p:nvSpPr>
        <p:spPr/>
        <p:txBody>
          <a:bodyPr/>
          <a:lstStyle/>
          <a:p>
            <a:r>
              <a:rPr lang="ru-RU" b="1" u="sng" dirty="0"/>
              <a:t>Локальные объекты</a:t>
            </a:r>
            <a:endParaRPr lang="en-US" b="1" u="sng" dirty="0"/>
          </a:p>
          <a:p>
            <a:endParaRPr lang="en-US" dirty="0"/>
          </a:p>
          <a:p>
            <a:pPr lvl="1"/>
            <a:r>
              <a:rPr lang="ru-RU" dirty="0"/>
              <a:t>Объекты, которые создаются внутри блока кода (он может представлять функцию или какую-либо конструкцию типа циклов), называются </a:t>
            </a:r>
            <a:r>
              <a:rPr lang="ru-RU" b="1" dirty="0"/>
              <a:t>локальными</a:t>
            </a:r>
            <a:r>
              <a:rPr lang="ru-RU" dirty="0"/>
              <a:t>. Такие объекты доступны в пределах только того блока кода, в котором они определены.</a:t>
            </a:r>
            <a:endParaRPr lang="en-US" dirty="0"/>
          </a:p>
          <a:p>
            <a:pPr lvl="1"/>
            <a:endParaRPr lang="en-US" dirty="0"/>
          </a:p>
          <a:p>
            <a:r>
              <a:rPr lang="ru-RU" b="1" u="sng" dirty="0"/>
              <a:t>Автоматические объекты</a:t>
            </a:r>
            <a:endParaRPr lang="en-US" b="1" u="sng" dirty="0"/>
          </a:p>
          <a:p>
            <a:endParaRPr lang="en-US" b="1" u="sng" dirty="0"/>
          </a:p>
          <a:p>
            <a:pPr lvl="1"/>
            <a:r>
              <a:rPr lang="ru-RU" dirty="0"/>
              <a:t>Локальные объекты, которые существуют только во время выполнения того блока, в котором они определены, являются </a:t>
            </a:r>
            <a:r>
              <a:rPr lang="ru-RU" b="1" dirty="0"/>
              <a:t>автоматическими</a:t>
            </a:r>
            <a:r>
              <a:rPr lang="ru-RU" dirty="0"/>
              <a:t>.</a:t>
            </a:r>
          </a:p>
          <a:p>
            <a:pPr lvl="1"/>
            <a:r>
              <a:rPr lang="ru-RU" dirty="0"/>
              <a:t>При входе в блок для подобных переменных выделяется память, а после завершения работы этого блока, выделенная память освобождается, а объекты удаляются.</a:t>
            </a:r>
          </a:p>
          <a:p>
            <a:pPr lvl="1"/>
            <a:endParaRPr lang="ru-RU" b="1" u="sng" dirty="0"/>
          </a:p>
          <a:p>
            <a:endParaRPr lang="ru-RU" dirty="0"/>
          </a:p>
        </p:txBody>
      </p:sp>
    </p:spTree>
    <p:extLst>
      <p:ext uri="{BB962C8B-B14F-4D97-AF65-F5344CB8AC3E}">
        <p14:creationId xmlns:p14="http://schemas.microsoft.com/office/powerpoint/2010/main" val="365308406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D6B81A-46D3-FE3A-2965-DD84FCC36BB0}"/>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A03E2016-96BC-D3F9-58B8-18D431291E8B}"/>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 5 };  </a:t>
            </a:r>
            <a:r>
              <a:rPr lang="ru-RU" dirty="0">
                <a:solidFill>
                  <a:srgbClr val="008000"/>
                </a:solidFill>
                <a:latin typeface="Consolas" panose="020B0609020204030204" pitchFamily="49" charset="0"/>
              </a:rPr>
              <a:t>// локальная переменная, которая существует только в функции </a:t>
            </a:r>
            <a:r>
              <a:rPr lang="ru-RU" dirty="0" err="1">
                <a:solidFill>
                  <a:srgbClr val="008000"/>
                </a:solidFill>
                <a:latin typeface="Consolas" panose="020B0609020204030204" pitchFamily="49" charset="0"/>
              </a:rPr>
              <a:t>print</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//так сделать нельзя, так как m определена в функции </a:t>
            </a:r>
            <a:r>
              <a:rPr lang="ru-RU" dirty="0" err="1">
                <a:solidFill>
                  <a:srgbClr val="008000"/>
                </a:solidFill>
                <a:latin typeface="Consolas" panose="020B0609020204030204" pitchFamily="49" charset="0"/>
              </a:rPr>
              <a:t>main</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std::</a:t>
            </a:r>
            <a:r>
              <a:rPr lang="en-US" dirty="0" err="1">
                <a:solidFill>
                  <a:srgbClr val="008000"/>
                </a:solidFill>
                <a:latin typeface="Consolas" panose="020B0609020204030204" pitchFamily="49" charset="0"/>
              </a:rPr>
              <a:t>cout</a:t>
            </a:r>
            <a:r>
              <a:rPr lang="en-US" dirty="0">
                <a:solidFill>
                  <a:srgbClr val="008000"/>
                </a:solidFill>
                <a:latin typeface="Consolas" panose="020B0609020204030204" pitchFamily="49" charset="0"/>
              </a:rPr>
              <a:t> &lt;&lt; "m=" &lt;&lt; m &lt;&lt; std::</a:t>
            </a:r>
            <a:r>
              <a:rPr lang="en-US" dirty="0" err="1">
                <a:solidFill>
                  <a:srgbClr val="008000"/>
                </a:solidFill>
                <a:latin typeface="Consolas" panose="020B0609020204030204" pitchFamily="49" charset="0"/>
              </a:rPr>
              <a:t>endl</a:t>
            </a:r>
            <a:r>
              <a:rPr lang="en-US" dirty="0">
                <a:solidFill>
                  <a:srgbClr val="008000"/>
                </a:solidFill>
                <a:latin typeface="Consolas" panose="020B0609020204030204" pitchFamily="49" charset="0"/>
              </a:rPr>
              <a:t>;</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m{ 2 };  </a:t>
            </a:r>
            <a:r>
              <a:rPr lang="ru-RU" dirty="0">
                <a:solidFill>
                  <a:srgbClr val="008000"/>
                </a:solidFill>
                <a:latin typeface="Consolas" panose="020B0609020204030204" pitchFamily="49" charset="0"/>
              </a:rPr>
              <a:t>// локальная переменная, которая существует только в функции </a:t>
            </a:r>
            <a:r>
              <a:rPr lang="ru-RU" dirty="0" err="1">
                <a:solidFill>
                  <a:srgbClr val="008000"/>
                </a:solidFill>
                <a:latin typeface="Consolas" panose="020B0609020204030204" pitchFamily="49" charset="0"/>
              </a:rPr>
              <a:t>main</a:t>
            </a:r>
            <a:r>
              <a:rPr lang="ru-RU" dirty="0">
                <a:solidFill>
                  <a:srgbClr val="008000"/>
                </a:solidFill>
                <a:latin typeface="Consolas" panose="020B0609020204030204" pitchFamily="49" charset="0"/>
              </a:rPr>
              <a:t> </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"m="</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m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//так сделать нельзя, так как n определена в функции </a:t>
            </a:r>
            <a:r>
              <a:rPr lang="ru-RU" dirty="0" err="1">
                <a:solidFill>
                  <a:srgbClr val="008000"/>
                </a:solidFill>
                <a:latin typeface="Consolas" panose="020B0609020204030204" pitchFamily="49" charset="0"/>
              </a:rPr>
              <a:t>print</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a:t>
            </a:r>
            <a:r>
              <a:rPr lang="pt-BR" dirty="0">
                <a:solidFill>
                  <a:srgbClr val="008000"/>
                </a:solidFill>
                <a:latin typeface="Consolas" panose="020B0609020204030204" pitchFamily="49" charset="0"/>
              </a:rPr>
              <a:t>// std::cout &lt;&lt; "n=" &lt;&lt; n &lt;&lt; std::endl;</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50831148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229A4B-0338-9806-1A03-FD0ED7E9AC83}"/>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52C62847-EF0E-DC87-FC12-0EC8844D87C4}"/>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n1{ 2 };  </a:t>
            </a:r>
            <a:r>
              <a:rPr lang="ru-RU" dirty="0">
                <a:solidFill>
                  <a:srgbClr val="008000"/>
                </a:solidFill>
                <a:latin typeface="Consolas" panose="020B0609020204030204" pitchFamily="49" charset="0"/>
              </a:rPr>
              <a:t>// область видимости - вся функция </a:t>
            </a:r>
            <a:r>
              <a:rPr lang="ru-RU" dirty="0" err="1">
                <a:solidFill>
                  <a:srgbClr val="008000"/>
                </a:solidFill>
                <a:latin typeface="Consolas" panose="020B0609020204030204" pitchFamily="49" charset="0"/>
              </a:rPr>
              <a:t>main</a:t>
            </a:r>
            <a:r>
              <a:rPr lang="ru-RU" dirty="0">
                <a:solidFill>
                  <a:srgbClr val="008000"/>
                </a:solidFill>
                <a:latin typeface="Consolas" panose="020B0609020204030204" pitchFamily="49" charset="0"/>
              </a:rPr>
              <a:t> </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n2{ 5 };     </a:t>
            </a:r>
            <a:r>
              <a:rPr lang="ru-RU" dirty="0">
                <a:solidFill>
                  <a:srgbClr val="008000"/>
                </a:solidFill>
                <a:latin typeface="Consolas" panose="020B0609020204030204" pitchFamily="49" charset="0"/>
              </a:rPr>
              <a:t>// область видимости - блок кода</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"n2="</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n2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n1++;   </a:t>
            </a:r>
            <a:r>
              <a:rPr lang="ru-RU" dirty="0">
                <a:solidFill>
                  <a:srgbClr val="008000"/>
                </a:solidFill>
                <a:latin typeface="Consolas" panose="020B0609020204030204" pitchFamily="49" charset="0"/>
              </a:rPr>
              <a:t>// переменная n1 доступна, т.к. определена во </a:t>
            </a:r>
            <a:r>
              <a:rPr lang="en-US"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внешнем контексте - функции</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   </a:t>
            </a:r>
            <a:r>
              <a:rPr lang="ru-RU" dirty="0">
                <a:solidFill>
                  <a:srgbClr val="008000"/>
                </a:solidFill>
                <a:latin typeface="Consolas" panose="020B0609020204030204" pitchFamily="49" charset="0"/>
              </a:rPr>
              <a:t>// конец блока функции - конец времени жизни переменной n2</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так нельзя - переменная n2 из блока функции уже не существует</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a:t>
            </a:r>
            <a:r>
              <a:rPr lang="pt-BR" dirty="0">
                <a:solidFill>
                  <a:srgbClr val="008000"/>
                </a:solidFill>
                <a:latin typeface="Consolas" panose="020B0609020204030204" pitchFamily="49" charset="0"/>
              </a:rPr>
              <a:t>// std::cout &lt;&lt; "n2=" &lt;&lt; n2 &lt;&lt; std::endl;</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переменная n1 доступна до конца функции</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"n1="</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n1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конец блока функции - конец времени жизни переменной n1</a:t>
            </a:r>
            <a:endParaRPr lang="ru-RU" dirty="0">
              <a:solidFill>
                <a:srgbClr val="000000"/>
              </a:solidFill>
              <a:latin typeface="Consolas" panose="020B0609020204030204" pitchFamily="49" charset="0"/>
            </a:endParaRPr>
          </a:p>
          <a:p>
            <a:endParaRPr lang="ru-RU" dirty="0"/>
          </a:p>
        </p:txBody>
      </p:sp>
    </p:spTree>
    <p:extLst>
      <p:ext uri="{BB962C8B-B14F-4D97-AF65-F5344CB8AC3E}">
        <p14:creationId xmlns:p14="http://schemas.microsoft.com/office/powerpoint/2010/main" val="376877546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40E76D-77FF-5FDC-0BC6-45C491A8B267}"/>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CBBD166D-0F34-153C-DB13-673A59B3DC63}"/>
              </a:ext>
            </a:extLst>
          </p:cNvPr>
          <p:cNvSpPr>
            <a:spLocks noGrp="1"/>
          </p:cNvSpPr>
          <p:nvPr>
            <p:ph idx="1"/>
          </p:nvPr>
        </p:nvSpPr>
        <p:spPr/>
        <p:txBody>
          <a:bodyPr/>
          <a:lstStyle/>
          <a:p>
            <a:r>
              <a:rPr lang="ru-RU" b="1" u="sng" dirty="0"/>
              <a:t>Скрытие объектов</a:t>
            </a:r>
          </a:p>
          <a:p>
            <a:endParaRPr lang="en-US" dirty="0"/>
          </a:p>
          <a:p>
            <a:pPr lvl="1"/>
            <a:r>
              <a:rPr lang="ru-RU" dirty="0"/>
              <a:t>Локальные объекты, определенные внутри одного контекста, могут скрывать объекты с тем же именем, определенные во внешнем контексте:</a:t>
            </a:r>
            <a:endParaRPr lang="en-US" dirty="0"/>
          </a:p>
          <a:p>
            <a:pPr lvl="1"/>
            <a:endParaRPr lang="en-US" dirty="0"/>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5 };</a:t>
            </a:r>
          </a:p>
          <a:p>
            <a:pPr lvl="1"/>
            <a:endParaRPr lang="ru-RU" sz="1200" dirty="0">
              <a:solidFill>
                <a:srgbClr val="000000"/>
              </a:solidFill>
              <a:latin typeface="Consolas" panose="020B0609020204030204" pitchFamily="49" charset="0"/>
            </a:endParaRP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10 };</a:t>
            </a:r>
          </a:p>
          <a:p>
            <a:pPr lvl="1"/>
            <a:r>
              <a:rPr lang="pt-BR" sz="1200" dirty="0">
                <a:solidFill>
                  <a:srgbClr val="000000"/>
                </a:solidFill>
                <a:latin typeface="Consolas" panose="020B0609020204030204" pitchFamily="49" charset="0"/>
              </a:rPr>
              <a:t>    std::cout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a:t>
            </a:r>
            <a:r>
              <a:rPr lang="pt-BR" sz="1200" dirty="0">
                <a:solidFill>
                  <a:srgbClr val="A31515"/>
                </a:solidFill>
                <a:latin typeface="Consolas" panose="020B0609020204030204" pitchFamily="49" charset="0"/>
              </a:rPr>
              <a:t>"n="</a:t>
            </a:r>
            <a:r>
              <a:rPr lang="pt-BR" sz="1200" dirty="0">
                <a:solidFill>
                  <a:srgbClr val="000000"/>
                </a:solidFill>
                <a:latin typeface="Consolas" panose="020B0609020204030204" pitchFamily="49" charset="0"/>
              </a:rPr>
              <a:t>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n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std::endl;  </a:t>
            </a:r>
            <a:r>
              <a:rPr lang="pt-BR" sz="1200" dirty="0">
                <a:solidFill>
                  <a:srgbClr val="008000"/>
                </a:solidFill>
                <a:latin typeface="Consolas" panose="020B0609020204030204" pitchFamily="49" charset="0"/>
              </a:rPr>
              <a:t>// n=10</a:t>
            </a:r>
            <a:endParaRPr lang="pt-BR"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 20 };</a:t>
            </a:r>
          </a:p>
          <a:p>
            <a:pPr lvl="1"/>
            <a:r>
              <a:rPr lang="pt-BR" sz="1200" dirty="0">
                <a:solidFill>
                  <a:srgbClr val="000000"/>
                </a:solidFill>
                <a:latin typeface="Consolas" panose="020B0609020204030204" pitchFamily="49" charset="0"/>
              </a:rPr>
              <a:t>        std::cout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a:t>
            </a:r>
            <a:r>
              <a:rPr lang="pt-BR" sz="1200" dirty="0">
                <a:solidFill>
                  <a:srgbClr val="A31515"/>
                </a:solidFill>
                <a:latin typeface="Consolas" panose="020B0609020204030204" pitchFamily="49" charset="0"/>
              </a:rPr>
              <a:t>"n="</a:t>
            </a:r>
            <a:r>
              <a:rPr lang="pt-BR" sz="1200" dirty="0">
                <a:solidFill>
                  <a:srgbClr val="000000"/>
                </a:solidFill>
                <a:latin typeface="Consolas" panose="020B0609020204030204" pitchFamily="49" charset="0"/>
              </a:rPr>
              <a:t>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n </a:t>
            </a:r>
            <a:r>
              <a:rPr lang="pt-BR" sz="1200" dirty="0">
                <a:solidFill>
                  <a:srgbClr val="008080"/>
                </a:solidFill>
                <a:latin typeface="Consolas" panose="020B0609020204030204" pitchFamily="49" charset="0"/>
              </a:rPr>
              <a:t>&lt;&lt;</a:t>
            </a:r>
            <a:r>
              <a:rPr lang="pt-BR" sz="1200" dirty="0">
                <a:solidFill>
                  <a:srgbClr val="000000"/>
                </a:solidFill>
                <a:latin typeface="Consolas" panose="020B0609020204030204" pitchFamily="49" charset="0"/>
              </a:rPr>
              <a:t> std::endl; </a:t>
            </a:r>
            <a:r>
              <a:rPr lang="pt-BR" sz="1200" dirty="0">
                <a:solidFill>
                  <a:srgbClr val="008000"/>
                </a:solidFill>
                <a:latin typeface="Consolas" panose="020B0609020204030204" pitchFamily="49" charset="0"/>
              </a:rPr>
              <a:t>// n=20</a:t>
            </a:r>
            <a:endParaRPr lang="pt-BR"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    }</a:t>
            </a:r>
          </a:p>
          <a:p>
            <a:pPr lvl="1"/>
            <a:r>
              <a:rPr lang="ru-RU" sz="1200"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190004803"/>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6813D5-4FA9-B37E-73F2-012500F4FC28}"/>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F82958E3-CF72-FFB6-7A31-BDC092AFC41D}"/>
              </a:ext>
            </a:extLst>
          </p:cNvPr>
          <p:cNvSpPr>
            <a:spLocks noGrp="1"/>
          </p:cNvSpPr>
          <p:nvPr>
            <p:ph idx="1"/>
          </p:nvPr>
        </p:nvSpPr>
        <p:spPr/>
        <p:txBody>
          <a:bodyPr/>
          <a:lstStyle/>
          <a:p>
            <a:r>
              <a:rPr lang="ru-RU" dirty="0"/>
              <a:t>Для обращения именно к глобальной переменной можно использовать оператор </a:t>
            </a:r>
            <a:r>
              <a:rPr lang="ru-RU" b="1" dirty="0"/>
              <a:t>::</a:t>
            </a:r>
            <a:r>
              <a:rPr lang="ru-RU" dirty="0"/>
              <a:t> перед именем переменной</a:t>
            </a:r>
          </a:p>
          <a:p>
            <a:endParaRPr lang="ru-RU" dirty="0"/>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n=5</a:t>
            </a:r>
            <a:endParaRPr lang="pt-BR"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20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 </a:t>
            </a:r>
            <a:r>
              <a:rPr lang="pt-BR" dirty="0">
                <a:solidFill>
                  <a:srgbClr val="008000"/>
                </a:solidFill>
                <a:latin typeface="Consolas" panose="020B0609020204030204" pitchFamily="49" charset="0"/>
              </a:rPr>
              <a:t>// n=5</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26763443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3C8797-5E35-841F-3162-4997176B5EB5}"/>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F7898600-5FB1-0AE8-2867-BEADE3C44C8A}"/>
              </a:ext>
            </a:extLst>
          </p:cNvPr>
          <p:cNvSpPr>
            <a:spLocks noGrp="1"/>
          </p:cNvSpPr>
          <p:nvPr>
            <p:ph idx="1"/>
          </p:nvPr>
        </p:nvSpPr>
        <p:spPr/>
        <p:txBody>
          <a:bodyPr/>
          <a:lstStyle/>
          <a:p>
            <a:r>
              <a:rPr lang="ru-RU" b="1" u="sng" dirty="0"/>
              <a:t>Статические объекты</a:t>
            </a:r>
          </a:p>
          <a:p>
            <a:endParaRPr lang="ru-RU" dirty="0"/>
          </a:p>
          <a:p>
            <a:pPr lvl="1" algn="just"/>
            <a:r>
              <a:rPr lang="ru-RU" dirty="0"/>
              <a:t>Кроме автоматических есть особый тип локальных объектов - статические объекты. Они определяются на уровне функций с помощью ключевого слова </a:t>
            </a:r>
            <a:r>
              <a:rPr lang="ru-RU" b="1" dirty="0" err="1"/>
              <a:t>static</a:t>
            </a:r>
            <a:r>
              <a:rPr lang="ru-RU" dirty="0"/>
              <a:t>. Если автоматические переменные определяются и инициализируются при каждом входе в функцию, то статические переменные инициализируются только один раз, а при последующих вызовах функции используется старое значение статической переменной. То есть разница между локальными автоматическими и локальными статическими переменными состоит во времени жизни: автоматические переменные существуют до конца выполнения блока кода, а статические - до конца выполнения программы.</a:t>
            </a:r>
          </a:p>
        </p:txBody>
      </p:sp>
    </p:spTree>
    <p:extLst>
      <p:ext uri="{BB962C8B-B14F-4D97-AF65-F5344CB8AC3E}">
        <p14:creationId xmlns:p14="http://schemas.microsoft.com/office/powerpoint/2010/main" val="356831791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B72089-04D9-22F2-9329-D8DB9B75C57A}"/>
              </a:ext>
            </a:extLst>
          </p:cNvPr>
          <p:cNvSpPr>
            <a:spLocks noGrp="1"/>
          </p:cNvSpPr>
          <p:nvPr>
            <p:ph type="title"/>
          </p:nvPr>
        </p:nvSpPr>
        <p:spPr/>
        <p:txBody>
          <a:bodyPr/>
          <a:lstStyle/>
          <a:p>
            <a:r>
              <a:rPr lang="ru-RU" b="1" dirty="0"/>
              <a:t>Область видимости объектов</a:t>
            </a:r>
            <a:endParaRPr lang="ru-RU" dirty="0"/>
          </a:p>
        </p:txBody>
      </p:sp>
      <p:sp>
        <p:nvSpPr>
          <p:cNvPr id="3" name="Объект 2">
            <a:extLst>
              <a:ext uri="{FF2B5EF4-FFF2-40B4-BE49-F238E27FC236}">
                <a16:creationId xmlns:a16="http://schemas.microsoft.com/office/drawing/2014/main" id="{312C5B65-D8EB-2D75-5320-CDF5B970A242}"/>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static</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 };</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n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de-CH" dirty="0">
                <a:solidFill>
                  <a:srgbClr val="000000"/>
                </a:solidFill>
                <a:latin typeface="Consolas" panose="020B0609020204030204" pitchFamily="49" charset="0"/>
              </a:rPr>
              <a:t>    n++;</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35591410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4B347F-5354-00EE-22CD-F27298F9E273}"/>
              </a:ext>
            </a:extLst>
          </p:cNvPr>
          <p:cNvSpPr>
            <a:spLocks noGrp="1"/>
          </p:cNvSpPr>
          <p:nvPr>
            <p:ph type="title"/>
          </p:nvPr>
        </p:nvSpPr>
        <p:spPr/>
        <p:txBody>
          <a:bodyPr/>
          <a:lstStyle/>
          <a:p>
            <a:r>
              <a:rPr lang="ru-RU" b="1" dirty="0"/>
              <a:t>Параметры функций</a:t>
            </a:r>
          </a:p>
        </p:txBody>
      </p:sp>
      <p:sp>
        <p:nvSpPr>
          <p:cNvPr id="3" name="Объект 2">
            <a:extLst>
              <a:ext uri="{FF2B5EF4-FFF2-40B4-BE49-F238E27FC236}">
                <a16:creationId xmlns:a16="http://schemas.microsoft.com/office/drawing/2014/main" id="{88CD6C91-6354-23FF-0055-86D15EE65086}"/>
              </a:ext>
            </a:extLst>
          </p:cNvPr>
          <p:cNvSpPr>
            <a:spLocks noGrp="1"/>
          </p:cNvSpPr>
          <p:nvPr>
            <p:ph idx="1"/>
          </p:nvPr>
        </p:nvSpPr>
        <p:spPr/>
        <p:txBody>
          <a:bodyPr/>
          <a:lstStyle/>
          <a:p>
            <a:r>
              <a:rPr lang="ru-RU" dirty="0"/>
              <a:t>Через параметры в функцию можно передать различные значения. Параметры перечисляются после имени функции через запятую в скобках:</a:t>
            </a:r>
          </a:p>
          <a:p>
            <a:endParaRPr lang="ru-RU" dirty="0"/>
          </a:p>
          <a:p>
            <a:r>
              <a:rPr lang="ru-RU" b="0" i="0" dirty="0">
                <a:solidFill>
                  <a:srgbClr val="000000"/>
                </a:solidFill>
                <a:effectLst/>
                <a:latin typeface="SFMono-Regular"/>
              </a:rPr>
              <a:t>(тип_параметра1 имя_параметра1, тип_параметра2 имя_параметра2, ... </a:t>
            </a:r>
            <a:r>
              <a:rPr lang="ru-RU" b="0" i="0" dirty="0" err="1">
                <a:solidFill>
                  <a:srgbClr val="000000"/>
                </a:solidFill>
                <a:effectLst/>
                <a:latin typeface="SFMono-Regular"/>
              </a:rPr>
              <a:t>тип_параметраN</a:t>
            </a:r>
            <a:r>
              <a:rPr lang="ru-RU" b="0" i="0" dirty="0">
                <a:solidFill>
                  <a:srgbClr val="000000"/>
                </a:solidFill>
                <a:effectLst/>
                <a:latin typeface="SFMono-Regular"/>
              </a:rPr>
              <a:t> </a:t>
            </a:r>
            <a:r>
              <a:rPr lang="ru-RU" b="0" i="0" dirty="0" err="1">
                <a:solidFill>
                  <a:srgbClr val="000000"/>
                </a:solidFill>
                <a:effectLst/>
                <a:latin typeface="SFMono-Regular"/>
              </a:rPr>
              <a:t>имя_параметраN</a:t>
            </a:r>
            <a:r>
              <a:rPr lang="ru-RU" b="0" i="0" dirty="0">
                <a:solidFill>
                  <a:srgbClr val="000000"/>
                </a:solidFill>
                <a:effectLst/>
                <a:latin typeface="SFMono-Regular"/>
              </a:rPr>
              <a:t>)</a:t>
            </a:r>
            <a:endParaRPr lang="en-US" b="0" i="0" dirty="0">
              <a:solidFill>
                <a:srgbClr val="000000"/>
              </a:solidFill>
              <a:effectLst/>
              <a:latin typeface="SFMono-Regular"/>
            </a:endParaRPr>
          </a:p>
          <a:p>
            <a:endParaRPr lang="en-US" dirty="0">
              <a:solidFill>
                <a:srgbClr val="000000"/>
              </a:solidFill>
              <a:latin typeface="SFMono-Regular"/>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 </a:t>
            </a:r>
            <a:r>
              <a:rPr lang="en-US" dirty="0">
                <a:solidFill>
                  <a:srgbClr val="000000"/>
                </a:solidFill>
                <a:latin typeface="Consolas" panose="020B0609020204030204" pitchFamily="49" charset="0"/>
              </a:rPr>
              <a:t>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38109449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B19DD7-FD98-FBAE-C22B-6E7EE00752EB}"/>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D44C80DA-57B1-4FF6-6E1B-B726C21A54FA}"/>
              </a:ext>
            </a:extLst>
          </p:cNvPr>
          <p:cNvSpPr>
            <a:spLocks noGrp="1"/>
          </p:cNvSpPr>
          <p:nvPr>
            <p:ph idx="1"/>
          </p:nvPr>
        </p:nvSpPr>
        <p:spPr/>
        <p:txBody>
          <a:bodyPr/>
          <a:lstStyle/>
          <a:p>
            <a:r>
              <a:rPr lang="ru-RU" dirty="0"/>
              <a:t>При использовании прототипа функции прототип после имени функции в скобках должен содержать типы параметров:</a:t>
            </a:r>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A31515"/>
                </a:solidFill>
                <a:latin typeface="Consolas" panose="020B0609020204030204" pitchFamily="49" charset="0"/>
              </a:rPr>
              <a:t>"Tom"</a:t>
            </a:r>
            <a:r>
              <a:rPr lang="de-CH" dirty="0">
                <a:solidFill>
                  <a:srgbClr val="000000"/>
                </a:solidFill>
                <a:latin typeface="Consolas" panose="020B0609020204030204" pitchFamily="49" charset="0"/>
              </a:rPr>
              <a:t>, 25);</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930686895"/>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F64995-CD16-C429-E9C7-5D8D1314084F}"/>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158367F6-7D94-1C9B-F61C-387624C6F44C}"/>
              </a:ext>
            </a:extLst>
          </p:cNvPr>
          <p:cNvSpPr>
            <a:spLocks noGrp="1"/>
          </p:cNvSpPr>
          <p:nvPr>
            <p:ph idx="1"/>
          </p:nvPr>
        </p:nvSpPr>
        <p:spPr/>
        <p:txBody>
          <a:bodyPr/>
          <a:lstStyle/>
          <a:p>
            <a:r>
              <a:rPr lang="ru-RU" b="1" u="sng" dirty="0"/>
              <a:t>Аргументы по умолчанию</a:t>
            </a:r>
          </a:p>
          <a:p>
            <a:endParaRPr lang="en-US" dirty="0"/>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 18)</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"Sam"</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Name: Sam    Age: 18</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"Tom"</a:t>
            </a:r>
            <a:r>
              <a:rPr lang="en-US" dirty="0">
                <a:solidFill>
                  <a:srgbClr val="000000"/>
                </a:solidFill>
                <a:latin typeface="Consolas" panose="020B0609020204030204" pitchFamily="49" charset="0"/>
              </a:rPr>
              <a:t>, 22);   </a:t>
            </a:r>
            <a:r>
              <a:rPr lang="en-US" dirty="0">
                <a:solidFill>
                  <a:srgbClr val="008000"/>
                </a:solidFill>
                <a:latin typeface="Consolas" panose="020B0609020204030204" pitchFamily="49" charset="0"/>
              </a:rPr>
              <a:t>// Name: Tom    Age: 22</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62397938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DFAA65F-09C6-BA54-71DE-1034A2334979}"/>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74B106BD-5E50-B9E5-2495-EA7732CA84AD}"/>
              </a:ext>
            </a:extLst>
          </p:cNvPr>
          <p:cNvSpPr>
            <a:spLocks noGrp="1"/>
          </p:cNvSpPr>
          <p:nvPr>
            <p:ph idx="1"/>
          </p:nvPr>
        </p:nvSpPr>
        <p:spPr/>
        <p:txBody>
          <a:bodyPr/>
          <a:lstStyle/>
          <a:p>
            <a:r>
              <a:rPr lang="ru-RU" dirty="0"/>
              <a:t>При определении необязательных параметров стоит учитывать, что они должны идти после обязательных. </a:t>
            </a:r>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Undefined</a:t>
            </a:r>
            <a:r>
              <a:rPr lang="de-CH" dirty="0">
                <a:solidFill>
                  <a:srgbClr val="A31515"/>
                </a:solidFill>
                <a:latin typeface="Consolas" panose="020B0609020204030204" pitchFamily="49" charset="0"/>
              </a:rPr>
              <a:t>"</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 18);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print();            </a:t>
            </a:r>
            <a:r>
              <a:rPr lang="en-US" dirty="0">
                <a:solidFill>
                  <a:srgbClr val="008000"/>
                </a:solidFill>
                <a:latin typeface="Consolas" panose="020B0609020204030204" pitchFamily="49" charset="0"/>
              </a:rPr>
              <a:t>// Name: Undefined  Age: 18</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"Sam"</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Name: Sam    Age: 18</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"Tom"</a:t>
            </a:r>
            <a:r>
              <a:rPr lang="en-US" dirty="0">
                <a:solidFill>
                  <a:srgbClr val="000000"/>
                </a:solidFill>
                <a:latin typeface="Consolas" panose="020B0609020204030204" pitchFamily="49" charset="0"/>
              </a:rPr>
              <a:t>, 23);   </a:t>
            </a:r>
            <a:r>
              <a:rPr lang="en-US" dirty="0">
                <a:solidFill>
                  <a:srgbClr val="008000"/>
                </a:solidFill>
                <a:latin typeface="Consolas" panose="020B0609020204030204" pitchFamily="49" charset="0"/>
              </a:rPr>
              <a:t>// Name: Tom    Age: 23</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02011146"/>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7C50C0-860A-5026-0161-447D65B201FD}"/>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E9624B69-1E1C-D503-1DC4-5137B299D3BC}"/>
              </a:ext>
            </a:extLst>
          </p:cNvPr>
          <p:cNvSpPr>
            <a:spLocks noGrp="1"/>
          </p:cNvSpPr>
          <p:nvPr>
            <p:ph idx="1"/>
          </p:nvPr>
        </p:nvSpPr>
        <p:spPr/>
        <p:txBody>
          <a:bodyPr/>
          <a:lstStyle/>
          <a:p>
            <a:r>
              <a:rPr lang="ru-RU" b="1" u="sng" dirty="0"/>
              <a:t>Автоматическое выведение типа параметров</a:t>
            </a:r>
          </a:p>
          <a:p>
            <a:endParaRPr lang="en-US" dirty="0"/>
          </a:p>
          <a:p>
            <a:r>
              <a:rPr lang="ru-RU" dirty="0"/>
              <a:t>Стоит отметить, что начиная со стандарта C++20 можно вместо конкретного типа для параметров указывать ключевое слово </a:t>
            </a:r>
            <a:r>
              <a:rPr lang="ru-RU" b="1" dirty="0" err="1"/>
              <a:t>auto</a:t>
            </a:r>
            <a:r>
              <a:rPr lang="ru-RU" dirty="0"/>
              <a:t>. Тогда тип параметров будет выводиться автоматически на этапе компиляции на основе передаваемых в функцию аргументов:</a:t>
            </a:r>
            <a:endParaRPr lang="en-US" dirty="0"/>
          </a:p>
          <a:p>
            <a:endParaRPr lang="en-US" dirty="0"/>
          </a:p>
          <a:p>
            <a:endParaRPr lang="ru-RU" dirty="0"/>
          </a:p>
        </p:txBody>
      </p:sp>
    </p:spTree>
    <p:extLst>
      <p:ext uri="{BB962C8B-B14F-4D97-AF65-F5344CB8AC3E}">
        <p14:creationId xmlns:p14="http://schemas.microsoft.com/office/powerpoint/2010/main" val="217340837"/>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D6B9DB-DA03-93AB-87D4-93492375F584}"/>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0D532A2C-C17D-07B7-BB23-8C82BB21EAAA}"/>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 функции </a:t>
            </a:r>
            <a:r>
              <a:rPr lang="de-CH" dirty="0" err="1">
                <a:solidFill>
                  <a:srgbClr val="008000"/>
                </a:solidFill>
                <a:latin typeface="Consolas" panose="020B0609020204030204" pitchFamily="49" charset="0"/>
              </a:rPr>
              <a:t>sum</a:t>
            </a:r>
            <a:endParaRPr lang="de-CH"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n1{ 3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n2{ 4 };</a:t>
            </a:r>
          </a:p>
          <a:p>
            <a:pPr lvl="1"/>
            <a:r>
              <a:rPr lang="pt-BR" dirty="0">
                <a:solidFill>
                  <a:srgbClr val="000000"/>
                </a:solidFill>
                <a:latin typeface="Consolas" panose="020B0609020204030204" pitchFamily="49" charset="0"/>
              </a:rPr>
              <a:t>    sum(n1, n2);  </a:t>
            </a:r>
            <a:r>
              <a:rPr lang="pt-BR" dirty="0">
                <a:solidFill>
                  <a:srgbClr val="008000"/>
                </a:solidFill>
                <a:latin typeface="Consolas" panose="020B0609020204030204" pitchFamily="49" charset="0"/>
              </a:rPr>
              <a:t>// 3 + 4 = 7</a:t>
            </a:r>
            <a:endParaRPr lang="pt-BR"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d1{ 3.3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d2{ 4.4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(d1, d2);;  </a:t>
            </a:r>
            <a:r>
              <a:rPr lang="de-CH" dirty="0">
                <a:solidFill>
                  <a:srgbClr val="008000"/>
                </a:solidFill>
                <a:latin typeface="Consolas" panose="020B0609020204030204" pitchFamily="49" charset="0"/>
              </a:rPr>
              <a:t>// 3.3 + 4.4 = 7.7</a:t>
            </a:r>
            <a:endParaRPr lang="de-CH"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pt-BR" dirty="0">
                <a:solidFill>
                  <a:srgbClr val="0000FF"/>
                </a:solidFill>
                <a:latin typeface="Consolas" panose="020B0609020204030204" pitchFamily="49" charset="0"/>
              </a:rPr>
              <a:t>void</a:t>
            </a:r>
            <a:r>
              <a:rPr lang="pt-BR" dirty="0">
                <a:solidFill>
                  <a:srgbClr val="000000"/>
                </a:solidFill>
                <a:latin typeface="Consolas" panose="020B0609020204030204" pitchFamily="49" charset="0"/>
              </a:rPr>
              <a:t> sum(</a:t>
            </a:r>
            <a:r>
              <a:rPr lang="pt-BR" dirty="0">
                <a:solidFill>
                  <a:srgbClr val="0000FF"/>
                </a:solidFill>
                <a:latin typeface="Consolas" panose="020B0609020204030204" pitchFamily="49" charset="0"/>
              </a:rPr>
              <a:t>auto</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a</a:t>
            </a:r>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auto</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b</a:t>
            </a:r>
            <a:r>
              <a:rPr lang="pt-BR"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&lt;&lt; </a:t>
            </a:r>
            <a:r>
              <a:rPr lang="en-US" dirty="0">
                <a:solidFill>
                  <a:srgbClr val="808080"/>
                </a:solidFill>
                <a:latin typeface="Consolas" panose="020B0609020204030204" pitchFamily="49" charset="0"/>
              </a:rPr>
              <a:t>a</a:t>
            </a:r>
            <a:r>
              <a:rPr lang="en-US" dirty="0">
                <a:solidFill>
                  <a:srgbClr val="000000"/>
                </a:solidFill>
                <a:latin typeface="Consolas" panose="020B0609020204030204" pitchFamily="49" charset="0"/>
              </a:rPr>
              <a:t> &lt;&lt; </a:t>
            </a:r>
            <a:r>
              <a:rPr lang="en-US" dirty="0">
                <a:solidFill>
                  <a:srgbClr val="A31515"/>
                </a:solidFill>
                <a:latin typeface="Consolas" panose="020B0609020204030204" pitchFamily="49" charset="0"/>
              </a:rPr>
              <a:t>" + "</a:t>
            </a:r>
            <a:r>
              <a:rPr lang="en-US" dirty="0">
                <a:solidFill>
                  <a:srgbClr val="000000"/>
                </a:solidFill>
                <a:latin typeface="Consolas" panose="020B0609020204030204" pitchFamily="49" charset="0"/>
              </a:rPr>
              <a:t> &lt;&lt; </a:t>
            </a:r>
            <a:r>
              <a:rPr lang="en-US" dirty="0">
                <a:solidFill>
                  <a:srgbClr val="808080"/>
                </a:solidFill>
                <a:latin typeface="Consolas" panose="020B0609020204030204" pitchFamily="49" charset="0"/>
              </a:rPr>
              <a:t>b</a:t>
            </a:r>
            <a:r>
              <a:rPr lang="en-US" dirty="0">
                <a:solidFill>
                  <a:srgbClr val="000000"/>
                </a:solidFill>
                <a:latin typeface="Consolas" panose="020B0609020204030204" pitchFamily="49" charset="0"/>
              </a:rPr>
              <a:t> &lt;&lt; </a:t>
            </a:r>
            <a:r>
              <a:rPr lang="en-US" dirty="0">
                <a:solidFill>
                  <a:srgbClr val="A31515"/>
                </a:solidFill>
                <a:latin typeface="Consolas" panose="020B0609020204030204" pitchFamily="49" charset="0"/>
              </a:rPr>
              <a:t>" = "</a:t>
            </a:r>
            <a:r>
              <a:rPr lang="en-US" dirty="0">
                <a:solidFill>
                  <a:srgbClr val="000000"/>
                </a:solidFill>
                <a:latin typeface="Consolas" panose="020B0609020204030204" pitchFamily="49" charset="0"/>
              </a:rPr>
              <a:t> &lt;&lt; result &lt;&lt;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84784781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492CEF-2F3A-4F11-E3E2-B1BEDB7AC453}"/>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63A39AEE-EFEC-AEE2-22A6-0FF9D0E2041E}"/>
              </a:ext>
            </a:extLst>
          </p:cNvPr>
          <p:cNvSpPr>
            <a:spLocks noGrp="1"/>
          </p:cNvSpPr>
          <p:nvPr>
            <p:ph idx="1"/>
          </p:nvPr>
        </p:nvSpPr>
        <p:spPr/>
        <p:txBody>
          <a:bodyPr/>
          <a:lstStyle/>
          <a:p>
            <a:r>
              <a:rPr lang="ru-RU" b="1" u="sng" dirty="0"/>
              <a:t>Передача аргументов по значению</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 функции</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"Before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(n);</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"After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изменяем значение параметра</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 square: m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m</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69383810"/>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63AA00-9FFF-82E3-4D63-0498250CCA2D}"/>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B492E8D5-4121-199D-7715-262B246BD07E}"/>
              </a:ext>
            </a:extLst>
          </p:cNvPr>
          <p:cNvSpPr>
            <a:spLocks noGrp="1"/>
          </p:cNvSpPr>
          <p:nvPr>
            <p:ph idx="1"/>
          </p:nvPr>
        </p:nvSpPr>
        <p:spPr/>
        <p:txBody>
          <a:bodyPr/>
          <a:lstStyle/>
          <a:p>
            <a:r>
              <a:rPr lang="ru-RU" b="1" u="sng" dirty="0"/>
              <a:t>Передача параметров по ссылке</a:t>
            </a:r>
            <a:endParaRPr lang="en-US" b="1" u="sng" dirty="0"/>
          </a:p>
          <a:p>
            <a:endParaRPr lang="en-US" b="1" u="sng"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 функции</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4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"Before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(n);</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"After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изменяем значение параметра</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 square: m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m</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b="1" u="sng" dirty="0"/>
          </a:p>
          <a:p>
            <a:endParaRPr lang="ru-RU" dirty="0"/>
          </a:p>
        </p:txBody>
      </p:sp>
    </p:spTree>
    <p:extLst>
      <p:ext uri="{BB962C8B-B14F-4D97-AF65-F5344CB8AC3E}">
        <p14:creationId xmlns:p14="http://schemas.microsoft.com/office/powerpoint/2010/main" val="111193722"/>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6DD83C-1638-A524-B261-50ACB58DE992}"/>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0400779A-38C4-B8FD-26D7-50C8301050F2}"/>
              </a:ext>
            </a:extLst>
          </p:cNvPr>
          <p:cNvSpPr>
            <a:spLocks noGrp="1"/>
          </p:cNvSpPr>
          <p:nvPr>
            <p:ph idx="1"/>
          </p:nvPr>
        </p:nvSpPr>
        <p:spPr/>
        <p:txBody>
          <a:bodyPr/>
          <a:lstStyle/>
          <a:p>
            <a:pPr lvl="1"/>
            <a:endParaRPr lang="ru-RU"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прототип функции</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4;</a:t>
            </a:r>
          </a:p>
          <a:p>
            <a:pPr lvl="1"/>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&amp; </a:t>
            </a:r>
            <a:r>
              <a:rPr lang="ru-RU" dirty="0" err="1">
                <a:solidFill>
                  <a:srgbClr val="000000"/>
                </a:solidFill>
                <a:latin typeface="Consolas" panose="020B0609020204030204" pitchFamily="49" charset="0"/>
              </a:rPr>
              <a:t>nRef</a:t>
            </a:r>
            <a:r>
              <a:rPr lang="ru-RU" dirty="0">
                <a:solidFill>
                  <a:srgbClr val="000000"/>
                </a:solidFill>
                <a:latin typeface="Consolas" panose="020B0609020204030204" pitchFamily="49" charset="0"/>
              </a:rPr>
              <a:t> = n;  </a:t>
            </a:r>
            <a:r>
              <a:rPr lang="ru-RU" dirty="0">
                <a:solidFill>
                  <a:srgbClr val="008000"/>
                </a:solidFill>
                <a:latin typeface="Consolas" panose="020B0609020204030204" pitchFamily="49" charset="0"/>
              </a:rPr>
              <a:t>// ссылка на переменную n</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"Before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nRef</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"After square: n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 </a:t>
            </a:r>
            <a:r>
              <a:rPr lang="ru-RU" dirty="0">
                <a:solidFill>
                  <a:srgbClr val="808080"/>
                </a:solidFill>
                <a:latin typeface="Consolas" panose="020B0609020204030204" pitchFamily="49" charset="0"/>
              </a:rPr>
              <a:t>m</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изменяем значение параметра</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 square: m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m</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07347030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89D846-B697-AF8B-D317-EFDEB8D567E1}"/>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B8104395-9D74-112C-8612-30F1B3EBB7DB}"/>
              </a:ext>
            </a:extLst>
          </p:cNvPr>
          <p:cNvSpPr>
            <a:spLocks noGrp="1"/>
          </p:cNvSpPr>
          <p:nvPr>
            <p:ph idx="1"/>
          </p:nvPr>
        </p:nvSpPr>
        <p:spPr/>
        <p:txBody>
          <a:bodyPr/>
          <a:lstStyle/>
          <a:p>
            <a:r>
              <a:rPr lang="ru-RU" b="1" u="sng" dirty="0"/>
              <a:t>Преобразования типов</a:t>
            </a:r>
            <a:r>
              <a:rPr lang="en-US" b="1" u="sng" dirty="0"/>
              <a:t>:</a:t>
            </a:r>
          </a:p>
          <a:p>
            <a:endParaRPr lang="en-US" b="1" dirty="0"/>
          </a:p>
          <a:p>
            <a:pPr lvl="1" algn="just"/>
            <a:r>
              <a:rPr lang="ru-RU" dirty="0"/>
              <a:t>Передача параметров по значению и по ссылке отличаются еще одним важным моментом. С++ может автоматически преобразовывать значения одних типов в другие, в том числе если подобные преобразования сопровождаются потерей точности (например, преобразование от типа </a:t>
            </a:r>
            <a:r>
              <a:rPr lang="ru-RU" dirty="0" err="1"/>
              <a:t>double</a:t>
            </a:r>
            <a:r>
              <a:rPr lang="ru-RU" dirty="0"/>
              <a:t> к типу int). Но при передаче параметров по ссылке неявные автоматические преобразования типов исключены. </a:t>
            </a:r>
          </a:p>
        </p:txBody>
      </p:sp>
    </p:spTree>
    <p:extLst>
      <p:ext uri="{BB962C8B-B14F-4D97-AF65-F5344CB8AC3E}">
        <p14:creationId xmlns:p14="http://schemas.microsoft.com/office/powerpoint/2010/main" val="224585292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6A78A9-E107-9573-55C9-997D2E2B690F}"/>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02EC8A63-C4CF-4156-5CD1-44D31CC31CB9}"/>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printVal</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printRef</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double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value</a:t>
            </a:r>
            <a:r>
              <a:rPr lang="de-CH" dirty="0">
                <a:solidFill>
                  <a:srgbClr val="000000"/>
                </a:solidFill>
                <a:latin typeface="Consolas" panose="020B0609020204030204" pitchFamily="49" charset="0"/>
              </a:rPr>
              <a:t>{ 3.14159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printVal</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value</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3</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printRef</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value</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 </a:t>
            </a:r>
            <a:r>
              <a:rPr lang="ru-RU" dirty="0">
                <a:solidFill>
                  <a:srgbClr val="008000"/>
                </a:solidFill>
                <a:latin typeface="Consolas" panose="020B0609020204030204" pitchFamily="49" charset="0"/>
              </a:rPr>
              <a:t>Ошибка</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printVal</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printRef</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19992630"/>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438803-9F95-3D2C-7998-782DAC5B3C27}"/>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C4917730-F89F-6C28-A6CC-D5E70927A5DA}"/>
              </a:ext>
            </a:extLst>
          </p:cNvPr>
          <p:cNvSpPr>
            <a:spLocks noGrp="1"/>
          </p:cNvSpPr>
          <p:nvPr>
            <p:ph idx="1"/>
          </p:nvPr>
        </p:nvSpPr>
        <p:spPr/>
        <p:txBody>
          <a:bodyPr/>
          <a:lstStyle/>
          <a:p>
            <a:r>
              <a:rPr lang="ru-RU" b="1" dirty="0"/>
              <a:t>Константные параметры</a:t>
            </a:r>
          </a:p>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4 };</a:t>
            </a:r>
          </a:p>
          <a:p>
            <a:pPr lvl="1"/>
            <a:r>
              <a:rPr lang="pt-BR" dirty="0">
                <a:solidFill>
                  <a:srgbClr val="000000"/>
                </a:solidFill>
                <a:latin typeface="Consolas" panose="020B0609020204030204" pitchFamily="49" charset="0"/>
              </a:rPr>
              <a:t>    square(number);   </a:t>
            </a:r>
            <a:r>
              <a:rPr lang="pt-BR" dirty="0">
                <a:solidFill>
                  <a:srgbClr val="008000"/>
                </a:solidFill>
                <a:latin typeface="Consolas" panose="020B0609020204030204" pitchFamily="49" charset="0"/>
              </a:rPr>
              <a:t>// n * n = 16</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square(</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//n = n * n;     так нельзя сделать</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 * n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945771355"/>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CC4095-D287-36DC-AFB8-A07A7F3B5D1C}"/>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D99DADD6-DADC-4D4C-32A5-39855566A5A6}"/>
              </a:ext>
            </a:extLst>
          </p:cNvPr>
          <p:cNvSpPr>
            <a:spLocks noGrp="1"/>
          </p:cNvSpPr>
          <p:nvPr>
            <p:ph idx="1"/>
          </p:nvPr>
        </p:nvSpPr>
        <p:spPr/>
        <p:txBody>
          <a:bodyPr/>
          <a:lstStyle/>
          <a:p>
            <a:r>
              <a:rPr lang="ru-RU" b="1" u="sng" dirty="0"/>
              <a:t>Константные ссылки</a:t>
            </a:r>
          </a:p>
          <a:p>
            <a:pPr lvl="1"/>
            <a:endParaRPr lang="en-US" dirty="0">
              <a:solidFill>
                <a:srgbClr val="0000FF"/>
              </a:solidFill>
              <a:latin typeface="Consolas" panose="020B0609020204030204" pitchFamily="49" charset="0"/>
            </a:endParaRPr>
          </a:p>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square</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&amp;);    </a:t>
            </a:r>
            <a:r>
              <a:rPr lang="ru-RU" dirty="0">
                <a:solidFill>
                  <a:srgbClr val="008000"/>
                </a:solidFill>
                <a:latin typeface="Consolas" panose="020B0609020204030204" pitchFamily="49" charset="0"/>
              </a:rPr>
              <a:t>// функция получает константную ссылку</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 5;</a:t>
            </a:r>
          </a:p>
          <a:p>
            <a:pPr lvl="1"/>
            <a:r>
              <a:rPr lang="pt-BR" dirty="0">
                <a:solidFill>
                  <a:srgbClr val="000000"/>
                </a:solidFill>
                <a:latin typeface="Consolas" panose="020B0609020204030204" pitchFamily="49" charset="0"/>
              </a:rPr>
              <a:t>    square(number);  </a:t>
            </a:r>
            <a:r>
              <a:rPr lang="pt-BR" dirty="0">
                <a:solidFill>
                  <a:srgbClr val="008000"/>
                </a:solidFill>
                <a:latin typeface="Consolas" panose="020B0609020204030204" pitchFamily="49" charset="0"/>
              </a:rPr>
              <a:t>// n * n = 25</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square(</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&amp;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n = n * n;     так нельзя сделать</a:t>
            </a:r>
            <a:endParaRPr lang="ru-RU" dirty="0">
              <a:solidFill>
                <a:srgbClr val="000000"/>
              </a:solidFill>
              <a:latin typeface="Consolas" panose="020B0609020204030204" pitchFamily="49" charset="0"/>
            </a:endParaRP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 * n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251419745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7E3393-B409-F5B1-0457-92180344D627}"/>
              </a:ext>
            </a:extLst>
          </p:cNvPr>
          <p:cNvSpPr>
            <a:spLocks noGrp="1"/>
          </p:cNvSpPr>
          <p:nvPr>
            <p:ph type="title"/>
          </p:nvPr>
        </p:nvSpPr>
        <p:spPr/>
        <p:txBody>
          <a:bodyPr/>
          <a:lstStyle/>
          <a:p>
            <a:r>
              <a:rPr lang="ru-RU" b="1" dirty="0"/>
              <a:t>Параметры функций</a:t>
            </a:r>
            <a:endParaRPr lang="ru-RU" dirty="0"/>
          </a:p>
        </p:txBody>
      </p:sp>
      <p:sp>
        <p:nvSpPr>
          <p:cNvPr id="3" name="Объект 2">
            <a:extLst>
              <a:ext uri="{FF2B5EF4-FFF2-40B4-BE49-F238E27FC236}">
                <a16:creationId xmlns:a16="http://schemas.microsoft.com/office/drawing/2014/main" id="{FC31CAC7-7885-0169-E83C-FD0ECDB0D684}"/>
              </a:ext>
            </a:extLst>
          </p:cNvPr>
          <p:cNvSpPr>
            <a:spLocks noGrp="1"/>
          </p:cNvSpPr>
          <p:nvPr>
            <p:ph idx="1"/>
          </p:nvPr>
        </p:nvSpPr>
        <p:spPr/>
        <p:txBody>
          <a:bodyPr/>
          <a:lstStyle/>
          <a:p>
            <a:r>
              <a:rPr lang="ru-RU" dirty="0"/>
              <a:t>Если функция получает аргументы по ссылке, то чтобы передать в функцию константу, параметры тоже должны представлять ссылку на константу (</a:t>
            </a:r>
            <a:r>
              <a:rPr lang="ru-RU" dirty="0" err="1"/>
              <a:t>неконстантной</a:t>
            </a:r>
            <a:r>
              <a:rPr lang="ru-RU" dirty="0"/>
              <a:t> ссылке мы не можем передать константу.):</a:t>
            </a:r>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square</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number</a:t>
            </a:r>
            <a:r>
              <a:rPr lang="de-CH" dirty="0">
                <a:solidFill>
                  <a:srgbClr val="000000"/>
                </a:solidFill>
                <a:latin typeface="Consolas" panose="020B0609020204030204" pitchFamily="49" charset="0"/>
              </a:rPr>
              <a:t>{ 6 };</a:t>
            </a:r>
          </a:p>
          <a:p>
            <a:pPr lvl="1"/>
            <a:r>
              <a:rPr lang="pt-BR" dirty="0">
                <a:solidFill>
                  <a:srgbClr val="000000"/>
                </a:solidFill>
                <a:latin typeface="Consolas" panose="020B0609020204030204" pitchFamily="49" charset="0"/>
              </a:rPr>
              <a:t>    square(number);  </a:t>
            </a:r>
            <a:r>
              <a:rPr lang="pt-BR" dirty="0">
                <a:solidFill>
                  <a:srgbClr val="008000"/>
                </a:solidFill>
                <a:latin typeface="Consolas" panose="020B0609020204030204" pitchFamily="49" charset="0"/>
              </a:rPr>
              <a:t>// n * n = 36</a:t>
            </a:r>
            <a:endParaRPr lang="pt-BR"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square(</a:t>
            </a:r>
            <a:r>
              <a:rPr lang="en-US" dirty="0">
                <a:solidFill>
                  <a:srgbClr val="0000FF"/>
                </a:solidFill>
                <a:latin typeface="Consolas" panose="020B0609020204030204" pitchFamily="49" charset="0"/>
              </a:rPr>
              <a:t>const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&amp;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pt-BR" dirty="0">
                <a:solidFill>
                  <a:srgbClr val="000000"/>
                </a:solidFill>
                <a:latin typeface="Consolas" panose="020B0609020204030204" pitchFamily="49" charset="0"/>
              </a:rPr>
              <a:t>    std::cout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A31515"/>
                </a:solidFill>
                <a:latin typeface="Consolas" panose="020B0609020204030204" pitchFamily="49" charset="0"/>
              </a:rPr>
              <a:t>"n * n = "</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a:t>
            </a:r>
            <a:r>
              <a:rPr lang="pt-BR" dirty="0">
                <a:solidFill>
                  <a:srgbClr val="008080"/>
                </a:solidFill>
                <a:latin typeface="Consolas" panose="020B0609020204030204" pitchFamily="49" charset="0"/>
              </a:rPr>
              <a:t>&lt;&lt;</a:t>
            </a:r>
            <a:r>
              <a:rPr lang="pt-BR" dirty="0">
                <a:solidFill>
                  <a:srgbClr val="000000"/>
                </a:solidFill>
                <a:latin typeface="Consolas" panose="020B0609020204030204" pitchFamily="49" charset="0"/>
              </a:rPr>
              <a:t> std::endl;</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504590083"/>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833EFF-24E4-0875-206D-971DFF5B30E3}"/>
              </a:ext>
            </a:extLst>
          </p:cNvPr>
          <p:cNvSpPr>
            <a:spLocks noGrp="1"/>
          </p:cNvSpPr>
          <p:nvPr>
            <p:ph type="title"/>
          </p:nvPr>
        </p:nvSpPr>
        <p:spPr/>
        <p:txBody>
          <a:bodyPr/>
          <a:lstStyle/>
          <a:p>
            <a:r>
              <a:rPr lang="ru-RU" sz="2000" b="1" dirty="0"/>
              <a:t>Оператор </a:t>
            </a:r>
            <a:r>
              <a:rPr lang="ru-RU" sz="2000" b="1" dirty="0" err="1"/>
              <a:t>return</a:t>
            </a:r>
            <a:r>
              <a:rPr lang="ru-RU" sz="2000" b="1" dirty="0"/>
              <a:t> и возвращение результата</a:t>
            </a:r>
            <a:endParaRPr lang="ru-RU" sz="2000" dirty="0"/>
          </a:p>
        </p:txBody>
      </p:sp>
      <p:sp>
        <p:nvSpPr>
          <p:cNvPr id="3" name="Объект 2">
            <a:extLst>
              <a:ext uri="{FF2B5EF4-FFF2-40B4-BE49-F238E27FC236}">
                <a16:creationId xmlns:a16="http://schemas.microsoft.com/office/drawing/2014/main" id="{ABB80B5F-0415-3200-204D-938884312A69}"/>
              </a:ext>
            </a:extLst>
          </p:cNvPr>
          <p:cNvSpPr>
            <a:spLocks noGrp="1"/>
          </p:cNvSpPr>
          <p:nvPr>
            <p:ph idx="1"/>
          </p:nvPr>
        </p:nvSpPr>
        <p:spPr/>
        <p:txBody>
          <a:bodyPr/>
          <a:lstStyle/>
          <a:p>
            <a:r>
              <a:rPr lang="ru-RU" dirty="0"/>
              <a:t>Для возвращения результата из функции применяется оператор </a:t>
            </a:r>
            <a:r>
              <a:rPr lang="ru-RU" b="1" dirty="0" err="1"/>
              <a:t>return</a:t>
            </a:r>
            <a:r>
              <a:rPr lang="ru-RU" dirty="0"/>
              <a:t>. Этот оператор имеет две формы:</a:t>
            </a:r>
          </a:p>
          <a:p>
            <a:endParaRPr lang="ru-RU" dirty="0"/>
          </a:p>
          <a:p>
            <a:pPr lvl="1"/>
            <a:r>
              <a:rPr lang="de-CH" b="1" dirty="0" err="1"/>
              <a:t>return</a:t>
            </a:r>
            <a:r>
              <a:rPr lang="de-CH" dirty="0"/>
              <a:t> </a:t>
            </a:r>
            <a:r>
              <a:rPr lang="ru-RU" dirty="0"/>
              <a:t>выражение;</a:t>
            </a:r>
          </a:p>
          <a:p>
            <a:pPr lvl="1"/>
            <a:endParaRPr lang="ru-RU" b="1" dirty="0"/>
          </a:p>
          <a:p>
            <a:pPr lvl="1"/>
            <a:r>
              <a:rPr lang="de-CH" b="1" dirty="0" err="1"/>
              <a:t>return</a:t>
            </a:r>
            <a:r>
              <a:rPr lang="de-CH" dirty="0"/>
              <a:t>;</a:t>
            </a:r>
          </a:p>
          <a:p>
            <a:pPr lvl="1"/>
            <a:endParaRPr lang="de-CH" dirty="0"/>
          </a:p>
          <a:p>
            <a:pPr lvl="1"/>
            <a:endParaRPr lang="de-CH" dirty="0"/>
          </a:p>
          <a:p>
            <a:r>
              <a:rPr lang="ru-RU" dirty="0">
                <a:solidFill>
                  <a:srgbClr val="FF0000"/>
                </a:solidFill>
              </a:rPr>
              <a:t>Единственная функция, которая возвращает некоторое значение, и где можно не использовать оператор </a:t>
            </a:r>
            <a:r>
              <a:rPr lang="ru-RU" b="1" dirty="0" err="1">
                <a:solidFill>
                  <a:srgbClr val="FF0000"/>
                </a:solidFill>
              </a:rPr>
              <a:t>return</a:t>
            </a:r>
            <a:r>
              <a:rPr lang="ru-RU" dirty="0">
                <a:solidFill>
                  <a:srgbClr val="FF0000"/>
                </a:solidFill>
              </a:rPr>
              <a:t> - это функция </a:t>
            </a:r>
            <a:r>
              <a:rPr lang="ru-RU" b="1" dirty="0" err="1">
                <a:solidFill>
                  <a:srgbClr val="FF0000"/>
                </a:solidFill>
              </a:rPr>
              <a:t>main</a:t>
            </a:r>
            <a:r>
              <a:rPr lang="ru-RU" dirty="0"/>
              <a:t>.</a:t>
            </a:r>
            <a:endParaRPr lang="de-CH" dirty="0"/>
          </a:p>
          <a:p>
            <a:endParaRPr lang="ru-RU" dirty="0"/>
          </a:p>
        </p:txBody>
      </p:sp>
    </p:spTree>
    <p:extLst>
      <p:ext uri="{BB962C8B-B14F-4D97-AF65-F5344CB8AC3E}">
        <p14:creationId xmlns:p14="http://schemas.microsoft.com/office/powerpoint/2010/main" val="353242091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DDF918-10AC-1520-D3AF-2FDBBC3FDC67}"/>
              </a:ext>
            </a:extLst>
          </p:cNvPr>
          <p:cNvSpPr>
            <a:spLocks noGrp="1"/>
          </p:cNvSpPr>
          <p:nvPr>
            <p:ph type="title"/>
          </p:nvPr>
        </p:nvSpPr>
        <p:spPr/>
        <p:txBody>
          <a:bodyPr/>
          <a:lstStyle/>
          <a:p>
            <a:endParaRPr lang="ru-RU" sz="2000" dirty="0"/>
          </a:p>
        </p:txBody>
      </p:sp>
      <p:sp>
        <p:nvSpPr>
          <p:cNvPr id="3" name="Объект 2">
            <a:extLst>
              <a:ext uri="{FF2B5EF4-FFF2-40B4-BE49-F238E27FC236}">
                <a16:creationId xmlns:a16="http://schemas.microsoft.com/office/drawing/2014/main" id="{AD4774CE-1582-6B16-E334-659FC352C7EF}"/>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result = sum(10, 6);    </a:t>
            </a:r>
            <a:r>
              <a:rPr lang="en-US" dirty="0">
                <a:solidFill>
                  <a:srgbClr val="008000"/>
                </a:solidFill>
                <a:latin typeface="Consolas" panose="020B0609020204030204" pitchFamily="49" charset="0"/>
              </a:rPr>
              <a:t>// 16</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sum(10, 7)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17</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sum(10, 8)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18</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m</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09769377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08E191-C6D5-9BF1-CB0E-5A5FA3A127AF}"/>
              </a:ext>
            </a:extLst>
          </p:cNvPr>
          <p:cNvSpPr>
            <a:spLocks noGrp="1"/>
          </p:cNvSpPr>
          <p:nvPr>
            <p:ph type="title"/>
          </p:nvPr>
        </p:nvSpPr>
        <p:spPr/>
        <p:txBody>
          <a:bodyPr/>
          <a:lstStyle/>
          <a:p>
            <a:r>
              <a:rPr lang="ru-RU" sz="2000" b="1" dirty="0"/>
              <a:t>Оператор </a:t>
            </a:r>
            <a:r>
              <a:rPr lang="ru-RU" sz="2000" b="1" dirty="0" err="1"/>
              <a:t>return</a:t>
            </a:r>
            <a:r>
              <a:rPr lang="ru-RU" sz="2000" b="1" dirty="0"/>
              <a:t> и возвращение результата</a:t>
            </a:r>
            <a:endParaRPr lang="ru-RU" sz="2000" dirty="0"/>
          </a:p>
        </p:txBody>
      </p:sp>
      <p:sp>
        <p:nvSpPr>
          <p:cNvPr id="3" name="Объект 2">
            <a:extLst>
              <a:ext uri="{FF2B5EF4-FFF2-40B4-BE49-F238E27FC236}">
                <a16:creationId xmlns:a16="http://schemas.microsoft.com/office/drawing/2014/main" id="{7203C0B7-816E-B9B2-1ABD-07C4C991F3E2}"/>
              </a:ext>
            </a:extLst>
          </p:cNvPr>
          <p:cNvSpPr>
            <a:spLocks noGrp="1"/>
          </p:cNvSpPr>
          <p:nvPr>
            <p:ph idx="1"/>
          </p:nvPr>
        </p:nvSpPr>
        <p:spPr/>
        <p:txBody>
          <a:bodyPr/>
          <a:lstStyle/>
          <a:p>
            <a:r>
              <a:rPr lang="de-CH" b="1" dirty="0" err="1"/>
              <a:t>return</a:t>
            </a:r>
            <a:r>
              <a:rPr lang="de-CH" b="1" dirty="0"/>
              <a:t> </a:t>
            </a:r>
            <a:r>
              <a:rPr lang="ru-RU" b="1" dirty="0"/>
              <a:t>без возвращения значения</a:t>
            </a:r>
            <a:endParaRPr lang="en-US" b="1"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2B91AF"/>
                </a:solidFill>
                <a:latin typeface="Consolas" panose="020B0609020204030204" pitchFamily="49" charset="0"/>
              </a:rPr>
              <a:t>string</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"Tom"</a:t>
            </a:r>
            <a:r>
              <a:rPr lang="en-US" dirty="0">
                <a:solidFill>
                  <a:srgbClr val="000000"/>
                </a:solidFill>
                <a:latin typeface="Consolas" panose="020B0609020204030204" pitchFamily="49" charset="0"/>
              </a:rPr>
              <a:t>, 38);       </a:t>
            </a:r>
            <a:r>
              <a:rPr lang="en-US" dirty="0">
                <a:solidFill>
                  <a:srgbClr val="008000"/>
                </a:solidFill>
                <a:latin typeface="Consolas" panose="020B0609020204030204" pitchFamily="49" charset="0"/>
              </a:rPr>
              <a:t>// Name: Tom       Age: 38</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print(</a:t>
            </a:r>
            <a:r>
              <a:rPr lang="en-US" dirty="0">
                <a:solidFill>
                  <a:srgbClr val="A31515"/>
                </a:solidFill>
                <a:latin typeface="Consolas" panose="020B0609020204030204" pitchFamily="49" charset="0"/>
              </a:rPr>
              <a:t>"Bob"</a:t>
            </a:r>
            <a:r>
              <a:rPr lang="en-US" dirty="0">
                <a:solidFill>
                  <a:srgbClr val="000000"/>
                </a:solidFill>
                <a:latin typeface="Consolas" panose="020B0609020204030204" pitchFamily="49" charset="0"/>
              </a:rPr>
              <a:t>, 2500);     </a:t>
            </a:r>
            <a:r>
              <a:rPr lang="en-US" dirty="0">
                <a:solidFill>
                  <a:srgbClr val="008000"/>
                </a:solidFill>
                <a:latin typeface="Consolas" panose="020B0609020204030204" pitchFamily="49" charset="0"/>
              </a:rPr>
              <a:t>// Incorrect age</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print(std::</a:t>
            </a:r>
            <a:r>
              <a:rPr lang="en-US" dirty="0">
                <a:solidFill>
                  <a:srgbClr val="2B91AF"/>
                </a:solidFill>
                <a:latin typeface="Consolas" panose="020B0609020204030204" pitchFamily="49" charset="0"/>
              </a:rPr>
              <a:t>string</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если запредельный возраст</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age</a:t>
            </a:r>
            <a:r>
              <a:rPr lang="de-CH" dirty="0">
                <a:solidFill>
                  <a:srgbClr val="000000"/>
                </a:solidFill>
                <a:latin typeface="Consolas" panose="020B0609020204030204" pitchFamily="49" charset="0"/>
              </a:rPr>
              <a:t> &gt; 120)</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"Incorrect 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008000"/>
                </a:solidFill>
                <a:latin typeface="Consolas" panose="020B0609020204030204" pitchFamily="49" charset="0"/>
              </a:rPr>
              <a:t>// </a:t>
            </a:r>
            <a:r>
              <a:rPr lang="ru-RU" dirty="0">
                <a:solidFill>
                  <a:srgbClr val="008000"/>
                </a:solidFill>
                <a:latin typeface="Consolas" panose="020B0609020204030204" pitchFamily="49" charset="0"/>
              </a:rPr>
              <a:t>выходим из функции</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"Name: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name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tAge</a:t>
            </a:r>
            <a:r>
              <a:rPr lang="en-US" dirty="0">
                <a:solidFill>
                  <a:srgbClr val="A31515"/>
                </a:solidFill>
                <a:latin typeface="Consolas" panose="020B0609020204030204" pitchFamily="49" charset="0"/>
              </a:rPr>
              <a:t>: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age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b="1" dirty="0"/>
          </a:p>
          <a:p>
            <a:endParaRPr lang="ru-RU" dirty="0"/>
          </a:p>
        </p:txBody>
      </p:sp>
    </p:spTree>
    <p:extLst>
      <p:ext uri="{BB962C8B-B14F-4D97-AF65-F5344CB8AC3E}">
        <p14:creationId xmlns:p14="http://schemas.microsoft.com/office/powerpoint/2010/main" val="2316433009"/>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CD8FA9-559B-F525-71EF-F9AF078E1AB4}"/>
              </a:ext>
            </a:extLst>
          </p:cNvPr>
          <p:cNvSpPr>
            <a:spLocks noGrp="1"/>
          </p:cNvSpPr>
          <p:nvPr>
            <p:ph type="title"/>
          </p:nvPr>
        </p:nvSpPr>
        <p:spPr/>
        <p:txBody>
          <a:bodyPr/>
          <a:lstStyle/>
          <a:p>
            <a:r>
              <a:rPr lang="ru-RU" b="1" dirty="0"/>
              <a:t>Выведение типа результата</a:t>
            </a:r>
            <a:endParaRPr lang="ru-RU" dirty="0"/>
          </a:p>
        </p:txBody>
      </p:sp>
      <p:sp>
        <p:nvSpPr>
          <p:cNvPr id="3" name="Объект 2">
            <a:extLst>
              <a:ext uri="{FF2B5EF4-FFF2-40B4-BE49-F238E27FC236}">
                <a16:creationId xmlns:a16="http://schemas.microsoft.com/office/drawing/2014/main" id="{1631A9C6-3BC9-D66B-4527-93BE795C5041}"/>
              </a:ext>
            </a:extLst>
          </p:cNvPr>
          <p:cNvSpPr>
            <a:spLocks noGrp="1"/>
          </p:cNvSpPr>
          <p:nvPr>
            <p:ph idx="1"/>
          </p:nvPr>
        </p:nvSpPr>
        <p:spPr/>
        <p:txBody>
          <a:bodyPr/>
          <a:lstStyle/>
          <a:p>
            <a:r>
              <a:rPr lang="ru-RU" dirty="0"/>
              <a:t>Компилятор С++ может автоматически выводить тип возвращаемого значения, если вместо возвращаемого типу используется оператор </a:t>
            </a:r>
            <a:r>
              <a:rPr lang="ru-RU" b="1" dirty="0" err="1"/>
              <a:t>auto</a:t>
            </a:r>
            <a:r>
              <a:rPr lang="ru-RU" dirty="0"/>
              <a:t>:</a:t>
            </a:r>
            <a:endParaRPr lang="en-US" dirty="0"/>
          </a:p>
          <a:p>
            <a:endParaRPr lang="en-US" b="1" dirty="0"/>
          </a:p>
          <a:p>
            <a:pPr lvl="1"/>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sum</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sum(3, 6)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9</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endParaRPr lang="ru-RU" b="1" dirty="0"/>
          </a:p>
          <a:p>
            <a:endParaRPr lang="ru-RU" dirty="0"/>
          </a:p>
        </p:txBody>
      </p:sp>
    </p:spTree>
    <p:extLst>
      <p:ext uri="{BB962C8B-B14F-4D97-AF65-F5344CB8AC3E}">
        <p14:creationId xmlns:p14="http://schemas.microsoft.com/office/powerpoint/2010/main" val="301995032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EADF632-0403-87EC-1BD0-CC0C5BB7EE98}"/>
              </a:ext>
            </a:extLst>
          </p:cNvPr>
          <p:cNvSpPr>
            <a:spLocks noGrp="1"/>
          </p:cNvSpPr>
          <p:nvPr>
            <p:ph type="title"/>
          </p:nvPr>
        </p:nvSpPr>
        <p:spPr/>
        <p:txBody>
          <a:bodyPr/>
          <a:lstStyle/>
          <a:p>
            <a:r>
              <a:rPr lang="ru-RU" sz="2400" b="1" dirty="0"/>
              <a:t>Указатели в параметрах функции</a:t>
            </a:r>
            <a:endParaRPr lang="ru-RU" sz="2400" dirty="0"/>
          </a:p>
        </p:txBody>
      </p:sp>
      <p:sp>
        <p:nvSpPr>
          <p:cNvPr id="3" name="Объект 2">
            <a:extLst>
              <a:ext uri="{FF2B5EF4-FFF2-40B4-BE49-F238E27FC236}">
                <a16:creationId xmlns:a16="http://schemas.microsoft.com/office/drawing/2014/main" id="{FFDB4FCC-2767-C7F6-5102-5D39AAA12FB5}"/>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(n);</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main</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n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increment</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396714235"/>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8F2D2E-1F6B-035E-2572-64F6489E955C}"/>
              </a:ext>
            </a:extLst>
          </p:cNvPr>
          <p:cNvSpPr>
            <a:spLocks noGrp="1"/>
          </p:cNvSpPr>
          <p:nvPr>
            <p:ph type="title"/>
          </p:nvPr>
        </p:nvSpPr>
        <p:spPr/>
        <p:txBody>
          <a:bodyPr/>
          <a:lstStyle/>
          <a:p>
            <a:r>
              <a:rPr lang="ru-RU" sz="2400" b="1" dirty="0"/>
              <a:t>Указатели в параметрах функции</a:t>
            </a:r>
            <a:endParaRPr lang="ru-RU" sz="2400" dirty="0"/>
          </a:p>
        </p:txBody>
      </p:sp>
      <p:sp>
        <p:nvSpPr>
          <p:cNvPr id="3" name="Объект 2">
            <a:extLst>
              <a:ext uri="{FF2B5EF4-FFF2-40B4-BE49-F238E27FC236}">
                <a16:creationId xmlns:a16="http://schemas.microsoft.com/office/drawing/2014/main" id="{DF0AFC77-2E36-0090-A9A3-C74CC580DB0A}"/>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(&amp;n);</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main</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n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x</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получаем значение по адресу в x и увеличиваем его на 1</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increment</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25474327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F0B71D-FD1D-AC37-3B97-877D6587E724}"/>
              </a:ext>
            </a:extLst>
          </p:cNvPr>
          <p:cNvSpPr>
            <a:spLocks noGrp="1"/>
          </p:cNvSpPr>
          <p:nvPr>
            <p:ph type="title"/>
          </p:nvPr>
        </p:nvSpPr>
        <p:spPr/>
        <p:txBody>
          <a:bodyPr/>
          <a:lstStyle/>
          <a:p>
            <a:r>
              <a:rPr lang="ru-RU" sz="2400" b="1" dirty="0"/>
              <a:t>Указатели в параметрах функции</a:t>
            </a:r>
            <a:endParaRPr lang="ru-RU" sz="2400" dirty="0"/>
          </a:p>
        </p:txBody>
      </p:sp>
      <p:sp>
        <p:nvSpPr>
          <p:cNvPr id="3" name="Объект 2">
            <a:extLst>
              <a:ext uri="{FF2B5EF4-FFF2-40B4-BE49-F238E27FC236}">
                <a16:creationId xmlns:a16="http://schemas.microsoft.com/office/drawing/2014/main" id="{4752692F-2066-4E85-A260-BD31047A2A25}"/>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&amp;n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main</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increment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z{ 6 };</a:t>
            </a:r>
          </a:p>
          <a:p>
            <a:pPr lvl="1"/>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x</a:t>
            </a:r>
            <a:r>
              <a:rPr lang="ru-RU" dirty="0">
                <a:solidFill>
                  <a:srgbClr val="000000"/>
                </a:solidFill>
                <a:latin typeface="Consolas" panose="020B0609020204030204" pitchFamily="49" charset="0"/>
              </a:rPr>
              <a:t> = &amp;z;     </a:t>
            </a:r>
            <a:r>
              <a:rPr lang="ru-RU" dirty="0">
                <a:solidFill>
                  <a:srgbClr val="008000"/>
                </a:solidFill>
                <a:latin typeface="Consolas" panose="020B0609020204030204" pitchFamily="49" charset="0"/>
              </a:rPr>
              <a:t>// переустанавливаем адрес указателя x</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a:t>
            </a:r>
            <a:r>
              <a:rPr lang="de-CH" dirty="0" err="1">
                <a:solidFill>
                  <a:srgbClr val="A31515"/>
                </a:solidFill>
                <a:latin typeface="Consolas" panose="020B0609020204030204" pitchFamily="49" charset="0"/>
              </a:rPr>
              <a:t>increment</a:t>
            </a:r>
            <a:r>
              <a:rPr lang="de-CH" dirty="0">
                <a:solidFill>
                  <a:srgbClr val="A31515"/>
                </a:solidFill>
                <a:latin typeface="Consolas" panose="020B0609020204030204" pitchFamily="49" charset="0"/>
              </a:rPr>
              <a:t> </a:t>
            </a:r>
            <a:r>
              <a:rPr lang="de-CH" dirty="0" err="1">
                <a:solidFill>
                  <a:srgbClr val="A31515"/>
                </a:solidFill>
                <a:latin typeface="Consolas" panose="020B0609020204030204" pitchFamily="49" charset="0"/>
              </a:rPr>
              <a:t>function</a:t>
            </a:r>
            <a:r>
              <a:rPr lang="de-CH" dirty="0">
                <a:solidFill>
                  <a:srgbClr val="A31515"/>
                </a:solidFill>
                <a:latin typeface="Consolas" panose="020B0609020204030204" pitchFamily="49" charset="0"/>
              </a:rPr>
              <a:t>: "</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903361995"/>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BDC3BD-04E0-A29C-9117-2DED9B502D93}"/>
              </a:ext>
            </a:extLst>
          </p:cNvPr>
          <p:cNvSpPr>
            <a:spLocks noGrp="1"/>
          </p:cNvSpPr>
          <p:nvPr>
            <p:ph type="title"/>
          </p:nvPr>
        </p:nvSpPr>
        <p:spPr/>
        <p:txBody>
          <a:bodyPr/>
          <a:lstStyle/>
          <a:p>
            <a:r>
              <a:rPr lang="ru-RU" sz="2400" b="1" dirty="0"/>
              <a:t>Константные параметры-указатели</a:t>
            </a:r>
            <a:endParaRPr lang="ru-RU" dirty="0"/>
          </a:p>
        </p:txBody>
      </p:sp>
      <p:sp>
        <p:nvSpPr>
          <p:cNvPr id="3" name="Объект 2">
            <a:extLst>
              <a:ext uri="{FF2B5EF4-FFF2-40B4-BE49-F238E27FC236}">
                <a16:creationId xmlns:a16="http://schemas.microsoft.com/office/drawing/2014/main" id="{33AB5231-ADCC-5B31-EF75-2827703C037C}"/>
              </a:ext>
            </a:extLst>
          </p:cNvPr>
          <p:cNvSpPr>
            <a:spLocks noGrp="1"/>
          </p:cNvSpPr>
          <p:nvPr>
            <p:ph idx="1"/>
          </p:nvPr>
        </p:nvSpPr>
        <p:spPr/>
        <p:txBody>
          <a:bodyPr/>
          <a:lstStyle/>
          <a:p>
            <a:pPr lvl="1"/>
            <a:endParaRPr lang="en-US" dirty="0">
              <a:solidFill>
                <a:srgbClr val="0000FF"/>
              </a:solidFill>
              <a:latin typeface="Consolas" panose="020B0609020204030204" pitchFamily="49" charset="0"/>
            </a:endParaRPr>
          </a:p>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константный параметр</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(&amp;n);</a:t>
            </a: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x</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317019162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6BD78C-BACB-32A8-9994-37ED941A2479}"/>
              </a:ext>
            </a:extLst>
          </p:cNvPr>
          <p:cNvSpPr>
            <a:spLocks noGrp="1"/>
          </p:cNvSpPr>
          <p:nvPr>
            <p:ph type="title"/>
          </p:nvPr>
        </p:nvSpPr>
        <p:spPr/>
        <p:txBody>
          <a:bodyPr/>
          <a:lstStyle/>
          <a:p>
            <a:r>
              <a:rPr lang="ru-RU" sz="2400" b="1" dirty="0"/>
              <a:t>Константные параметры-указатели</a:t>
            </a:r>
            <a:endParaRPr lang="ru-RU" sz="2400" dirty="0"/>
          </a:p>
        </p:txBody>
      </p:sp>
      <p:sp>
        <p:nvSpPr>
          <p:cNvPr id="3" name="Объект 2">
            <a:extLst>
              <a:ext uri="{FF2B5EF4-FFF2-40B4-BE49-F238E27FC236}">
                <a16:creationId xmlns:a16="http://schemas.microsoft.com/office/drawing/2014/main" id="{0CCE6AD0-EE67-CE99-1BE1-A305CC11BB9A}"/>
              </a:ext>
            </a:extLst>
          </p:cNvPr>
          <p:cNvSpPr>
            <a:spLocks noGrp="1"/>
          </p:cNvSpPr>
          <p:nvPr>
            <p:ph idx="1"/>
          </p:nvPr>
        </p:nvSpPr>
        <p:spPr/>
        <p:txBody>
          <a:bodyPr/>
          <a:lstStyle/>
          <a:p>
            <a:pPr lvl="1"/>
            <a:endParaRPr lang="en-US" dirty="0">
              <a:solidFill>
                <a:srgbClr val="0000FF"/>
              </a:solidFill>
              <a:latin typeface="Consolas" panose="020B0609020204030204" pitchFamily="49" charset="0"/>
            </a:endParaRPr>
          </a:p>
          <a:p>
            <a:pPr lvl="1"/>
            <a:endParaRPr lang="en-US" dirty="0">
              <a:solidFill>
                <a:srgbClr val="0000FF"/>
              </a:solidFill>
              <a:latin typeface="Consolas" panose="020B0609020204030204" pitchFamily="49" charset="0"/>
            </a:endParaRPr>
          </a:p>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константный параметр</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(&amp;n);  </a:t>
            </a:r>
            <a:r>
              <a:rPr lang="ru-RU" dirty="0">
                <a:solidFill>
                  <a:srgbClr val="008000"/>
                </a:solidFill>
                <a:latin typeface="Consolas" panose="020B0609020204030204" pitchFamily="49" charset="0"/>
              </a:rPr>
              <a:t>// передаем адрес константы</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x</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x</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21406734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2228F0-9C0C-AAFE-0A07-38B107617A7F}"/>
              </a:ext>
            </a:extLst>
          </p:cNvPr>
          <p:cNvSpPr>
            <a:spLocks noGrp="1"/>
          </p:cNvSpPr>
          <p:nvPr>
            <p:ph type="title"/>
          </p:nvPr>
        </p:nvSpPr>
        <p:spPr/>
        <p:txBody>
          <a:bodyPr/>
          <a:lstStyle/>
          <a:p>
            <a:r>
              <a:rPr lang="ru-RU" sz="2400" b="1" dirty="0"/>
              <a:t>Константные параметры-указатели</a:t>
            </a:r>
            <a:endParaRPr lang="ru-RU" sz="2400" dirty="0"/>
          </a:p>
        </p:txBody>
      </p:sp>
      <p:sp>
        <p:nvSpPr>
          <p:cNvPr id="3" name="Объект 2">
            <a:extLst>
              <a:ext uri="{FF2B5EF4-FFF2-40B4-BE49-F238E27FC236}">
                <a16:creationId xmlns:a16="http://schemas.microsoft.com/office/drawing/2014/main" id="{A2948718-C7FC-7C3E-93C7-2D116B035EC5}"/>
              </a:ext>
            </a:extLst>
          </p:cNvPr>
          <p:cNvSpPr>
            <a:spLocks noGrp="1"/>
          </p:cNvSpPr>
          <p:nvPr>
            <p:ph idx="1"/>
          </p:nvPr>
        </p:nvSpPr>
        <p:spPr/>
        <p:txBody>
          <a:bodyPr/>
          <a:lstStyle/>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константный параметр</a:t>
            </a:r>
            <a:endParaRPr lang="ru-RU" dirty="0">
              <a:solidFill>
                <a:srgbClr val="000000"/>
              </a:solidFill>
              <a:latin typeface="Consolas" panose="020B0609020204030204" pitchFamily="49" charset="0"/>
            </a:endParaRP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const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10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(&amp;n);</a:t>
            </a:r>
          </a:p>
          <a:p>
            <a:pPr lvl="1"/>
            <a:r>
              <a:rPr lang="ru-RU" dirty="0">
                <a:solidFill>
                  <a:srgbClr val="000000"/>
                </a:solidFill>
                <a:latin typeface="Consolas" panose="020B0609020204030204" pitchFamily="49" charset="0"/>
              </a:rPr>
              <a:t>}</a:t>
            </a:r>
          </a:p>
          <a:p>
            <a:pPr lvl="1"/>
            <a:r>
              <a:rPr lang="ru-RU" dirty="0" err="1">
                <a:solidFill>
                  <a:srgbClr val="0000FF"/>
                </a:solidFill>
                <a:latin typeface="Consolas" panose="020B0609020204030204" pitchFamily="49" charset="0"/>
              </a:rPr>
              <a:t>void</a:t>
            </a:r>
            <a:r>
              <a:rPr lang="ru-RU" dirty="0">
                <a:solidFill>
                  <a:srgbClr val="000000"/>
                </a:solidFill>
                <a:latin typeface="Consolas" panose="020B0609020204030204" pitchFamily="49" charset="0"/>
              </a:rPr>
              <a:t> </a:t>
            </a:r>
            <a:r>
              <a:rPr lang="ru-RU" dirty="0" err="1">
                <a:solidFill>
                  <a:srgbClr val="000000"/>
                </a:solidFill>
                <a:latin typeface="Consolas" panose="020B0609020204030204" pitchFamily="49" charset="0"/>
              </a:rPr>
              <a:t>print</a:t>
            </a:r>
            <a:r>
              <a:rPr lang="ru-RU" dirty="0">
                <a:solidFill>
                  <a:srgbClr val="000000"/>
                </a:solidFill>
                <a:latin typeface="Consolas" panose="020B0609020204030204" pitchFamily="49" charset="0"/>
              </a:rPr>
              <a:t>(</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0000FF"/>
                </a:solidFill>
                <a:latin typeface="Consolas" panose="020B0609020204030204" pitchFamily="49" charset="0"/>
              </a:rPr>
              <a:t>int</a:t>
            </a:r>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const</a:t>
            </a:r>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x</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константный указатель на константу</a:t>
            </a:r>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z{ 2 };</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//x = &amp;z; // значение указателя нельзя изменить</a:t>
            </a:r>
            <a:endParaRPr lang="ru-RU" dirty="0">
              <a:solidFill>
                <a:srgbClr val="000000"/>
              </a:solidFill>
              <a:latin typeface="Consolas" panose="020B0609020204030204" pitchFamily="49" charset="0"/>
            </a:endParaRPr>
          </a:p>
          <a:p>
            <a:pPr lvl="1"/>
            <a:r>
              <a:rPr lang="pl-PL" dirty="0">
                <a:solidFill>
                  <a:srgbClr val="000000"/>
                </a:solidFill>
                <a:latin typeface="Consolas" panose="020B0609020204030204" pitchFamily="49" charset="0"/>
              </a:rPr>
              <a:t>    std::cout </a:t>
            </a:r>
            <a:r>
              <a:rPr lang="pl-PL" dirty="0">
                <a:solidFill>
                  <a:srgbClr val="008080"/>
                </a:solidFill>
                <a:latin typeface="Consolas" panose="020B0609020204030204" pitchFamily="49" charset="0"/>
              </a:rPr>
              <a:t>&lt;&lt;</a:t>
            </a:r>
            <a:r>
              <a:rPr lang="pl-PL" dirty="0">
                <a:solidFill>
                  <a:srgbClr val="000000"/>
                </a:solidFill>
                <a:latin typeface="Consolas" panose="020B0609020204030204" pitchFamily="49" charset="0"/>
              </a:rPr>
              <a:t> </a:t>
            </a:r>
            <a:r>
              <a:rPr lang="pl-PL" dirty="0">
                <a:solidFill>
                  <a:srgbClr val="A31515"/>
                </a:solidFill>
                <a:latin typeface="Consolas" panose="020B0609020204030204" pitchFamily="49" charset="0"/>
              </a:rPr>
              <a:t>"z = "</a:t>
            </a:r>
            <a:r>
              <a:rPr lang="pl-PL" dirty="0">
                <a:solidFill>
                  <a:srgbClr val="000000"/>
                </a:solidFill>
                <a:latin typeface="Consolas" panose="020B0609020204030204" pitchFamily="49" charset="0"/>
              </a:rPr>
              <a:t> </a:t>
            </a:r>
            <a:r>
              <a:rPr lang="pl-PL" dirty="0">
                <a:solidFill>
                  <a:srgbClr val="008080"/>
                </a:solidFill>
                <a:latin typeface="Consolas" panose="020B0609020204030204" pitchFamily="49" charset="0"/>
              </a:rPr>
              <a:t>&lt;&lt;</a:t>
            </a:r>
            <a:r>
              <a:rPr lang="pl-PL" dirty="0">
                <a:solidFill>
                  <a:srgbClr val="000000"/>
                </a:solidFill>
                <a:latin typeface="Consolas" panose="020B0609020204030204" pitchFamily="49" charset="0"/>
              </a:rPr>
              <a:t> z </a:t>
            </a:r>
            <a:r>
              <a:rPr lang="pl-PL" dirty="0">
                <a:solidFill>
                  <a:srgbClr val="008080"/>
                </a:solidFill>
                <a:latin typeface="Consolas" panose="020B0609020204030204" pitchFamily="49" charset="0"/>
              </a:rPr>
              <a:t>&lt;&lt;</a:t>
            </a:r>
            <a:r>
              <a:rPr lang="pl-PL" dirty="0">
                <a:solidFill>
                  <a:srgbClr val="000000"/>
                </a:solidFill>
                <a:latin typeface="Consolas" panose="020B0609020204030204" pitchFamily="49" charset="0"/>
              </a:rPr>
              <a:t> std::endl;      </a:t>
            </a:r>
            <a:r>
              <a:rPr lang="pl-PL" dirty="0">
                <a:solidFill>
                  <a:srgbClr val="008000"/>
                </a:solidFill>
                <a:latin typeface="Consolas" panose="020B0609020204030204" pitchFamily="49" charset="0"/>
              </a:rPr>
              <a:t>// z = 2</a:t>
            </a:r>
            <a:endParaRPr lang="pl-PL"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"*x =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x</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*x = 10</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70763582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EE32CA-DB5A-4A4B-1630-8B0E691EA64D}"/>
              </a:ext>
            </a:extLst>
          </p:cNvPr>
          <p:cNvSpPr>
            <a:spLocks noGrp="1"/>
          </p:cNvSpPr>
          <p:nvPr>
            <p:ph type="title"/>
          </p:nvPr>
        </p:nvSpPr>
        <p:spPr/>
        <p:txBody>
          <a:bodyPr/>
          <a:lstStyle/>
          <a:p>
            <a:r>
              <a:rPr lang="ru-RU" sz="2800" b="1" dirty="0"/>
              <a:t>Массивы в параметрах функции</a:t>
            </a:r>
            <a:endParaRPr lang="ru-RU" sz="2800" dirty="0"/>
          </a:p>
        </p:txBody>
      </p:sp>
      <p:sp>
        <p:nvSpPr>
          <p:cNvPr id="3" name="Объект 2">
            <a:extLst>
              <a:ext uri="{FF2B5EF4-FFF2-40B4-BE49-F238E27FC236}">
                <a16:creationId xmlns:a16="http://schemas.microsoft.com/office/drawing/2014/main" id="{B7CD801B-9298-98C4-5203-EABFBB48656C}"/>
              </a:ext>
            </a:extLst>
          </p:cNvPr>
          <p:cNvSpPr>
            <a:spLocks noGrp="1"/>
          </p:cNvSpPr>
          <p:nvPr>
            <p:ph idx="1"/>
          </p:nvPr>
        </p:nvSpPr>
        <p:spPr/>
        <p:txBody>
          <a:bodyPr/>
          <a:lstStyle/>
          <a:p>
            <a:pPr algn="just"/>
            <a:r>
              <a:rPr lang="ru-RU" dirty="0"/>
              <a:t>Если функция принимает в качестве параметра массив, то фактически в эту функцию передается указатель на первый элемент массива. То есть как и в случае с указателями нам доступен адрес, по которому мы можем менять значения. Поэтому следующие объявления функции будут по сути равноценны:</a:t>
            </a:r>
            <a:endParaRPr lang="en-US" dirty="0"/>
          </a:p>
          <a:p>
            <a:pPr algn="just"/>
            <a:endParaRPr lang="en-US" dirty="0"/>
          </a:p>
          <a:p>
            <a:pPr lvl="1"/>
            <a:r>
              <a:rPr lang="en-US" b="1" dirty="0"/>
              <a:t>void</a:t>
            </a:r>
            <a:r>
              <a:rPr lang="en-US" dirty="0"/>
              <a:t> print(</a:t>
            </a:r>
            <a:r>
              <a:rPr lang="en-US" b="1" dirty="0"/>
              <a:t>int</a:t>
            </a:r>
            <a:r>
              <a:rPr lang="en-US" dirty="0"/>
              <a:t> numbers[ ]);</a:t>
            </a:r>
          </a:p>
          <a:p>
            <a:pPr lvl="1"/>
            <a:endParaRPr lang="en-US" dirty="0"/>
          </a:p>
          <a:p>
            <a:pPr lvl="1"/>
            <a:r>
              <a:rPr lang="en-US" b="1" dirty="0"/>
              <a:t>void</a:t>
            </a:r>
            <a:r>
              <a:rPr lang="en-US" dirty="0"/>
              <a:t> print(</a:t>
            </a:r>
            <a:r>
              <a:rPr lang="en-US" b="1" dirty="0"/>
              <a:t>int</a:t>
            </a:r>
            <a:r>
              <a:rPr lang="en-US" dirty="0"/>
              <a:t> *numbers);</a:t>
            </a:r>
          </a:p>
          <a:p>
            <a:pPr algn="just"/>
            <a:endParaRPr lang="ru-RU" dirty="0"/>
          </a:p>
        </p:txBody>
      </p:sp>
    </p:spTree>
    <p:extLst>
      <p:ext uri="{BB962C8B-B14F-4D97-AF65-F5344CB8AC3E}">
        <p14:creationId xmlns:p14="http://schemas.microsoft.com/office/powerpoint/2010/main" val="1976381127"/>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36B99D-BEEE-AAF5-B3B8-D713CE954727}"/>
              </a:ext>
            </a:extLst>
          </p:cNvPr>
          <p:cNvSpPr>
            <a:spLocks noGrp="1"/>
          </p:cNvSpPr>
          <p:nvPr>
            <p:ph type="title"/>
          </p:nvPr>
        </p:nvSpPr>
        <p:spPr/>
        <p:txBody>
          <a:bodyPr/>
          <a:lstStyle/>
          <a:p>
            <a:r>
              <a:rPr lang="ru-RU" sz="2800" b="1" dirty="0"/>
              <a:t>Массивы в параметрах функции</a:t>
            </a:r>
            <a:endParaRPr lang="ru-RU" sz="2800" dirty="0"/>
          </a:p>
        </p:txBody>
      </p:sp>
      <p:sp>
        <p:nvSpPr>
          <p:cNvPr id="3" name="Объект 2">
            <a:extLst>
              <a:ext uri="{FF2B5EF4-FFF2-40B4-BE49-F238E27FC236}">
                <a16:creationId xmlns:a16="http://schemas.microsoft.com/office/drawing/2014/main" id="{AA7F78AA-A44E-F246-82A3-70F46BB4134B}"/>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"First number: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[0]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First number: 1</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884924110"/>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DCAA94-7A7D-3A41-5BB0-BA8398A88E9D}"/>
              </a:ext>
            </a:extLst>
          </p:cNvPr>
          <p:cNvSpPr>
            <a:spLocks noGrp="1"/>
          </p:cNvSpPr>
          <p:nvPr>
            <p:ph type="title"/>
          </p:nvPr>
        </p:nvSpPr>
        <p:spPr/>
        <p:txBody>
          <a:bodyPr/>
          <a:lstStyle/>
          <a:p>
            <a:r>
              <a:rPr lang="ru-RU" sz="2800" b="1" dirty="0"/>
              <a:t>Массивы в параметрах функции</a:t>
            </a:r>
            <a:endParaRPr lang="ru-RU" sz="2800" dirty="0"/>
          </a:p>
        </p:txBody>
      </p:sp>
      <p:sp>
        <p:nvSpPr>
          <p:cNvPr id="3" name="Объект 2">
            <a:extLst>
              <a:ext uri="{FF2B5EF4-FFF2-40B4-BE49-F238E27FC236}">
                <a16:creationId xmlns:a16="http://schemas.microsoft.com/office/drawing/2014/main" id="{3E0313EC-4E0A-46CA-3960-4003C883C28A}"/>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"First number: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014760067"/>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6D8203-B8A1-EDB3-625B-6489B6A788D3}"/>
              </a:ext>
            </a:extLst>
          </p:cNvPr>
          <p:cNvSpPr>
            <a:spLocks noGrp="1"/>
          </p:cNvSpPr>
          <p:nvPr>
            <p:ph type="title"/>
          </p:nvPr>
        </p:nvSpPr>
        <p:spPr/>
        <p:txBody>
          <a:bodyPr/>
          <a:lstStyle/>
          <a:p>
            <a:r>
              <a:rPr lang="ru-RU" sz="2800" b="1" dirty="0"/>
              <a:t>Ограничения</a:t>
            </a:r>
            <a:endParaRPr lang="ru-RU" sz="2800" dirty="0"/>
          </a:p>
        </p:txBody>
      </p:sp>
      <p:sp>
        <p:nvSpPr>
          <p:cNvPr id="3" name="Объект 2">
            <a:extLst>
              <a:ext uri="{FF2B5EF4-FFF2-40B4-BE49-F238E27FC236}">
                <a16:creationId xmlns:a16="http://schemas.microsoft.com/office/drawing/2014/main" id="{A27AFF8F-C886-B24C-7DCE-5DF07447BB27}"/>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ru-RU" dirty="0"/>
              <a:t>Поскольку параметр, определенный как массив, рассматривается именно как указатель на первый элемент, то мы не сможем корректно получить длину массива, например, следующим образом:</a:t>
            </a:r>
            <a:endParaRPr lang="de-CH" dirty="0">
              <a:solidFill>
                <a:srgbClr val="0000FF"/>
              </a:solidFill>
              <a:latin typeface="Consolas" panose="020B0609020204030204" pitchFamily="49" charset="0"/>
            </a:endParaRPr>
          </a:p>
          <a:p>
            <a:pPr lvl="1"/>
            <a:endParaRPr lang="de-CH" dirty="0">
              <a:solidFill>
                <a:srgbClr val="0000FF"/>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size = </a:t>
            </a:r>
            <a:r>
              <a:rPr lang="en-US" dirty="0" err="1">
                <a:solidFill>
                  <a:srgbClr val="0000FF"/>
                </a:solidFill>
                <a:latin typeface="Consolas" panose="020B0609020204030204" pitchFamily="49" charset="0"/>
              </a:rPr>
              <a:t>sizeof</a:t>
            </a:r>
            <a:r>
              <a:rPr lang="en-US" dirty="0">
                <a:solidFill>
                  <a:srgbClr val="000000"/>
                </a:solidFill>
                <a:latin typeface="Consolas" panose="020B0609020204030204" pitchFamily="49" charset="0"/>
              </a:rPr>
              <a:t>(</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 / </a:t>
            </a:r>
            <a:r>
              <a:rPr lang="en-US" dirty="0" err="1">
                <a:solidFill>
                  <a:srgbClr val="0000FF"/>
                </a:solidFill>
                <a:latin typeface="Consolas" panose="020B0609020204030204" pitchFamily="49" charset="0"/>
              </a:rPr>
              <a:t>sizeof</a:t>
            </a:r>
            <a:r>
              <a:rPr lang="en-US" dirty="0">
                <a:solidFill>
                  <a:srgbClr val="000000"/>
                </a:solidFill>
                <a:latin typeface="Consolas" panose="020B0609020204030204" pitchFamily="49" charset="0"/>
              </a:rPr>
              <a:t>(</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[0]);</a:t>
            </a: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или так </a:t>
            </a:r>
            <a:endParaRPr lang="ru-RU"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size_t</a:t>
            </a:r>
            <a:r>
              <a:rPr lang="en-US" dirty="0">
                <a:solidFill>
                  <a:srgbClr val="008000"/>
                </a:solidFill>
                <a:latin typeface="Consolas" panose="020B0609020204030204" pitchFamily="49" charset="0"/>
              </a:rPr>
              <a:t> size = std::size(</a:t>
            </a:r>
            <a:r>
              <a:rPr lang="en-US" dirty="0" err="1">
                <a:solidFill>
                  <a:srgbClr val="008000"/>
                </a:solidFill>
                <a:latin typeface="Consolas" panose="020B0609020204030204" pitchFamily="49" charset="0"/>
              </a:rPr>
              <a:t>nums</a:t>
            </a:r>
            <a:r>
              <a:rPr lang="en-US" dirty="0">
                <a:solidFill>
                  <a:srgbClr val="008000"/>
                </a:solidFill>
                <a:latin typeface="Consolas" panose="020B0609020204030204" pitchFamily="49" charset="0"/>
              </a:rPr>
              <a:t>);</a:t>
            </a:r>
            <a:endParaRPr lang="en-US" dirty="0">
              <a:solidFill>
                <a:srgbClr val="000000"/>
              </a:solidFill>
              <a:latin typeface="Consolas" panose="020B0609020204030204" pitchFamily="49" charset="0"/>
            </a:endParaRP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size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409000928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B998D3-9463-D862-E834-6BD3D10D0977}"/>
              </a:ext>
            </a:extLst>
          </p:cNvPr>
          <p:cNvSpPr>
            <a:spLocks noGrp="1"/>
          </p:cNvSpPr>
          <p:nvPr>
            <p:ph type="title"/>
          </p:nvPr>
        </p:nvSpPr>
        <p:spPr/>
        <p:txBody>
          <a:bodyPr/>
          <a:lstStyle/>
          <a:p>
            <a:r>
              <a:rPr lang="ru-RU" b="1" dirty="0"/>
              <a:t>Ограничения</a:t>
            </a:r>
            <a:endParaRPr lang="ru-RU" dirty="0"/>
          </a:p>
        </p:txBody>
      </p:sp>
      <p:sp>
        <p:nvSpPr>
          <p:cNvPr id="3" name="Объект 2">
            <a:extLst>
              <a:ext uri="{FF2B5EF4-FFF2-40B4-BE49-F238E27FC236}">
                <a16:creationId xmlns:a16="http://schemas.microsoft.com/office/drawing/2014/main" id="{8F447E8F-AFD9-77BA-4306-F526953D2D59}"/>
              </a:ext>
            </a:extLst>
          </p:cNvPr>
          <p:cNvSpPr>
            <a:spLocks noGrp="1"/>
          </p:cNvSpPr>
          <p:nvPr>
            <p:ph idx="1"/>
          </p:nvPr>
        </p:nvSpPr>
        <p:spPr/>
        <p:txBody>
          <a:bodyPr/>
          <a:lstStyle/>
          <a:p>
            <a:r>
              <a:rPr lang="ru-RU" dirty="0"/>
              <a:t>И также мы не сможем использовать цикл </a:t>
            </a:r>
            <a:r>
              <a:rPr lang="ru-RU" dirty="0" err="1"/>
              <a:t>for</a:t>
            </a:r>
            <a:r>
              <a:rPr lang="ru-RU" dirty="0"/>
              <a:t> для перебора этого массива:</a:t>
            </a:r>
            <a:endParaRPr lang="en-US" dirty="0"/>
          </a:p>
          <a:p>
            <a:endParaRPr lang="en-US" dirty="0"/>
          </a:p>
          <a:p>
            <a:endParaRPr lang="en-US" dirty="0"/>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 </a:t>
            </a:r>
            <a:r>
              <a:rPr lang="de-CH" dirty="0" err="1">
                <a:solidFill>
                  <a:srgbClr val="808080"/>
                </a:solidFill>
                <a:latin typeface="Consolas" panose="020B0609020204030204" pitchFamily="49" charset="0"/>
              </a:rPr>
              <a:t>numbers</a:t>
            </a:r>
            <a:r>
              <a:rPr lang="de-CH"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744867857"/>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9C97D6-B600-5EC6-6E84-69DD8917CFB7}"/>
              </a:ext>
            </a:extLst>
          </p:cNvPr>
          <p:cNvSpPr>
            <a:spLocks noGrp="1"/>
          </p:cNvSpPr>
          <p:nvPr>
            <p:ph type="title"/>
          </p:nvPr>
        </p:nvSpPr>
        <p:spPr/>
        <p:txBody>
          <a:bodyPr/>
          <a:lstStyle/>
          <a:p>
            <a:r>
              <a:rPr lang="ru-RU" sz="2400" b="1" dirty="0"/>
              <a:t>Передача маркера конца массива</a:t>
            </a:r>
            <a:endParaRPr lang="ru-RU" dirty="0"/>
          </a:p>
        </p:txBody>
      </p:sp>
      <p:sp>
        <p:nvSpPr>
          <p:cNvPr id="3" name="Объект 2">
            <a:extLst>
              <a:ext uri="{FF2B5EF4-FFF2-40B4-BE49-F238E27FC236}">
                <a16:creationId xmlns:a16="http://schemas.microsoft.com/office/drawing/2014/main" id="{ED0DE9A8-5F2C-AEE2-CA6C-E86660F14DB6}"/>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chars</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"Hello"</a:t>
            </a:r>
            <a:r>
              <a:rPr lang="de-CH"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chars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chars</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for</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i{}; </a:t>
            </a:r>
            <a:r>
              <a:rPr lang="de-CH" dirty="0" err="1">
                <a:solidFill>
                  <a:srgbClr val="808080"/>
                </a:solidFill>
                <a:latin typeface="Consolas" panose="020B0609020204030204" pitchFamily="49" charset="0"/>
              </a:rPr>
              <a:t>chars</a:t>
            </a:r>
            <a:r>
              <a:rPr lang="de-CH" dirty="0">
                <a:solidFill>
                  <a:srgbClr val="000000"/>
                </a:solidFill>
                <a:latin typeface="Consolas" panose="020B0609020204030204" pitchFamily="49" charset="0"/>
              </a:rPr>
              <a:t>[i] != </a:t>
            </a:r>
            <a:r>
              <a:rPr lang="de-CH" dirty="0">
                <a:solidFill>
                  <a:srgbClr val="A31515"/>
                </a:solidFill>
                <a:latin typeface="Consolas" panose="020B0609020204030204" pitchFamily="49" charset="0"/>
              </a:rPr>
              <a:t>'\0'</a:t>
            </a:r>
            <a:r>
              <a:rPr lang="de-CH"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chars</a:t>
            </a:r>
            <a:r>
              <a:rPr lang="de-CH" dirty="0">
                <a:solidFill>
                  <a:srgbClr val="000000"/>
                </a:solidFill>
                <a:latin typeface="Consolas" panose="020B0609020204030204" pitchFamily="49" charset="0"/>
              </a:rPr>
              <a:t>[i];</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497295468"/>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E22A9A-EB66-CF20-3600-6AD4D3CD6D40}"/>
              </a:ext>
            </a:extLst>
          </p:cNvPr>
          <p:cNvSpPr>
            <a:spLocks noGrp="1"/>
          </p:cNvSpPr>
          <p:nvPr>
            <p:ph type="title"/>
          </p:nvPr>
        </p:nvSpPr>
        <p:spPr/>
        <p:txBody>
          <a:bodyPr/>
          <a:lstStyle/>
          <a:p>
            <a:r>
              <a:rPr lang="ru-RU" sz="2400" b="1" dirty="0"/>
              <a:t>Передача маркера конца массива</a:t>
            </a:r>
            <a:endParaRPr lang="ru-RU" sz="2400" dirty="0"/>
          </a:p>
        </p:txBody>
      </p:sp>
      <p:sp>
        <p:nvSpPr>
          <p:cNvPr id="3" name="Объект 2">
            <a:extLst>
              <a:ext uri="{FF2B5EF4-FFF2-40B4-BE49-F238E27FC236}">
                <a16:creationId xmlns:a16="http://schemas.microsoft.com/office/drawing/2014/main" id="{4563B72A-E7CF-E11E-4BA8-DCBDCF749559}"/>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2B91AF"/>
                </a:solidFill>
                <a:latin typeface="Consolas" panose="020B0609020204030204" pitchFamily="49" charset="0"/>
              </a:rPr>
              <a:t>size_t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n{ std::size(</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n);</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2B91AF"/>
                </a:solidFill>
                <a:latin typeface="Consolas" panose="020B0609020204030204" pitchFamily="49" charset="0"/>
              </a:rPr>
              <a:t>size_t</a:t>
            </a:r>
            <a:r>
              <a:rPr lang="nn-NO" dirty="0">
                <a:solidFill>
                  <a:srgbClr val="000000"/>
                </a:solidFill>
                <a:latin typeface="Consolas" panose="020B0609020204030204" pitchFamily="49" charset="0"/>
              </a:rPr>
              <a:t> i{}; i &lt; </a:t>
            </a:r>
            <a:r>
              <a:rPr lang="nn-NO" dirty="0">
                <a:solidFill>
                  <a:srgbClr val="808080"/>
                </a:solidFill>
                <a:latin typeface="Consolas" panose="020B0609020204030204" pitchFamily="49" charset="0"/>
              </a:rPr>
              <a:t>n</a:t>
            </a:r>
            <a:r>
              <a:rPr lang="nn-NO"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483832920"/>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21C886-C9DA-D3F9-BB9A-A53B97ED6528}"/>
              </a:ext>
            </a:extLst>
          </p:cNvPr>
          <p:cNvSpPr>
            <a:spLocks noGrp="1"/>
          </p:cNvSpPr>
          <p:nvPr>
            <p:ph type="title"/>
          </p:nvPr>
        </p:nvSpPr>
        <p:spPr/>
        <p:txBody>
          <a:bodyPr/>
          <a:lstStyle/>
          <a:p>
            <a:r>
              <a:rPr lang="ru-RU" sz="2400" b="1" dirty="0"/>
              <a:t>Передача маркера конца массива</a:t>
            </a:r>
            <a:endParaRPr lang="ru-RU" sz="2400" dirty="0"/>
          </a:p>
        </p:txBody>
      </p:sp>
      <p:sp>
        <p:nvSpPr>
          <p:cNvPr id="3" name="Объект 2">
            <a:extLst>
              <a:ext uri="{FF2B5EF4-FFF2-40B4-BE49-F238E27FC236}">
                <a16:creationId xmlns:a16="http://schemas.microsoft.com/office/drawing/2014/main" id="{22C097B4-1FE5-5849-F7E1-9AAB1211450F}"/>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nl-NL" dirty="0">
                <a:solidFill>
                  <a:srgbClr val="000000"/>
                </a:solidFill>
                <a:latin typeface="Consolas" panose="020B0609020204030204" pitchFamily="49" charset="0"/>
              </a:rPr>
              <a:t>    </a:t>
            </a:r>
            <a:r>
              <a:rPr lang="nl-NL" dirty="0">
                <a:solidFill>
                  <a:srgbClr val="0000FF"/>
                </a:solidFill>
                <a:latin typeface="Consolas" panose="020B0609020204030204" pitchFamily="49" charset="0"/>
              </a:rPr>
              <a:t>int</a:t>
            </a:r>
            <a:r>
              <a:rPr lang="nl-NL" dirty="0">
                <a:solidFill>
                  <a:srgbClr val="000000"/>
                </a:solidFill>
                <a:latin typeface="Consolas" panose="020B0609020204030204" pitchFamily="49" charset="0"/>
              </a:rPr>
              <a:t>* begin{ std::begin(nums) };</a:t>
            </a:r>
          </a:p>
          <a:p>
            <a:pPr lvl="1"/>
            <a:r>
              <a:rPr lang="da-DK" dirty="0">
                <a:solidFill>
                  <a:srgbClr val="000000"/>
                </a:solidFill>
                <a:latin typeface="Consolas" panose="020B0609020204030204" pitchFamily="49" charset="0"/>
              </a:rPr>
              <a:t>    </a:t>
            </a:r>
            <a:r>
              <a:rPr lang="da-DK" dirty="0">
                <a:solidFill>
                  <a:srgbClr val="0000FF"/>
                </a:solidFill>
                <a:latin typeface="Consolas" panose="020B0609020204030204" pitchFamily="49" charset="0"/>
              </a:rPr>
              <a:t>int</a:t>
            </a:r>
            <a:r>
              <a:rPr lang="da-DK" dirty="0">
                <a:solidFill>
                  <a:srgbClr val="000000"/>
                </a:solidFill>
                <a:latin typeface="Consolas" panose="020B0609020204030204" pitchFamily="49" charset="0"/>
              </a:rPr>
              <a:t>* end{ std::end(nums) };</a:t>
            </a:r>
          </a:p>
          <a:p>
            <a:pPr lvl="1"/>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begin</a:t>
            </a:r>
            <a:r>
              <a:rPr lang="de-CH" dirty="0">
                <a:solidFill>
                  <a:srgbClr val="000000"/>
                </a:solidFill>
                <a:latin typeface="Consolas" panose="020B0609020204030204" pitchFamily="49" charset="0"/>
              </a:rPr>
              <a:t>, end);</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begin</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end</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a-DK" dirty="0">
                <a:solidFill>
                  <a:srgbClr val="000000"/>
                </a:solidFill>
                <a:latin typeface="Consolas" panose="020B0609020204030204" pitchFamily="49" charset="0"/>
              </a:rPr>
              <a:t>    </a:t>
            </a:r>
            <a:r>
              <a:rPr lang="da-DK" dirty="0">
                <a:solidFill>
                  <a:srgbClr val="0000FF"/>
                </a:solidFill>
                <a:latin typeface="Consolas" panose="020B0609020204030204" pitchFamily="49" charset="0"/>
              </a:rPr>
              <a:t>for</a:t>
            </a:r>
            <a:r>
              <a:rPr lang="da-DK" dirty="0">
                <a:solidFill>
                  <a:srgbClr val="000000"/>
                </a:solidFill>
                <a:latin typeface="Consolas" panose="020B0609020204030204" pitchFamily="49" charset="0"/>
              </a:rPr>
              <a:t> (</a:t>
            </a:r>
            <a:r>
              <a:rPr lang="da-DK" dirty="0">
                <a:solidFill>
                  <a:srgbClr val="0000FF"/>
                </a:solidFill>
                <a:latin typeface="Consolas" panose="020B0609020204030204" pitchFamily="49" charset="0"/>
              </a:rPr>
              <a:t>int</a:t>
            </a:r>
            <a:r>
              <a:rPr lang="da-DK" dirty="0">
                <a:solidFill>
                  <a:srgbClr val="000000"/>
                </a:solidFill>
                <a:latin typeface="Consolas" panose="020B0609020204030204" pitchFamily="49" charset="0"/>
              </a:rPr>
              <a:t>* ptr{ </a:t>
            </a:r>
            <a:r>
              <a:rPr lang="da-DK" dirty="0">
                <a:solidFill>
                  <a:srgbClr val="808080"/>
                </a:solidFill>
                <a:latin typeface="Consolas" panose="020B0609020204030204" pitchFamily="49" charset="0"/>
              </a:rPr>
              <a:t>begin</a:t>
            </a:r>
            <a:r>
              <a:rPr lang="da-DK" dirty="0">
                <a:solidFill>
                  <a:srgbClr val="000000"/>
                </a:solidFill>
                <a:latin typeface="Consolas" panose="020B0609020204030204" pitchFamily="49" charset="0"/>
              </a:rPr>
              <a:t> }; ptr != </a:t>
            </a:r>
            <a:r>
              <a:rPr lang="da-DK" dirty="0">
                <a:solidFill>
                  <a:srgbClr val="808080"/>
                </a:solidFill>
                <a:latin typeface="Consolas" panose="020B0609020204030204" pitchFamily="49" charset="0"/>
              </a:rPr>
              <a:t>end</a:t>
            </a:r>
            <a:r>
              <a:rPr lang="da-DK" dirty="0">
                <a:solidFill>
                  <a:srgbClr val="000000"/>
                </a:solidFill>
                <a:latin typeface="Consolas" panose="020B0609020204030204" pitchFamily="49" charset="0"/>
              </a:rPr>
              <a:t>; ptr++)</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ptr</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855740235"/>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45EBA9-92C9-08B7-46FC-DFCA6EA72259}"/>
              </a:ext>
            </a:extLst>
          </p:cNvPr>
          <p:cNvSpPr>
            <a:spLocks noGrp="1"/>
          </p:cNvSpPr>
          <p:nvPr>
            <p:ph type="title"/>
          </p:nvPr>
        </p:nvSpPr>
        <p:spPr/>
        <p:txBody>
          <a:bodyPr/>
          <a:lstStyle/>
          <a:p>
            <a:r>
              <a:rPr lang="ru-RU" b="1" dirty="0"/>
              <a:t>Константные массивы</a:t>
            </a:r>
            <a:endParaRPr lang="ru-RU" dirty="0"/>
          </a:p>
        </p:txBody>
      </p:sp>
      <p:sp>
        <p:nvSpPr>
          <p:cNvPr id="3" name="Объект 2">
            <a:extLst>
              <a:ext uri="{FF2B5EF4-FFF2-40B4-BE49-F238E27FC236}">
                <a16:creationId xmlns:a16="http://schemas.microsoft.com/office/drawing/2014/main" id="{7B97D1E8-9783-09B4-501E-93503445CEA6}"/>
              </a:ext>
            </a:extLst>
          </p:cNvPr>
          <p:cNvSpPr>
            <a:spLocks noGrp="1"/>
          </p:cNvSpPr>
          <p:nvPr>
            <p:ph idx="1"/>
          </p:nvPr>
        </p:nvSpPr>
        <p:spPr/>
        <p:txBody>
          <a:bodyPr/>
          <a:lstStyle/>
          <a:p>
            <a:pPr lvl="1"/>
            <a:r>
              <a:rPr lang="de-CH" sz="1050" dirty="0" err="1">
                <a:solidFill>
                  <a:srgbClr val="0000FF"/>
                </a:solidFill>
                <a:latin typeface="Consolas" panose="020B0609020204030204" pitchFamily="49" charset="0"/>
              </a:rPr>
              <a:t>void</a:t>
            </a:r>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print</a:t>
            </a:r>
            <a:r>
              <a:rPr lang="de-CH" sz="1050" dirty="0">
                <a:solidFill>
                  <a:srgbClr val="000000"/>
                </a:solidFill>
                <a:latin typeface="Consolas" panose="020B0609020204030204" pitchFamily="49" charset="0"/>
              </a:rPr>
              <a:t>(</a:t>
            </a:r>
            <a:r>
              <a:rPr lang="de-CH" sz="1050" dirty="0" err="1">
                <a:solidFill>
                  <a:srgbClr val="0000FF"/>
                </a:solidFill>
                <a:latin typeface="Consolas" panose="020B0609020204030204" pitchFamily="49" charset="0"/>
              </a:rPr>
              <a:t>const</a:t>
            </a:r>
            <a:r>
              <a:rPr lang="de-CH" sz="1050" dirty="0">
                <a:solidFill>
                  <a:srgbClr val="000000"/>
                </a:solidFill>
                <a:latin typeface="Consolas" panose="020B0609020204030204" pitchFamily="49" charset="0"/>
              </a:rPr>
              <a:t> </a:t>
            </a:r>
            <a:r>
              <a:rPr lang="de-CH" sz="1050" dirty="0">
                <a:solidFill>
                  <a:srgbClr val="0000FF"/>
                </a:solidFill>
                <a:latin typeface="Consolas" panose="020B0609020204030204" pitchFamily="49" charset="0"/>
              </a:rPr>
              <a:t>int</a:t>
            </a:r>
            <a:r>
              <a:rPr lang="de-CH" sz="1050" dirty="0">
                <a:solidFill>
                  <a:srgbClr val="000000"/>
                </a:solidFill>
                <a:latin typeface="Consolas" panose="020B0609020204030204" pitchFamily="49" charset="0"/>
              </a:rPr>
              <a:t>*, </a:t>
            </a:r>
            <a:r>
              <a:rPr lang="de-CH" sz="1050" dirty="0" err="1">
                <a:solidFill>
                  <a:srgbClr val="0000FF"/>
                </a:solidFill>
                <a:latin typeface="Consolas" panose="020B0609020204030204" pitchFamily="49" charset="0"/>
              </a:rPr>
              <a:t>const</a:t>
            </a:r>
            <a:r>
              <a:rPr lang="de-CH" sz="1050" dirty="0">
                <a:solidFill>
                  <a:srgbClr val="000000"/>
                </a:solidFill>
                <a:latin typeface="Consolas" panose="020B0609020204030204" pitchFamily="49" charset="0"/>
              </a:rPr>
              <a:t> </a:t>
            </a:r>
            <a:r>
              <a:rPr lang="de-CH" sz="1050" dirty="0" err="1">
                <a:solidFill>
                  <a:srgbClr val="2B91AF"/>
                </a:solidFill>
                <a:latin typeface="Consolas" panose="020B0609020204030204" pitchFamily="49" charset="0"/>
              </a:rPr>
              <a:t>size_t</a:t>
            </a:r>
            <a:r>
              <a:rPr lang="de-CH" sz="1050" dirty="0">
                <a:solidFill>
                  <a:srgbClr val="000000"/>
                </a:solidFill>
                <a:latin typeface="Consolas" panose="020B0609020204030204" pitchFamily="49" charset="0"/>
              </a:rPr>
              <a:t>);</a:t>
            </a:r>
          </a:p>
          <a:p>
            <a:pPr lvl="1"/>
            <a:r>
              <a:rPr lang="en-US" sz="1050" dirty="0">
                <a:solidFill>
                  <a:srgbClr val="0000FF"/>
                </a:solidFill>
                <a:latin typeface="Consolas" panose="020B0609020204030204" pitchFamily="49" charset="0"/>
              </a:rPr>
              <a:t>void</a:t>
            </a:r>
            <a:r>
              <a:rPr lang="en-US" sz="1050" dirty="0">
                <a:solidFill>
                  <a:srgbClr val="000000"/>
                </a:solidFill>
                <a:latin typeface="Consolas" panose="020B0609020204030204" pitchFamily="49" charset="0"/>
              </a:rPr>
              <a:t> twice(</a:t>
            </a:r>
            <a:r>
              <a:rPr lang="en-US" sz="1050" dirty="0">
                <a:solidFill>
                  <a:srgbClr val="0000FF"/>
                </a:solidFill>
                <a:latin typeface="Consolas" panose="020B0609020204030204" pitchFamily="49" charset="0"/>
              </a:rPr>
              <a:t>int</a:t>
            </a:r>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const</a:t>
            </a:r>
            <a:r>
              <a:rPr lang="en-US" sz="1050" dirty="0">
                <a:solidFill>
                  <a:srgbClr val="000000"/>
                </a:solidFill>
                <a:latin typeface="Consolas" panose="020B0609020204030204" pitchFamily="49" charset="0"/>
              </a:rPr>
              <a:t> </a:t>
            </a:r>
            <a:r>
              <a:rPr lang="en-US" sz="1050" dirty="0" err="1">
                <a:solidFill>
                  <a:srgbClr val="2B91AF"/>
                </a:solidFill>
                <a:latin typeface="Consolas" panose="020B0609020204030204" pitchFamily="49" charset="0"/>
              </a:rPr>
              <a:t>size_t</a:t>
            </a:r>
            <a:r>
              <a:rPr lang="en-US" sz="1050" dirty="0">
                <a:solidFill>
                  <a:srgbClr val="000000"/>
                </a:solidFill>
                <a:latin typeface="Consolas" panose="020B0609020204030204" pitchFamily="49" charset="0"/>
              </a:rPr>
              <a:t>);</a:t>
            </a:r>
          </a:p>
          <a:p>
            <a:pPr lvl="1"/>
            <a:r>
              <a:rPr lang="de-CH" sz="1050" dirty="0">
                <a:solidFill>
                  <a:srgbClr val="0000FF"/>
                </a:solidFill>
                <a:latin typeface="Consolas" panose="020B0609020204030204" pitchFamily="49" charset="0"/>
              </a:rPr>
              <a:t>int</a:t>
            </a:r>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main</a:t>
            </a:r>
            <a:r>
              <a:rPr lang="de-CH"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a:t>
            </a:r>
          </a:p>
          <a:p>
            <a:pPr lvl="1"/>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int</a:t>
            </a:r>
            <a:r>
              <a:rPr lang="en-US" sz="1050" dirty="0">
                <a:solidFill>
                  <a:srgbClr val="000000"/>
                </a:solidFill>
                <a:latin typeface="Consolas" panose="020B0609020204030204" pitchFamily="49" charset="0"/>
              </a:rPr>
              <a:t> numbers[]{ 1, 2, 3, 4, 5 };</a:t>
            </a:r>
          </a:p>
          <a:p>
            <a:pPr lvl="1"/>
            <a:r>
              <a:rPr lang="en-US" sz="1050" dirty="0">
                <a:solidFill>
                  <a:srgbClr val="000000"/>
                </a:solidFill>
                <a:latin typeface="Consolas" panose="020B0609020204030204" pitchFamily="49" charset="0"/>
              </a:rPr>
              <a:t>    </a:t>
            </a:r>
            <a:r>
              <a:rPr lang="en-US" sz="1050" dirty="0" err="1">
                <a:solidFill>
                  <a:srgbClr val="2B91AF"/>
                </a:solidFill>
                <a:latin typeface="Consolas" panose="020B0609020204030204" pitchFamily="49" charset="0"/>
              </a:rPr>
              <a:t>size_t</a:t>
            </a:r>
            <a:r>
              <a:rPr lang="en-US" sz="1050" dirty="0">
                <a:solidFill>
                  <a:srgbClr val="000000"/>
                </a:solidFill>
                <a:latin typeface="Consolas" panose="020B0609020204030204" pitchFamily="49" charset="0"/>
              </a:rPr>
              <a:t> n = std::size(numbers);</a:t>
            </a:r>
          </a:p>
          <a:p>
            <a:pPr lvl="1"/>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print</a:t>
            </a:r>
            <a:r>
              <a:rPr lang="de-CH" sz="1050" dirty="0">
                <a:solidFill>
                  <a:srgbClr val="000000"/>
                </a:solidFill>
                <a:latin typeface="Consolas" panose="020B0609020204030204" pitchFamily="49" charset="0"/>
              </a:rPr>
              <a:t>(</a:t>
            </a:r>
            <a:r>
              <a:rPr lang="de-CH" sz="1050" dirty="0" err="1">
                <a:solidFill>
                  <a:srgbClr val="000000"/>
                </a:solidFill>
                <a:latin typeface="Consolas" panose="020B0609020204030204" pitchFamily="49" charset="0"/>
              </a:rPr>
              <a:t>numbers</a:t>
            </a:r>
            <a:r>
              <a:rPr lang="de-CH" sz="1050" dirty="0">
                <a:solidFill>
                  <a:srgbClr val="000000"/>
                </a:solidFill>
                <a:latin typeface="Consolas" panose="020B0609020204030204" pitchFamily="49" charset="0"/>
              </a:rPr>
              <a:t>, n);</a:t>
            </a:r>
          </a:p>
          <a:p>
            <a:pPr lvl="1"/>
            <a:r>
              <a:rPr lang="ru-RU" sz="1050" dirty="0">
                <a:solidFill>
                  <a:srgbClr val="000000"/>
                </a:solidFill>
                <a:latin typeface="Consolas" panose="020B0609020204030204" pitchFamily="49" charset="0"/>
              </a:rPr>
              <a:t>    </a:t>
            </a:r>
            <a:r>
              <a:rPr lang="ru-RU" sz="1050" dirty="0" err="1">
                <a:solidFill>
                  <a:srgbClr val="000000"/>
                </a:solidFill>
                <a:latin typeface="Consolas" panose="020B0609020204030204" pitchFamily="49" charset="0"/>
              </a:rPr>
              <a:t>twice</a:t>
            </a:r>
            <a:r>
              <a:rPr lang="ru-RU" sz="1050" dirty="0">
                <a:solidFill>
                  <a:srgbClr val="000000"/>
                </a:solidFill>
                <a:latin typeface="Consolas" panose="020B0609020204030204" pitchFamily="49" charset="0"/>
              </a:rPr>
              <a:t>(</a:t>
            </a:r>
            <a:r>
              <a:rPr lang="ru-RU" sz="1050" dirty="0" err="1">
                <a:solidFill>
                  <a:srgbClr val="000000"/>
                </a:solidFill>
                <a:latin typeface="Consolas" panose="020B0609020204030204" pitchFamily="49" charset="0"/>
              </a:rPr>
              <a:t>numbers</a:t>
            </a:r>
            <a:r>
              <a:rPr lang="ru-RU" sz="1050" dirty="0">
                <a:solidFill>
                  <a:srgbClr val="000000"/>
                </a:solidFill>
                <a:latin typeface="Consolas" panose="020B0609020204030204" pitchFamily="49" charset="0"/>
              </a:rPr>
              <a:t>, n); </a:t>
            </a:r>
            <a:r>
              <a:rPr lang="ru-RU" sz="1050" dirty="0">
                <a:solidFill>
                  <a:srgbClr val="008000"/>
                </a:solidFill>
                <a:latin typeface="Consolas" panose="020B0609020204030204" pitchFamily="49" charset="0"/>
              </a:rPr>
              <a:t>// увеличиваем элементы массива в два раза</a:t>
            </a:r>
            <a:endParaRPr lang="ru-RU" sz="1050" dirty="0">
              <a:solidFill>
                <a:srgbClr val="000000"/>
              </a:solidFill>
              <a:latin typeface="Consolas" panose="020B0609020204030204" pitchFamily="49" charset="0"/>
            </a:endParaRPr>
          </a:p>
          <a:p>
            <a:pPr lvl="1"/>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print</a:t>
            </a:r>
            <a:r>
              <a:rPr lang="de-CH" sz="1050" dirty="0">
                <a:solidFill>
                  <a:srgbClr val="000000"/>
                </a:solidFill>
                <a:latin typeface="Consolas" panose="020B0609020204030204" pitchFamily="49" charset="0"/>
              </a:rPr>
              <a:t>(</a:t>
            </a:r>
            <a:r>
              <a:rPr lang="de-CH" sz="1050" dirty="0" err="1">
                <a:solidFill>
                  <a:srgbClr val="000000"/>
                </a:solidFill>
                <a:latin typeface="Consolas" panose="020B0609020204030204" pitchFamily="49" charset="0"/>
              </a:rPr>
              <a:t>numbers</a:t>
            </a:r>
            <a:r>
              <a:rPr lang="de-CH" sz="1050" dirty="0">
                <a:solidFill>
                  <a:srgbClr val="000000"/>
                </a:solidFill>
                <a:latin typeface="Consolas" panose="020B0609020204030204" pitchFamily="49" charset="0"/>
              </a:rPr>
              <a:t>, n);</a:t>
            </a:r>
          </a:p>
          <a:p>
            <a:pPr lvl="1"/>
            <a:r>
              <a:rPr lang="ru-RU" sz="1050" dirty="0">
                <a:solidFill>
                  <a:srgbClr val="000000"/>
                </a:solidFill>
                <a:latin typeface="Consolas" panose="020B0609020204030204" pitchFamily="49" charset="0"/>
              </a:rPr>
              <a:t>}</a:t>
            </a:r>
          </a:p>
          <a:p>
            <a:pPr lvl="1"/>
            <a:r>
              <a:rPr lang="de-CH" sz="1050" dirty="0" err="1">
                <a:solidFill>
                  <a:srgbClr val="0000FF"/>
                </a:solidFill>
                <a:latin typeface="Consolas" panose="020B0609020204030204" pitchFamily="49" charset="0"/>
              </a:rPr>
              <a:t>void</a:t>
            </a:r>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print</a:t>
            </a:r>
            <a:r>
              <a:rPr lang="de-CH" sz="1050" dirty="0">
                <a:solidFill>
                  <a:srgbClr val="000000"/>
                </a:solidFill>
                <a:latin typeface="Consolas" panose="020B0609020204030204" pitchFamily="49" charset="0"/>
              </a:rPr>
              <a:t>(</a:t>
            </a:r>
            <a:r>
              <a:rPr lang="de-CH" sz="1050" dirty="0" err="1">
                <a:solidFill>
                  <a:srgbClr val="0000FF"/>
                </a:solidFill>
                <a:latin typeface="Consolas" panose="020B0609020204030204" pitchFamily="49" charset="0"/>
              </a:rPr>
              <a:t>const</a:t>
            </a:r>
            <a:r>
              <a:rPr lang="de-CH" sz="1050" dirty="0">
                <a:solidFill>
                  <a:srgbClr val="000000"/>
                </a:solidFill>
                <a:latin typeface="Consolas" panose="020B0609020204030204" pitchFamily="49" charset="0"/>
              </a:rPr>
              <a:t> </a:t>
            </a:r>
            <a:r>
              <a:rPr lang="de-CH" sz="1050" dirty="0">
                <a:solidFill>
                  <a:srgbClr val="0000FF"/>
                </a:solidFill>
                <a:latin typeface="Consolas" panose="020B0609020204030204" pitchFamily="49" charset="0"/>
              </a:rPr>
              <a:t>int</a:t>
            </a:r>
            <a:r>
              <a:rPr lang="de-CH" sz="1050" dirty="0">
                <a:solidFill>
                  <a:srgbClr val="000000"/>
                </a:solidFill>
                <a:latin typeface="Consolas" panose="020B0609020204030204" pitchFamily="49" charset="0"/>
              </a:rPr>
              <a:t> </a:t>
            </a:r>
            <a:r>
              <a:rPr lang="de-CH" sz="1050" dirty="0" err="1">
                <a:solidFill>
                  <a:srgbClr val="808080"/>
                </a:solidFill>
                <a:latin typeface="Consolas" panose="020B0609020204030204" pitchFamily="49" charset="0"/>
              </a:rPr>
              <a:t>numbers</a:t>
            </a:r>
            <a:r>
              <a:rPr lang="de-CH" sz="1050" dirty="0">
                <a:solidFill>
                  <a:srgbClr val="000000"/>
                </a:solidFill>
                <a:latin typeface="Consolas" panose="020B0609020204030204" pitchFamily="49" charset="0"/>
              </a:rPr>
              <a:t>[], </a:t>
            </a:r>
            <a:r>
              <a:rPr lang="de-CH" sz="1050" dirty="0" err="1">
                <a:solidFill>
                  <a:srgbClr val="0000FF"/>
                </a:solidFill>
                <a:latin typeface="Consolas" panose="020B0609020204030204" pitchFamily="49" charset="0"/>
              </a:rPr>
              <a:t>const</a:t>
            </a:r>
            <a:r>
              <a:rPr lang="de-CH" sz="1050" dirty="0">
                <a:solidFill>
                  <a:srgbClr val="000000"/>
                </a:solidFill>
                <a:latin typeface="Consolas" panose="020B0609020204030204" pitchFamily="49" charset="0"/>
              </a:rPr>
              <a:t> </a:t>
            </a:r>
            <a:r>
              <a:rPr lang="de-CH" sz="1050" dirty="0" err="1">
                <a:solidFill>
                  <a:srgbClr val="2B91AF"/>
                </a:solidFill>
                <a:latin typeface="Consolas" panose="020B0609020204030204" pitchFamily="49" charset="0"/>
              </a:rPr>
              <a:t>size_t</a:t>
            </a:r>
            <a:r>
              <a:rPr lang="de-CH" sz="1050" dirty="0">
                <a:solidFill>
                  <a:srgbClr val="000000"/>
                </a:solidFill>
                <a:latin typeface="Consolas" panose="020B0609020204030204" pitchFamily="49" charset="0"/>
              </a:rPr>
              <a:t> </a:t>
            </a:r>
            <a:r>
              <a:rPr lang="de-CH" sz="1050" dirty="0">
                <a:solidFill>
                  <a:srgbClr val="808080"/>
                </a:solidFill>
                <a:latin typeface="Consolas" panose="020B0609020204030204" pitchFamily="49" charset="0"/>
              </a:rPr>
              <a:t>n</a:t>
            </a:r>
            <a:r>
              <a:rPr lang="de-CH"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a:t>
            </a:r>
          </a:p>
          <a:p>
            <a:pPr lvl="1"/>
            <a:r>
              <a:rPr lang="nn-NO" sz="1050" dirty="0">
                <a:solidFill>
                  <a:srgbClr val="000000"/>
                </a:solidFill>
                <a:latin typeface="Consolas" panose="020B0609020204030204" pitchFamily="49" charset="0"/>
              </a:rPr>
              <a:t>    </a:t>
            </a:r>
            <a:r>
              <a:rPr lang="nn-NO" sz="1050" dirty="0">
                <a:solidFill>
                  <a:srgbClr val="0000FF"/>
                </a:solidFill>
                <a:latin typeface="Consolas" panose="020B0609020204030204" pitchFamily="49" charset="0"/>
              </a:rPr>
              <a:t>for</a:t>
            </a:r>
            <a:r>
              <a:rPr lang="nn-NO" sz="1050" dirty="0">
                <a:solidFill>
                  <a:srgbClr val="000000"/>
                </a:solidFill>
                <a:latin typeface="Consolas" panose="020B0609020204030204" pitchFamily="49" charset="0"/>
              </a:rPr>
              <a:t> (</a:t>
            </a:r>
            <a:r>
              <a:rPr lang="nn-NO" sz="1050" dirty="0">
                <a:solidFill>
                  <a:srgbClr val="2B91AF"/>
                </a:solidFill>
                <a:latin typeface="Consolas" panose="020B0609020204030204" pitchFamily="49" charset="0"/>
              </a:rPr>
              <a:t>size_t</a:t>
            </a:r>
            <a:r>
              <a:rPr lang="nn-NO" sz="1050" dirty="0">
                <a:solidFill>
                  <a:srgbClr val="000000"/>
                </a:solidFill>
                <a:latin typeface="Consolas" panose="020B0609020204030204" pitchFamily="49" charset="0"/>
              </a:rPr>
              <a:t> i{}; i &lt; </a:t>
            </a:r>
            <a:r>
              <a:rPr lang="nn-NO" sz="1050" dirty="0">
                <a:solidFill>
                  <a:srgbClr val="808080"/>
                </a:solidFill>
                <a:latin typeface="Consolas" panose="020B0609020204030204" pitchFamily="49" charset="0"/>
              </a:rPr>
              <a:t>n</a:t>
            </a:r>
            <a:r>
              <a:rPr lang="nn-NO" sz="1050" dirty="0">
                <a:solidFill>
                  <a:srgbClr val="000000"/>
                </a:solidFill>
                <a:latin typeface="Consolas" panose="020B0609020204030204" pitchFamily="49" charset="0"/>
              </a:rPr>
              <a:t>; i++)</a:t>
            </a:r>
          </a:p>
          <a:p>
            <a:pPr lvl="1"/>
            <a:r>
              <a:rPr lang="ru-RU" sz="1050" dirty="0">
                <a:solidFill>
                  <a:srgbClr val="000000"/>
                </a:solidFill>
                <a:latin typeface="Consolas" panose="020B0609020204030204" pitchFamily="49" charset="0"/>
              </a:rPr>
              <a:t>    {</a:t>
            </a:r>
          </a:p>
          <a:p>
            <a:pPr lvl="1"/>
            <a:r>
              <a:rPr lang="en-US" sz="1050" dirty="0">
                <a:solidFill>
                  <a:srgbClr val="000000"/>
                </a:solidFill>
                <a:latin typeface="Consolas" panose="020B0609020204030204" pitchFamily="49" charset="0"/>
              </a:rPr>
              <a:t>        std::</a:t>
            </a:r>
            <a:r>
              <a:rPr lang="en-US" sz="1050" dirty="0" err="1">
                <a:solidFill>
                  <a:srgbClr val="000000"/>
                </a:solidFill>
                <a:latin typeface="Consolas" panose="020B0609020204030204" pitchFamily="49" charset="0"/>
              </a:rPr>
              <a:t>cout</a:t>
            </a:r>
            <a:r>
              <a:rPr lang="en-US" sz="1050" dirty="0">
                <a:solidFill>
                  <a:srgbClr val="000000"/>
                </a:solidFill>
                <a:latin typeface="Consolas" panose="020B0609020204030204" pitchFamily="49" charset="0"/>
              </a:rPr>
              <a:t> </a:t>
            </a:r>
            <a:r>
              <a:rPr lang="en-US" sz="1050" dirty="0">
                <a:solidFill>
                  <a:srgbClr val="008080"/>
                </a:solidFill>
                <a:latin typeface="Consolas" panose="020B0609020204030204" pitchFamily="49" charset="0"/>
              </a:rPr>
              <a:t>&lt;&lt;</a:t>
            </a:r>
            <a:r>
              <a:rPr lang="en-US" sz="1050" dirty="0">
                <a:solidFill>
                  <a:srgbClr val="000000"/>
                </a:solidFill>
                <a:latin typeface="Consolas" panose="020B0609020204030204" pitchFamily="49" charset="0"/>
              </a:rPr>
              <a:t> </a:t>
            </a:r>
            <a:r>
              <a:rPr lang="en-US" sz="1050" dirty="0">
                <a:solidFill>
                  <a:srgbClr val="808080"/>
                </a:solidFill>
                <a:latin typeface="Consolas" panose="020B0609020204030204" pitchFamily="49" charset="0"/>
              </a:rPr>
              <a:t>numbers</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a:t>
            </a:r>
            <a:r>
              <a:rPr lang="en-US" sz="1050" dirty="0">
                <a:solidFill>
                  <a:srgbClr val="008080"/>
                </a:solidFill>
                <a:latin typeface="Consolas" panose="020B0609020204030204" pitchFamily="49" charset="0"/>
              </a:rPr>
              <a:t>&lt;&lt;</a:t>
            </a:r>
            <a:r>
              <a:rPr lang="en-US" sz="1050" dirty="0">
                <a:solidFill>
                  <a:srgbClr val="000000"/>
                </a:solidFill>
                <a:latin typeface="Consolas" panose="020B0609020204030204" pitchFamily="49" charset="0"/>
              </a:rPr>
              <a:t> </a:t>
            </a:r>
            <a:r>
              <a:rPr lang="en-US" sz="1050" dirty="0">
                <a:solidFill>
                  <a:srgbClr val="A31515"/>
                </a:solidFill>
                <a:latin typeface="Consolas" panose="020B0609020204030204" pitchFamily="49" charset="0"/>
              </a:rPr>
              <a:t>"\t"</a:t>
            </a:r>
            <a:r>
              <a:rPr lang="en-US"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    }</a:t>
            </a:r>
          </a:p>
          <a:p>
            <a:pPr lvl="1"/>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std</a:t>
            </a:r>
            <a:r>
              <a:rPr lang="de-CH" sz="1050" dirty="0">
                <a:solidFill>
                  <a:srgbClr val="000000"/>
                </a:solidFill>
                <a:latin typeface="Consolas" panose="020B0609020204030204" pitchFamily="49" charset="0"/>
              </a:rPr>
              <a:t>::</a:t>
            </a:r>
            <a:r>
              <a:rPr lang="de-CH" sz="1050" dirty="0" err="1">
                <a:solidFill>
                  <a:srgbClr val="000000"/>
                </a:solidFill>
                <a:latin typeface="Consolas" panose="020B0609020204030204" pitchFamily="49" charset="0"/>
              </a:rPr>
              <a:t>cout</a:t>
            </a:r>
            <a:r>
              <a:rPr lang="de-CH" sz="1050" dirty="0">
                <a:solidFill>
                  <a:srgbClr val="000000"/>
                </a:solidFill>
                <a:latin typeface="Consolas" panose="020B0609020204030204" pitchFamily="49" charset="0"/>
              </a:rPr>
              <a:t> </a:t>
            </a:r>
            <a:r>
              <a:rPr lang="de-CH" sz="1050" dirty="0">
                <a:solidFill>
                  <a:srgbClr val="008080"/>
                </a:solidFill>
                <a:latin typeface="Consolas" panose="020B0609020204030204" pitchFamily="49" charset="0"/>
              </a:rPr>
              <a:t>&lt;&lt;</a:t>
            </a:r>
            <a:r>
              <a:rPr lang="de-CH" sz="1050" dirty="0">
                <a:solidFill>
                  <a:srgbClr val="000000"/>
                </a:solidFill>
                <a:latin typeface="Consolas" panose="020B0609020204030204" pitchFamily="49" charset="0"/>
              </a:rPr>
              <a:t> </a:t>
            </a:r>
            <a:r>
              <a:rPr lang="de-CH" sz="1050" dirty="0" err="1">
                <a:solidFill>
                  <a:srgbClr val="000000"/>
                </a:solidFill>
                <a:latin typeface="Consolas" panose="020B0609020204030204" pitchFamily="49" charset="0"/>
              </a:rPr>
              <a:t>std</a:t>
            </a:r>
            <a:r>
              <a:rPr lang="de-CH" sz="1050" dirty="0">
                <a:solidFill>
                  <a:srgbClr val="000000"/>
                </a:solidFill>
                <a:latin typeface="Consolas" panose="020B0609020204030204" pitchFamily="49" charset="0"/>
              </a:rPr>
              <a:t>::</a:t>
            </a:r>
            <a:r>
              <a:rPr lang="de-CH" sz="1050" dirty="0" err="1">
                <a:solidFill>
                  <a:srgbClr val="000000"/>
                </a:solidFill>
                <a:latin typeface="Consolas" panose="020B0609020204030204" pitchFamily="49" charset="0"/>
              </a:rPr>
              <a:t>endl</a:t>
            </a:r>
            <a:r>
              <a:rPr lang="de-CH"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a:t>
            </a:r>
          </a:p>
          <a:p>
            <a:pPr lvl="1"/>
            <a:r>
              <a:rPr lang="en-US" sz="1050" dirty="0">
                <a:solidFill>
                  <a:srgbClr val="0000FF"/>
                </a:solidFill>
                <a:latin typeface="Consolas" panose="020B0609020204030204" pitchFamily="49" charset="0"/>
              </a:rPr>
              <a:t>void</a:t>
            </a:r>
            <a:r>
              <a:rPr lang="en-US" sz="1050" dirty="0">
                <a:solidFill>
                  <a:srgbClr val="000000"/>
                </a:solidFill>
                <a:latin typeface="Consolas" panose="020B0609020204030204" pitchFamily="49" charset="0"/>
              </a:rPr>
              <a:t> twice(</a:t>
            </a:r>
            <a:r>
              <a:rPr lang="en-US" sz="1050" dirty="0">
                <a:solidFill>
                  <a:srgbClr val="0000FF"/>
                </a:solidFill>
                <a:latin typeface="Consolas" panose="020B0609020204030204" pitchFamily="49" charset="0"/>
              </a:rPr>
              <a:t>int</a:t>
            </a:r>
            <a:r>
              <a:rPr lang="en-US" sz="1050" dirty="0">
                <a:solidFill>
                  <a:srgbClr val="000000"/>
                </a:solidFill>
                <a:latin typeface="Consolas" panose="020B0609020204030204" pitchFamily="49" charset="0"/>
              </a:rPr>
              <a:t>* </a:t>
            </a:r>
            <a:r>
              <a:rPr lang="en-US" sz="1050" dirty="0">
                <a:solidFill>
                  <a:srgbClr val="808080"/>
                </a:solidFill>
                <a:latin typeface="Consolas" panose="020B0609020204030204" pitchFamily="49" charset="0"/>
              </a:rPr>
              <a:t>numbers</a:t>
            </a:r>
            <a:r>
              <a:rPr lang="en-US" sz="1050" dirty="0">
                <a:solidFill>
                  <a:srgbClr val="000000"/>
                </a:solidFill>
                <a:latin typeface="Consolas" panose="020B0609020204030204" pitchFamily="49" charset="0"/>
              </a:rPr>
              <a:t>, </a:t>
            </a:r>
            <a:r>
              <a:rPr lang="en-US" sz="1050" dirty="0">
                <a:solidFill>
                  <a:srgbClr val="0000FF"/>
                </a:solidFill>
                <a:latin typeface="Consolas" panose="020B0609020204030204" pitchFamily="49" charset="0"/>
              </a:rPr>
              <a:t>const</a:t>
            </a:r>
            <a:r>
              <a:rPr lang="en-US" sz="1050" dirty="0">
                <a:solidFill>
                  <a:srgbClr val="000000"/>
                </a:solidFill>
                <a:latin typeface="Consolas" panose="020B0609020204030204" pitchFamily="49" charset="0"/>
              </a:rPr>
              <a:t> </a:t>
            </a:r>
            <a:r>
              <a:rPr lang="en-US" sz="1050" dirty="0" err="1">
                <a:solidFill>
                  <a:srgbClr val="2B91AF"/>
                </a:solidFill>
                <a:latin typeface="Consolas" panose="020B0609020204030204" pitchFamily="49" charset="0"/>
              </a:rPr>
              <a:t>size_t</a:t>
            </a:r>
            <a:r>
              <a:rPr lang="en-US" sz="1050" dirty="0">
                <a:solidFill>
                  <a:srgbClr val="000000"/>
                </a:solidFill>
                <a:latin typeface="Consolas" panose="020B0609020204030204" pitchFamily="49" charset="0"/>
              </a:rPr>
              <a:t> </a:t>
            </a:r>
            <a:r>
              <a:rPr lang="en-US" sz="1050" dirty="0">
                <a:solidFill>
                  <a:srgbClr val="808080"/>
                </a:solidFill>
                <a:latin typeface="Consolas" panose="020B0609020204030204" pitchFamily="49" charset="0"/>
              </a:rPr>
              <a:t>n</a:t>
            </a:r>
            <a:r>
              <a:rPr lang="en-US" sz="1050" dirty="0">
                <a:solidFill>
                  <a:srgbClr val="000000"/>
                </a:solidFill>
                <a:latin typeface="Consolas" panose="020B0609020204030204" pitchFamily="49" charset="0"/>
              </a:rPr>
              <a:t>)</a:t>
            </a:r>
          </a:p>
          <a:p>
            <a:pPr lvl="1"/>
            <a:r>
              <a:rPr lang="ru-RU" sz="1050" dirty="0">
                <a:solidFill>
                  <a:srgbClr val="000000"/>
                </a:solidFill>
                <a:latin typeface="Consolas" panose="020B0609020204030204" pitchFamily="49" charset="0"/>
              </a:rPr>
              <a:t>{</a:t>
            </a:r>
          </a:p>
          <a:p>
            <a:pPr lvl="1"/>
            <a:r>
              <a:rPr lang="nn-NO" sz="1050" dirty="0">
                <a:solidFill>
                  <a:srgbClr val="000000"/>
                </a:solidFill>
                <a:latin typeface="Consolas" panose="020B0609020204030204" pitchFamily="49" charset="0"/>
              </a:rPr>
              <a:t>    </a:t>
            </a:r>
            <a:r>
              <a:rPr lang="nn-NO" sz="1050" dirty="0">
                <a:solidFill>
                  <a:srgbClr val="0000FF"/>
                </a:solidFill>
                <a:latin typeface="Consolas" panose="020B0609020204030204" pitchFamily="49" charset="0"/>
              </a:rPr>
              <a:t>for</a:t>
            </a:r>
            <a:r>
              <a:rPr lang="nn-NO" sz="1050" dirty="0">
                <a:solidFill>
                  <a:srgbClr val="000000"/>
                </a:solidFill>
                <a:latin typeface="Consolas" panose="020B0609020204030204" pitchFamily="49" charset="0"/>
              </a:rPr>
              <a:t> (</a:t>
            </a:r>
            <a:r>
              <a:rPr lang="nn-NO" sz="1050" dirty="0">
                <a:solidFill>
                  <a:srgbClr val="2B91AF"/>
                </a:solidFill>
                <a:latin typeface="Consolas" panose="020B0609020204030204" pitchFamily="49" charset="0"/>
              </a:rPr>
              <a:t>size_t</a:t>
            </a:r>
            <a:r>
              <a:rPr lang="nn-NO" sz="1050" dirty="0">
                <a:solidFill>
                  <a:srgbClr val="000000"/>
                </a:solidFill>
                <a:latin typeface="Consolas" panose="020B0609020204030204" pitchFamily="49" charset="0"/>
              </a:rPr>
              <a:t> i{}; i &lt; </a:t>
            </a:r>
            <a:r>
              <a:rPr lang="nn-NO" sz="1050" dirty="0">
                <a:solidFill>
                  <a:srgbClr val="808080"/>
                </a:solidFill>
                <a:latin typeface="Consolas" panose="020B0609020204030204" pitchFamily="49" charset="0"/>
              </a:rPr>
              <a:t>n</a:t>
            </a:r>
            <a:r>
              <a:rPr lang="nn-NO" sz="1050" dirty="0">
                <a:solidFill>
                  <a:srgbClr val="000000"/>
                </a:solidFill>
                <a:latin typeface="Consolas" panose="020B0609020204030204" pitchFamily="49" charset="0"/>
              </a:rPr>
              <a:t>; i++)</a:t>
            </a:r>
          </a:p>
          <a:p>
            <a:pPr lvl="1"/>
            <a:r>
              <a:rPr lang="ru-RU" sz="1050" dirty="0">
                <a:solidFill>
                  <a:srgbClr val="000000"/>
                </a:solidFill>
                <a:latin typeface="Consolas" panose="020B0609020204030204" pitchFamily="49" charset="0"/>
              </a:rPr>
              <a:t>    {</a:t>
            </a:r>
          </a:p>
          <a:p>
            <a:pPr lvl="1"/>
            <a:r>
              <a:rPr lang="en-US" sz="1050" dirty="0">
                <a:solidFill>
                  <a:srgbClr val="000000"/>
                </a:solidFill>
                <a:latin typeface="Consolas" panose="020B0609020204030204" pitchFamily="49" charset="0"/>
              </a:rPr>
              <a:t>        </a:t>
            </a:r>
            <a:r>
              <a:rPr lang="en-US" sz="1050" dirty="0">
                <a:solidFill>
                  <a:srgbClr val="808080"/>
                </a:solidFill>
                <a:latin typeface="Consolas" panose="020B0609020204030204" pitchFamily="49" charset="0"/>
              </a:rPr>
              <a:t>numbers</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 </a:t>
            </a:r>
            <a:r>
              <a:rPr lang="en-US" sz="1050" dirty="0">
                <a:solidFill>
                  <a:srgbClr val="808080"/>
                </a:solidFill>
                <a:latin typeface="Consolas" panose="020B0609020204030204" pitchFamily="49" charset="0"/>
              </a:rPr>
              <a:t>numbers</a:t>
            </a:r>
            <a:r>
              <a:rPr lang="en-US" sz="1050" dirty="0">
                <a:solidFill>
                  <a:srgbClr val="000000"/>
                </a:solidFill>
                <a:latin typeface="Consolas" panose="020B0609020204030204" pitchFamily="49" charset="0"/>
              </a:rPr>
              <a:t>[</a:t>
            </a:r>
            <a:r>
              <a:rPr lang="en-US" sz="1050" dirty="0" err="1">
                <a:solidFill>
                  <a:srgbClr val="000000"/>
                </a:solidFill>
                <a:latin typeface="Consolas" panose="020B0609020204030204" pitchFamily="49" charset="0"/>
              </a:rPr>
              <a:t>i</a:t>
            </a:r>
            <a:r>
              <a:rPr lang="en-US" sz="1050" dirty="0">
                <a:solidFill>
                  <a:srgbClr val="000000"/>
                </a:solidFill>
                <a:latin typeface="Consolas" panose="020B0609020204030204" pitchFamily="49" charset="0"/>
              </a:rPr>
              <a:t>] * 2;</a:t>
            </a:r>
          </a:p>
          <a:p>
            <a:pPr lvl="1"/>
            <a:r>
              <a:rPr lang="ru-RU" sz="1050" dirty="0">
                <a:solidFill>
                  <a:srgbClr val="000000"/>
                </a:solidFill>
                <a:latin typeface="Consolas" panose="020B0609020204030204" pitchFamily="49" charset="0"/>
              </a:rPr>
              <a:t>    }</a:t>
            </a:r>
          </a:p>
          <a:p>
            <a:pPr lvl="1"/>
            <a:r>
              <a:rPr lang="ru-RU" sz="105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1318726147"/>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16778E-0534-2951-6FDA-7886685800DC}"/>
              </a:ext>
            </a:extLst>
          </p:cNvPr>
          <p:cNvSpPr>
            <a:spLocks noGrp="1"/>
          </p:cNvSpPr>
          <p:nvPr>
            <p:ph type="title"/>
          </p:nvPr>
        </p:nvSpPr>
        <p:spPr/>
        <p:txBody>
          <a:bodyPr/>
          <a:lstStyle/>
          <a:p>
            <a:r>
              <a:rPr lang="ru-RU" b="1" dirty="0"/>
              <a:t>Передача массив по ссылке</a:t>
            </a:r>
            <a:endParaRPr lang="ru-RU" dirty="0"/>
          </a:p>
        </p:txBody>
      </p:sp>
      <p:sp>
        <p:nvSpPr>
          <p:cNvPr id="3" name="Объект 2">
            <a:extLst>
              <a:ext uri="{FF2B5EF4-FFF2-40B4-BE49-F238E27FC236}">
                <a16:creationId xmlns:a16="http://schemas.microsoft.com/office/drawing/2014/main" id="{878D25E7-E9F2-490E-49AA-21F8DABC42F9}"/>
              </a:ext>
            </a:extLst>
          </p:cNvPr>
          <p:cNvSpPr>
            <a:spLocks noGrp="1"/>
          </p:cNvSpPr>
          <p:nvPr>
            <p:ph idx="1"/>
          </p:nvPr>
        </p:nvSpPr>
        <p:spPr/>
        <p:txBody>
          <a:bodyPr/>
          <a:lstStyle/>
          <a:p>
            <a:pPr lvl="1"/>
            <a:r>
              <a:rPr lang="de-CH" dirty="0" err="1">
                <a:solidFill>
                  <a:srgbClr val="0000FF"/>
                </a:solidFill>
                <a:latin typeface="Consolas" panose="020B0609020204030204" pitchFamily="49" charset="0"/>
              </a:rPr>
              <a:t>void</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2B91AF"/>
                </a:solidFill>
                <a:latin typeface="Consolas" panose="020B0609020204030204" pitchFamily="49" charset="0"/>
              </a:rPr>
              <a:t>size_t</a:t>
            </a:r>
            <a:r>
              <a:rPr lang="de-CH"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DE" dirty="0">
                <a:solidFill>
                  <a:srgbClr val="000000"/>
                </a:solidFill>
                <a:latin typeface="Consolas" panose="020B0609020204030204" pitchFamily="49" charset="0"/>
              </a:rPr>
              <a:t>    </a:t>
            </a:r>
            <a:r>
              <a:rPr lang="de-DE" dirty="0">
                <a:solidFill>
                  <a:srgbClr val="0000FF"/>
                </a:solidFill>
                <a:latin typeface="Consolas" panose="020B0609020204030204" pitchFamily="49" charset="0"/>
              </a:rPr>
              <a:t>int</a:t>
            </a:r>
            <a:r>
              <a:rPr lang="de-DE" dirty="0">
                <a:solidFill>
                  <a:srgbClr val="000000"/>
                </a:solidFill>
                <a:latin typeface="Consolas" panose="020B0609020204030204" pitchFamily="49" charset="0"/>
              </a:rPr>
              <a:t> </a:t>
            </a:r>
            <a:r>
              <a:rPr lang="de-DE" dirty="0" err="1">
                <a:solidFill>
                  <a:srgbClr val="000000"/>
                </a:solidFill>
                <a:latin typeface="Consolas" panose="020B0609020204030204" pitchFamily="49" charset="0"/>
              </a:rPr>
              <a:t>nums</a:t>
            </a:r>
            <a:r>
              <a:rPr lang="de-DE" dirty="0">
                <a:solidFill>
                  <a:srgbClr val="000000"/>
                </a:solidFill>
                <a:latin typeface="Consolas" panose="020B0609020204030204" pitchFamily="49" charset="0"/>
              </a:rPr>
              <a:t>[]{ 1, 2, 3, 4, 5 };</a:t>
            </a:r>
          </a:p>
          <a:p>
            <a:pPr lvl="1"/>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count = std::size(</a:t>
            </a:r>
            <a:r>
              <a:rPr lang="en-US" dirty="0" err="1">
                <a:solidFill>
                  <a:srgbClr val="000000"/>
                </a:solidFill>
                <a:latin typeface="Consolas" panose="020B0609020204030204" pitchFamily="49" charset="0"/>
              </a:rPr>
              <a:t>nums</a:t>
            </a:r>
            <a:r>
              <a:rPr lang="en-US"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print</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a:t>
            </a:r>
            <a:r>
              <a:rPr lang="de-CH" dirty="0" err="1">
                <a:solidFill>
                  <a:srgbClr val="000000"/>
                </a:solidFill>
                <a:latin typeface="Consolas" panose="020B0609020204030204" pitchFamily="49" charset="0"/>
              </a:rPr>
              <a:t>nums</a:t>
            </a:r>
            <a:r>
              <a:rPr lang="de-CH" dirty="0">
                <a:solidFill>
                  <a:srgbClr val="000000"/>
                </a:solidFill>
                <a:latin typeface="Consolas" panose="020B0609020204030204" pitchFamily="49" charset="0"/>
              </a:rPr>
              <a:t> , </a:t>
            </a:r>
            <a:r>
              <a:rPr lang="de-CH" dirty="0" err="1">
                <a:solidFill>
                  <a:srgbClr val="000000"/>
                </a:solidFill>
                <a:latin typeface="Consolas" panose="020B0609020204030204" pitchFamily="49" charset="0"/>
              </a:rPr>
              <a:t>count</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print(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(&amp;</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count</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for</a:t>
            </a:r>
            <a:r>
              <a:rPr lang="en-US" dirty="0">
                <a:solidFill>
                  <a:srgbClr val="000000"/>
                </a:solidFill>
                <a:latin typeface="Consolas" panose="020B0609020204030204" pitchFamily="49" charset="0"/>
              </a:rPr>
              <a:t> (</a:t>
            </a:r>
            <a:r>
              <a:rPr lang="en-US" dirty="0" err="1">
                <a:solidFill>
                  <a:srgbClr val="2B91AF"/>
                </a:solidFill>
                <a:latin typeface="Consolas" panose="020B0609020204030204" pitchFamily="49" charset="0"/>
              </a:rPr>
              <a:t>size_t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&lt; </a:t>
            </a:r>
            <a:r>
              <a:rPr lang="en-US" dirty="0">
                <a:solidFill>
                  <a:srgbClr val="808080"/>
                </a:solidFill>
                <a:latin typeface="Consolas" panose="020B0609020204030204" pitchFamily="49" charset="0"/>
              </a:rPr>
              <a:t>count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numbers</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"\t"</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29973568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0EF4D60-7688-7280-EDE2-AC78801D42AD}"/>
              </a:ext>
            </a:extLst>
          </p:cNvPr>
          <p:cNvSpPr>
            <a:spLocks noGrp="1"/>
          </p:cNvSpPr>
          <p:nvPr>
            <p:ph type="title"/>
          </p:nvPr>
        </p:nvSpPr>
        <p:spPr/>
        <p:txBody>
          <a:bodyPr/>
          <a:lstStyle/>
          <a:p>
            <a:r>
              <a:rPr lang="ru-RU" sz="2400" b="1" dirty="0"/>
              <a:t>Передача многомерного массива</a:t>
            </a:r>
            <a:endParaRPr lang="ru-RU" dirty="0"/>
          </a:p>
        </p:txBody>
      </p:sp>
      <p:sp>
        <p:nvSpPr>
          <p:cNvPr id="3" name="Объект 2">
            <a:extLst>
              <a:ext uri="{FF2B5EF4-FFF2-40B4-BE49-F238E27FC236}">
                <a16:creationId xmlns:a16="http://schemas.microsoft.com/office/drawing/2014/main" id="{1AFC20BF-DF1F-146E-F34F-AA1106D052E0}"/>
              </a:ext>
            </a:extLst>
          </p:cNvPr>
          <p:cNvSpPr>
            <a:spLocks noGrp="1"/>
          </p:cNvSpPr>
          <p:nvPr>
            <p:ph idx="1"/>
          </p:nvPr>
        </p:nvSpPr>
        <p:spPr/>
        <p:txBody>
          <a:bodyPr/>
          <a:lstStyle/>
          <a:p>
            <a:r>
              <a:rPr lang="de-CH" sz="1200" dirty="0" err="1">
                <a:solidFill>
                  <a:srgbClr val="0000FF"/>
                </a:solidFill>
                <a:latin typeface="Consolas" panose="020B0609020204030204" pitchFamily="49" charset="0"/>
              </a:rPr>
              <a:t>void</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print</a:t>
            </a:r>
            <a:r>
              <a:rPr lang="de-CH" sz="1200" dirty="0">
                <a:solidFill>
                  <a:srgbClr val="000000"/>
                </a:solidFill>
                <a:latin typeface="Consolas" panose="020B0609020204030204" pitchFamily="49" charset="0"/>
              </a:rPr>
              <a:t>(</a:t>
            </a:r>
            <a:r>
              <a:rPr lang="de-CH" sz="1200" dirty="0" err="1">
                <a:solidFill>
                  <a:srgbClr val="0000FF"/>
                </a:solidFill>
                <a:latin typeface="Consolas" panose="020B0609020204030204" pitchFamily="49" charset="0"/>
              </a:rPr>
              <a:t>const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(*)[3], </a:t>
            </a:r>
            <a:r>
              <a:rPr lang="de-CH" sz="1200" dirty="0" err="1">
                <a:solidFill>
                  <a:srgbClr val="0000FF"/>
                </a:solidFill>
                <a:latin typeface="Consolas" panose="020B0609020204030204" pitchFamily="49" charset="0"/>
              </a:rPr>
              <a:t>const</a:t>
            </a:r>
            <a:r>
              <a:rPr lang="de-CH" sz="1200" dirty="0">
                <a:solidFill>
                  <a:srgbClr val="000000"/>
                </a:solidFill>
                <a:latin typeface="Consolas" panose="020B0609020204030204" pitchFamily="49" charset="0"/>
              </a:rPr>
              <a:t> </a:t>
            </a:r>
            <a:r>
              <a:rPr lang="de-CH" sz="1200" dirty="0" err="1">
                <a:solidFill>
                  <a:srgbClr val="2B91AF"/>
                </a:solidFill>
                <a:latin typeface="Consolas" panose="020B0609020204030204" pitchFamily="49" charset="0"/>
              </a:rPr>
              <a:t>size_t</a:t>
            </a:r>
            <a:r>
              <a:rPr lang="de-CH"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table</a:t>
            </a:r>
            <a:r>
              <a:rPr lang="de-CH" sz="1200" dirty="0">
                <a:solidFill>
                  <a:srgbClr val="000000"/>
                </a:solidFill>
                <a:latin typeface="Consolas" panose="020B0609020204030204" pitchFamily="49" charset="0"/>
              </a:rPr>
              <a:t>[][3]{ {1, 2, 3}, {4, 5, 6}, {7, 8, 9} };</a:t>
            </a:r>
          </a:p>
          <a:p>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количество строк или </a:t>
            </a:r>
            <a:r>
              <a:rPr lang="ru-RU" sz="1200" dirty="0" err="1">
                <a:solidFill>
                  <a:srgbClr val="008000"/>
                </a:solidFill>
                <a:latin typeface="Consolas" panose="020B0609020204030204" pitchFamily="49" charset="0"/>
              </a:rPr>
              <a:t>подмассивов</a:t>
            </a:r>
            <a:endParaRPr lang="ru-RU"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rowsCount</a:t>
            </a:r>
            <a:r>
              <a:rPr lang="en-US" sz="1200" dirty="0">
                <a:solidFill>
                  <a:srgbClr val="000000"/>
                </a:solidFill>
                <a:latin typeface="Consolas" panose="020B0609020204030204" pitchFamily="49" charset="0"/>
              </a:rPr>
              <a:t>{ std::size(table) };</a:t>
            </a: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print</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table</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rowsCount</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endParaRPr lang="ru-RU"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print(</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a:t>
            </a:r>
            <a:r>
              <a:rPr lang="en-US" sz="1200" dirty="0">
                <a:solidFill>
                  <a:srgbClr val="808080"/>
                </a:solidFill>
                <a:latin typeface="Consolas" panose="020B0609020204030204" pitchFamily="49" charset="0"/>
              </a:rPr>
              <a:t>rows</a:t>
            </a:r>
            <a:r>
              <a:rPr lang="en-US" sz="1200" dirty="0">
                <a:solidFill>
                  <a:srgbClr val="000000"/>
                </a:solidFill>
                <a:latin typeface="Consolas" panose="020B0609020204030204" pitchFamily="49" charset="0"/>
              </a:rPr>
              <a:t>)[3], </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a:t>
            </a:r>
            <a:r>
              <a:rPr lang="en-US" sz="1200" dirty="0" err="1">
                <a:solidFill>
                  <a:srgbClr val="808080"/>
                </a:solidFill>
                <a:latin typeface="Consolas" panose="020B0609020204030204" pitchFamily="49" charset="0"/>
              </a:rPr>
              <a:t>rowsCount</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количество столбцов или элементов в каждом </a:t>
            </a:r>
            <a:r>
              <a:rPr lang="ru-RU" sz="1200" dirty="0" err="1">
                <a:solidFill>
                  <a:srgbClr val="008000"/>
                </a:solidFill>
                <a:latin typeface="Consolas" panose="020B0609020204030204" pitchFamily="49" charset="0"/>
              </a:rPr>
              <a:t>подмассиве</a:t>
            </a:r>
            <a:endParaRPr lang="ru-RU"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columnsCount</a:t>
            </a:r>
            <a:r>
              <a:rPr lang="en-US" sz="1200" dirty="0">
                <a:solidFill>
                  <a:srgbClr val="000000"/>
                </a:solidFill>
                <a:latin typeface="Consolas" panose="020B0609020204030204" pitchFamily="49" charset="0"/>
              </a:rPr>
              <a:t>{ std::size(*</a:t>
            </a:r>
            <a:r>
              <a:rPr lang="en-US" sz="1200" dirty="0">
                <a:solidFill>
                  <a:srgbClr val="808080"/>
                </a:solidFill>
                <a:latin typeface="Consolas" panose="020B0609020204030204" pitchFamily="49" charset="0"/>
              </a:rPr>
              <a:t>rows</a:t>
            </a:r>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a:t>
            </a:r>
            <a:r>
              <a:rPr lang="en-US" sz="1200" dirty="0" err="1">
                <a:solidFill>
                  <a:srgbClr val="808080"/>
                </a:solidFill>
                <a:latin typeface="Consolas" panose="020B0609020204030204" pitchFamily="49" charset="0"/>
              </a:rPr>
              <a:t>rowsCount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2B91AF"/>
                </a:solidFill>
                <a:latin typeface="Consolas" panose="020B0609020204030204" pitchFamily="49" charset="0"/>
              </a:rPr>
              <a:t>size_t</a:t>
            </a:r>
            <a:r>
              <a:rPr lang="en-US" sz="1200" dirty="0">
                <a:solidFill>
                  <a:srgbClr val="000000"/>
                </a:solidFill>
                <a:latin typeface="Consolas" panose="020B0609020204030204" pitchFamily="49" charset="0"/>
              </a:rPr>
              <a:t> j{}; j &lt; </a:t>
            </a:r>
            <a:r>
              <a:rPr lang="en-US" sz="1200" dirty="0" err="1">
                <a:solidFill>
                  <a:srgbClr val="000000"/>
                </a:solidFill>
                <a:latin typeface="Consolas" panose="020B0609020204030204" pitchFamily="49" charset="0"/>
              </a:rPr>
              <a:t>columnsCount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j++</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808080"/>
                </a:solidFill>
                <a:latin typeface="Consolas" panose="020B0609020204030204" pitchFamily="49" charset="0"/>
              </a:rPr>
              <a:t>rows</a:t>
            </a:r>
            <a:r>
              <a:rPr lang="de-CH" sz="1200" dirty="0">
                <a:solidFill>
                  <a:srgbClr val="000000"/>
                </a:solidFill>
                <a:latin typeface="Consolas" panose="020B0609020204030204" pitchFamily="49" charset="0"/>
              </a:rPr>
              <a:t>[i][j]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a:solidFill>
                  <a:srgbClr val="A31515"/>
                </a:solidFill>
                <a:latin typeface="Consolas" panose="020B0609020204030204" pitchFamily="49" charset="0"/>
              </a:rPr>
              <a:t>"\t"</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p>
          <a:p>
            <a:r>
              <a:rPr lang="ru-RU" sz="120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2876230567"/>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2E0FDC-243E-269B-916A-4D6B19EC0A75}"/>
              </a:ext>
            </a:extLst>
          </p:cNvPr>
          <p:cNvSpPr>
            <a:spLocks noGrp="1"/>
          </p:cNvSpPr>
          <p:nvPr>
            <p:ph type="title"/>
          </p:nvPr>
        </p:nvSpPr>
        <p:spPr/>
        <p:txBody>
          <a:bodyPr/>
          <a:lstStyle/>
          <a:p>
            <a:r>
              <a:rPr lang="ru-RU" b="1" dirty="0"/>
              <a:t>Параметры функции </a:t>
            </a:r>
            <a:r>
              <a:rPr lang="de-CH" b="1" dirty="0" err="1"/>
              <a:t>main</a:t>
            </a:r>
            <a:endParaRPr lang="ru-RU" dirty="0"/>
          </a:p>
        </p:txBody>
      </p:sp>
      <p:sp>
        <p:nvSpPr>
          <p:cNvPr id="3" name="Объект 2">
            <a:extLst>
              <a:ext uri="{FF2B5EF4-FFF2-40B4-BE49-F238E27FC236}">
                <a16:creationId xmlns:a16="http://schemas.microsoft.com/office/drawing/2014/main" id="{629C5D6A-5B99-C42E-CADC-05370E21720C}"/>
              </a:ext>
            </a:extLst>
          </p:cNvPr>
          <p:cNvSpPr>
            <a:spLocks noGrp="1"/>
          </p:cNvSpPr>
          <p:nvPr>
            <p:ph idx="1"/>
          </p:nvPr>
        </p:nvSpPr>
        <p:spPr/>
        <p:txBody>
          <a:bodyPr/>
          <a:lstStyle/>
          <a:p>
            <a:endParaRPr lang="ru-RU" dirty="0"/>
          </a:p>
          <a:p>
            <a:pPr lvl="1"/>
            <a:r>
              <a:rPr lang="de-CH" b="1" dirty="0"/>
              <a:t>int</a:t>
            </a:r>
            <a:r>
              <a:rPr lang="de-CH" dirty="0"/>
              <a:t> </a:t>
            </a:r>
            <a:r>
              <a:rPr lang="de-CH" dirty="0" err="1"/>
              <a:t>main</a:t>
            </a:r>
            <a:r>
              <a:rPr lang="de-CH" dirty="0"/>
              <a:t>(</a:t>
            </a:r>
            <a:r>
              <a:rPr lang="de-CH" b="1" dirty="0"/>
              <a:t>int</a:t>
            </a:r>
            <a:r>
              <a:rPr lang="de-CH" dirty="0"/>
              <a:t> </a:t>
            </a:r>
            <a:r>
              <a:rPr lang="de-CH" dirty="0" err="1"/>
              <a:t>argc</a:t>
            </a:r>
            <a:r>
              <a:rPr lang="de-CH" dirty="0"/>
              <a:t>, </a:t>
            </a:r>
            <a:r>
              <a:rPr lang="de-CH" b="1" dirty="0" err="1"/>
              <a:t>char</a:t>
            </a:r>
            <a:r>
              <a:rPr lang="de-CH" dirty="0"/>
              <a:t>* </a:t>
            </a:r>
            <a:r>
              <a:rPr lang="de-CH" dirty="0" err="1"/>
              <a:t>argv</a:t>
            </a:r>
            <a:r>
              <a:rPr lang="de-CH" dirty="0"/>
              <a:t>[])</a:t>
            </a:r>
          </a:p>
          <a:p>
            <a:pPr lvl="1"/>
            <a:r>
              <a:rPr lang="de-CH" dirty="0"/>
              <a:t>{</a:t>
            </a:r>
          </a:p>
          <a:p>
            <a:pPr lvl="1"/>
            <a:r>
              <a:rPr lang="de-CH" dirty="0"/>
              <a:t>    // </a:t>
            </a:r>
            <a:r>
              <a:rPr lang="ru-RU" dirty="0"/>
              <a:t>инструкции</a:t>
            </a:r>
          </a:p>
          <a:p>
            <a:pPr lvl="1"/>
            <a:r>
              <a:rPr lang="ru-RU" dirty="0"/>
              <a:t>}</a:t>
            </a:r>
          </a:p>
          <a:p>
            <a:endParaRPr lang="ru-RU" dirty="0"/>
          </a:p>
          <a:p>
            <a:pPr lvl="1"/>
            <a:r>
              <a:rPr lang="ru-RU" dirty="0"/>
              <a:t>Первый параметр, </a:t>
            </a:r>
            <a:r>
              <a:rPr lang="ru-RU" b="1" dirty="0" err="1"/>
              <a:t>argc</a:t>
            </a:r>
            <a:r>
              <a:rPr lang="ru-RU" dirty="0"/>
              <a:t>, представляет тип int и хранит количество аргументов командной строки. Второй параметр, </a:t>
            </a:r>
            <a:r>
              <a:rPr lang="ru-RU" b="1" dirty="0" err="1"/>
              <a:t>argv</a:t>
            </a:r>
            <a:r>
              <a:rPr lang="ru-RU" b="1" dirty="0"/>
              <a:t>[]</a:t>
            </a:r>
            <a:r>
              <a:rPr lang="ru-RU" dirty="0"/>
              <a:t>, представляет собой массив указателей и хранит все переданные аргументы командной строки в виде строк. Таким образом, благодаря данным параметрам мы можем при вызове программы в консоли передать ей некоторые данные.</a:t>
            </a:r>
          </a:p>
        </p:txBody>
      </p:sp>
    </p:spTree>
    <p:extLst>
      <p:ext uri="{BB962C8B-B14F-4D97-AF65-F5344CB8AC3E}">
        <p14:creationId xmlns:p14="http://schemas.microsoft.com/office/powerpoint/2010/main" val="1291569654"/>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C6A31D-A7A7-C0AC-8A59-C671ED9B5777}"/>
              </a:ext>
            </a:extLst>
          </p:cNvPr>
          <p:cNvSpPr>
            <a:spLocks noGrp="1"/>
          </p:cNvSpPr>
          <p:nvPr>
            <p:ph type="title"/>
          </p:nvPr>
        </p:nvSpPr>
        <p:spPr/>
        <p:txBody>
          <a:bodyPr/>
          <a:lstStyle/>
          <a:p>
            <a:r>
              <a:rPr lang="ru-RU" b="1" dirty="0"/>
              <a:t>Параметры функции </a:t>
            </a:r>
            <a:r>
              <a:rPr lang="de-CH" b="1" dirty="0" err="1"/>
              <a:t>main</a:t>
            </a:r>
            <a:endParaRPr lang="ru-RU" dirty="0"/>
          </a:p>
        </p:txBody>
      </p:sp>
      <p:sp>
        <p:nvSpPr>
          <p:cNvPr id="3" name="Объект 2">
            <a:extLst>
              <a:ext uri="{FF2B5EF4-FFF2-40B4-BE49-F238E27FC236}">
                <a16:creationId xmlns:a16="http://schemas.microsoft.com/office/drawing/2014/main" id="{61BA2448-E000-4291-29E5-E26CB22A8CE6}"/>
              </a:ext>
            </a:extLst>
          </p:cNvPr>
          <p:cNvSpPr>
            <a:spLocks noGrp="1"/>
          </p:cNvSpPr>
          <p:nvPr>
            <p:ph idx="1"/>
          </p:nvPr>
        </p:nvSpPr>
        <p:spPr/>
        <p:txBody>
          <a:bodyPr/>
          <a:lstStyle/>
          <a:p>
            <a:pPr lvl="1"/>
            <a:endParaRPr lang="de-CH" dirty="0">
              <a:solidFill>
                <a:srgbClr val="0000FF"/>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argc</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argv</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выводим все переданные аргументы в цикле</a:t>
            </a:r>
            <a:endParaRPr lang="ru-RU" dirty="0">
              <a:solidFill>
                <a:srgbClr val="000000"/>
              </a:solidFill>
              <a:latin typeface="Consolas" panose="020B0609020204030204" pitchFamily="49" charset="0"/>
            </a:endParaRPr>
          </a:p>
          <a:p>
            <a:pPr lvl="1"/>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i{1}; i &lt; </a:t>
            </a:r>
            <a:r>
              <a:rPr lang="nn-NO" dirty="0">
                <a:solidFill>
                  <a:srgbClr val="808080"/>
                </a:solidFill>
                <a:latin typeface="Consolas" panose="020B0609020204030204" pitchFamily="49" charset="0"/>
              </a:rPr>
              <a:t>argc</a:t>
            </a:r>
            <a:r>
              <a:rPr lang="nn-NO" dirty="0">
                <a:solidFill>
                  <a:srgbClr val="000000"/>
                </a:solidFill>
                <a:latin typeface="Consolas" panose="020B0609020204030204" pitchFamily="49" charset="0"/>
              </a:rPr>
              <a:t>; ++i)</a:t>
            </a:r>
          </a:p>
          <a:p>
            <a:pPr lvl="1"/>
            <a:r>
              <a:rPr lang="ru-RU" dirty="0">
                <a:solidFill>
                  <a:srgbClr val="000000"/>
                </a:solidFill>
                <a:latin typeface="Consolas" panose="020B0609020204030204" pitchFamily="49" charset="0"/>
              </a:rPr>
              <a:t>    {</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argv</a:t>
            </a:r>
            <a:r>
              <a:rPr lang="de-CH" dirty="0">
                <a:solidFill>
                  <a:srgbClr val="000000"/>
                </a:solidFill>
                <a:latin typeface="Consolas" panose="020B0609020204030204" pitchFamily="49" charset="0"/>
              </a:rPr>
              <a:t>[i]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p>
          <a:p>
            <a:pPr lvl="1"/>
            <a:endParaRPr lang="ru-RU"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53548148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0BCCA1-A94C-91A2-5572-9D79347315A6}"/>
              </a:ext>
            </a:extLst>
          </p:cNvPr>
          <p:cNvSpPr>
            <a:spLocks noGrp="1"/>
          </p:cNvSpPr>
          <p:nvPr>
            <p:ph type="title"/>
          </p:nvPr>
        </p:nvSpPr>
        <p:spPr/>
        <p:txBody>
          <a:bodyPr/>
          <a:lstStyle/>
          <a:p>
            <a:r>
              <a:rPr lang="ru-RU" b="1" dirty="0"/>
              <a:t>Возвращение указателя</a:t>
            </a:r>
          </a:p>
        </p:txBody>
      </p:sp>
      <p:sp>
        <p:nvSpPr>
          <p:cNvPr id="3" name="Объект 2">
            <a:extLst>
              <a:ext uri="{FF2B5EF4-FFF2-40B4-BE49-F238E27FC236}">
                <a16:creationId xmlns:a16="http://schemas.microsoft.com/office/drawing/2014/main" id="{7619636F-C4F8-67E6-85E4-E39380CFE052}"/>
              </a:ext>
            </a:extLst>
          </p:cNvPr>
          <p:cNvSpPr>
            <a:spLocks noGrp="1"/>
          </p:cNvSpPr>
          <p:nvPr>
            <p:ph idx="1"/>
          </p:nvPr>
        </p:nvSpPr>
        <p:spPr/>
        <p:txBody>
          <a:bodyPr/>
          <a:lstStyle/>
          <a:p>
            <a:pPr lvl="1"/>
            <a:r>
              <a:rPr lang="de-CH" dirty="0">
                <a:solidFill>
                  <a:srgbClr val="808080"/>
                </a:solidFill>
                <a:latin typeface="Consolas" panose="020B0609020204030204" pitchFamily="49" charset="0"/>
              </a:rPr>
              <a:t>#include</a:t>
            </a:r>
            <a:r>
              <a:rPr lang="de-CH" dirty="0">
                <a:solidFill>
                  <a:srgbClr val="000000"/>
                </a:solidFill>
                <a:latin typeface="Consolas" panose="020B0609020204030204" pitchFamily="49" charset="0"/>
              </a:rPr>
              <a:t> </a:t>
            </a:r>
            <a:r>
              <a:rPr lang="de-CH" dirty="0">
                <a:solidFill>
                  <a:srgbClr val="A31515"/>
                </a:solidFill>
                <a:latin typeface="Consolas" panose="020B0609020204030204" pitchFamily="49" charset="0"/>
              </a:rPr>
              <a:t>&lt;</a:t>
            </a:r>
            <a:r>
              <a:rPr lang="de-CH" dirty="0" err="1">
                <a:solidFill>
                  <a:srgbClr val="A31515"/>
                </a:solidFill>
                <a:latin typeface="Consolas" panose="020B0609020204030204" pitchFamily="49" charset="0"/>
              </a:rPr>
              <a:t>iostream</a:t>
            </a:r>
            <a:r>
              <a:rPr lang="de-CH" dirty="0">
                <a:solidFill>
                  <a:srgbClr val="A31515"/>
                </a:solidFill>
                <a:latin typeface="Consolas" panose="020B0609020204030204" pitchFamily="49" charset="0"/>
              </a:rPr>
              <a:t>&gt;</a:t>
            </a:r>
            <a:endParaRPr lang="de-CH" dirty="0">
              <a:solidFill>
                <a:srgbClr val="000000"/>
              </a:solidFill>
              <a:latin typeface="Consolas" panose="020B0609020204030204" pitchFamily="49" charset="0"/>
            </a:endParaRPr>
          </a:p>
          <a:p>
            <a:pPr lvl="1"/>
            <a:r>
              <a:rPr lang="de-CH" dirty="0" err="1">
                <a:solidFill>
                  <a:srgbClr val="0000FF"/>
                </a:solidFill>
                <a:latin typeface="Consolas" panose="020B0609020204030204" pitchFamily="49" charset="0"/>
              </a:rPr>
              <a:t>using</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namespace</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std</a:t>
            </a:r>
            <a:r>
              <a:rPr lang="de-CH" dirty="0">
                <a:solidFill>
                  <a:srgbClr val="000000"/>
                </a:solidFill>
                <a:latin typeface="Consolas" panose="020B0609020204030204" pitchFamily="49" charset="0"/>
              </a:rPr>
              <a:t>;</a:t>
            </a:r>
            <a:endParaRPr lang="ru-RU" dirty="0">
              <a:solidFill>
                <a:srgbClr val="000000"/>
              </a:solidFill>
              <a:latin typeface="Consolas" panose="020B0609020204030204" pitchFamily="49" charset="0"/>
            </a:endParaRPr>
          </a:p>
          <a:p>
            <a:pPr lvl="1"/>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max(</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a:t>
            </a:r>
            <a:r>
              <a:rPr lang="fr-FR" dirty="0">
                <a:solidFill>
                  <a:srgbClr val="808080"/>
                </a:solidFill>
                <a:latin typeface="Consolas" panose="020B0609020204030204" pitchFamily="49" charset="0"/>
              </a:rPr>
              <a:t>a</a:t>
            </a: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a:t>
            </a:r>
            <a:r>
              <a:rPr lang="fr-FR" dirty="0">
                <a:solidFill>
                  <a:srgbClr val="808080"/>
                </a:solidFill>
                <a:latin typeface="Consolas" panose="020B0609020204030204" pitchFamily="49" charset="0"/>
              </a:rPr>
              <a:t>b</a:t>
            </a:r>
            <a:r>
              <a:rPr lang="fr-FR"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&gt;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&amp;</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&amp;</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argc</a:t>
            </a:r>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char</a:t>
            </a:r>
            <a:r>
              <a:rPr lang="de-CH" dirty="0">
                <a:solidFill>
                  <a:srgbClr val="000000"/>
                </a:solidFill>
                <a:latin typeface="Consolas" panose="020B0609020204030204" pitchFamily="49" charset="0"/>
              </a:rPr>
              <a:t>* </a:t>
            </a:r>
            <a:r>
              <a:rPr lang="de-CH" dirty="0" err="1">
                <a:solidFill>
                  <a:srgbClr val="808080"/>
                </a:solidFill>
                <a:latin typeface="Consolas" panose="020B0609020204030204" pitchFamily="49" charset="0"/>
              </a:rPr>
              <a:t>argv</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 = 5;</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b = 10;</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c =  </a:t>
            </a:r>
            <a:r>
              <a:rPr lang="de-CH" dirty="0" err="1">
                <a:solidFill>
                  <a:srgbClr val="000000"/>
                </a:solidFill>
                <a:latin typeface="Consolas" panose="020B0609020204030204" pitchFamily="49" charset="0"/>
              </a:rPr>
              <a:t>max</a:t>
            </a:r>
            <a:r>
              <a:rPr lang="de-CH" dirty="0">
                <a:solidFill>
                  <a:srgbClr val="000000"/>
                </a:solidFill>
                <a:latin typeface="Consolas" panose="020B0609020204030204" pitchFamily="49" charset="0"/>
              </a:rPr>
              <a:t>(a, b);</a:t>
            </a:r>
          </a:p>
          <a:p>
            <a:pPr lvl="1"/>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cout</a:t>
            </a:r>
            <a:r>
              <a:rPr lang="de-CH" dirty="0">
                <a:solidFill>
                  <a:srgbClr val="000000"/>
                </a:solidFill>
                <a:latin typeface="Consolas" panose="020B0609020204030204" pitchFamily="49" charset="0"/>
              </a:rPr>
              <a:t>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*c </a:t>
            </a:r>
            <a:r>
              <a:rPr lang="de-CH" dirty="0">
                <a:solidFill>
                  <a:srgbClr val="008080"/>
                </a:solidFill>
                <a:latin typeface="Consolas" panose="020B0609020204030204" pitchFamily="49" charset="0"/>
              </a:rPr>
              <a:t>&lt;&lt;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endl</a:t>
            </a:r>
            <a:r>
              <a:rPr lang="de-CH" dirty="0">
                <a:solidFill>
                  <a:srgbClr val="000000"/>
                </a:solidFill>
                <a:latin typeface="Consolas" panose="020B0609020204030204" pitchFamily="49" charset="0"/>
              </a:rPr>
              <a:t>; ;</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489836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56B7AF-EBA1-8920-72C3-E8D0430A3498}"/>
              </a:ext>
            </a:extLst>
          </p:cNvPr>
          <p:cNvSpPr>
            <a:spLocks noGrp="1"/>
          </p:cNvSpPr>
          <p:nvPr>
            <p:ph type="title"/>
          </p:nvPr>
        </p:nvSpPr>
        <p:spPr/>
        <p:txBody>
          <a:bodyPr/>
          <a:lstStyle/>
          <a:p>
            <a:r>
              <a:rPr lang="ru-RU" b="1" dirty="0"/>
              <a:t>Возвращение указателя</a:t>
            </a:r>
            <a:endParaRPr lang="ru-RU" dirty="0"/>
          </a:p>
        </p:txBody>
      </p:sp>
      <p:sp>
        <p:nvSpPr>
          <p:cNvPr id="3" name="Объект 2">
            <a:extLst>
              <a:ext uri="{FF2B5EF4-FFF2-40B4-BE49-F238E27FC236}">
                <a16:creationId xmlns:a16="http://schemas.microsoft.com/office/drawing/2014/main" id="{17187086-C72E-E8B1-2B35-B52EAD7614FC}"/>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m{ 4 };</a:t>
            </a: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int</a:t>
            </a:r>
            <a:r>
              <a:rPr lang="pt-BR" dirty="0">
                <a:solidFill>
                  <a:srgbClr val="000000"/>
                </a:solidFill>
                <a:latin typeface="Consolas" panose="020B0609020204030204" pitchFamily="49" charset="0"/>
              </a:rPr>
              <a:t>* ptr = max(&amp;n, &amp;m);</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"max: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ptr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max: 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r>
              <a:rPr lang="ru-RU" dirty="0">
                <a:solidFill>
                  <a:srgbClr val="008000"/>
                </a:solidFill>
                <a:latin typeface="Consolas" panose="020B0609020204030204" pitchFamily="49" charset="0"/>
              </a:rPr>
              <a:t>// пример корректного возвращения значения</a:t>
            </a:r>
            <a:endParaRPr lang="ru-RU" dirty="0">
              <a:solidFill>
                <a:srgbClr val="000000"/>
              </a:solidFill>
              <a:latin typeface="Consolas" panose="020B0609020204030204" pitchFamily="49" charset="0"/>
            </a:endParaRPr>
          </a:p>
          <a:p>
            <a:pPr lvl="1"/>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max(</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a:t>
            </a:r>
            <a:r>
              <a:rPr lang="fr-FR" dirty="0">
                <a:solidFill>
                  <a:srgbClr val="808080"/>
                </a:solidFill>
                <a:latin typeface="Consolas" panose="020B0609020204030204" pitchFamily="49" charset="0"/>
              </a:rPr>
              <a:t>a</a:t>
            </a: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 </a:t>
            </a:r>
            <a:r>
              <a:rPr lang="fr-FR" dirty="0">
                <a:solidFill>
                  <a:srgbClr val="808080"/>
                </a:solidFill>
                <a:latin typeface="Consolas" panose="020B0609020204030204" pitchFamily="49" charset="0"/>
              </a:rPr>
              <a:t>b</a:t>
            </a:r>
            <a:r>
              <a:rPr lang="fr-FR"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    </a:t>
            </a:r>
            <a:r>
              <a:rPr lang="ru-RU" dirty="0" err="1">
                <a:solidFill>
                  <a:srgbClr val="0000FF"/>
                </a:solidFill>
                <a:latin typeface="Consolas" panose="020B0609020204030204" pitchFamily="49" charset="0"/>
              </a:rPr>
              <a:t>if</a:t>
            </a:r>
            <a:r>
              <a:rPr lang="ru-RU" dirty="0">
                <a:solidFill>
                  <a:srgbClr val="000000"/>
                </a:solidFill>
                <a:latin typeface="Consolas" panose="020B0609020204030204" pitchFamily="49" charset="0"/>
              </a:rPr>
              <a:t> (*</a:t>
            </a:r>
            <a:r>
              <a:rPr lang="ru-RU" dirty="0">
                <a:solidFill>
                  <a:srgbClr val="808080"/>
                </a:solidFill>
                <a:latin typeface="Consolas" panose="020B0609020204030204" pitchFamily="49" charset="0"/>
              </a:rPr>
              <a:t>a</a:t>
            </a:r>
            <a:r>
              <a:rPr lang="ru-RU" dirty="0">
                <a:solidFill>
                  <a:srgbClr val="000000"/>
                </a:solidFill>
                <a:latin typeface="Consolas" panose="020B0609020204030204" pitchFamily="49" charset="0"/>
              </a:rPr>
              <a:t> &gt; *</a:t>
            </a:r>
            <a:r>
              <a:rPr lang="ru-RU" dirty="0">
                <a:solidFill>
                  <a:srgbClr val="808080"/>
                </a:solidFill>
                <a:latin typeface="Consolas" panose="020B0609020204030204" pitchFamily="49" charset="0"/>
              </a:rPr>
              <a:t>b</a:t>
            </a:r>
            <a:r>
              <a:rPr lang="ru-RU" dirty="0">
                <a:solidFill>
                  <a:srgbClr val="000000"/>
                </a:solidFill>
                <a:latin typeface="Consolas" panose="020B0609020204030204" pitchFamily="49" charset="0"/>
              </a:rPr>
              <a:t>)    </a:t>
            </a:r>
            <a:r>
              <a:rPr lang="ru-RU" dirty="0">
                <a:solidFill>
                  <a:srgbClr val="008000"/>
                </a:solidFill>
                <a:latin typeface="Consolas" panose="020B0609020204030204" pitchFamily="49" charset="0"/>
              </a:rPr>
              <a:t>// разыменовываем указатели</a:t>
            </a:r>
            <a:endParaRPr lang="ru-RU"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244421448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9D4CEA-3ABA-A5E0-9B17-1486845A59F2}"/>
              </a:ext>
            </a:extLst>
          </p:cNvPr>
          <p:cNvSpPr>
            <a:spLocks noGrp="1"/>
          </p:cNvSpPr>
          <p:nvPr>
            <p:ph type="title"/>
          </p:nvPr>
        </p:nvSpPr>
        <p:spPr/>
        <p:txBody>
          <a:bodyPr/>
          <a:lstStyle/>
          <a:p>
            <a:r>
              <a:rPr lang="ru-RU" b="1" dirty="0"/>
              <a:t>Возвращение ссылки</a:t>
            </a:r>
            <a:endParaRPr lang="ru-RU" dirty="0"/>
          </a:p>
        </p:txBody>
      </p:sp>
      <p:sp>
        <p:nvSpPr>
          <p:cNvPr id="3" name="Объект 2">
            <a:extLst>
              <a:ext uri="{FF2B5EF4-FFF2-40B4-BE49-F238E27FC236}">
                <a16:creationId xmlns:a16="http://schemas.microsoft.com/office/drawing/2014/main" id="{78043C96-08C6-51D5-0D3C-730DD91EF087}"/>
              </a:ext>
            </a:extLst>
          </p:cNvPr>
          <p:cNvSpPr>
            <a:spLocks noGrp="1"/>
          </p:cNvSpPr>
          <p:nvPr>
            <p:ph idx="1"/>
          </p:nvPr>
        </p:nvSpPr>
        <p:spPr/>
        <p:txBody>
          <a:bodyPr/>
          <a:lstStyle/>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err="1">
                <a:solidFill>
                  <a:srgbClr val="000000"/>
                </a:solidFill>
                <a:latin typeface="Consolas" panose="020B0609020204030204" pitchFamily="49" charset="0"/>
              </a:rPr>
              <a:t>max</a:t>
            </a:r>
            <a:r>
              <a:rPr lang="de-CH" dirty="0">
                <a:solidFill>
                  <a:srgbClr val="000000"/>
                </a:solidFill>
                <a:latin typeface="Consolas" panose="020B0609020204030204" pitchFamily="49" charset="0"/>
              </a:rPr>
              <a:t>(</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&amp;);</a:t>
            </a:r>
          </a:p>
          <a:p>
            <a:pPr lvl="1"/>
            <a:endParaRPr lang="ru-RU" dirty="0">
              <a:solidFill>
                <a:srgbClr val="000000"/>
              </a:solidFill>
              <a:latin typeface="Consolas" panose="020B0609020204030204" pitchFamily="49" charset="0"/>
            </a:endParaRP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m{ 4 };</a:t>
            </a: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int</a:t>
            </a:r>
            <a:r>
              <a:rPr lang="pt-BR" dirty="0">
                <a:solidFill>
                  <a:srgbClr val="000000"/>
                </a:solidFill>
                <a:latin typeface="Consolas" panose="020B0609020204030204" pitchFamily="49" charset="0"/>
              </a:rPr>
              <a:t> ptr = max(n, m);</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"max: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ptr</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max: 5</a:t>
            </a:r>
            <a:endParaRPr lang="en-US" dirty="0">
              <a:solidFill>
                <a:srgbClr val="000000"/>
              </a:solidFill>
              <a:latin typeface="Consolas" panose="020B0609020204030204" pitchFamily="49" charset="0"/>
            </a:endParaRP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&amp; max(</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&amp; </a:t>
            </a:r>
            <a:r>
              <a:rPr lang="fr-FR" dirty="0">
                <a:solidFill>
                  <a:srgbClr val="808080"/>
                </a:solidFill>
                <a:latin typeface="Consolas" panose="020B0609020204030204" pitchFamily="49" charset="0"/>
              </a:rPr>
              <a:t>a</a:t>
            </a: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int</a:t>
            </a:r>
            <a:r>
              <a:rPr lang="fr-FR" dirty="0">
                <a:solidFill>
                  <a:srgbClr val="000000"/>
                </a:solidFill>
                <a:latin typeface="Consolas" panose="020B0609020204030204" pitchFamily="49" charset="0"/>
              </a:rPr>
              <a:t>&amp; </a:t>
            </a:r>
            <a:r>
              <a:rPr lang="fr-FR" dirty="0">
                <a:solidFill>
                  <a:srgbClr val="808080"/>
                </a:solidFill>
                <a:latin typeface="Consolas" panose="020B0609020204030204" pitchFamily="49" charset="0"/>
              </a:rPr>
              <a:t>b</a:t>
            </a:r>
            <a:r>
              <a:rPr lang="fr-FR"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 &gt;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a</a:t>
            </a:r>
            <a:r>
              <a:rPr lang="de-CH"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else</a:t>
            </a:r>
            <a:endParaRPr lang="de-CH" dirty="0">
              <a:solidFill>
                <a:srgbClr val="000000"/>
              </a:solidFill>
              <a:latin typeface="Consolas" panose="020B0609020204030204" pitchFamily="49" charset="0"/>
            </a:endParaRP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b</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3479133659"/>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F6A961-33BF-FAD0-EF02-39A8E00D69B2}"/>
              </a:ext>
            </a:extLst>
          </p:cNvPr>
          <p:cNvSpPr>
            <a:spLocks noGrp="1"/>
          </p:cNvSpPr>
          <p:nvPr>
            <p:ph type="title"/>
          </p:nvPr>
        </p:nvSpPr>
        <p:spPr/>
        <p:txBody>
          <a:bodyPr/>
          <a:lstStyle/>
          <a:p>
            <a:r>
              <a:rPr lang="ru-RU" b="1" dirty="0"/>
              <a:t>Перегрузка функций</a:t>
            </a:r>
            <a:endParaRPr lang="ru-RU" dirty="0"/>
          </a:p>
        </p:txBody>
      </p:sp>
      <p:sp>
        <p:nvSpPr>
          <p:cNvPr id="3" name="Объект 2">
            <a:extLst>
              <a:ext uri="{FF2B5EF4-FFF2-40B4-BE49-F238E27FC236}">
                <a16:creationId xmlns:a16="http://schemas.microsoft.com/office/drawing/2014/main" id="{B3814113-9145-32DF-D82A-BD655D3FE241}"/>
              </a:ext>
            </a:extLst>
          </p:cNvPr>
          <p:cNvSpPr>
            <a:spLocks noGrp="1"/>
          </p:cNvSpPr>
          <p:nvPr>
            <p:ph idx="1"/>
          </p:nvPr>
        </p:nvSpPr>
        <p:spPr/>
        <p:txBody>
          <a:bodyPr/>
          <a:lstStyle/>
          <a:p>
            <a:r>
              <a:rPr lang="ru-RU" dirty="0"/>
              <a:t>Язык С++ позволяет определять функции с одним и тем же именем, но разным набором параметров. Подобная возможность называется перегрузкой функций (</a:t>
            </a:r>
            <a:r>
              <a:rPr lang="ru-RU" dirty="0" err="1"/>
              <a:t>function</a:t>
            </a:r>
            <a:r>
              <a:rPr lang="ru-RU" dirty="0"/>
              <a:t> </a:t>
            </a:r>
            <a:r>
              <a:rPr lang="ru-RU" dirty="0" err="1"/>
              <a:t>overloading</a:t>
            </a:r>
            <a:r>
              <a:rPr lang="ru-RU" dirty="0"/>
              <a:t>). Компилятор же на этапе компиляции на основании параметров выберет нужный тип функции.</a:t>
            </a:r>
          </a:p>
          <a:p>
            <a:endParaRPr lang="ru-RU" dirty="0"/>
          </a:p>
          <a:p>
            <a:r>
              <a:rPr lang="ru-RU" dirty="0"/>
              <a:t>Чтобы определить несколько различных версий функции с одним и тем же именем, все эти версии должны отличаться как минимум по одному из следующих признаков:</a:t>
            </a:r>
          </a:p>
          <a:p>
            <a:endParaRPr lang="ru-RU" dirty="0"/>
          </a:p>
          <a:p>
            <a:pPr marL="342900" indent="-342900">
              <a:buFont typeface="Arial" panose="020B0604020202020204" pitchFamily="34" charset="0"/>
              <a:buChar char="•"/>
            </a:pPr>
            <a:r>
              <a:rPr lang="ru-RU" dirty="0"/>
              <a:t>имеют разное количество параметров</a:t>
            </a:r>
          </a:p>
          <a:p>
            <a:pPr marL="342900" indent="-342900">
              <a:buFont typeface="Arial" panose="020B0604020202020204" pitchFamily="34" charset="0"/>
              <a:buChar char="•"/>
            </a:pPr>
            <a:endParaRPr lang="ru-RU" dirty="0"/>
          </a:p>
          <a:p>
            <a:pPr marL="342900" indent="-342900">
              <a:buFont typeface="Arial" panose="020B0604020202020204" pitchFamily="34" charset="0"/>
              <a:buChar char="•"/>
            </a:pPr>
            <a:r>
              <a:rPr lang="ru-RU" dirty="0"/>
              <a:t>соответствующие параметры имеют разный тип</a:t>
            </a:r>
          </a:p>
        </p:txBody>
      </p:sp>
    </p:spTree>
    <p:extLst>
      <p:ext uri="{BB962C8B-B14F-4D97-AF65-F5344CB8AC3E}">
        <p14:creationId xmlns:p14="http://schemas.microsoft.com/office/powerpoint/2010/main" val="2167066288"/>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CA7C44-530D-A144-AB0D-1526B0482A78}"/>
              </a:ext>
            </a:extLst>
          </p:cNvPr>
          <p:cNvSpPr>
            <a:spLocks noGrp="1"/>
          </p:cNvSpPr>
          <p:nvPr>
            <p:ph type="title"/>
          </p:nvPr>
        </p:nvSpPr>
        <p:spPr/>
        <p:txBody>
          <a:bodyPr/>
          <a:lstStyle/>
          <a:p>
            <a:r>
              <a:rPr lang="ru-RU" b="1" dirty="0"/>
              <a:t>Перегрузка функций</a:t>
            </a:r>
            <a:endParaRPr lang="ru-RU" dirty="0"/>
          </a:p>
        </p:txBody>
      </p:sp>
      <p:sp>
        <p:nvSpPr>
          <p:cNvPr id="3" name="Объект 2">
            <a:extLst>
              <a:ext uri="{FF2B5EF4-FFF2-40B4-BE49-F238E27FC236}">
                <a16:creationId xmlns:a16="http://schemas.microsoft.com/office/drawing/2014/main" id="{E6F9C90F-425F-1E93-844B-6F43EDB4C349}"/>
              </a:ext>
            </a:extLst>
          </p:cNvPr>
          <p:cNvSpPr>
            <a:spLocks noGrp="1"/>
          </p:cNvSpPr>
          <p:nvPr>
            <p:ph idx="1"/>
          </p:nvPr>
        </p:nvSpPr>
        <p:spPr/>
        <p:txBody>
          <a:bodyPr/>
          <a:lstStyle/>
          <a:p>
            <a:pPr lvl="1"/>
            <a:r>
              <a:rPr lang="de-CH" sz="1200" dirty="0" err="1">
                <a:solidFill>
                  <a:srgbClr val="0000FF"/>
                </a:solidFill>
                <a:latin typeface="Consolas" panose="020B0609020204030204" pitchFamily="49" charset="0"/>
              </a:rPr>
              <a:t>using</a:t>
            </a:r>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namespace</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std</a:t>
            </a:r>
            <a:r>
              <a:rPr lang="de-CH" sz="1200" dirty="0">
                <a:solidFill>
                  <a:srgbClr val="000000"/>
                </a:solidFill>
                <a:latin typeface="Consolas" panose="020B0609020204030204" pitchFamily="49" charset="0"/>
              </a:rPr>
              <a:t>;</a:t>
            </a: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pPr lvl="1"/>
            <a:r>
              <a:rPr lang="de-CH" sz="1200" dirty="0">
                <a:solidFill>
                  <a:srgbClr val="0000FF"/>
                </a:solidFill>
                <a:latin typeface="Consolas" panose="020B0609020204030204" pitchFamily="49" charset="0"/>
              </a:rPr>
              <a:t>double</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double</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double</a:t>
            </a:r>
            <a:r>
              <a:rPr lang="de-CH" sz="1200" dirty="0">
                <a:solidFill>
                  <a:srgbClr val="000000"/>
                </a:solidFill>
                <a:latin typeface="Consolas" panose="020B0609020204030204" pitchFamily="49" charset="0"/>
              </a:rPr>
              <a:t>);</a:t>
            </a:r>
          </a:p>
          <a:p>
            <a:pPr lvl="1"/>
            <a:endParaRPr lang="ru-RU" sz="1200" dirty="0">
              <a:solidFill>
                <a:srgbClr val="000000"/>
              </a:solidFill>
              <a:latin typeface="Consolas" panose="020B0609020204030204" pitchFamily="49" charset="0"/>
            </a:endParaRP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result1{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(3, 6)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выбирается версия </a:t>
            </a:r>
            <a:r>
              <a:rPr lang="de-CH" sz="1200" dirty="0">
                <a:solidFill>
                  <a:srgbClr val="008000"/>
                </a:solidFill>
                <a:latin typeface="Consolas" panose="020B0609020204030204" pitchFamily="49" charset="0"/>
              </a:rPr>
              <a:t>int </a:t>
            </a:r>
            <a:r>
              <a:rPr lang="de-CH" sz="1200" dirty="0" err="1">
                <a:solidFill>
                  <a:srgbClr val="008000"/>
                </a:solidFill>
                <a:latin typeface="Consolas" panose="020B0609020204030204" pitchFamily="49" charset="0"/>
              </a:rPr>
              <a:t>sum</a:t>
            </a:r>
            <a:r>
              <a:rPr lang="de-CH" sz="1200" dirty="0">
                <a:solidFill>
                  <a:srgbClr val="008000"/>
                </a:solidFill>
                <a:latin typeface="Consolas" panose="020B0609020204030204" pitchFamily="49" charset="0"/>
              </a:rPr>
              <a:t>(int, int)</a:t>
            </a:r>
            <a:endParaRPr lang="de-CH"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result1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 </a:t>
            </a:r>
            <a:r>
              <a:rPr lang="de-CH" sz="1200" dirty="0">
                <a:solidFill>
                  <a:srgbClr val="008000"/>
                </a:solidFill>
                <a:latin typeface="Consolas" panose="020B0609020204030204" pitchFamily="49" charset="0"/>
              </a:rPr>
              <a:t>// 9</a:t>
            </a:r>
            <a:endParaRPr lang="de-CH"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endParaRPr lang="ru-RU"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double</a:t>
            </a:r>
            <a:r>
              <a:rPr lang="de-CH" sz="1200" dirty="0">
                <a:solidFill>
                  <a:srgbClr val="000000"/>
                </a:solidFill>
                <a:latin typeface="Consolas" panose="020B0609020204030204" pitchFamily="49" charset="0"/>
              </a:rPr>
              <a:t> result2{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(3.3, 6.6)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выбирается версия </a:t>
            </a:r>
            <a:r>
              <a:rPr lang="de-CH" sz="1200" dirty="0">
                <a:solidFill>
                  <a:srgbClr val="008000"/>
                </a:solidFill>
                <a:latin typeface="Consolas" panose="020B0609020204030204" pitchFamily="49" charset="0"/>
              </a:rPr>
              <a:t>double </a:t>
            </a:r>
            <a:r>
              <a:rPr lang="de-CH" sz="1200" dirty="0" err="1">
                <a:solidFill>
                  <a:srgbClr val="008000"/>
                </a:solidFill>
                <a:latin typeface="Consolas" panose="020B0609020204030204" pitchFamily="49" charset="0"/>
              </a:rPr>
              <a:t>sum</a:t>
            </a:r>
            <a:r>
              <a:rPr lang="de-CH" sz="1200" dirty="0">
                <a:solidFill>
                  <a:srgbClr val="008000"/>
                </a:solidFill>
                <a:latin typeface="Consolas" panose="020B0609020204030204" pitchFamily="49" charset="0"/>
              </a:rPr>
              <a:t>(double, double)</a:t>
            </a:r>
            <a:endParaRPr lang="de-CH" sz="1200" dirty="0">
              <a:solidFill>
                <a:srgbClr val="000000"/>
              </a:solidFill>
              <a:latin typeface="Consolas" panose="020B0609020204030204" pitchFamily="49" charset="0"/>
            </a:endParaRPr>
          </a:p>
          <a:p>
            <a:pPr lvl="1"/>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cout</a:t>
            </a:r>
            <a:r>
              <a:rPr lang="de-CH" sz="1200" dirty="0">
                <a:solidFill>
                  <a:srgbClr val="000000"/>
                </a:solidFill>
                <a:latin typeface="Consolas" panose="020B0609020204030204" pitchFamily="49" charset="0"/>
              </a:rPr>
              <a:t>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result2 </a:t>
            </a:r>
            <a:r>
              <a:rPr lang="de-CH" sz="1200" dirty="0">
                <a:solidFill>
                  <a:srgbClr val="008080"/>
                </a:solidFill>
                <a:latin typeface="Consolas" panose="020B0609020204030204" pitchFamily="49" charset="0"/>
              </a:rPr>
              <a:t>&lt;&lt;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endl</a:t>
            </a:r>
            <a:r>
              <a:rPr lang="de-CH" sz="1200" dirty="0">
                <a:solidFill>
                  <a:srgbClr val="000000"/>
                </a:solidFill>
                <a:latin typeface="Consolas" panose="020B0609020204030204" pitchFamily="49" charset="0"/>
              </a:rPr>
              <a:t>; </a:t>
            </a:r>
            <a:r>
              <a:rPr lang="de-CH" sz="1200" dirty="0">
                <a:solidFill>
                  <a:srgbClr val="008000"/>
                </a:solidFill>
                <a:latin typeface="Consolas" panose="020B0609020204030204" pitchFamily="49" charset="0"/>
              </a:rPr>
              <a:t>// 9.9</a:t>
            </a:r>
            <a:endParaRPr lang="de-CH" sz="1200" dirty="0">
              <a:solidFill>
                <a:srgbClr val="000000"/>
              </a:solidFill>
              <a:latin typeface="Consolas" panose="020B0609020204030204" pitchFamily="49" charset="0"/>
            </a:endParaRPr>
          </a:p>
          <a:p>
            <a:pPr lvl="1"/>
            <a:r>
              <a:rPr lang="ru-RU" sz="1200" dirty="0">
                <a:solidFill>
                  <a:srgbClr val="000000"/>
                </a:solidFill>
                <a:latin typeface="Consolas" panose="020B0609020204030204" pitchFamily="49" charset="0"/>
              </a:rPr>
              <a:t>}</a:t>
            </a:r>
          </a:p>
          <a:p>
            <a:pPr lvl="1"/>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a</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b</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a</a:t>
            </a:r>
            <a:r>
              <a:rPr lang="de-CH" sz="1200" dirty="0">
                <a:solidFill>
                  <a:srgbClr val="000000"/>
                </a:solidFill>
                <a:latin typeface="Consolas" panose="020B0609020204030204" pitchFamily="49" charset="0"/>
              </a:rPr>
              <a:t> + </a:t>
            </a:r>
            <a:r>
              <a:rPr lang="de-CH" sz="1200" dirty="0">
                <a:solidFill>
                  <a:srgbClr val="808080"/>
                </a:solidFill>
                <a:latin typeface="Consolas" panose="020B0609020204030204" pitchFamily="49" charset="0"/>
              </a:rPr>
              <a:t>b</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fr-FR" sz="1200" dirty="0">
                <a:solidFill>
                  <a:srgbClr val="0000FF"/>
                </a:solidFill>
                <a:latin typeface="Consolas" panose="020B0609020204030204" pitchFamily="49" charset="0"/>
              </a:rPr>
              <a:t>double</a:t>
            </a:r>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sum</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double</a:t>
            </a:r>
            <a:r>
              <a:rPr lang="fr-FR" sz="1200" dirty="0">
                <a:solidFill>
                  <a:srgbClr val="000000"/>
                </a:solidFill>
                <a:latin typeface="Consolas" panose="020B0609020204030204" pitchFamily="49" charset="0"/>
              </a:rPr>
              <a:t> </a:t>
            </a:r>
            <a:r>
              <a:rPr lang="fr-FR" sz="1200" dirty="0">
                <a:solidFill>
                  <a:srgbClr val="808080"/>
                </a:solidFill>
                <a:latin typeface="Consolas" panose="020B0609020204030204" pitchFamily="49" charset="0"/>
              </a:rPr>
              <a:t>a</a:t>
            </a:r>
            <a:r>
              <a:rPr lang="fr-FR" sz="1200" dirty="0">
                <a:solidFill>
                  <a:srgbClr val="000000"/>
                </a:solidFill>
                <a:latin typeface="Consolas" panose="020B0609020204030204" pitchFamily="49" charset="0"/>
              </a:rPr>
              <a:t>, </a:t>
            </a:r>
            <a:r>
              <a:rPr lang="fr-FR" sz="1200" dirty="0">
                <a:solidFill>
                  <a:srgbClr val="0000FF"/>
                </a:solidFill>
                <a:latin typeface="Consolas" panose="020B0609020204030204" pitchFamily="49" charset="0"/>
              </a:rPr>
              <a:t>double</a:t>
            </a:r>
            <a:r>
              <a:rPr lang="fr-FR" sz="1200" dirty="0">
                <a:solidFill>
                  <a:srgbClr val="000000"/>
                </a:solidFill>
                <a:latin typeface="Consolas" panose="020B0609020204030204" pitchFamily="49" charset="0"/>
              </a:rPr>
              <a:t> </a:t>
            </a:r>
            <a:r>
              <a:rPr lang="fr-FR" sz="1200" dirty="0">
                <a:solidFill>
                  <a:srgbClr val="808080"/>
                </a:solidFill>
                <a:latin typeface="Consolas" panose="020B0609020204030204" pitchFamily="49" charset="0"/>
              </a:rPr>
              <a:t>b</a:t>
            </a:r>
            <a:r>
              <a:rPr lang="fr-FR"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p>
          <a:p>
            <a:pPr lvl="1"/>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a</a:t>
            </a:r>
            <a:r>
              <a:rPr lang="de-CH" sz="1200" dirty="0">
                <a:solidFill>
                  <a:srgbClr val="000000"/>
                </a:solidFill>
                <a:latin typeface="Consolas" panose="020B0609020204030204" pitchFamily="49" charset="0"/>
              </a:rPr>
              <a:t> + </a:t>
            </a:r>
            <a:r>
              <a:rPr lang="de-CH" sz="1200" dirty="0">
                <a:solidFill>
                  <a:srgbClr val="808080"/>
                </a:solidFill>
                <a:latin typeface="Consolas" panose="020B0609020204030204" pitchFamily="49" charset="0"/>
              </a:rPr>
              <a:t>b</a:t>
            </a:r>
            <a:r>
              <a:rPr lang="de-CH" sz="1200" dirty="0">
                <a:solidFill>
                  <a:srgbClr val="000000"/>
                </a:solidFill>
                <a:latin typeface="Consolas" panose="020B0609020204030204" pitchFamily="49" charset="0"/>
              </a:rPr>
              <a:t>;</a:t>
            </a:r>
          </a:p>
          <a:p>
            <a:pPr lvl="1"/>
            <a:r>
              <a:rPr lang="ru-RU" sz="1200" dirty="0">
                <a:solidFill>
                  <a:srgbClr val="000000"/>
                </a:solidFill>
                <a:latin typeface="Consolas" panose="020B0609020204030204" pitchFamily="49" charset="0"/>
              </a:rPr>
              <a:t>}</a:t>
            </a:r>
            <a:endParaRPr lang="ru-RU" sz="1200" dirty="0"/>
          </a:p>
        </p:txBody>
      </p:sp>
    </p:spTree>
    <p:extLst>
      <p:ext uri="{BB962C8B-B14F-4D97-AF65-F5344CB8AC3E}">
        <p14:creationId xmlns:p14="http://schemas.microsoft.com/office/powerpoint/2010/main" val="255503291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E1247C5-27A6-F489-4C03-34A478B3BFDC}"/>
              </a:ext>
            </a:extLst>
          </p:cNvPr>
          <p:cNvSpPr>
            <a:spLocks noGrp="1"/>
          </p:cNvSpPr>
          <p:nvPr>
            <p:ph type="title"/>
          </p:nvPr>
        </p:nvSpPr>
        <p:spPr/>
        <p:txBody>
          <a:bodyPr/>
          <a:lstStyle/>
          <a:p>
            <a:r>
              <a:rPr lang="ru-RU" b="1" dirty="0"/>
              <a:t>Перегрузка функций</a:t>
            </a:r>
            <a:endParaRPr lang="ru-RU" dirty="0"/>
          </a:p>
        </p:txBody>
      </p:sp>
      <p:sp>
        <p:nvSpPr>
          <p:cNvPr id="3" name="Объект 2">
            <a:extLst>
              <a:ext uri="{FF2B5EF4-FFF2-40B4-BE49-F238E27FC236}">
                <a16:creationId xmlns:a16="http://schemas.microsoft.com/office/drawing/2014/main" id="{2299BE13-6C06-EE6C-8836-45765862428B}"/>
              </a:ext>
            </a:extLst>
          </p:cNvPr>
          <p:cNvSpPr>
            <a:spLocks noGrp="1"/>
          </p:cNvSpPr>
          <p:nvPr>
            <p:ph idx="1"/>
          </p:nvPr>
        </p:nvSpPr>
        <p:spPr/>
        <p:txBody>
          <a:bodyPr/>
          <a:lstStyle/>
          <a:p>
            <a:pPr lvl="1"/>
            <a:r>
              <a:rPr lang="de-CH" sz="1400" dirty="0" err="1">
                <a:solidFill>
                  <a:srgbClr val="0000FF"/>
                </a:solidFill>
                <a:latin typeface="Consolas" panose="020B0609020204030204" pitchFamily="49" charset="0"/>
              </a:rPr>
              <a:t>using</a:t>
            </a: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namespace</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a:t>
            </a:r>
          </a:p>
          <a:p>
            <a:pPr lvl="1"/>
            <a:endParaRPr lang="ru-RU" sz="1400" dirty="0">
              <a:solidFill>
                <a:srgbClr val="000000"/>
              </a:solidFill>
              <a:latin typeface="Consolas" panose="020B0609020204030204" pitchFamily="49" charset="0"/>
            </a:endParaRP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result1{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(3, 6) }; </a:t>
            </a:r>
            <a:r>
              <a:rPr lang="de-CH" sz="1400" dirty="0">
                <a:solidFill>
                  <a:srgbClr val="008000"/>
                </a:solidFill>
                <a:latin typeface="Consolas" panose="020B0609020204030204" pitchFamily="49" charset="0"/>
              </a:rPr>
              <a:t>// </a:t>
            </a:r>
            <a:r>
              <a:rPr lang="ru-RU" sz="1400" dirty="0">
                <a:solidFill>
                  <a:srgbClr val="008000"/>
                </a:solidFill>
                <a:latin typeface="Consolas" panose="020B0609020204030204" pitchFamily="49" charset="0"/>
              </a:rPr>
              <a:t>выбирается версия </a:t>
            </a:r>
            <a:r>
              <a:rPr lang="de-CH" sz="1400" dirty="0">
                <a:solidFill>
                  <a:srgbClr val="008000"/>
                </a:solidFill>
                <a:latin typeface="Consolas" panose="020B0609020204030204" pitchFamily="49" charset="0"/>
              </a:rPr>
              <a:t>int </a:t>
            </a:r>
            <a:r>
              <a:rPr lang="de-CH" sz="1400" dirty="0" err="1">
                <a:solidFill>
                  <a:srgbClr val="008000"/>
                </a:solidFill>
                <a:latin typeface="Consolas" panose="020B0609020204030204" pitchFamily="49" charset="0"/>
              </a:rPr>
              <a:t>sum</a:t>
            </a:r>
            <a:r>
              <a:rPr lang="de-CH" sz="1400" dirty="0">
                <a:solidFill>
                  <a:srgbClr val="008000"/>
                </a:solidFill>
                <a:latin typeface="Consolas" panose="020B0609020204030204" pitchFamily="49" charset="0"/>
              </a:rPr>
              <a:t>(int, int)</a:t>
            </a:r>
            <a:endParaRPr lang="de-CH" sz="1400" dirty="0">
              <a:solidFill>
                <a:srgbClr val="000000"/>
              </a:solidFill>
              <a:latin typeface="Consolas" panose="020B0609020204030204" pitchFamily="49" charset="0"/>
            </a:endParaRP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result1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9</a:t>
            </a:r>
            <a:endParaRPr lang="en-US" sz="1400" dirty="0">
              <a:solidFill>
                <a:srgbClr val="000000"/>
              </a:solidFill>
              <a:latin typeface="Consolas" panose="020B0609020204030204" pitchFamily="49" charset="0"/>
            </a:endParaRPr>
          </a:p>
          <a:p>
            <a:pPr lvl="1"/>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result2{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(3, 6, 2) }; </a:t>
            </a:r>
            <a:r>
              <a:rPr lang="de-CH" sz="1400" dirty="0">
                <a:solidFill>
                  <a:srgbClr val="008000"/>
                </a:solidFill>
                <a:latin typeface="Consolas" panose="020B0609020204030204" pitchFamily="49" charset="0"/>
              </a:rPr>
              <a:t>// </a:t>
            </a:r>
            <a:r>
              <a:rPr lang="ru-RU" sz="1400" dirty="0">
                <a:solidFill>
                  <a:srgbClr val="008000"/>
                </a:solidFill>
                <a:latin typeface="Consolas" panose="020B0609020204030204" pitchFamily="49" charset="0"/>
              </a:rPr>
              <a:t>выбирается версия </a:t>
            </a:r>
            <a:r>
              <a:rPr lang="de-CH" sz="1400" dirty="0">
                <a:solidFill>
                  <a:srgbClr val="008000"/>
                </a:solidFill>
                <a:latin typeface="Consolas" panose="020B0609020204030204" pitchFamily="49" charset="0"/>
              </a:rPr>
              <a:t>int </a:t>
            </a:r>
            <a:r>
              <a:rPr lang="de-CH" sz="1400" dirty="0" err="1">
                <a:solidFill>
                  <a:srgbClr val="008000"/>
                </a:solidFill>
                <a:latin typeface="Consolas" panose="020B0609020204030204" pitchFamily="49" charset="0"/>
              </a:rPr>
              <a:t>sum</a:t>
            </a:r>
            <a:r>
              <a:rPr lang="de-CH" sz="1400" dirty="0">
                <a:solidFill>
                  <a:srgbClr val="008000"/>
                </a:solidFill>
                <a:latin typeface="Consolas" panose="020B0609020204030204" pitchFamily="49" charset="0"/>
              </a:rPr>
              <a:t>(int, int, int)</a:t>
            </a:r>
            <a:endParaRPr lang="de-CH" sz="1400" dirty="0">
              <a:solidFill>
                <a:srgbClr val="000000"/>
              </a:solidFill>
              <a:latin typeface="Consolas" panose="020B0609020204030204" pitchFamily="49" charset="0"/>
            </a:endParaRP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result2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 </a:t>
            </a:r>
            <a:r>
              <a:rPr lang="en-US" sz="1400" dirty="0">
                <a:solidFill>
                  <a:srgbClr val="008000"/>
                </a:solidFill>
                <a:latin typeface="Consolas" panose="020B0609020204030204" pitchFamily="49" charset="0"/>
              </a:rPr>
              <a:t>// 11</a:t>
            </a:r>
            <a:endParaRPr lang="en-US" sz="1400" dirty="0">
              <a:solidFill>
                <a:srgbClr val="000000"/>
              </a:solidFill>
              <a:latin typeface="Consolas" panose="020B0609020204030204" pitchFamily="49" charset="0"/>
            </a:endParaRPr>
          </a:p>
          <a:p>
            <a:pPr lvl="1"/>
            <a:r>
              <a:rPr lang="ru-RU" sz="1400" dirty="0">
                <a:solidFill>
                  <a:srgbClr val="000000"/>
                </a:solidFill>
                <a:latin typeface="Consolas" panose="020B0609020204030204" pitchFamily="49" charset="0"/>
              </a:rPr>
              <a:t>}</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a</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b</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a</a:t>
            </a:r>
            <a:r>
              <a:rPr lang="de-CH" sz="1400" dirty="0">
                <a:solidFill>
                  <a:srgbClr val="000000"/>
                </a:solidFill>
                <a:latin typeface="Consolas" panose="020B0609020204030204" pitchFamily="49" charset="0"/>
              </a:rPr>
              <a:t> + </a:t>
            </a:r>
            <a:r>
              <a:rPr lang="de-CH" sz="1400" dirty="0">
                <a:solidFill>
                  <a:srgbClr val="808080"/>
                </a:solidFill>
                <a:latin typeface="Consolas" panose="020B0609020204030204" pitchFamily="49" charset="0"/>
              </a:rPr>
              <a:t>b</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sum</a:t>
            </a:r>
            <a:r>
              <a:rPr lang="de-CH" sz="1400" dirty="0">
                <a:solidFill>
                  <a:srgbClr val="000000"/>
                </a:solidFill>
                <a:latin typeface="Consolas" panose="020B0609020204030204" pitchFamily="49" charset="0"/>
              </a:rPr>
              <a:t>(</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a</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b</a:t>
            </a:r>
            <a:r>
              <a:rPr lang="de-CH" sz="1400" dirty="0">
                <a:solidFill>
                  <a:srgbClr val="000000"/>
                </a:solidFill>
                <a:latin typeface="Consolas" panose="020B0609020204030204" pitchFamily="49" charset="0"/>
              </a:rPr>
              <a:t>, </a:t>
            </a:r>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c</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a</a:t>
            </a:r>
            <a:r>
              <a:rPr lang="de-CH" sz="1400" dirty="0">
                <a:solidFill>
                  <a:srgbClr val="000000"/>
                </a:solidFill>
                <a:latin typeface="Consolas" panose="020B0609020204030204" pitchFamily="49" charset="0"/>
              </a:rPr>
              <a:t> + </a:t>
            </a:r>
            <a:r>
              <a:rPr lang="de-CH" sz="1400" dirty="0">
                <a:solidFill>
                  <a:srgbClr val="808080"/>
                </a:solidFill>
                <a:latin typeface="Consolas" panose="020B0609020204030204" pitchFamily="49" charset="0"/>
              </a:rPr>
              <a:t>b</a:t>
            </a:r>
            <a:r>
              <a:rPr lang="de-CH" sz="1400" dirty="0">
                <a:solidFill>
                  <a:srgbClr val="000000"/>
                </a:solidFill>
                <a:latin typeface="Consolas" panose="020B0609020204030204" pitchFamily="49" charset="0"/>
              </a:rPr>
              <a:t> + </a:t>
            </a:r>
            <a:r>
              <a:rPr lang="de-CH" sz="1400" dirty="0">
                <a:solidFill>
                  <a:srgbClr val="808080"/>
                </a:solidFill>
                <a:latin typeface="Consolas" panose="020B0609020204030204" pitchFamily="49" charset="0"/>
              </a:rPr>
              <a:t>c</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1542008037"/>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6FA6D7-28FB-36C2-3722-683BF96870EE}"/>
              </a:ext>
            </a:extLst>
          </p:cNvPr>
          <p:cNvSpPr>
            <a:spLocks noGrp="1"/>
          </p:cNvSpPr>
          <p:nvPr>
            <p:ph type="title"/>
          </p:nvPr>
        </p:nvSpPr>
        <p:spPr/>
        <p:txBody>
          <a:bodyPr/>
          <a:lstStyle/>
          <a:p>
            <a:r>
              <a:rPr lang="ru-RU" sz="1800" b="1" dirty="0"/>
              <a:t>Перегрузка функций и параметрами-ссылки</a:t>
            </a:r>
            <a:endParaRPr lang="ru-RU" dirty="0"/>
          </a:p>
        </p:txBody>
      </p:sp>
      <p:sp>
        <p:nvSpPr>
          <p:cNvPr id="3" name="Объект 2">
            <a:extLst>
              <a:ext uri="{FF2B5EF4-FFF2-40B4-BE49-F238E27FC236}">
                <a16:creationId xmlns:a16="http://schemas.microsoft.com/office/drawing/2014/main" id="{A518E190-3127-E081-8E07-EAA534979FCF}"/>
              </a:ext>
            </a:extLst>
          </p:cNvPr>
          <p:cNvSpPr>
            <a:spLocks noGrp="1"/>
          </p:cNvSpPr>
          <p:nvPr>
            <p:ph idx="1"/>
          </p:nvPr>
        </p:nvSpPr>
        <p:spPr/>
        <p:txBody>
          <a:bodyPr/>
          <a:lstStyle/>
          <a:p>
            <a:endParaRPr lang="en-US" dirty="0"/>
          </a:p>
          <a:p>
            <a:pPr lvl="1"/>
            <a:r>
              <a:rPr lang="de-CH" b="1" dirty="0" err="1"/>
              <a:t>void</a:t>
            </a:r>
            <a:r>
              <a:rPr lang="de-CH" dirty="0"/>
              <a:t> </a:t>
            </a:r>
            <a:r>
              <a:rPr lang="de-CH" dirty="0" err="1"/>
              <a:t>print</a:t>
            </a:r>
            <a:r>
              <a:rPr lang="de-CH" dirty="0"/>
              <a:t>(</a:t>
            </a:r>
            <a:r>
              <a:rPr lang="de-CH" b="1" dirty="0"/>
              <a:t>int</a:t>
            </a:r>
            <a:r>
              <a:rPr lang="de-CH" dirty="0"/>
              <a:t>);</a:t>
            </a:r>
          </a:p>
          <a:p>
            <a:pPr lvl="1"/>
            <a:endParaRPr lang="de-CH" dirty="0"/>
          </a:p>
          <a:p>
            <a:pPr lvl="1"/>
            <a:r>
              <a:rPr lang="de-CH" b="1" dirty="0" err="1"/>
              <a:t>void</a:t>
            </a:r>
            <a:r>
              <a:rPr lang="de-CH" dirty="0"/>
              <a:t> </a:t>
            </a:r>
            <a:r>
              <a:rPr lang="de-CH" dirty="0" err="1"/>
              <a:t>print</a:t>
            </a:r>
            <a:r>
              <a:rPr lang="de-CH" dirty="0"/>
              <a:t>(</a:t>
            </a:r>
            <a:r>
              <a:rPr lang="de-CH" b="1" dirty="0"/>
              <a:t>int</a:t>
            </a:r>
            <a:r>
              <a:rPr lang="de-CH" dirty="0"/>
              <a:t>&amp;);</a:t>
            </a:r>
          </a:p>
          <a:p>
            <a:pPr lvl="1"/>
            <a:endParaRPr lang="de-CH" dirty="0"/>
          </a:p>
          <a:p>
            <a:pPr lvl="1"/>
            <a:r>
              <a:rPr lang="ru-RU" dirty="0">
                <a:solidFill>
                  <a:srgbClr val="FF0000"/>
                </a:solidFill>
              </a:rPr>
              <a:t>Не считаются разными версиями функции </a:t>
            </a:r>
            <a:r>
              <a:rPr lang="ru-RU" dirty="0" err="1">
                <a:solidFill>
                  <a:srgbClr val="FF0000"/>
                </a:solidFill>
              </a:rPr>
              <a:t>print</a:t>
            </a:r>
            <a:r>
              <a:rPr lang="ru-RU" dirty="0">
                <a:solidFill>
                  <a:srgbClr val="FF0000"/>
                </a:solidFill>
              </a:rPr>
              <a:t>.</a:t>
            </a:r>
            <a:endParaRPr lang="de-CH" dirty="0">
              <a:solidFill>
                <a:srgbClr val="FF0000"/>
              </a:solidFill>
            </a:endParaRPr>
          </a:p>
          <a:p>
            <a:endParaRPr lang="ru-RU" dirty="0"/>
          </a:p>
        </p:txBody>
      </p:sp>
    </p:spTree>
    <p:extLst>
      <p:ext uri="{BB962C8B-B14F-4D97-AF65-F5344CB8AC3E}">
        <p14:creationId xmlns:p14="http://schemas.microsoft.com/office/powerpoint/2010/main" val="323807357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74B5E1-6989-563C-B316-71D5452880E6}"/>
              </a:ext>
            </a:extLst>
          </p:cNvPr>
          <p:cNvSpPr>
            <a:spLocks noGrp="1"/>
          </p:cNvSpPr>
          <p:nvPr>
            <p:ph type="title"/>
          </p:nvPr>
        </p:nvSpPr>
        <p:spPr/>
        <p:txBody>
          <a:bodyPr/>
          <a:lstStyle/>
          <a:p>
            <a:r>
              <a:rPr lang="ru-RU" sz="2800" b="1" dirty="0"/>
              <a:t>Перегрузка и параметры-константы</a:t>
            </a:r>
            <a:endParaRPr lang="ru-RU" dirty="0"/>
          </a:p>
        </p:txBody>
      </p:sp>
      <p:sp>
        <p:nvSpPr>
          <p:cNvPr id="3" name="Объект 2">
            <a:extLst>
              <a:ext uri="{FF2B5EF4-FFF2-40B4-BE49-F238E27FC236}">
                <a16:creationId xmlns:a16="http://schemas.microsoft.com/office/drawing/2014/main" id="{D8B614FE-783F-7460-6964-D874E994DD21}"/>
              </a:ext>
            </a:extLst>
          </p:cNvPr>
          <p:cNvSpPr>
            <a:spLocks noGrp="1"/>
          </p:cNvSpPr>
          <p:nvPr>
            <p:ph idx="1"/>
          </p:nvPr>
        </p:nvSpPr>
        <p:spPr/>
        <p:txBody>
          <a:bodyPr/>
          <a:lstStyle/>
          <a:p>
            <a:pPr algn="just"/>
            <a:r>
              <a:rPr lang="ru-RU" dirty="0"/>
              <a:t>При перегрузке функций константный параметр отличается от </a:t>
            </a:r>
            <a:r>
              <a:rPr lang="ru-RU" dirty="0" err="1"/>
              <a:t>неконстантного</a:t>
            </a:r>
            <a:r>
              <a:rPr lang="ru-RU" dirty="0"/>
              <a:t> параметра только для </a:t>
            </a:r>
            <a:r>
              <a:rPr lang="ru-RU" b="1" u="sng" dirty="0"/>
              <a:t>ссылок и указателей</a:t>
            </a:r>
            <a:r>
              <a:rPr lang="ru-RU" dirty="0"/>
              <a:t>. </a:t>
            </a:r>
            <a:endParaRPr lang="en-US" dirty="0"/>
          </a:p>
          <a:p>
            <a:pPr algn="just"/>
            <a:r>
              <a:rPr lang="ru-RU" dirty="0"/>
              <a:t>В остальных случаях </a:t>
            </a:r>
            <a:r>
              <a:rPr lang="ru-RU" dirty="0" err="1"/>
              <a:t>константый</a:t>
            </a:r>
            <a:r>
              <a:rPr lang="ru-RU" dirty="0"/>
              <a:t> параметр будет идентичен </a:t>
            </a:r>
            <a:r>
              <a:rPr lang="ru-RU" dirty="0" err="1"/>
              <a:t>неконстантному</a:t>
            </a:r>
            <a:r>
              <a:rPr lang="ru-RU" dirty="0"/>
              <a:t> параметру. </a:t>
            </a:r>
            <a:endParaRPr lang="en-US" dirty="0"/>
          </a:p>
          <a:p>
            <a:pPr algn="just"/>
            <a:r>
              <a:rPr lang="ru-RU" dirty="0"/>
              <a:t>Например, следующие два прототипа при перегрузке различаться НЕ будут:</a:t>
            </a:r>
            <a:endParaRPr lang="en-US" dirty="0"/>
          </a:p>
          <a:p>
            <a:pPr algn="just"/>
            <a:endParaRPr lang="en-US" dirty="0"/>
          </a:p>
          <a:p>
            <a:pPr marL="2062163">
              <a:tabLst>
                <a:tab pos="801688" algn="l"/>
              </a:tabLst>
            </a:pPr>
            <a:r>
              <a:rPr lang="de-CH" b="1" dirty="0" err="1"/>
              <a:t>void</a:t>
            </a:r>
            <a:r>
              <a:rPr lang="de-CH" dirty="0"/>
              <a:t> </a:t>
            </a:r>
            <a:r>
              <a:rPr lang="de-CH" dirty="0" err="1"/>
              <a:t>print</a:t>
            </a:r>
            <a:r>
              <a:rPr lang="de-CH" dirty="0"/>
              <a:t>(</a:t>
            </a:r>
            <a:r>
              <a:rPr lang="de-CH" b="1" dirty="0"/>
              <a:t>int</a:t>
            </a:r>
            <a:r>
              <a:rPr lang="de-CH" dirty="0"/>
              <a:t>);</a:t>
            </a:r>
          </a:p>
          <a:p>
            <a:pPr marL="2062163">
              <a:tabLst>
                <a:tab pos="801688" algn="l"/>
              </a:tabLst>
            </a:pPr>
            <a:endParaRPr lang="de-CH" dirty="0"/>
          </a:p>
          <a:p>
            <a:pPr marL="2062163">
              <a:tabLst>
                <a:tab pos="801688" algn="l"/>
              </a:tabLst>
            </a:pPr>
            <a:r>
              <a:rPr lang="de-CH" b="1" dirty="0" err="1"/>
              <a:t>void</a:t>
            </a:r>
            <a:r>
              <a:rPr lang="de-CH" dirty="0"/>
              <a:t> </a:t>
            </a:r>
            <a:r>
              <a:rPr lang="de-CH" dirty="0" err="1"/>
              <a:t>print</a:t>
            </a:r>
            <a:r>
              <a:rPr lang="de-CH" dirty="0"/>
              <a:t>(</a:t>
            </a:r>
            <a:r>
              <a:rPr lang="de-CH" b="1" dirty="0" err="1"/>
              <a:t>const</a:t>
            </a:r>
            <a:r>
              <a:rPr lang="de-CH" dirty="0"/>
              <a:t> </a:t>
            </a:r>
            <a:r>
              <a:rPr lang="de-CH" b="1" dirty="0"/>
              <a:t>int</a:t>
            </a:r>
            <a:r>
              <a:rPr lang="de-CH" dirty="0"/>
              <a:t>);</a:t>
            </a:r>
          </a:p>
          <a:p>
            <a:pPr algn="just"/>
            <a:endParaRPr lang="ru-RU" dirty="0"/>
          </a:p>
        </p:txBody>
      </p:sp>
    </p:spTree>
    <p:extLst>
      <p:ext uri="{BB962C8B-B14F-4D97-AF65-F5344CB8AC3E}">
        <p14:creationId xmlns:p14="http://schemas.microsoft.com/office/powerpoint/2010/main" val="1854547774"/>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3869B5-0339-B560-BABF-DB4DE9D4E14B}"/>
              </a:ext>
            </a:extLst>
          </p:cNvPr>
          <p:cNvSpPr>
            <a:spLocks noGrp="1"/>
          </p:cNvSpPr>
          <p:nvPr>
            <p:ph type="title"/>
          </p:nvPr>
        </p:nvSpPr>
        <p:spPr/>
        <p:txBody>
          <a:bodyPr/>
          <a:lstStyle/>
          <a:p>
            <a:r>
              <a:rPr lang="ru-RU" sz="2800" b="1" dirty="0"/>
              <a:t>Перегрузка и параметры-константы</a:t>
            </a:r>
            <a:endParaRPr lang="ru-RU" sz="2800" dirty="0"/>
          </a:p>
        </p:txBody>
      </p:sp>
      <p:sp>
        <p:nvSpPr>
          <p:cNvPr id="3" name="Объект 2">
            <a:extLst>
              <a:ext uri="{FF2B5EF4-FFF2-40B4-BE49-F238E27FC236}">
                <a16:creationId xmlns:a16="http://schemas.microsoft.com/office/drawing/2014/main" id="{052C96C1-914F-A7DB-7BB7-AA7D365C23F7}"/>
              </a:ext>
            </a:extLst>
          </p:cNvPr>
          <p:cNvSpPr>
            <a:spLocks noGrp="1"/>
          </p:cNvSpPr>
          <p:nvPr>
            <p:ph idx="1"/>
          </p:nvPr>
        </p:nvSpPr>
        <p:spPr/>
        <p:txBody>
          <a:bodyPr/>
          <a:lstStyle/>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t>
            </a:r>
            <a:r>
              <a:rPr lang="de-CH" sz="1200" dirty="0" err="1">
                <a:solidFill>
                  <a:srgbClr val="0000FF"/>
                </a:solidFill>
                <a:latin typeface="Consolas" panose="020B0609020204030204" pitchFamily="49" charset="0"/>
              </a:rPr>
              <a:t>const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endParaRPr lang="ru-RU" sz="1200" dirty="0">
              <a:solidFill>
                <a:srgbClr val="000000"/>
              </a:solidFill>
              <a:latin typeface="Consolas" panose="020B0609020204030204" pitchFamily="49" charset="0"/>
            </a:endParaRP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const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n1{ 2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n2{ 3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square_n1{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(&amp;n1)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square_n2{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(&amp;n2) };</a:t>
            </a:r>
          </a:p>
          <a:p>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"square(n1):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square_n1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"\tn1: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n1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"square(n2):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square_n2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"\tn2: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n2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endParaRPr lang="ru-RU" sz="1200" dirty="0">
              <a:solidFill>
                <a:srgbClr val="000000"/>
              </a:solidFill>
              <a:latin typeface="Consolas" panose="020B0609020204030204" pitchFamily="49" charset="0"/>
            </a:endParaRPr>
          </a:p>
          <a:p>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square(</a:t>
            </a:r>
            <a:r>
              <a:rPr lang="en-US" sz="1200" dirty="0">
                <a:solidFill>
                  <a:srgbClr val="0000FF"/>
                </a:solidFill>
                <a:latin typeface="Consolas" panose="020B0609020204030204" pitchFamily="49" charset="0"/>
              </a:rPr>
              <a:t>const</a:t>
            </a: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a:solidFill>
                  <a:srgbClr val="808080"/>
                </a:solidFill>
                <a:latin typeface="Consolas" panose="020B0609020204030204" pitchFamily="49" charset="0"/>
              </a:rPr>
              <a:t>num</a:t>
            </a:r>
            <a:r>
              <a:rPr lang="en-US"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err="1">
                <a:solidFill>
                  <a:srgbClr val="808080"/>
                </a:solidFill>
                <a:latin typeface="Consolas" panose="020B0609020204030204" pitchFamily="49" charset="0"/>
              </a:rPr>
              <a:t>num</a:t>
            </a:r>
            <a:r>
              <a:rPr lang="de-CH" sz="1200" dirty="0">
                <a:solidFill>
                  <a:srgbClr val="000000"/>
                </a:solidFill>
                <a:latin typeface="Consolas" panose="020B0609020204030204" pitchFamily="49" charset="0"/>
              </a:rPr>
              <a:t> * *</a:t>
            </a:r>
            <a:r>
              <a:rPr lang="de-CH" sz="1200" dirty="0" err="1">
                <a:solidFill>
                  <a:srgbClr val="808080"/>
                </a:solidFill>
                <a:latin typeface="Consolas" panose="020B0609020204030204" pitchFamily="49" charset="0"/>
              </a:rPr>
              <a:t>num</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square</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808080"/>
                </a:solidFill>
                <a:latin typeface="Consolas" panose="020B0609020204030204" pitchFamily="49" charset="0"/>
              </a:rPr>
              <a:t>num</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    *</a:t>
            </a:r>
            <a:r>
              <a:rPr lang="ru-RU" sz="1200" dirty="0" err="1">
                <a:solidFill>
                  <a:srgbClr val="808080"/>
                </a:solidFill>
                <a:latin typeface="Consolas" panose="020B0609020204030204" pitchFamily="49" charset="0"/>
              </a:rPr>
              <a:t>num</a:t>
            </a:r>
            <a:r>
              <a:rPr lang="ru-RU" sz="1200" dirty="0">
                <a:solidFill>
                  <a:srgbClr val="000000"/>
                </a:solidFill>
                <a:latin typeface="Consolas" panose="020B0609020204030204" pitchFamily="49" charset="0"/>
              </a:rPr>
              <a:t> = *</a:t>
            </a:r>
            <a:r>
              <a:rPr lang="ru-RU" sz="1200" dirty="0" err="1">
                <a:solidFill>
                  <a:srgbClr val="808080"/>
                </a:solidFill>
                <a:latin typeface="Consolas" panose="020B0609020204030204" pitchFamily="49" charset="0"/>
              </a:rPr>
              <a:t>num</a:t>
            </a:r>
            <a:r>
              <a:rPr lang="ru-RU" sz="1200" dirty="0">
                <a:solidFill>
                  <a:srgbClr val="000000"/>
                </a:solidFill>
                <a:latin typeface="Consolas" panose="020B0609020204030204" pitchFamily="49" charset="0"/>
              </a:rPr>
              <a:t> * *</a:t>
            </a:r>
            <a:r>
              <a:rPr lang="ru-RU" sz="1200" dirty="0" err="1">
                <a:solidFill>
                  <a:srgbClr val="808080"/>
                </a:solidFill>
                <a:latin typeface="Consolas" panose="020B0609020204030204" pitchFamily="49" charset="0"/>
              </a:rPr>
              <a:t>num</a:t>
            </a:r>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изменяем значение по адресу в указателе</a:t>
            </a:r>
            <a:endParaRPr lang="ru-RU" sz="1200" dirty="0">
              <a:solidFill>
                <a:srgbClr val="000000"/>
              </a:solidFill>
              <a:latin typeface="Consolas" panose="020B0609020204030204" pitchFamily="49" charset="0"/>
            </a:endParaRP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err="1">
                <a:solidFill>
                  <a:srgbClr val="808080"/>
                </a:solidFill>
                <a:latin typeface="Consolas" panose="020B0609020204030204" pitchFamily="49" charset="0"/>
              </a:rPr>
              <a:t>num</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endParaRPr lang="ru-RU" sz="1200" dirty="0"/>
          </a:p>
        </p:txBody>
      </p:sp>
    </p:spTree>
    <p:extLst>
      <p:ext uri="{BB962C8B-B14F-4D97-AF65-F5344CB8AC3E}">
        <p14:creationId xmlns:p14="http://schemas.microsoft.com/office/powerpoint/2010/main" val="3547848957"/>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7F3642-0234-2606-4DFB-F853BF4A0C4D}"/>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39CD95CC-48FC-7B88-AF2E-6EA77DCF24A2}"/>
              </a:ext>
            </a:extLst>
          </p:cNvPr>
          <p:cNvSpPr>
            <a:spLocks noGrp="1"/>
          </p:cNvSpPr>
          <p:nvPr>
            <p:ph idx="1"/>
          </p:nvPr>
        </p:nvSpPr>
        <p:spPr/>
        <p:txBody>
          <a:bodyPr/>
          <a:lstStyle/>
          <a:p>
            <a:endParaRPr lang="ru-RU" dirty="0"/>
          </a:p>
          <a:p>
            <a:endParaRPr lang="ru-RU" dirty="0"/>
          </a:p>
          <a:p>
            <a:pPr algn="just"/>
            <a:r>
              <a:rPr lang="ru-RU" dirty="0"/>
              <a:t>Рекурсивные функции - это функции, которые вызывают сами себя. Такие функции довольно часто используются для обхода различных представлений. </a:t>
            </a:r>
          </a:p>
        </p:txBody>
      </p:sp>
    </p:spTree>
    <p:extLst>
      <p:ext uri="{BB962C8B-B14F-4D97-AF65-F5344CB8AC3E}">
        <p14:creationId xmlns:p14="http://schemas.microsoft.com/office/powerpoint/2010/main" val="4058088887"/>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E5F0C6-6380-16D5-8E6F-BEC616D0AF61}"/>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A028A7B5-5800-B723-A100-68C1F71ABE1D}"/>
              </a:ext>
            </a:extLst>
          </p:cNvPr>
          <p:cNvSpPr>
            <a:spLocks noGrp="1"/>
          </p:cNvSpPr>
          <p:nvPr>
            <p:ph idx="1"/>
          </p:nvPr>
        </p:nvSpPr>
        <p:spPr/>
        <p:txBody>
          <a:bodyPr/>
          <a:lstStyle/>
          <a:p>
            <a:r>
              <a:rPr lang="ru-RU" dirty="0"/>
              <a:t>Например, определим вычисление факториала в виде рекурсивной функции:</a:t>
            </a:r>
          </a:p>
          <a:p>
            <a:pPr lvl="1"/>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factorial(</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a:t>
            </a:r>
          </a:p>
          <a:p>
            <a:pPr lvl="1"/>
            <a:r>
              <a:rPr lang="de-CH" dirty="0">
                <a:solidFill>
                  <a:srgbClr val="0000FF"/>
                </a:solidFill>
                <a:latin typeface="Consolas" panose="020B0609020204030204" pitchFamily="49" charset="0"/>
              </a:rPr>
              <a:t>int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main</a:t>
            </a:r>
            <a:r>
              <a:rPr lang="de-CH"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unsigned</a:t>
            </a:r>
            <a:r>
              <a:rPr lang="de-CH" dirty="0">
                <a:solidFill>
                  <a:srgbClr val="000000"/>
                </a:solidFill>
                <a:latin typeface="Consolas" panose="020B0609020204030204" pitchFamily="49" charset="0"/>
              </a:rPr>
              <a:t> n{ 5 };</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auto</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result</a:t>
            </a:r>
            <a:r>
              <a:rPr lang="de-CH" dirty="0">
                <a:solidFill>
                  <a:srgbClr val="000000"/>
                </a:solidFill>
                <a:latin typeface="Consolas" panose="020B0609020204030204" pitchFamily="49" charset="0"/>
              </a:rPr>
              <a:t>{ </a:t>
            </a:r>
            <a:r>
              <a:rPr lang="de-CH" dirty="0" err="1">
                <a:solidFill>
                  <a:srgbClr val="000000"/>
                </a:solidFill>
                <a:latin typeface="Consolas" panose="020B0609020204030204" pitchFamily="49" charset="0"/>
              </a:rPr>
              <a:t>factorial</a:t>
            </a:r>
            <a:r>
              <a:rPr lang="de-CH" dirty="0">
                <a:solidFill>
                  <a:srgbClr val="000000"/>
                </a:solidFill>
                <a:latin typeface="Consolas" panose="020B0609020204030204" pitchFamily="49" charset="0"/>
              </a:rPr>
              <a:t>(n) };</a:t>
            </a:r>
          </a:p>
          <a:p>
            <a:pPr lvl="1"/>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cout</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"Factorial of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n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a:t>
            </a:r>
            <a:r>
              <a:rPr lang="en-US" dirty="0">
                <a:solidFill>
                  <a:srgbClr val="A31515"/>
                </a:solidFill>
                <a:latin typeface="Consolas" panose="020B0609020204030204" pitchFamily="49" charset="0"/>
              </a:rPr>
              <a:t>" is equal to "</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result </a:t>
            </a:r>
            <a:r>
              <a:rPr lang="en-US" dirty="0">
                <a:solidFill>
                  <a:srgbClr val="008080"/>
                </a:solidFill>
                <a:latin typeface="Consolas" panose="020B0609020204030204" pitchFamily="49" charset="0"/>
              </a:rPr>
              <a:t>&lt;&lt;</a:t>
            </a:r>
            <a:r>
              <a:rPr lang="en-US" dirty="0">
                <a:solidFill>
                  <a:srgbClr val="000000"/>
                </a:solidFill>
                <a:latin typeface="Consolas" panose="020B0609020204030204" pitchFamily="49" charset="0"/>
              </a:rPr>
              <a:t> std::</a:t>
            </a:r>
            <a:r>
              <a:rPr lang="en-US" dirty="0" err="1">
                <a:solidFill>
                  <a:srgbClr val="000000"/>
                </a:solidFill>
                <a:latin typeface="Consolas" panose="020B0609020204030204" pitchFamily="49" charset="0"/>
              </a:rPr>
              <a:t>endl</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endParaRPr lang="ru-RU"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long</a:t>
            </a:r>
            <a:r>
              <a:rPr lang="en-US" dirty="0">
                <a:solidFill>
                  <a:srgbClr val="000000"/>
                </a:solidFill>
                <a:latin typeface="Consolas" panose="020B0609020204030204" pitchFamily="49" charset="0"/>
              </a:rPr>
              <a:t> factorial(</a:t>
            </a:r>
            <a:r>
              <a:rPr lang="en-US" dirty="0">
                <a:solidFill>
                  <a:srgbClr val="0000FF"/>
                </a:solidFill>
                <a:latin typeface="Consolas" panose="020B0609020204030204" pitchFamily="49" charset="0"/>
              </a:rPr>
              <a:t>unsigned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a:t>
            </a:r>
            <a:r>
              <a:rPr lang="en-US" dirty="0">
                <a:solidFill>
                  <a:srgbClr val="000000"/>
                </a:solidFill>
                <a:latin typeface="Consolas" panose="020B0609020204030204" pitchFamily="49" charset="0"/>
              </a:rPr>
              <a:t>)</a:t>
            </a:r>
          </a:p>
          <a:p>
            <a:pPr lvl="1"/>
            <a:r>
              <a:rPr lang="ru-RU" dirty="0">
                <a:solidFill>
                  <a:srgbClr val="000000"/>
                </a:solidFill>
                <a:latin typeface="Consolas" panose="020B0609020204030204" pitchFamily="49" charset="0"/>
              </a:rPr>
              <a:t>{</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if</a:t>
            </a:r>
            <a:r>
              <a:rPr lang="de-CH" dirty="0">
                <a:solidFill>
                  <a:srgbClr val="000000"/>
                </a:solidFill>
                <a:latin typeface="Consolas" panose="020B0609020204030204" pitchFamily="49" charset="0"/>
              </a:rPr>
              <a:t> (</a:t>
            </a:r>
            <a:r>
              <a:rPr lang="de-CH" dirty="0">
                <a:solidFill>
                  <a:srgbClr val="808080"/>
                </a:solidFill>
                <a:latin typeface="Consolas" panose="020B0609020204030204" pitchFamily="49" charset="0"/>
              </a:rPr>
              <a:t>n</a:t>
            </a:r>
            <a:r>
              <a:rPr lang="de-CH" dirty="0">
                <a:solidFill>
                  <a:srgbClr val="000000"/>
                </a:solidFill>
                <a:latin typeface="Consolas" panose="020B0609020204030204" pitchFamily="49" charset="0"/>
              </a:rPr>
              <a:t> &gt; 1)</a:t>
            </a:r>
          </a:p>
          <a:p>
            <a:pPr lvl="1"/>
            <a:r>
              <a:rPr lang="pt-BR" dirty="0">
                <a:solidFill>
                  <a:srgbClr val="000000"/>
                </a:solidFill>
                <a:latin typeface="Consolas" panose="020B0609020204030204" pitchFamily="49" charset="0"/>
              </a:rPr>
              <a:t>        </a:t>
            </a:r>
            <a:r>
              <a:rPr lang="pt-BR" dirty="0">
                <a:solidFill>
                  <a:srgbClr val="0000FF"/>
                </a:solidFill>
                <a:latin typeface="Consolas" panose="020B0609020204030204" pitchFamily="49" charset="0"/>
              </a:rPr>
              <a:t>return</a:t>
            </a:r>
            <a:r>
              <a:rPr lang="pt-BR" dirty="0">
                <a:solidFill>
                  <a:srgbClr val="000000"/>
                </a:solidFill>
                <a:latin typeface="Consolas" panose="020B0609020204030204" pitchFamily="49" charset="0"/>
              </a:rPr>
              <a:t> </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factorial(</a:t>
            </a:r>
            <a:r>
              <a:rPr lang="pt-BR" dirty="0">
                <a:solidFill>
                  <a:srgbClr val="808080"/>
                </a:solidFill>
                <a:latin typeface="Consolas" panose="020B0609020204030204" pitchFamily="49" charset="0"/>
              </a:rPr>
              <a:t>n</a:t>
            </a:r>
            <a:r>
              <a:rPr lang="pt-BR" dirty="0">
                <a:solidFill>
                  <a:srgbClr val="000000"/>
                </a:solidFill>
                <a:latin typeface="Consolas" panose="020B0609020204030204" pitchFamily="49" charset="0"/>
              </a:rPr>
              <a:t> - 1);</a:t>
            </a:r>
          </a:p>
          <a:p>
            <a:pPr lvl="1"/>
            <a:r>
              <a:rPr lang="de-CH" dirty="0">
                <a:solidFill>
                  <a:srgbClr val="000000"/>
                </a:solidFill>
                <a:latin typeface="Consolas" panose="020B0609020204030204" pitchFamily="49" charset="0"/>
              </a:rPr>
              <a:t>    </a:t>
            </a:r>
            <a:r>
              <a:rPr lang="de-CH" dirty="0" err="1">
                <a:solidFill>
                  <a:srgbClr val="0000FF"/>
                </a:solidFill>
                <a:latin typeface="Consolas" panose="020B0609020204030204" pitchFamily="49" charset="0"/>
              </a:rPr>
              <a:t>return</a:t>
            </a:r>
            <a:r>
              <a:rPr lang="de-CH" dirty="0">
                <a:solidFill>
                  <a:srgbClr val="000000"/>
                </a:solidFill>
                <a:latin typeface="Consolas" panose="020B0609020204030204" pitchFamily="49" charset="0"/>
              </a:rPr>
              <a:t> 1;</a:t>
            </a:r>
          </a:p>
          <a:p>
            <a:pPr lvl="1"/>
            <a:r>
              <a:rPr lang="ru-RU" dirty="0">
                <a:solidFill>
                  <a:srgbClr val="000000"/>
                </a:solidFill>
                <a:latin typeface="Consolas" panose="020B0609020204030204" pitchFamily="49" charset="0"/>
              </a:rPr>
              <a:t>}</a:t>
            </a:r>
            <a:endParaRPr lang="ru-RU" dirty="0"/>
          </a:p>
        </p:txBody>
      </p:sp>
    </p:spTree>
    <p:extLst>
      <p:ext uri="{BB962C8B-B14F-4D97-AF65-F5344CB8AC3E}">
        <p14:creationId xmlns:p14="http://schemas.microsoft.com/office/powerpoint/2010/main" val="1284976305"/>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86121B-8E0B-0936-8350-DA9ADE959384}"/>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416BCC27-A851-4E8D-85A5-35022DC4F927}"/>
              </a:ext>
            </a:extLst>
          </p:cNvPr>
          <p:cNvSpPr>
            <a:spLocks noGrp="1"/>
          </p:cNvSpPr>
          <p:nvPr>
            <p:ph idx="1"/>
          </p:nvPr>
        </p:nvSpPr>
        <p:spPr/>
        <p:txBody>
          <a:bodyPr/>
          <a:lstStyle/>
          <a:p>
            <a:r>
              <a:rPr lang="ru-RU" dirty="0"/>
              <a:t>Другим распространенным показательным примером рекурсивной функции служит функция, вычисляющая числа </a:t>
            </a:r>
            <a:r>
              <a:rPr lang="ru-RU" dirty="0" err="1"/>
              <a:t>Фиббоначчи</a:t>
            </a:r>
            <a:r>
              <a:rPr lang="ru-RU" dirty="0"/>
              <a:t>.</a:t>
            </a:r>
          </a:p>
          <a:p>
            <a:pPr lvl="1"/>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fib(</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a:t>
            </a:r>
            <a:endParaRPr lang="ru-RU" sz="1400" dirty="0">
              <a:solidFill>
                <a:srgbClr val="000000"/>
              </a:solidFill>
              <a:latin typeface="Consolas" panose="020B0609020204030204" pitchFamily="49" charset="0"/>
            </a:endParaRP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for</a:t>
            </a: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unsigned</a:t>
            </a:r>
            <a:r>
              <a:rPr lang="de-CH" sz="1400" dirty="0">
                <a:solidFill>
                  <a:srgbClr val="000000"/>
                </a:solidFill>
                <a:latin typeface="Consolas" panose="020B0609020204030204" pitchFamily="49" charset="0"/>
              </a:rPr>
              <a:t> i{}; i &lt; 10; i++)</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auto</a:t>
            </a:r>
            <a:r>
              <a:rPr lang="de-CH" sz="1400" dirty="0">
                <a:solidFill>
                  <a:srgbClr val="000000"/>
                </a:solidFill>
                <a:latin typeface="Consolas" panose="020B0609020204030204" pitchFamily="49" charset="0"/>
              </a:rPr>
              <a:t> n = </a:t>
            </a:r>
            <a:r>
              <a:rPr lang="de-CH" sz="1400" dirty="0" err="1">
                <a:solidFill>
                  <a:srgbClr val="000000"/>
                </a:solidFill>
                <a:latin typeface="Consolas" panose="020B0609020204030204" pitchFamily="49" charset="0"/>
              </a:rPr>
              <a:t>fib</a:t>
            </a:r>
            <a:r>
              <a:rPr lang="de-CH" sz="1400" dirty="0">
                <a:solidFill>
                  <a:srgbClr val="000000"/>
                </a:solidFill>
                <a:latin typeface="Consolas" panose="020B0609020204030204" pitchFamily="49" charset="0"/>
              </a:rPr>
              <a:t>(i);</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"\t"</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fib(</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n</a:t>
            </a:r>
            <a:r>
              <a:rPr lang="de-CH" sz="1400" dirty="0">
                <a:solidFill>
                  <a:srgbClr val="000000"/>
                </a:solidFill>
                <a:latin typeface="Consolas" panose="020B0609020204030204" pitchFamily="49" charset="0"/>
              </a:rPr>
              <a:t> == 0)</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0;</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if</a:t>
            </a:r>
            <a:r>
              <a:rPr lang="de-CH" sz="1400" dirty="0">
                <a:solidFill>
                  <a:srgbClr val="000000"/>
                </a:solidFill>
                <a:latin typeface="Consolas" panose="020B0609020204030204" pitchFamily="49" charset="0"/>
              </a:rPr>
              <a:t> (</a:t>
            </a:r>
            <a:r>
              <a:rPr lang="de-CH" sz="1400" dirty="0">
                <a:solidFill>
                  <a:srgbClr val="808080"/>
                </a:solidFill>
                <a:latin typeface="Consolas" panose="020B0609020204030204" pitchFamily="49" charset="0"/>
              </a:rPr>
              <a:t>n</a:t>
            </a:r>
            <a:r>
              <a:rPr lang="de-CH" sz="1400" dirty="0">
                <a:solidFill>
                  <a:srgbClr val="000000"/>
                </a:solidFill>
                <a:latin typeface="Consolas" panose="020B0609020204030204" pitchFamily="49" charset="0"/>
              </a:rPr>
              <a:t> == 1)</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1;</a:t>
            </a:r>
          </a:p>
          <a:p>
            <a:pPr lvl="1"/>
            <a:r>
              <a:rPr lang="pt-BR" sz="1400" dirty="0">
                <a:solidFill>
                  <a:srgbClr val="000000"/>
                </a:solidFill>
                <a:latin typeface="Consolas" panose="020B0609020204030204" pitchFamily="49" charset="0"/>
              </a:rPr>
              <a:t>    </a:t>
            </a:r>
            <a:r>
              <a:rPr lang="pt-BR" sz="1400" dirty="0">
                <a:solidFill>
                  <a:srgbClr val="0000FF"/>
                </a:solidFill>
                <a:latin typeface="Consolas" panose="020B0609020204030204" pitchFamily="49" charset="0"/>
              </a:rPr>
              <a:t>return</a:t>
            </a:r>
            <a:r>
              <a:rPr lang="pt-BR" sz="1400" dirty="0">
                <a:solidFill>
                  <a:srgbClr val="000000"/>
                </a:solidFill>
                <a:latin typeface="Consolas" panose="020B0609020204030204" pitchFamily="49" charset="0"/>
              </a:rPr>
              <a:t> fib(</a:t>
            </a:r>
            <a:r>
              <a:rPr lang="pt-BR" sz="1400" dirty="0">
                <a:solidFill>
                  <a:srgbClr val="808080"/>
                </a:solidFill>
                <a:latin typeface="Consolas" panose="020B0609020204030204" pitchFamily="49" charset="0"/>
              </a:rPr>
              <a:t>n</a:t>
            </a:r>
            <a:r>
              <a:rPr lang="pt-BR" sz="1400" dirty="0">
                <a:solidFill>
                  <a:srgbClr val="000000"/>
                </a:solidFill>
                <a:latin typeface="Consolas" panose="020B0609020204030204" pitchFamily="49" charset="0"/>
              </a:rPr>
              <a:t> - 1) + fib(</a:t>
            </a:r>
            <a:r>
              <a:rPr lang="pt-BR" sz="1400" dirty="0">
                <a:solidFill>
                  <a:srgbClr val="808080"/>
                </a:solidFill>
                <a:latin typeface="Consolas" panose="020B0609020204030204" pitchFamily="49" charset="0"/>
              </a:rPr>
              <a:t>n</a:t>
            </a:r>
            <a:r>
              <a:rPr lang="pt-BR" sz="1400" dirty="0">
                <a:solidFill>
                  <a:srgbClr val="000000"/>
                </a:solidFill>
                <a:latin typeface="Consolas" panose="020B0609020204030204" pitchFamily="49" charset="0"/>
              </a:rPr>
              <a:t> - 2);</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34222930"/>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22F8DA-ADBB-D35C-5A64-A359A6AB8B67}"/>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C34B4661-A01F-E52F-F818-95336AA21A26}"/>
              </a:ext>
            </a:extLst>
          </p:cNvPr>
          <p:cNvSpPr>
            <a:spLocks noGrp="1"/>
          </p:cNvSpPr>
          <p:nvPr>
            <p:ph idx="1"/>
          </p:nvPr>
        </p:nvSpPr>
        <p:spPr/>
        <p:txBody>
          <a:bodyPr/>
          <a:lstStyle/>
          <a:p>
            <a:pPr algn="just"/>
            <a:r>
              <a:rPr lang="ru-RU" dirty="0"/>
              <a:t>Стоит отметить, что нередко рекурсивные функции можно представить в виде циклов. Например, для вычисления факториала вместо рекурсии используем цикл:</a:t>
            </a:r>
          </a:p>
          <a:p>
            <a:pPr lvl="1"/>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factorial(</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a:t>
            </a:r>
            <a:endParaRPr lang="ru-RU" sz="1400" dirty="0">
              <a:solidFill>
                <a:srgbClr val="000000"/>
              </a:solidFill>
              <a:latin typeface="Consolas" panose="020B0609020204030204" pitchFamily="49" charset="0"/>
            </a:endParaRP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unsigned</a:t>
            </a:r>
            <a:r>
              <a:rPr lang="de-CH" sz="1400" dirty="0">
                <a:solidFill>
                  <a:srgbClr val="000000"/>
                </a:solidFill>
                <a:latin typeface="Consolas" panose="020B0609020204030204" pitchFamily="49" charset="0"/>
              </a:rPr>
              <a:t> n{ 6 };</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cout</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a:t>
            </a:r>
            <a:r>
              <a:rPr lang="de-CH" sz="1400" dirty="0" err="1">
                <a:solidFill>
                  <a:srgbClr val="A31515"/>
                </a:solidFill>
                <a:latin typeface="Consolas" panose="020B0609020204030204" pitchFamily="49" charset="0"/>
              </a:rPr>
              <a:t>Factorial</a:t>
            </a:r>
            <a:r>
              <a:rPr lang="de-CH" sz="1400" dirty="0">
                <a:solidFill>
                  <a:srgbClr val="A31515"/>
                </a:solidFill>
                <a:latin typeface="Consolas" panose="020B0609020204030204" pitchFamily="49" charset="0"/>
              </a:rPr>
              <a:t> </a:t>
            </a:r>
            <a:r>
              <a:rPr lang="de-CH" sz="1400" dirty="0" err="1">
                <a:solidFill>
                  <a:srgbClr val="A31515"/>
                </a:solidFill>
                <a:latin typeface="Consolas" panose="020B0609020204030204" pitchFamily="49" charset="0"/>
              </a:rPr>
              <a:t>of</a:t>
            </a:r>
            <a:r>
              <a:rPr lang="de-CH" sz="1400" dirty="0">
                <a:solidFill>
                  <a:srgbClr val="A31515"/>
                </a:solidFill>
                <a:latin typeface="Consolas" panose="020B0609020204030204" pitchFamily="49" charset="0"/>
              </a:rPr>
              <a:t> "</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n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a:solidFill>
                  <a:srgbClr val="A31515"/>
                </a:solidFill>
                <a:latin typeface="Consolas" panose="020B0609020204030204" pitchFamily="49" charset="0"/>
              </a:rPr>
              <a:t>" : "</a:t>
            </a:r>
            <a:r>
              <a:rPr lang="de-CH" sz="1400" dirty="0">
                <a:solidFill>
                  <a:srgbClr val="000000"/>
                </a:solidFill>
                <a:latin typeface="Consolas" panose="020B0609020204030204" pitchFamily="49" charset="0"/>
              </a:rPr>
              <a:t>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factorial</a:t>
            </a:r>
            <a:r>
              <a:rPr lang="de-CH" sz="1400" dirty="0">
                <a:solidFill>
                  <a:srgbClr val="000000"/>
                </a:solidFill>
                <a:latin typeface="Consolas" panose="020B0609020204030204" pitchFamily="49" charset="0"/>
              </a:rPr>
              <a:t>(n) </a:t>
            </a:r>
            <a:r>
              <a:rPr lang="de-CH" sz="1400" dirty="0">
                <a:solidFill>
                  <a:srgbClr val="008080"/>
                </a:solidFill>
                <a:latin typeface="Consolas" panose="020B0609020204030204" pitchFamily="49" charset="0"/>
              </a:rPr>
              <a:t>&lt;&lt;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std</a:t>
            </a:r>
            <a:r>
              <a:rPr lang="de-CH" sz="1400" dirty="0">
                <a:solidFill>
                  <a:srgbClr val="000000"/>
                </a:solidFill>
                <a:latin typeface="Consolas" panose="020B0609020204030204" pitchFamily="49" charset="0"/>
              </a:rPr>
              <a:t>::</a:t>
            </a:r>
            <a:r>
              <a:rPr lang="de-CH" sz="1400" dirty="0" err="1">
                <a:solidFill>
                  <a:srgbClr val="000000"/>
                </a:solidFill>
                <a:latin typeface="Consolas" panose="020B0609020204030204" pitchFamily="49" charset="0"/>
              </a:rPr>
              <a:t>endl</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factorial(</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808080"/>
                </a:solidFill>
                <a:latin typeface="Consolas" panose="020B0609020204030204" pitchFamily="49" charset="0"/>
              </a:rPr>
              <a:t>n</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unsigned</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a:t>
            </a:r>
            <a:r>
              <a:rPr lang="en-US" sz="1400" dirty="0" err="1">
                <a:solidFill>
                  <a:srgbClr val="0000FF"/>
                </a:solidFill>
                <a:latin typeface="Consolas" panose="020B0609020204030204" pitchFamily="49" charset="0"/>
              </a:rPr>
              <a:t>long</a:t>
            </a:r>
            <a:r>
              <a:rPr lang="en-US" sz="1400" dirty="0">
                <a:solidFill>
                  <a:srgbClr val="000000"/>
                </a:solidFill>
                <a:latin typeface="Consolas" panose="020B0609020204030204" pitchFamily="49" charset="0"/>
              </a:rPr>
              <a:t> result{ 1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for</a:t>
            </a:r>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unsigned</a:t>
            </a:r>
            <a:r>
              <a:rPr lang="de-CH" sz="1400" dirty="0">
                <a:solidFill>
                  <a:srgbClr val="000000"/>
                </a:solidFill>
                <a:latin typeface="Consolas" panose="020B0609020204030204" pitchFamily="49" charset="0"/>
              </a:rPr>
              <a:t> i{ 1 }; i &lt;= </a:t>
            </a:r>
            <a:r>
              <a:rPr lang="de-CH" sz="1400" dirty="0">
                <a:solidFill>
                  <a:srgbClr val="808080"/>
                </a:solidFill>
                <a:latin typeface="Consolas" panose="020B0609020204030204" pitchFamily="49" charset="0"/>
              </a:rPr>
              <a:t>n</a:t>
            </a:r>
            <a:r>
              <a:rPr lang="de-CH" sz="1400" dirty="0">
                <a:solidFill>
                  <a:srgbClr val="000000"/>
                </a:solidFill>
                <a:latin typeface="Consolas" panose="020B0609020204030204" pitchFamily="49" charset="0"/>
              </a:rPr>
              <a:t>; i++)</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result</a:t>
            </a:r>
            <a:r>
              <a:rPr lang="de-CH" sz="1400" dirty="0">
                <a:solidFill>
                  <a:srgbClr val="000000"/>
                </a:solidFill>
                <a:latin typeface="Consolas" panose="020B0609020204030204" pitchFamily="49" charset="0"/>
              </a:rPr>
              <a:t> *= i;</a:t>
            </a:r>
          </a:p>
          <a:p>
            <a:pPr lvl="1"/>
            <a:r>
              <a:rPr lang="ru-RU" sz="1400" dirty="0">
                <a:solidFill>
                  <a:srgbClr val="000000"/>
                </a:solidFill>
                <a:latin typeface="Consolas" panose="020B0609020204030204" pitchFamily="49" charset="0"/>
              </a:rPr>
              <a:t>    }</a:t>
            </a:r>
          </a:p>
          <a:p>
            <a:pPr lvl="1"/>
            <a:r>
              <a:rPr lang="de-CH" sz="1400" dirty="0">
                <a:solidFill>
                  <a:srgbClr val="000000"/>
                </a:solidFill>
                <a:latin typeface="Consolas" panose="020B0609020204030204" pitchFamily="49" charset="0"/>
              </a:rPr>
              <a:t>    </a:t>
            </a:r>
            <a:r>
              <a:rPr lang="de-CH" sz="1400" dirty="0" err="1">
                <a:solidFill>
                  <a:srgbClr val="0000FF"/>
                </a:solidFill>
                <a:latin typeface="Consolas" panose="020B0609020204030204" pitchFamily="49" charset="0"/>
              </a:rPr>
              <a:t>return</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result</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3435006539"/>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60DDEC-A8A3-84B2-C974-CF56AF3FDBCA}"/>
              </a:ext>
            </a:extLst>
          </p:cNvPr>
          <p:cNvSpPr>
            <a:spLocks noGrp="1"/>
          </p:cNvSpPr>
          <p:nvPr>
            <p:ph type="title"/>
          </p:nvPr>
        </p:nvSpPr>
        <p:spPr/>
        <p:txBody>
          <a:bodyPr/>
          <a:lstStyle/>
          <a:p>
            <a:r>
              <a:rPr lang="ru-RU" b="1" dirty="0"/>
              <a:t>Рекурсивные функции</a:t>
            </a:r>
            <a:endParaRPr lang="ru-RU" dirty="0"/>
          </a:p>
        </p:txBody>
      </p:sp>
      <p:sp>
        <p:nvSpPr>
          <p:cNvPr id="3" name="Объект 2">
            <a:extLst>
              <a:ext uri="{FF2B5EF4-FFF2-40B4-BE49-F238E27FC236}">
                <a16:creationId xmlns:a16="http://schemas.microsoft.com/office/drawing/2014/main" id="{32ED4CEF-030E-4E94-E9A6-171749EF7345}"/>
              </a:ext>
            </a:extLst>
          </p:cNvPr>
          <p:cNvSpPr>
            <a:spLocks noGrp="1"/>
          </p:cNvSpPr>
          <p:nvPr>
            <p:ph idx="1"/>
          </p:nvPr>
        </p:nvSpPr>
        <p:spPr/>
        <p:txBody>
          <a:bodyPr numCol="2"/>
          <a:lstStyle/>
          <a:p>
            <a:r>
              <a:rPr lang="ru-RU" sz="1200" dirty="0"/>
              <a:t>Рассмотрим применение рекурсии на примере быстрой сортировки</a:t>
            </a:r>
          </a:p>
          <a:p>
            <a:r>
              <a:rPr lang="de-CH" sz="1100" dirty="0" err="1">
                <a:solidFill>
                  <a:srgbClr val="0000FF"/>
                </a:solidFill>
                <a:latin typeface="Consolas" panose="020B0609020204030204" pitchFamily="49" charset="0"/>
              </a:rPr>
              <a:t>void</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sort</a:t>
            </a:r>
            <a:r>
              <a:rPr lang="de-CH" sz="1100" dirty="0">
                <a:solidFill>
                  <a:srgbClr val="000000"/>
                </a:solidFill>
                <a:latin typeface="Consolas" panose="020B0609020204030204" pitchFamily="49" charset="0"/>
              </a:rPr>
              <a:t>(</a:t>
            </a:r>
            <a:r>
              <a:rPr lang="de-CH" sz="1100" dirty="0">
                <a:solidFill>
                  <a:srgbClr val="0000FF"/>
                </a:solidFill>
                <a:latin typeface="Consolas" panose="020B0609020204030204" pitchFamily="49" charset="0"/>
              </a:rPr>
              <a:t>int</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a:t>
            </a:r>
          </a:p>
          <a:p>
            <a:r>
              <a:rPr lang="de-CH" sz="1100" dirty="0" err="1">
                <a:solidFill>
                  <a:srgbClr val="0000FF"/>
                </a:solidFill>
                <a:latin typeface="Consolas" panose="020B0609020204030204" pitchFamily="49" charset="0"/>
              </a:rPr>
              <a:t>void</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swap</a:t>
            </a:r>
            <a:r>
              <a:rPr lang="de-CH" sz="1100" dirty="0">
                <a:solidFill>
                  <a:srgbClr val="000000"/>
                </a:solidFill>
                <a:latin typeface="Consolas" panose="020B0609020204030204" pitchFamily="49" charset="0"/>
              </a:rPr>
              <a:t>(</a:t>
            </a:r>
            <a:r>
              <a:rPr lang="de-CH" sz="1100" dirty="0">
                <a:solidFill>
                  <a:srgbClr val="0000FF"/>
                </a:solidFill>
                <a:latin typeface="Consolas" panose="020B0609020204030204" pitchFamily="49" charset="0"/>
              </a:rPr>
              <a:t>int</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a:t>
            </a:r>
          </a:p>
          <a:p>
            <a:endParaRPr lang="ru-RU" sz="1100" dirty="0">
              <a:solidFill>
                <a:srgbClr val="000000"/>
              </a:solidFill>
              <a:latin typeface="Consolas" panose="020B0609020204030204" pitchFamily="49" charset="0"/>
            </a:endParaRPr>
          </a:p>
          <a:p>
            <a:r>
              <a:rPr lang="de-CH" sz="1100" dirty="0">
                <a:solidFill>
                  <a:srgbClr val="0000FF"/>
                </a:solidFill>
                <a:latin typeface="Consolas" panose="020B0609020204030204" pitchFamily="49" charset="0"/>
              </a:rPr>
              <a:t>int</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main</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p>
          <a:p>
            <a:r>
              <a:rPr lang="de-DE" sz="1100" dirty="0">
                <a:solidFill>
                  <a:srgbClr val="000000"/>
                </a:solidFill>
                <a:latin typeface="Consolas" panose="020B0609020204030204" pitchFamily="49" charset="0"/>
              </a:rPr>
              <a:t>    </a:t>
            </a:r>
            <a:r>
              <a:rPr lang="de-DE" sz="1100" dirty="0">
                <a:solidFill>
                  <a:srgbClr val="0000FF"/>
                </a:solidFill>
                <a:latin typeface="Consolas" panose="020B0609020204030204" pitchFamily="49" charset="0"/>
              </a:rPr>
              <a:t>int</a:t>
            </a:r>
            <a:r>
              <a:rPr lang="de-DE" sz="1100" dirty="0">
                <a:solidFill>
                  <a:srgbClr val="000000"/>
                </a:solidFill>
                <a:latin typeface="Consolas" panose="020B0609020204030204" pitchFamily="49" charset="0"/>
              </a:rPr>
              <a:t> </a:t>
            </a:r>
            <a:r>
              <a:rPr lang="de-DE" sz="1100" dirty="0" err="1">
                <a:solidFill>
                  <a:srgbClr val="000000"/>
                </a:solidFill>
                <a:latin typeface="Consolas" panose="020B0609020204030204" pitchFamily="49" charset="0"/>
              </a:rPr>
              <a:t>nums</a:t>
            </a:r>
            <a:r>
              <a:rPr lang="de-DE" sz="1100" dirty="0">
                <a:solidFill>
                  <a:srgbClr val="000000"/>
                </a:solidFill>
                <a:latin typeface="Consolas" panose="020B0609020204030204" pitchFamily="49" charset="0"/>
              </a:rPr>
              <a:t>[]{ 3, 0, 6, -2, -6, 11, 3 };</a:t>
            </a:r>
          </a:p>
          <a:p>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sort</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nums</a:t>
            </a:r>
            <a:r>
              <a:rPr lang="de-CH" sz="1100" dirty="0">
                <a:solidFill>
                  <a:srgbClr val="000000"/>
                </a:solidFill>
                <a:latin typeface="Consolas" panose="020B0609020204030204" pitchFamily="49" charset="0"/>
              </a:rPr>
              <a:t>, 0, </a:t>
            </a:r>
            <a:r>
              <a:rPr lang="de-CH" sz="1100" dirty="0" err="1">
                <a:solidFill>
                  <a:srgbClr val="000000"/>
                </a:solidFill>
                <a:latin typeface="Consolas" panose="020B0609020204030204" pitchFamily="49" charset="0"/>
              </a:rPr>
              <a:t>std</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size</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nums</a:t>
            </a:r>
            <a:r>
              <a:rPr lang="de-CH" sz="1100" dirty="0">
                <a:solidFill>
                  <a:srgbClr val="000000"/>
                </a:solidFill>
                <a:latin typeface="Consolas" panose="020B0609020204030204" pitchFamily="49" charset="0"/>
              </a:rPr>
              <a:t>) - 1);</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for</a:t>
            </a:r>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auto</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num</a:t>
            </a:r>
            <a:r>
              <a:rPr lang="de-CH" sz="1100" dirty="0">
                <a:solidFill>
                  <a:srgbClr val="000000"/>
                </a:solidFill>
                <a:latin typeface="Consolas" panose="020B0609020204030204" pitchFamily="49" charset="0"/>
              </a:rPr>
              <a:t> : </a:t>
            </a:r>
            <a:r>
              <a:rPr lang="de-CH" sz="1100" dirty="0" err="1">
                <a:solidFill>
                  <a:srgbClr val="000000"/>
                </a:solidFill>
                <a:latin typeface="Consolas" panose="020B0609020204030204" pitchFamily="49" charset="0"/>
              </a:rPr>
              <a:t>nums</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std</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cout</a:t>
            </a:r>
            <a:r>
              <a:rPr lang="de-CH" sz="1100" dirty="0">
                <a:solidFill>
                  <a:srgbClr val="000000"/>
                </a:solidFill>
                <a:latin typeface="Consolas" panose="020B0609020204030204" pitchFamily="49" charset="0"/>
              </a:rPr>
              <a:t> </a:t>
            </a:r>
            <a:r>
              <a:rPr lang="de-CH" sz="1100" dirty="0">
                <a:solidFill>
                  <a:srgbClr val="008080"/>
                </a:solidFill>
                <a:latin typeface="Consolas" panose="020B0609020204030204" pitchFamily="49" charset="0"/>
              </a:rPr>
              <a:t>&lt;&lt;</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num</a:t>
            </a:r>
            <a:r>
              <a:rPr lang="de-CH" sz="1100" dirty="0">
                <a:solidFill>
                  <a:srgbClr val="000000"/>
                </a:solidFill>
                <a:latin typeface="Consolas" panose="020B0609020204030204" pitchFamily="49" charset="0"/>
              </a:rPr>
              <a:t> </a:t>
            </a:r>
            <a:r>
              <a:rPr lang="de-CH" sz="1100" dirty="0">
                <a:solidFill>
                  <a:srgbClr val="008080"/>
                </a:solidFill>
                <a:latin typeface="Consolas" panose="020B0609020204030204" pitchFamily="49" charset="0"/>
              </a:rPr>
              <a:t>&lt;&lt;</a:t>
            </a:r>
            <a:r>
              <a:rPr lang="de-CH" sz="1100" dirty="0">
                <a:solidFill>
                  <a:srgbClr val="000000"/>
                </a:solidFill>
                <a:latin typeface="Consolas" panose="020B0609020204030204" pitchFamily="49" charset="0"/>
              </a:rPr>
              <a:t> </a:t>
            </a:r>
            <a:r>
              <a:rPr lang="de-CH" sz="1100" dirty="0">
                <a:solidFill>
                  <a:srgbClr val="A31515"/>
                </a:solidFill>
                <a:latin typeface="Consolas" panose="020B0609020204030204" pitchFamily="49" charset="0"/>
              </a:rPr>
              <a:t>"\t"</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std</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cout</a:t>
            </a:r>
            <a:r>
              <a:rPr lang="de-CH" sz="1100" dirty="0">
                <a:solidFill>
                  <a:srgbClr val="000000"/>
                </a:solidFill>
                <a:latin typeface="Consolas" panose="020B0609020204030204" pitchFamily="49" charset="0"/>
              </a:rPr>
              <a:t> </a:t>
            </a:r>
            <a:r>
              <a:rPr lang="de-CH" sz="1100" dirty="0">
                <a:solidFill>
                  <a:srgbClr val="008080"/>
                </a:solidFill>
                <a:latin typeface="Consolas" panose="020B0609020204030204" pitchFamily="49" charset="0"/>
              </a:rPr>
              <a:t>&lt;&lt;</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std</a:t>
            </a:r>
            <a:r>
              <a:rPr lang="de-CH" sz="1100" dirty="0">
                <a:solidFill>
                  <a:srgbClr val="000000"/>
                </a:solidFill>
                <a:latin typeface="Consolas" panose="020B0609020204030204" pitchFamily="49" charset="0"/>
              </a:rPr>
              <a:t>::</a:t>
            </a:r>
            <a:r>
              <a:rPr lang="de-CH" sz="1100" dirty="0" err="1">
                <a:solidFill>
                  <a:srgbClr val="000000"/>
                </a:solidFill>
                <a:latin typeface="Consolas" panose="020B0609020204030204" pitchFamily="49" charset="0"/>
              </a:rPr>
              <a:t>endl</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p>
          <a:p>
            <a:endParaRPr lang="ru-RU" sz="1100" dirty="0">
              <a:solidFill>
                <a:srgbClr val="000000"/>
              </a:solidFill>
              <a:latin typeface="Consolas" panose="020B0609020204030204" pitchFamily="49" charset="0"/>
            </a:endParaRPr>
          </a:p>
          <a:p>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sort(</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 </a:t>
            </a:r>
            <a:r>
              <a:rPr lang="en-US" sz="1100" dirty="0" err="1">
                <a:solidFill>
                  <a:srgbClr val="2B91AF"/>
                </a:solidFill>
                <a:latin typeface="Consolas" panose="020B0609020204030204" pitchFamily="49" charset="0"/>
              </a:rPr>
              <a:t>size_t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start</a:t>
            </a:r>
            <a:r>
              <a:rPr lang="en-US" sz="1100" dirty="0">
                <a:solidFill>
                  <a:srgbClr val="000000"/>
                </a:solidFill>
                <a:latin typeface="Consolas" panose="020B0609020204030204" pitchFamily="49" charset="0"/>
              </a:rPr>
              <a:t>, </a:t>
            </a:r>
            <a:r>
              <a:rPr lang="en-US" sz="1100" dirty="0" err="1">
                <a:solidFill>
                  <a:srgbClr val="2B91AF"/>
                </a:solidFill>
                <a:latin typeface="Consolas" panose="020B0609020204030204" pitchFamily="49" charset="0"/>
              </a:rPr>
              <a:t>size_t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end</a:t>
            </a:r>
            <a:r>
              <a:rPr lang="en-US"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r>
              <a:rPr lang="ru-RU" sz="1100" dirty="0">
                <a:solidFill>
                  <a:srgbClr val="008000"/>
                </a:solidFill>
                <a:latin typeface="Consolas" panose="020B0609020204030204" pitchFamily="49" charset="0"/>
              </a:rPr>
              <a:t>// начальный индекс должен быть меньше конечного индекса для массива из 2 и более элементов</a:t>
            </a:r>
            <a:endParaRPr lang="ru-RU" sz="1100" dirty="0">
              <a:solidFill>
                <a:srgbClr val="000000"/>
              </a:solidFill>
              <a:latin typeface="Consolas" panose="020B0609020204030204" pitchFamily="49" charset="0"/>
            </a:endParaRP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if</a:t>
            </a:r>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start</a:t>
            </a:r>
            <a:r>
              <a:rPr lang="de-CH" sz="1100" dirty="0">
                <a:solidFill>
                  <a:srgbClr val="000000"/>
                </a:solidFill>
                <a:latin typeface="Consolas" panose="020B0609020204030204" pitchFamily="49" charset="0"/>
              </a:rPr>
              <a:t> &gt;= </a:t>
            </a:r>
            <a:r>
              <a:rPr lang="de-CH" sz="1100" dirty="0">
                <a:solidFill>
                  <a:srgbClr val="808080"/>
                </a:solidFill>
                <a:latin typeface="Consolas" panose="020B0609020204030204" pitchFamily="49" charset="0"/>
              </a:rPr>
              <a:t>end</a:t>
            </a:r>
            <a:r>
              <a:rPr lang="de-CH" sz="1100" dirty="0">
                <a:solidFill>
                  <a:srgbClr val="000000"/>
                </a:solidFill>
                <a:latin typeface="Consolas" panose="020B0609020204030204" pitchFamily="49" charset="0"/>
              </a:rPr>
              <a:t>)</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return</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r>
              <a:rPr lang="ru-RU" sz="1100" dirty="0">
                <a:solidFill>
                  <a:srgbClr val="008000"/>
                </a:solidFill>
                <a:latin typeface="Consolas" panose="020B0609020204030204" pitchFamily="49" charset="0"/>
              </a:rPr>
              <a:t>// проверяем все элементы относительно элемента с индексом </a:t>
            </a:r>
            <a:r>
              <a:rPr lang="ru-RU" sz="1100" dirty="0" err="1">
                <a:solidFill>
                  <a:srgbClr val="008000"/>
                </a:solidFill>
                <a:latin typeface="Consolas" panose="020B0609020204030204" pitchFamily="49" charset="0"/>
              </a:rPr>
              <a:t>start</a:t>
            </a:r>
            <a:endParaRPr lang="ru-RU" sz="1100" dirty="0">
              <a:solidFill>
                <a:srgbClr val="000000"/>
              </a:solidFill>
              <a:latin typeface="Consolas" panose="020B0609020204030204" pitchFamily="49" charset="0"/>
            </a:endParaRPr>
          </a:p>
          <a:p>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current</a:t>
            </a:r>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start</a:t>
            </a:r>
            <a:r>
              <a:rPr lang="de-CH"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for</a:t>
            </a:r>
            <a:r>
              <a:rPr lang="de-CH" sz="1100" dirty="0">
                <a:solidFill>
                  <a:srgbClr val="000000"/>
                </a:solidFill>
                <a:latin typeface="Consolas" panose="020B0609020204030204" pitchFamily="49" charset="0"/>
              </a:rPr>
              <a:t> (</a:t>
            </a:r>
            <a:r>
              <a:rPr lang="de-CH" sz="1100" dirty="0" err="1">
                <a:solidFill>
                  <a:srgbClr val="2B91AF"/>
                </a:solidFill>
                <a:latin typeface="Consolas" panose="020B0609020204030204" pitchFamily="49" charset="0"/>
              </a:rPr>
              <a:t>size_t</a:t>
            </a:r>
            <a:r>
              <a:rPr lang="de-CH" sz="1100" dirty="0">
                <a:solidFill>
                  <a:srgbClr val="000000"/>
                </a:solidFill>
                <a:latin typeface="Consolas" panose="020B0609020204030204" pitchFamily="49" charset="0"/>
              </a:rPr>
              <a:t> i{ </a:t>
            </a:r>
            <a:r>
              <a:rPr lang="de-CH" sz="1100" dirty="0" err="1">
                <a:solidFill>
                  <a:srgbClr val="808080"/>
                </a:solidFill>
                <a:latin typeface="Consolas" panose="020B0609020204030204" pitchFamily="49" charset="0"/>
              </a:rPr>
              <a:t>start</a:t>
            </a:r>
            <a:r>
              <a:rPr lang="de-CH" sz="1100" dirty="0">
                <a:solidFill>
                  <a:srgbClr val="000000"/>
                </a:solidFill>
                <a:latin typeface="Consolas" panose="020B0609020204030204" pitchFamily="49" charset="0"/>
              </a:rPr>
              <a:t> + 1 }; i &lt;= </a:t>
            </a:r>
            <a:r>
              <a:rPr lang="de-CH" sz="1100" dirty="0">
                <a:solidFill>
                  <a:srgbClr val="808080"/>
                </a:solidFill>
                <a:latin typeface="Consolas" panose="020B0609020204030204" pitchFamily="49" charset="0"/>
              </a:rPr>
              <a:t>end</a:t>
            </a:r>
            <a:r>
              <a:rPr lang="de-CH" sz="1100" dirty="0">
                <a:solidFill>
                  <a:srgbClr val="000000"/>
                </a:solidFill>
                <a:latin typeface="Consolas" panose="020B0609020204030204" pitchFamily="49" charset="0"/>
              </a:rPr>
              <a:t>; i++)</a:t>
            </a: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        </a:t>
            </a:r>
            <a:r>
              <a:rPr lang="ru-RU" sz="1100" dirty="0">
                <a:solidFill>
                  <a:srgbClr val="008000"/>
                </a:solidFill>
                <a:latin typeface="Consolas" panose="020B0609020204030204" pitchFamily="49" charset="0"/>
              </a:rPr>
              <a:t>// если i-</a:t>
            </a:r>
            <a:r>
              <a:rPr lang="ru-RU" sz="1100" dirty="0" err="1">
                <a:solidFill>
                  <a:srgbClr val="008000"/>
                </a:solidFill>
                <a:latin typeface="Consolas" panose="020B0609020204030204" pitchFamily="49" charset="0"/>
              </a:rPr>
              <a:t>ый</a:t>
            </a:r>
            <a:r>
              <a:rPr lang="ru-RU" sz="1100" dirty="0">
                <a:solidFill>
                  <a:srgbClr val="008000"/>
                </a:solidFill>
                <a:latin typeface="Consolas" panose="020B0609020204030204" pitchFamily="49" charset="0"/>
              </a:rPr>
              <a:t> элемент меньше начального</a:t>
            </a:r>
            <a:endParaRPr lang="ru-RU"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if</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a:t>
            </a:r>
            <a:r>
              <a:rPr lang="en-US" sz="1100" dirty="0" err="1">
                <a:solidFill>
                  <a:srgbClr val="000000"/>
                </a:solidFill>
                <a:latin typeface="Consolas" panose="020B0609020204030204" pitchFamily="49" charset="0"/>
              </a:rPr>
              <a:t>i</a:t>
            </a:r>
            <a:r>
              <a:rPr lang="en-US" sz="1100" dirty="0">
                <a:solidFill>
                  <a:srgbClr val="000000"/>
                </a:solidFill>
                <a:latin typeface="Consolas" panose="020B0609020204030204" pitchFamily="49" charset="0"/>
              </a:rPr>
              <a:t>] &lt; </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a:t>
            </a:r>
            <a:r>
              <a:rPr lang="en-US" sz="1100" dirty="0">
                <a:solidFill>
                  <a:srgbClr val="808080"/>
                </a:solidFill>
                <a:latin typeface="Consolas" panose="020B0609020204030204" pitchFamily="49" charset="0"/>
              </a:rPr>
              <a:t>start</a:t>
            </a:r>
            <a:r>
              <a:rPr lang="en-US"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            </a:t>
            </a:r>
            <a:r>
              <a:rPr lang="ru-RU" sz="1100" dirty="0" err="1">
                <a:solidFill>
                  <a:srgbClr val="000000"/>
                </a:solidFill>
                <a:latin typeface="Consolas" panose="020B0609020204030204" pitchFamily="49" charset="0"/>
              </a:rPr>
              <a:t>swap</a:t>
            </a:r>
            <a:r>
              <a:rPr lang="ru-RU" sz="1100" dirty="0">
                <a:solidFill>
                  <a:srgbClr val="000000"/>
                </a:solidFill>
                <a:latin typeface="Consolas" panose="020B0609020204030204" pitchFamily="49" charset="0"/>
              </a:rPr>
              <a:t>(</a:t>
            </a:r>
            <a:r>
              <a:rPr lang="ru-RU" sz="1100" dirty="0" err="1">
                <a:solidFill>
                  <a:srgbClr val="808080"/>
                </a:solidFill>
                <a:latin typeface="Consolas" panose="020B0609020204030204" pitchFamily="49" charset="0"/>
              </a:rPr>
              <a:t>numbers</a:t>
            </a:r>
            <a:r>
              <a:rPr lang="ru-RU" sz="1100" dirty="0">
                <a:solidFill>
                  <a:srgbClr val="000000"/>
                </a:solidFill>
                <a:latin typeface="Consolas" panose="020B0609020204030204" pitchFamily="49" charset="0"/>
              </a:rPr>
              <a:t>, ++</a:t>
            </a:r>
            <a:r>
              <a:rPr lang="ru-RU" sz="1100" dirty="0" err="1">
                <a:solidFill>
                  <a:srgbClr val="000000"/>
                </a:solidFill>
                <a:latin typeface="Consolas" panose="020B0609020204030204" pitchFamily="49" charset="0"/>
              </a:rPr>
              <a:t>current</a:t>
            </a:r>
            <a:r>
              <a:rPr lang="ru-RU" sz="1100" dirty="0">
                <a:solidFill>
                  <a:srgbClr val="000000"/>
                </a:solidFill>
                <a:latin typeface="Consolas" panose="020B0609020204030204" pitchFamily="49" charset="0"/>
              </a:rPr>
              <a:t>, i); </a:t>
            </a:r>
            <a:r>
              <a:rPr lang="ru-RU" sz="1100" dirty="0">
                <a:solidFill>
                  <a:srgbClr val="008000"/>
                </a:solidFill>
                <a:latin typeface="Consolas" panose="020B0609020204030204" pitchFamily="49" charset="0"/>
              </a:rPr>
              <a:t>// меняем его с левым</a:t>
            </a:r>
            <a:endParaRPr lang="ru-RU" sz="1100" dirty="0">
              <a:solidFill>
                <a:srgbClr val="000000"/>
              </a:solidFill>
              <a:latin typeface="Consolas" panose="020B0609020204030204" pitchFamily="49" charset="0"/>
            </a:endParaRP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    </a:t>
            </a:r>
            <a:r>
              <a:rPr lang="ru-RU" sz="1100" dirty="0" err="1">
                <a:solidFill>
                  <a:srgbClr val="000000"/>
                </a:solidFill>
                <a:latin typeface="Consolas" panose="020B0609020204030204" pitchFamily="49" charset="0"/>
              </a:rPr>
              <a:t>swap</a:t>
            </a:r>
            <a:r>
              <a:rPr lang="ru-RU" sz="1100" dirty="0">
                <a:solidFill>
                  <a:srgbClr val="000000"/>
                </a:solidFill>
                <a:latin typeface="Consolas" panose="020B0609020204030204" pitchFamily="49" charset="0"/>
              </a:rPr>
              <a:t>(</a:t>
            </a:r>
            <a:r>
              <a:rPr lang="ru-RU" sz="1100" dirty="0" err="1">
                <a:solidFill>
                  <a:srgbClr val="808080"/>
                </a:solidFill>
                <a:latin typeface="Consolas" panose="020B0609020204030204" pitchFamily="49" charset="0"/>
              </a:rPr>
              <a:t>numbers</a:t>
            </a:r>
            <a:r>
              <a:rPr lang="ru-RU" sz="1100" dirty="0">
                <a:solidFill>
                  <a:srgbClr val="000000"/>
                </a:solidFill>
                <a:latin typeface="Consolas" panose="020B0609020204030204" pitchFamily="49" charset="0"/>
              </a:rPr>
              <a:t>, </a:t>
            </a:r>
            <a:r>
              <a:rPr lang="ru-RU" sz="1100" dirty="0" err="1">
                <a:solidFill>
                  <a:srgbClr val="808080"/>
                </a:solidFill>
                <a:latin typeface="Consolas" panose="020B0609020204030204" pitchFamily="49" charset="0"/>
              </a:rPr>
              <a:t>start</a:t>
            </a:r>
            <a:r>
              <a:rPr lang="ru-RU" sz="1100" dirty="0">
                <a:solidFill>
                  <a:srgbClr val="000000"/>
                </a:solidFill>
                <a:latin typeface="Consolas" panose="020B0609020204030204" pitchFamily="49" charset="0"/>
              </a:rPr>
              <a:t>, </a:t>
            </a:r>
            <a:r>
              <a:rPr lang="ru-RU" sz="1100" dirty="0" err="1">
                <a:solidFill>
                  <a:srgbClr val="000000"/>
                </a:solidFill>
                <a:latin typeface="Consolas" panose="020B0609020204030204" pitchFamily="49" charset="0"/>
              </a:rPr>
              <a:t>current</a:t>
            </a:r>
            <a:r>
              <a:rPr lang="ru-RU" sz="1100" dirty="0">
                <a:solidFill>
                  <a:srgbClr val="000000"/>
                </a:solidFill>
                <a:latin typeface="Consolas" panose="020B0609020204030204" pitchFamily="49" charset="0"/>
              </a:rPr>
              <a:t>); </a:t>
            </a:r>
            <a:r>
              <a:rPr lang="ru-RU" sz="1100" dirty="0">
                <a:solidFill>
                  <a:srgbClr val="008000"/>
                </a:solidFill>
                <a:latin typeface="Consolas" panose="020B0609020204030204" pitchFamily="49" charset="0"/>
              </a:rPr>
              <a:t>// Меняем выбранный (</a:t>
            </a:r>
            <a:r>
              <a:rPr lang="ru-RU" sz="1100" dirty="0" err="1">
                <a:solidFill>
                  <a:srgbClr val="008000"/>
                </a:solidFill>
                <a:latin typeface="Consolas" panose="020B0609020204030204" pitchFamily="49" charset="0"/>
              </a:rPr>
              <a:t>start</a:t>
            </a:r>
            <a:r>
              <a:rPr lang="ru-RU" sz="1100" dirty="0">
                <a:solidFill>
                  <a:srgbClr val="008000"/>
                </a:solidFill>
                <a:latin typeface="Consolas" panose="020B0609020204030204" pitchFamily="49" charset="0"/>
              </a:rPr>
              <a:t>) и последний обмененный элементы</a:t>
            </a:r>
            <a:endParaRPr lang="ru-RU" sz="1100" dirty="0">
              <a:solidFill>
                <a:srgbClr val="000000"/>
              </a:solidFill>
              <a:latin typeface="Consolas" panose="020B0609020204030204" pitchFamily="49" charset="0"/>
            </a:endParaRP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if</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current</a:t>
            </a:r>
            <a:r>
              <a:rPr lang="de-CH" sz="1100" dirty="0">
                <a:solidFill>
                  <a:srgbClr val="000000"/>
                </a:solidFill>
                <a:latin typeface="Consolas" panose="020B0609020204030204" pitchFamily="49" charset="0"/>
              </a:rPr>
              <a:t> &gt; </a:t>
            </a:r>
            <a:r>
              <a:rPr lang="de-CH" sz="1100" dirty="0" err="1">
                <a:solidFill>
                  <a:srgbClr val="808080"/>
                </a:solidFill>
                <a:latin typeface="Consolas" panose="020B0609020204030204" pitchFamily="49" charset="0"/>
              </a:rPr>
              <a:t>start</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    {</a:t>
            </a:r>
          </a:p>
          <a:p>
            <a:r>
              <a:rPr lang="en-US" sz="1100" dirty="0">
                <a:solidFill>
                  <a:srgbClr val="000000"/>
                </a:solidFill>
                <a:latin typeface="Consolas" panose="020B0609020204030204" pitchFamily="49" charset="0"/>
              </a:rPr>
              <a:t>        sort(</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start</a:t>
            </a:r>
            <a:r>
              <a:rPr lang="en-US" sz="1100" dirty="0">
                <a:solidFill>
                  <a:srgbClr val="000000"/>
                </a:solidFill>
                <a:latin typeface="Consolas" panose="020B0609020204030204" pitchFamily="49" charset="0"/>
              </a:rPr>
              <a:t>, current - 1); </a:t>
            </a:r>
            <a:r>
              <a:rPr lang="en-US" sz="1100" dirty="0">
                <a:solidFill>
                  <a:srgbClr val="008000"/>
                </a:solidFill>
                <a:latin typeface="Consolas" panose="020B0609020204030204" pitchFamily="49" charset="0"/>
              </a:rPr>
              <a:t>// </a:t>
            </a:r>
            <a:r>
              <a:rPr lang="en-US" sz="1100" dirty="0" err="1">
                <a:solidFill>
                  <a:srgbClr val="008000"/>
                </a:solidFill>
                <a:latin typeface="Consolas" panose="020B0609020204030204" pitchFamily="49" charset="0"/>
              </a:rPr>
              <a:t>Сортируем</a:t>
            </a:r>
            <a:r>
              <a:rPr lang="en-US" sz="1100" dirty="0">
                <a:solidFill>
                  <a:srgbClr val="008000"/>
                </a:solidFill>
                <a:latin typeface="Consolas" panose="020B0609020204030204" pitchFamily="49" charset="0"/>
              </a:rPr>
              <a:t> </a:t>
            </a:r>
            <a:r>
              <a:rPr lang="en-US" sz="1100" dirty="0" err="1">
                <a:solidFill>
                  <a:srgbClr val="008000"/>
                </a:solidFill>
                <a:latin typeface="Consolas" panose="020B0609020204030204" pitchFamily="49" charset="0"/>
              </a:rPr>
              <a:t>элементы</a:t>
            </a:r>
            <a:r>
              <a:rPr lang="en-US" sz="1100" dirty="0">
                <a:solidFill>
                  <a:srgbClr val="008000"/>
                </a:solidFill>
                <a:latin typeface="Consolas" panose="020B0609020204030204" pitchFamily="49" charset="0"/>
              </a:rPr>
              <a:t> </a:t>
            </a:r>
            <a:r>
              <a:rPr lang="en-US" sz="1100" dirty="0" err="1">
                <a:solidFill>
                  <a:srgbClr val="008000"/>
                </a:solidFill>
                <a:latin typeface="Consolas" panose="020B0609020204030204" pitchFamily="49" charset="0"/>
              </a:rPr>
              <a:t>слева</a:t>
            </a:r>
            <a:endParaRPr lang="en-US" sz="1100" dirty="0">
              <a:solidFill>
                <a:srgbClr val="000000"/>
              </a:solidFill>
              <a:latin typeface="Consolas" panose="020B0609020204030204" pitchFamily="49" charset="0"/>
            </a:endParaRPr>
          </a:p>
          <a:p>
            <a:r>
              <a:rPr lang="ru-RU"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if</a:t>
            </a:r>
            <a:r>
              <a:rPr lang="de-CH" sz="1100" dirty="0">
                <a:solidFill>
                  <a:srgbClr val="000000"/>
                </a:solidFill>
                <a:latin typeface="Consolas" panose="020B0609020204030204" pitchFamily="49" charset="0"/>
              </a:rPr>
              <a:t> (</a:t>
            </a:r>
            <a:r>
              <a:rPr lang="de-CH" sz="1100" dirty="0">
                <a:solidFill>
                  <a:srgbClr val="808080"/>
                </a:solidFill>
                <a:latin typeface="Consolas" panose="020B0609020204030204" pitchFamily="49" charset="0"/>
              </a:rPr>
              <a:t>end</a:t>
            </a:r>
            <a:r>
              <a:rPr lang="de-CH" sz="1100" dirty="0">
                <a:solidFill>
                  <a:srgbClr val="000000"/>
                </a:solidFill>
                <a:latin typeface="Consolas" panose="020B0609020204030204" pitchFamily="49" charset="0"/>
              </a:rPr>
              <a:t> &gt; </a:t>
            </a:r>
            <a:r>
              <a:rPr lang="de-CH" sz="1100" dirty="0" err="1">
                <a:solidFill>
                  <a:srgbClr val="000000"/>
                </a:solidFill>
                <a:latin typeface="Consolas" panose="020B0609020204030204" pitchFamily="49" charset="0"/>
              </a:rPr>
              <a:t>current</a:t>
            </a:r>
            <a:r>
              <a:rPr lang="de-CH" sz="1100" dirty="0">
                <a:solidFill>
                  <a:srgbClr val="000000"/>
                </a:solidFill>
                <a:latin typeface="Consolas" panose="020B0609020204030204" pitchFamily="49" charset="0"/>
              </a:rPr>
              <a:t> + 1)</a:t>
            </a:r>
          </a:p>
          <a:p>
            <a:r>
              <a:rPr lang="ru-RU"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sort</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current</a:t>
            </a:r>
            <a:r>
              <a:rPr lang="de-CH" sz="1100" dirty="0">
                <a:solidFill>
                  <a:srgbClr val="000000"/>
                </a:solidFill>
                <a:latin typeface="Consolas" panose="020B0609020204030204" pitchFamily="49" charset="0"/>
              </a:rPr>
              <a:t> + 1, </a:t>
            </a:r>
            <a:r>
              <a:rPr lang="de-CH" sz="1100" dirty="0">
                <a:solidFill>
                  <a:srgbClr val="808080"/>
                </a:solidFill>
                <a:latin typeface="Consolas" panose="020B0609020204030204" pitchFamily="49" charset="0"/>
              </a:rPr>
              <a:t>end</a:t>
            </a:r>
            <a:r>
              <a:rPr lang="de-CH" sz="1100" dirty="0">
                <a:solidFill>
                  <a:srgbClr val="000000"/>
                </a:solidFill>
                <a:latin typeface="Consolas" panose="020B0609020204030204" pitchFamily="49" charset="0"/>
              </a:rPr>
              <a:t>); </a:t>
            </a:r>
            <a:r>
              <a:rPr lang="de-CH" sz="1100" dirty="0">
                <a:solidFill>
                  <a:srgbClr val="008000"/>
                </a:solidFill>
                <a:latin typeface="Consolas" panose="020B0609020204030204" pitchFamily="49" charset="0"/>
              </a:rPr>
              <a:t>// </a:t>
            </a:r>
            <a:r>
              <a:rPr lang="ru-RU" sz="1100" dirty="0">
                <a:solidFill>
                  <a:srgbClr val="008000"/>
                </a:solidFill>
                <a:latin typeface="Consolas" panose="020B0609020204030204" pitchFamily="49" charset="0"/>
              </a:rPr>
              <a:t>Сортируем элементы справа</a:t>
            </a:r>
            <a:endParaRPr lang="ru-RU" sz="1100" dirty="0">
              <a:solidFill>
                <a:srgbClr val="000000"/>
              </a:solidFill>
              <a:latin typeface="Consolas" panose="020B0609020204030204" pitchFamily="49" charset="0"/>
            </a:endParaRPr>
          </a:p>
          <a:p>
            <a:r>
              <a:rPr lang="ru-RU" sz="1100" dirty="0">
                <a:solidFill>
                  <a:srgbClr val="000000"/>
                </a:solidFill>
                <a:latin typeface="Consolas" panose="020B0609020204030204" pitchFamily="49" charset="0"/>
              </a:rPr>
              <a:t>    }</a:t>
            </a:r>
          </a:p>
          <a:p>
            <a:r>
              <a:rPr lang="ru-RU" sz="1100" dirty="0">
                <a:solidFill>
                  <a:srgbClr val="000000"/>
                </a:solidFill>
                <a:latin typeface="Consolas" panose="020B0609020204030204" pitchFamily="49" charset="0"/>
              </a:rPr>
              <a:t>}</a:t>
            </a:r>
          </a:p>
          <a:p>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swap(</a:t>
            </a:r>
            <a:r>
              <a:rPr lang="en-US" sz="1100" dirty="0">
                <a:solidFill>
                  <a:srgbClr val="0000FF"/>
                </a:solidFill>
                <a:latin typeface="Consolas" panose="020B0609020204030204" pitchFamily="49" charset="0"/>
              </a:rPr>
              <a:t>int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numbers</a:t>
            </a:r>
            <a:r>
              <a:rPr lang="en-US" sz="1100" dirty="0">
                <a:solidFill>
                  <a:srgbClr val="000000"/>
                </a:solidFill>
                <a:latin typeface="Consolas" panose="020B0609020204030204" pitchFamily="49" charset="0"/>
              </a:rPr>
              <a:t>[], </a:t>
            </a:r>
            <a:r>
              <a:rPr lang="en-US" sz="1100" dirty="0" err="1">
                <a:solidFill>
                  <a:srgbClr val="2B91AF"/>
                </a:solidFill>
                <a:latin typeface="Consolas" panose="020B0609020204030204" pitchFamily="49" charset="0"/>
              </a:rPr>
              <a:t>size_t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first</a:t>
            </a:r>
            <a:r>
              <a:rPr lang="en-US" sz="1100" dirty="0">
                <a:solidFill>
                  <a:srgbClr val="000000"/>
                </a:solidFill>
                <a:latin typeface="Consolas" panose="020B0609020204030204" pitchFamily="49" charset="0"/>
              </a:rPr>
              <a:t>, </a:t>
            </a:r>
            <a:r>
              <a:rPr lang="en-US" sz="1100" dirty="0" err="1">
                <a:solidFill>
                  <a:srgbClr val="2B91AF"/>
                </a:solidFill>
                <a:latin typeface="Consolas" panose="020B0609020204030204" pitchFamily="49" charset="0"/>
              </a:rPr>
              <a:t>size_t</a:t>
            </a:r>
            <a:r>
              <a:rPr lang="en-US" sz="1100" dirty="0">
                <a:solidFill>
                  <a:srgbClr val="000000"/>
                </a:solidFill>
                <a:latin typeface="Consolas" panose="020B0609020204030204" pitchFamily="49" charset="0"/>
              </a:rPr>
              <a:t> </a:t>
            </a:r>
            <a:r>
              <a:rPr lang="en-US" sz="1100" dirty="0">
                <a:solidFill>
                  <a:srgbClr val="808080"/>
                </a:solidFill>
                <a:latin typeface="Consolas" panose="020B0609020204030204" pitchFamily="49" charset="0"/>
              </a:rPr>
              <a:t>second</a:t>
            </a:r>
            <a:r>
              <a:rPr lang="en-US"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p>
          <a:p>
            <a:r>
              <a:rPr lang="de-CH" sz="1100" dirty="0">
                <a:solidFill>
                  <a:srgbClr val="000000"/>
                </a:solidFill>
                <a:latin typeface="Consolas" panose="020B0609020204030204" pitchFamily="49" charset="0"/>
              </a:rPr>
              <a:t>    </a:t>
            </a:r>
            <a:r>
              <a:rPr lang="de-CH" sz="1100" dirty="0" err="1">
                <a:solidFill>
                  <a:srgbClr val="0000FF"/>
                </a:solidFill>
                <a:latin typeface="Consolas" panose="020B0609020204030204" pitchFamily="49" charset="0"/>
              </a:rPr>
              <a:t>auto</a:t>
            </a:r>
            <a:r>
              <a:rPr lang="de-CH" sz="1100" dirty="0">
                <a:solidFill>
                  <a:srgbClr val="000000"/>
                </a:solidFill>
                <a:latin typeface="Consolas" panose="020B0609020204030204" pitchFamily="49" charset="0"/>
              </a:rPr>
              <a:t> </a:t>
            </a:r>
            <a:r>
              <a:rPr lang="de-CH" sz="1100" dirty="0" err="1">
                <a:solidFill>
                  <a:srgbClr val="000000"/>
                </a:solidFill>
                <a:latin typeface="Consolas" panose="020B0609020204030204" pitchFamily="49" charset="0"/>
              </a:rPr>
              <a:t>temp</a:t>
            </a:r>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first</a:t>
            </a:r>
            <a:r>
              <a:rPr lang="de-CH" sz="1100" dirty="0">
                <a:solidFill>
                  <a:srgbClr val="000000"/>
                </a:solidFill>
                <a:latin typeface="Consolas" panose="020B0609020204030204" pitchFamily="49" charset="0"/>
              </a:rPr>
              <a:t>] };</a:t>
            </a:r>
          </a:p>
          <a:p>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first</a:t>
            </a:r>
            <a:r>
              <a:rPr lang="de-CH" sz="1100" dirty="0">
                <a:solidFill>
                  <a:srgbClr val="000000"/>
                </a:solidFill>
                <a:latin typeface="Consolas" panose="020B0609020204030204" pitchFamily="49" charset="0"/>
              </a:rPr>
              <a:t>] = </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second</a:t>
            </a:r>
            <a:r>
              <a:rPr lang="de-CH" sz="1100" dirty="0">
                <a:solidFill>
                  <a:srgbClr val="000000"/>
                </a:solidFill>
                <a:latin typeface="Consolas" panose="020B0609020204030204" pitchFamily="49" charset="0"/>
              </a:rPr>
              <a:t>];</a:t>
            </a:r>
          </a:p>
          <a:p>
            <a:r>
              <a:rPr lang="de-CH" sz="1100" dirty="0">
                <a:solidFill>
                  <a:srgbClr val="000000"/>
                </a:solidFill>
                <a:latin typeface="Consolas" panose="020B0609020204030204" pitchFamily="49" charset="0"/>
              </a:rPr>
              <a:t>    </a:t>
            </a:r>
            <a:r>
              <a:rPr lang="de-CH" sz="1100" dirty="0" err="1">
                <a:solidFill>
                  <a:srgbClr val="808080"/>
                </a:solidFill>
                <a:latin typeface="Consolas" panose="020B0609020204030204" pitchFamily="49" charset="0"/>
              </a:rPr>
              <a:t>numbers</a:t>
            </a:r>
            <a:r>
              <a:rPr lang="de-CH" sz="1100" dirty="0">
                <a:solidFill>
                  <a:srgbClr val="000000"/>
                </a:solidFill>
                <a:latin typeface="Consolas" panose="020B0609020204030204" pitchFamily="49" charset="0"/>
              </a:rPr>
              <a:t>[</a:t>
            </a:r>
            <a:r>
              <a:rPr lang="de-CH" sz="1100" dirty="0" err="1">
                <a:solidFill>
                  <a:srgbClr val="808080"/>
                </a:solidFill>
                <a:latin typeface="Consolas" panose="020B0609020204030204" pitchFamily="49" charset="0"/>
              </a:rPr>
              <a:t>second</a:t>
            </a:r>
            <a:r>
              <a:rPr lang="de-CH" sz="1100" dirty="0">
                <a:solidFill>
                  <a:srgbClr val="000000"/>
                </a:solidFill>
                <a:latin typeface="Consolas" panose="020B0609020204030204" pitchFamily="49" charset="0"/>
              </a:rPr>
              <a:t>] = </a:t>
            </a:r>
            <a:r>
              <a:rPr lang="de-CH" sz="1100" dirty="0" err="1">
                <a:solidFill>
                  <a:srgbClr val="000000"/>
                </a:solidFill>
                <a:latin typeface="Consolas" panose="020B0609020204030204" pitchFamily="49" charset="0"/>
              </a:rPr>
              <a:t>temp</a:t>
            </a:r>
            <a:r>
              <a:rPr lang="de-CH" sz="1100" dirty="0">
                <a:solidFill>
                  <a:srgbClr val="000000"/>
                </a:solidFill>
                <a:latin typeface="Consolas" panose="020B0609020204030204" pitchFamily="49" charset="0"/>
              </a:rPr>
              <a:t>;</a:t>
            </a:r>
          </a:p>
          <a:p>
            <a:r>
              <a:rPr lang="ru-RU" sz="1100" dirty="0">
                <a:solidFill>
                  <a:srgbClr val="000000"/>
                </a:solidFill>
                <a:latin typeface="Consolas" panose="020B0609020204030204" pitchFamily="49" charset="0"/>
              </a:rPr>
              <a:t>}</a:t>
            </a:r>
            <a:endParaRPr lang="ru-RU" sz="1100" dirty="0"/>
          </a:p>
        </p:txBody>
      </p:sp>
    </p:spTree>
    <p:extLst>
      <p:ext uri="{BB962C8B-B14F-4D97-AF65-F5344CB8AC3E}">
        <p14:creationId xmlns:p14="http://schemas.microsoft.com/office/powerpoint/2010/main" val="3748773250"/>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E14B52E-11BC-7970-C4D2-874622445585}"/>
              </a:ext>
            </a:extLst>
          </p:cNvPr>
          <p:cNvSpPr>
            <a:spLocks noGrp="1"/>
          </p:cNvSpPr>
          <p:nvPr>
            <p:ph type="title"/>
          </p:nvPr>
        </p:nvSpPr>
        <p:spPr/>
        <p:txBody>
          <a:bodyPr/>
          <a:lstStyle/>
          <a:p>
            <a:r>
              <a:rPr lang="ru-RU" sz="2400" b="1" dirty="0"/>
              <a:t>Указатели на функции как параметры</a:t>
            </a:r>
            <a:endParaRPr lang="ru-RU" dirty="0"/>
          </a:p>
        </p:txBody>
      </p:sp>
      <p:sp>
        <p:nvSpPr>
          <p:cNvPr id="3" name="Объект 2">
            <a:extLst>
              <a:ext uri="{FF2B5EF4-FFF2-40B4-BE49-F238E27FC236}">
                <a16:creationId xmlns:a16="http://schemas.microsoft.com/office/drawing/2014/main" id="{6DF5117D-749B-F153-17BF-F9037CD475B1}"/>
              </a:ext>
            </a:extLst>
          </p:cNvPr>
          <p:cNvSpPr>
            <a:spLocks noGrp="1"/>
          </p:cNvSpPr>
          <p:nvPr>
            <p:ph idx="1"/>
          </p:nvPr>
        </p:nvSpPr>
        <p:spPr/>
        <p:txBody>
          <a:bodyPr/>
          <a:lstStyle/>
          <a:p>
            <a:endParaRPr lang="ru-RU" dirty="0"/>
          </a:p>
          <a:p>
            <a:r>
              <a:rPr lang="ru-RU" dirty="0"/>
              <a:t>Указатель на функцию фактически представляет некоторый тип, и функция также может иметь параметр, который представляет тип указателя на функцию. </a:t>
            </a:r>
          </a:p>
          <a:p>
            <a:r>
              <a:rPr lang="ru-RU" dirty="0"/>
              <a:t>Таким образом, мы можем через параметр на функцию передавать в одну функцию другую. То есть функция может быть аргументом другой функции.</a:t>
            </a:r>
          </a:p>
          <a:p>
            <a:endParaRPr lang="ru-RU" dirty="0"/>
          </a:p>
          <a:p>
            <a:r>
              <a:rPr lang="ru-RU" dirty="0"/>
              <a:t>тип (*</a:t>
            </a:r>
            <a:r>
              <a:rPr lang="ru-RU" dirty="0" err="1"/>
              <a:t>имя_указателя</a:t>
            </a:r>
            <a:r>
              <a:rPr lang="ru-RU" dirty="0"/>
              <a:t>) (</a:t>
            </a:r>
            <a:r>
              <a:rPr lang="ru-RU" dirty="0" err="1"/>
              <a:t>типы_параметров</a:t>
            </a:r>
            <a:r>
              <a:rPr lang="ru-RU" dirty="0"/>
              <a:t>);</a:t>
            </a:r>
          </a:p>
          <a:p>
            <a:endParaRPr lang="ru-RU" dirty="0"/>
          </a:p>
          <a:p>
            <a:pPr marL="742950" lvl="1" indent="-285750">
              <a:buFont typeface="Arial" panose="020B0604020202020204" pitchFamily="34" charset="0"/>
              <a:buChar char="•"/>
            </a:pPr>
            <a:r>
              <a:rPr lang="ru-RU" dirty="0"/>
              <a:t>тип представляет тип возвращаемого функцией значения.</a:t>
            </a:r>
          </a:p>
          <a:p>
            <a:pPr marL="742950" lvl="1" indent="-285750">
              <a:buFont typeface="Arial" panose="020B0604020202020204" pitchFamily="34" charset="0"/>
              <a:buChar char="•"/>
            </a:pPr>
            <a:r>
              <a:rPr lang="ru-RU" dirty="0" err="1"/>
              <a:t>имя_указателя</a:t>
            </a:r>
            <a:r>
              <a:rPr lang="ru-RU" dirty="0"/>
              <a:t> представляет произвольно выбранный идентификатор в соответствии с правилами о наименовании переменных.</a:t>
            </a:r>
          </a:p>
          <a:p>
            <a:pPr marL="742950" lvl="1" indent="-285750">
              <a:buFont typeface="Arial" panose="020B0604020202020204" pitchFamily="34" charset="0"/>
              <a:buChar char="•"/>
            </a:pPr>
            <a:r>
              <a:rPr lang="ru-RU" dirty="0"/>
              <a:t>параметры определяют типы параметров через запятую (при их наличии).</a:t>
            </a:r>
          </a:p>
          <a:p>
            <a:endParaRPr lang="ru-RU" dirty="0"/>
          </a:p>
        </p:txBody>
      </p:sp>
    </p:spTree>
    <p:extLst>
      <p:ext uri="{BB962C8B-B14F-4D97-AF65-F5344CB8AC3E}">
        <p14:creationId xmlns:p14="http://schemas.microsoft.com/office/powerpoint/2010/main" val="2039851454"/>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85247E-9EB5-E25E-10B2-85CE29DECC99}"/>
              </a:ext>
            </a:extLst>
          </p:cNvPr>
          <p:cNvSpPr>
            <a:spLocks noGrp="1"/>
          </p:cNvSpPr>
          <p:nvPr>
            <p:ph type="title"/>
          </p:nvPr>
        </p:nvSpPr>
        <p:spPr/>
        <p:txBody>
          <a:bodyPr/>
          <a:lstStyle/>
          <a:p>
            <a:r>
              <a:rPr lang="ru-RU" sz="2400" b="1" dirty="0"/>
              <a:t>Указатели на функции как параметры</a:t>
            </a:r>
            <a:endParaRPr lang="ru-RU" sz="2400" dirty="0"/>
          </a:p>
        </p:txBody>
      </p:sp>
      <p:sp>
        <p:nvSpPr>
          <p:cNvPr id="3" name="Объект 2">
            <a:extLst>
              <a:ext uri="{FF2B5EF4-FFF2-40B4-BE49-F238E27FC236}">
                <a16:creationId xmlns:a16="http://schemas.microsoft.com/office/drawing/2014/main" id="{CAED3329-AA9A-94A3-835F-8EF8A250C8F1}"/>
              </a:ext>
            </a:extLst>
          </p:cNvPr>
          <p:cNvSpPr>
            <a:spLocks noGrp="1"/>
          </p:cNvSpPr>
          <p:nvPr>
            <p:ph idx="1"/>
          </p:nvPr>
        </p:nvSpPr>
        <p:spPr/>
        <p:txBody>
          <a:bodyPr/>
          <a:lstStyle/>
          <a:p>
            <a:pPr lvl="1"/>
            <a:r>
              <a:rPr lang="de-CH" sz="1400" dirty="0" err="1">
                <a:solidFill>
                  <a:srgbClr val="0000FF"/>
                </a:solidFill>
                <a:latin typeface="Consolas" panose="020B0609020204030204" pitchFamily="49" charset="0"/>
              </a:rPr>
              <a:t>void</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hello</a:t>
            </a:r>
            <a:r>
              <a:rPr lang="de-CH" sz="1400" dirty="0">
                <a:solidFill>
                  <a:srgbClr val="000000"/>
                </a:solidFill>
                <a:latin typeface="Consolas" panose="020B0609020204030204" pitchFamily="49" charset="0"/>
              </a:rPr>
              <a:t>();</a:t>
            </a:r>
          </a:p>
          <a:p>
            <a:pPr lvl="1"/>
            <a:r>
              <a:rPr lang="de-CH" sz="1400" dirty="0" err="1">
                <a:solidFill>
                  <a:srgbClr val="0000FF"/>
                </a:solidFill>
                <a:latin typeface="Consolas" panose="020B0609020204030204" pitchFamily="49" charset="0"/>
              </a:rPr>
              <a:t>void</a:t>
            </a:r>
            <a:r>
              <a:rPr lang="de-CH" sz="1400" dirty="0">
                <a:solidFill>
                  <a:srgbClr val="000000"/>
                </a:solidFill>
                <a:latin typeface="Consolas" panose="020B0609020204030204" pitchFamily="49" charset="0"/>
              </a:rPr>
              <a:t> goodbye();</a:t>
            </a:r>
          </a:p>
          <a:p>
            <a:pPr lvl="1"/>
            <a:endParaRPr lang="ru-RU" sz="1400" dirty="0">
              <a:solidFill>
                <a:srgbClr val="000000"/>
              </a:solidFill>
              <a:latin typeface="Consolas" panose="020B0609020204030204" pitchFamily="49" charset="0"/>
            </a:endParaRPr>
          </a:p>
          <a:p>
            <a:pPr lvl="1"/>
            <a:r>
              <a:rPr lang="de-CH" sz="1400" dirty="0">
                <a:solidFill>
                  <a:srgbClr val="0000FF"/>
                </a:solidFill>
                <a:latin typeface="Consolas" panose="020B0609020204030204" pitchFamily="49" charset="0"/>
              </a:rPr>
              <a:t>int</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main</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    </a:t>
            </a:r>
            <a:r>
              <a:rPr lang="ru-RU" sz="1400" dirty="0" err="1">
                <a:solidFill>
                  <a:srgbClr val="0000FF"/>
                </a:solidFill>
                <a:latin typeface="Consolas" panose="020B0609020204030204" pitchFamily="49" charset="0"/>
              </a:rPr>
              <a:t>void</a:t>
            </a:r>
            <a:r>
              <a:rPr lang="ru-RU" sz="1400" dirty="0">
                <a:solidFill>
                  <a:srgbClr val="000000"/>
                </a:solidFill>
                <a:latin typeface="Consolas" panose="020B0609020204030204" pitchFamily="49" charset="0"/>
              </a:rPr>
              <a:t> (*</a:t>
            </a:r>
            <a:r>
              <a:rPr lang="ru-RU" sz="1400" dirty="0" err="1">
                <a:solidFill>
                  <a:srgbClr val="000000"/>
                </a:solidFill>
                <a:latin typeface="Consolas" panose="020B0609020204030204" pitchFamily="49" charset="0"/>
              </a:rPr>
              <a:t>message</a:t>
            </a:r>
            <a:r>
              <a:rPr lang="ru-RU" sz="1400" dirty="0">
                <a:solidFill>
                  <a:srgbClr val="000000"/>
                </a:solidFill>
                <a:latin typeface="Consolas" panose="020B0609020204030204" pitchFamily="49" charset="0"/>
              </a:rPr>
              <a:t>)();  </a:t>
            </a:r>
            <a:r>
              <a:rPr lang="ru-RU" sz="1400" dirty="0">
                <a:solidFill>
                  <a:srgbClr val="008000"/>
                </a:solidFill>
                <a:latin typeface="Consolas" panose="020B0609020204030204" pitchFamily="49" charset="0"/>
              </a:rPr>
              <a:t>// определение указателя на функцию</a:t>
            </a:r>
            <a:endParaRPr lang="ru-RU" sz="1400" dirty="0">
              <a:solidFill>
                <a:srgbClr val="000000"/>
              </a:solidFill>
              <a:latin typeface="Consolas" panose="020B0609020204030204" pitchFamily="49" charset="0"/>
            </a:endParaRPr>
          </a:p>
          <a:p>
            <a:pPr lvl="1"/>
            <a:endParaRPr lang="ru-RU" sz="1400" dirty="0">
              <a:solidFill>
                <a:srgbClr val="000000"/>
              </a:solidFill>
              <a:latin typeface="Consolas" panose="020B0609020204030204" pitchFamily="49" charset="0"/>
            </a:endParaRP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message</a:t>
            </a:r>
            <a:r>
              <a:rPr lang="de-CH" sz="1400" dirty="0">
                <a:solidFill>
                  <a:srgbClr val="000000"/>
                </a:solidFill>
                <a:latin typeface="Consolas" panose="020B0609020204030204" pitchFamily="49" charset="0"/>
              </a:rPr>
              <a:t> = </a:t>
            </a:r>
            <a:r>
              <a:rPr lang="de-CH" sz="1400" dirty="0" err="1">
                <a:solidFill>
                  <a:srgbClr val="000000"/>
                </a:solidFill>
                <a:latin typeface="Consolas" panose="020B0609020204030204" pitchFamily="49" charset="0"/>
              </a:rPr>
              <a:t>hello</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message</a:t>
            </a:r>
            <a:r>
              <a:rPr lang="de-CH" sz="1400" dirty="0">
                <a:solidFill>
                  <a:srgbClr val="000000"/>
                </a:solidFill>
                <a:latin typeface="Consolas" panose="020B0609020204030204" pitchFamily="49" charset="0"/>
              </a:rPr>
              <a:t>();</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message</a:t>
            </a:r>
            <a:r>
              <a:rPr lang="de-CH" sz="1400" dirty="0">
                <a:solidFill>
                  <a:srgbClr val="000000"/>
                </a:solidFill>
                <a:latin typeface="Consolas" panose="020B0609020204030204" pitchFamily="49" charset="0"/>
              </a:rPr>
              <a:t> = goodbye;</a:t>
            </a:r>
          </a:p>
          <a:p>
            <a:pPr lvl="1"/>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message</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err="1">
                <a:solidFill>
                  <a:srgbClr val="0000FF"/>
                </a:solidFill>
                <a:latin typeface="Consolas" panose="020B0609020204030204" pitchFamily="49" charset="0"/>
              </a:rPr>
              <a:t>void</a:t>
            </a:r>
            <a:r>
              <a:rPr lang="de-CH" sz="1400" dirty="0">
                <a:solidFill>
                  <a:srgbClr val="000000"/>
                </a:solidFill>
                <a:latin typeface="Consolas" panose="020B0609020204030204" pitchFamily="49" charset="0"/>
              </a:rPr>
              <a:t> </a:t>
            </a:r>
            <a:r>
              <a:rPr lang="de-CH" sz="1400" dirty="0" err="1">
                <a:solidFill>
                  <a:srgbClr val="000000"/>
                </a:solidFill>
                <a:latin typeface="Consolas" panose="020B0609020204030204" pitchFamily="49" charset="0"/>
              </a:rPr>
              <a:t>hello</a:t>
            </a:r>
            <a:r>
              <a:rPr lang="de-CH"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"Hello, World"</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p>
          <a:p>
            <a:pPr lvl="1"/>
            <a:r>
              <a:rPr lang="de-CH" sz="1400" dirty="0" err="1">
                <a:solidFill>
                  <a:srgbClr val="0000FF"/>
                </a:solidFill>
                <a:latin typeface="Consolas" panose="020B0609020204030204" pitchFamily="49" charset="0"/>
              </a:rPr>
              <a:t>void</a:t>
            </a:r>
            <a:r>
              <a:rPr lang="de-CH" sz="1400" dirty="0">
                <a:solidFill>
                  <a:srgbClr val="000000"/>
                </a:solidFill>
                <a:latin typeface="Consolas" panose="020B0609020204030204" pitchFamily="49" charset="0"/>
              </a:rPr>
              <a:t> goodbye()</a:t>
            </a:r>
          </a:p>
          <a:p>
            <a:pPr lvl="1"/>
            <a:r>
              <a:rPr lang="ru-RU" sz="1400" dirty="0">
                <a:solidFill>
                  <a:srgbClr val="000000"/>
                </a:solidFill>
                <a:latin typeface="Consolas" panose="020B0609020204030204" pitchFamily="49" charset="0"/>
              </a:rPr>
              <a:t>{</a:t>
            </a:r>
          </a:p>
          <a:p>
            <a:pPr lvl="1"/>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cout</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a:t>
            </a:r>
            <a:r>
              <a:rPr lang="en-US" sz="1400" dirty="0">
                <a:solidFill>
                  <a:srgbClr val="A31515"/>
                </a:solidFill>
                <a:latin typeface="Consolas" panose="020B0609020204030204" pitchFamily="49" charset="0"/>
              </a:rPr>
              <a:t>"Good Bye, World"</a:t>
            </a:r>
            <a:r>
              <a:rPr lang="en-US" sz="1400" dirty="0">
                <a:solidFill>
                  <a:srgbClr val="000000"/>
                </a:solidFill>
                <a:latin typeface="Consolas" panose="020B0609020204030204" pitchFamily="49" charset="0"/>
              </a:rPr>
              <a:t> </a:t>
            </a:r>
            <a:r>
              <a:rPr lang="en-US" sz="1400" dirty="0">
                <a:solidFill>
                  <a:srgbClr val="008080"/>
                </a:solidFill>
                <a:latin typeface="Consolas" panose="020B0609020204030204" pitchFamily="49" charset="0"/>
              </a:rPr>
              <a:t>&lt;&lt;</a:t>
            </a:r>
            <a:r>
              <a:rPr lang="en-US" sz="1400" dirty="0">
                <a:solidFill>
                  <a:srgbClr val="000000"/>
                </a:solidFill>
                <a:latin typeface="Consolas" panose="020B0609020204030204" pitchFamily="49" charset="0"/>
              </a:rPr>
              <a:t> std::</a:t>
            </a:r>
            <a:r>
              <a:rPr lang="en-US" sz="1400" dirty="0" err="1">
                <a:solidFill>
                  <a:srgbClr val="000000"/>
                </a:solidFill>
                <a:latin typeface="Consolas" panose="020B0609020204030204" pitchFamily="49" charset="0"/>
              </a:rPr>
              <a:t>endl</a:t>
            </a:r>
            <a:r>
              <a:rPr lang="en-US" sz="1400" dirty="0">
                <a:solidFill>
                  <a:srgbClr val="000000"/>
                </a:solidFill>
                <a:latin typeface="Consolas" panose="020B0609020204030204" pitchFamily="49" charset="0"/>
              </a:rPr>
              <a:t>;</a:t>
            </a:r>
          </a:p>
          <a:p>
            <a:pPr lvl="1"/>
            <a:r>
              <a:rPr lang="ru-RU" sz="1400" dirty="0">
                <a:solidFill>
                  <a:srgbClr val="000000"/>
                </a:solidFill>
                <a:latin typeface="Consolas" panose="020B0609020204030204" pitchFamily="49" charset="0"/>
              </a:rPr>
              <a:t>}</a:t>
            </a:r>
            <a:endParaRPr lang="ru-RU" sz="1400" dirty="0"/>
          </a:p>
        </p:txBody>
      </p:sp>
    </p:spTree>
    <p:extLst>
      <p:ext uri="{BB962C8B-B14F-4D97-AF65-F5344CB8AC3E}">
        <p14:creationId xmlns:p14="http://schemas.microsoft.com/office/powerpoint/2010/main" val="1947458658"/>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4DE71E-15C8-95CB-5369-7EADB587D04F}"/>
              </a:ext>
            </a:extLst>
          </p:cNvPr>
          <p:cNvSpPr>
            <a:spLocks noGrp="1"/>
          </p:cNvSpPr>
          <p:nvPr>
            <p:ph type="title"/>
          </p:nvPr>
        </p:nvSpPr>
        <p:spPr/>
        <p:txBody>
          <a:bodyPr/>
          <a:lstStyle/>
          <a:p>
            <a:r>
              <a:rPr lang="ru-RU" sz="2400" b="1" dirty="0"/>
              <a:t>Определение и инициализация указателя</a:t>
            </a:r>
            <a:endParaRPr lang="ru-RU" dirty="0"/>
          </a:p>
        </p:txBody>
      </p:sp>
      <p:sp>
        <p:nvSpPr>
          <p:cNvPr id="3" name="Объект 2">
            <a:extLst>
              <a:ext uri="{FF2B5EF4-FFF2-40B4-BE49-F238E27FC236}">
                <a16:creationId xmlns:a16="http://schemas.microsoft.com/office/drawing/2014/main" id="{DDFA2BEB-A0DE-071B-B4E5-F16683E0F52A}"/>
              </a:ext>
            </a:extLst>
          </p:cNvPr>
          <p:cNvSpPr>
            <a:spLocks noGrp="1"/>
          </p:cNvSpPr>
          <p:nvPr>
            <p:ph idx="1"/>
          </p:nvPr>
        </p:nvSpPr>
        <p:spPr/>
        <p:txBody>
          <a:bodyPr/>
          <a:lstStyle/>
          <a:p>
            <a:endParaRPr lang="ru-RU" dirty="0"/>
          </a:p>
          <a:p>
            <a:r>
              <a:rPr lang="de-CH" b="1" dirty="0" err="1"/>
              <a:t>void</a:t>
            </a:r>
            <a:r>
              <a:rPr lang="de-CH" dirty="0"/>
              <a:t> (*</a:t>
            </a:r>
            <a:r>
              <a:rPr lang="de-CH" dirty="0" err="1"/>
              <a:t>message</a:t>
            </a:r>
            <a:r>
              <a:rPr lang="de-CH" dirty="0"/>
              <a:t>)() {</a:t>
            </a:r>
            <a:r>
              <a:rPr lang="de-CH" dirty="0" err="1"/>
              <a:t>hello</a:t>
            </a:r>
            <a:r>
              <a:rPr lang="de-CH" dirty="0"/>
              <a:t>}; // </a:t>
            </a:r>
            <a:r>
              <a:rPr lang="ru-RU" dirty="0"/>
              <a:t>указывает на функцию </a:t>
            </a:r>
            <a:r>
              <a:rPr lang="de-CH" dirty="0" err="1"/>
              <a:t>hello</a:t>
            </a:r>
            <a:endParaRPr lang="de-CH" dirty="0"/>
          </a:p>
          <a:p>
            <a:r>
              <a:rPr lang="de-CH" dirty="0"/>
              <a:t>// </a:t>
            </a:r>
            <a:r>
              <a:rPr lang="ru-RU" dirty="0"/>
              <a:t>или так</a:t>
            </a:r>
          </a:p>
          <a:p>
            <a:r>
              <a:rPr lang="de-CH" b="1" dirty="0" err="1"/>
              <a:t>void</a:t>
            </a:r>
            <a:r>
              <a:rPr lang="de-CH" dirty="0"/>
              <a:t> (*message2)() =</a:t>
            </a:r>
            <a:r>
              <a:rPr lang="de-CH" dirty="0" err="1"/>
              <a:t>hello</a:t>
            </a:r>
            <a:r>
              <a:rPr lang="de-CH" dirty="0"/>
              <a:t>; // </a:t>
            </a:r>
            <a:r>
              <a:rPr lang="ru-RU" dirty="0"/>
              <a:t>указывает на функцию </a:t>
            </a:r>
            <a:r>
              <a:rPr lang="de-CH" dirty="0" err="1"/>
              <a:t>hello</a:t>
            </a:r>
            <a:endParaRPr lang="ru-RU" dirty="0"/>
          </a:p>
          <a:p>
            <a:endParaRPr lang="ru-RU" dirty="0"/>
          </a:p>
          <a:p>
            <a:r>
              <a:rPr lang="ru-RU" dirty="0"/>
              <a:t>Можно инициализировать значением </a:t>
            </a:r>
            <a:r>
              <a:rPr lang="de-CH" b="1" dirty="0" err="1"/>
              <a:t>nullptr</a:t>
            </a:r>
            <a:r>
              <a:rPr lang="de-CH" dirty="0"/>
              <a:t>:</a:t>
            </a:r>
            <a:endParaRPr lang="ru-RU" dirty="0"/>
          </a:p>
          <a:p>
            <a:endParaRPr lang="ru-RU" dirty="0"/>
          </a:p>
          <a:p>
            <a:r>
              <a:rPr lang="de-CH" b="1" dirty="0" err="1"/>
              <a:t>void</a:t>
            </a:r>
            <a:r>
              <a:rPr lang="de-CH" dirty="0"/>
              <a:t> (*</a:t>
            </a:r>
            <a:r>
              <a:rPr lang="de-CH" dirty="0" err="1"/>
              <a:t>message</a:t>
            </a:r>
            <a:r>
              <a:rPr lang="de-CH" dirty="0"/>
              <a:t>)() { </a:t>
            </a:r>
            <a:r>
              <a:rPr lang="de-CH" dirty="0" err="1"/>
              <a:t>nullptr</a:t>
            </a:r>
            <a:r>
              <a:rPr lang="de-CH" dirty="0"/>
              <a:t>};</a:t>
            </a:r>
            <a:endParaRPr lang="ru-RU" dirty="0"/>
          </a:p>
          <a:p>
            <a:endParaRPr lang="ru-RU" dirty="0"/>
          </a:p>
          <a:p>
            <a:endParaRPr lang="de-CH" dirty="0"/>
          </a:p>
          <a:p>
            <a:endParaRPr lang="ru-RU" dirty="0"/>
          </a:p>
        </p:txBody>
      </p:sp>
      <p:graphicFrame>
        <p:nvGraphicFramePr>
          <p:cNvPr id="4" name="Таблица 3">
            <a:extLst>
              <a:ext uri="{FF2B5EF4-FFF2-40B4-BE49-F238E27FC236}">
                <a16:creationId xmlns:a16="http://schemas.microsoft.com/office/drawing/2014/main" id="{9DD4E17B-C28E-F18C-D923-5F3014A93B69}"/>
              </a:ext>
            </a:extLst>
          </p:cNvPr>
          <p:cNvGraphicFramePr>
            <a:graphicFrameLocks noGrp="1"/>
          </p:cNvGraphicFramePr>
          <p:nvPr>
            <p:extLst>
              <p:ext uri="{D42A27DB-BD31-4B8C-83A1-F6EECF244321}">
                <p14:modId xmlns:p14="http://schemas.microsoft.com/office/powerpoint/2010/main" val="3489080938"/>
              </p:ext>
            </p:extLst>
          </p:nvPr>
        </p:nvGraphicFramePr>
        <p:xfrm>
          <a:off x="914614" y="3678238"/>
          <a:ext cx="7314772" cy="212725"/>
        </p:xfrm>
        <a:graphic>
          <a:graphicData uri="http://schemas.openxmlformats.org/drawingml/2006/table">
            <a:tbl>
              <a:tblPr/>
              <a:tblGrid>
                <a:gridCol w="7314772">
                  <a:extLst>
                    <a:ext uri="{9D8B030D-6E8A-4147-A177-3AD203B41FA5}">
                      <a16:colId xmlns:a16="http://schemas.microsoft.com/office/drawing/2014/main" val="2817618696"/>
                    </a:ext>
                  </a:extLst>
                </a:gridCol>
              </a:tblGrid>
              <a:tr h="0">
                <a:tc>
                  <a:txBody>
                    <a:bodyPr/>
                    <a:lstStyle/>
                    <a:p>
                      <a:pPr algn="l" fontAlgn="base">
                        <a:lnSpc>
                          <a:spcPts val="1575"/>
                        </a:lnSpc>
                        <a:buNone/>
                      </a:pPr>
                      <a:endParaRPr lang="de-CH" b="0" i="0" dirty="0">
                        <a:effectLst/>
                        <a:latin typeface="SFMono-Regular"/>
                      </a:endParaRPr>
                    </a:p>
                  </a:txBody>
                  <a:tcPr marL="0" marR="0" marT="0" marB="0" anchor="ctr">
                    <a:lnL>
                      <a:noFill/>
                    </a:lnL>
                    <a:lnR>
                      <a:noFill/>
                    </a:lnR>
                    <a:lnT>
                      <a:noFill/>
                    </a:lnT>
                    <a:lnB>
                      <a:noFill/>
                    </a:lnB>
                    <a:noFill/>
                  </a:tcPr>
                </a:tc>
                <a:extLst>
                  <a:ext uri="{0D108BD9-81ED-4DB2-BD59-A6C34878D82A}">
                    <a16:rowId xmlns:a16="http://schemas.microsoft.com/office/drawing/2014/main" val="2522936303"/>
                  </a:ext>
                </a:extLst>
              </a:tr>
            </a:tbl>
          </a:graphicData>
        </a:graphic>
      </p:graphicFrame>
    </p:spTree>
    <p:extLst>
      <p:ext uri="{BB962C8B-B14F-4D97-AF65-F5344CB8AC3E}">
        <p14:creationId xmlns:p14="http://schemas.microsoft.com/office/powerpoint/2010/main" val="2103036250"/>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324B4C-A443-689D-E557-2323A3AFD304}"/>
              </a:ext>
            </a:extLst>
          </p:cNvPr>
          <p:cNvSpPr>
            <a:spLocks noGrp="1"/>
          </p:cNvSpPr>
          <p:nvPr>
            <p:ph type="title"/>
          </p:nvPr>
        </p:nvSpPr>
        <p:spPr/>
        <p:txBody>
          <a:bodyPr/>
          <a:lstStyle/>
          <a:p>
            <a:r>
              <a:rPr lang="ru-RU" sz="2400" b="1" dirty="0"/>
              <a:t>Определение и инициализация указателя</a:t>
            </a:r>
            <a:endParaRPr lang="ru-RU" sz="2400" dirty="0"/>
          </a:p>
        </p:txBody>
      </p:sp>
      <p:sp>
        <p:nvSpPr>
          <p:cNvPr id="3" name="Объект 2">
            <a:extLst>
              <a:ext uri="{FF2B5EF4-FFF2-40B4-BE49-F238E27FC236}">
                <a16:creationId xmlns:a16="http://schemas.microsoft.com/office/drawing/2014/main" id="{BEEDFECA-E299-D712-D6BB-5C587AB15C13}"/>
              </a:ext>
            </a:extLst>
          </p:cNvPr>
          <p:cNvSpPr>
            <a:spLocks noGrp="1"/>
          </p:cNvSpPr>
          <p:nvPr>
            <p:ph idx="1"/>
          </p:nvPr>
        </p:nvSpPr>
        <p:spPr/>
        <p:txBody>
          <a:bodyPr/>
          <a:lstStyle/>
          <a:p>
            <a:r>
              <a:rPr lang="ru-RU" dirty="0"/>
              <a:t>Если указатель при определении инициализируется какой-либо функцией, то можно опустить все определение типа и просто использовать слово </a:t>
            </a:r>
            <a:r>
              <a:rPr lang="ru-RU" dirty="0" err="1"/>
              <a:t>auto</a:t>
            </a:r>
            <a:r>
              <a:rPr lang="ru-RU" dirty="0"/>
              <a:t>:</a:t>
            </a:r>
          </a:p>
          <a:p>
            <a:endParaRPr lang="ru-RU" dirty="0"/>
          </a:p>
          <a:p>
            <a:r>
              <a:rPr lang="de-CH" dirty="0" err="1"/>
              <a:t>auto</a:t>
            </a:r>
            <a:r>
              <a:rPr lang="de-CH" dirty="0"/>
              <a:t> </a:t>
            </a:r>
            <a:r>
              <a:rPr lang="de-CH" dirty="0" err="1"/>
              <a:t>message</a:t>
            </a:r>
            <a:r>
              <a:rPr lang="de-CH" dirty="0"/>
              <a:t> { </a:t>
            </a:r>
            <a:r>
              <a:rPr lang="de-CH" dirty="0" err="1"/>
              <a:t>hello</a:t>
            </a:r>
            <a:r>
              <a:rPr lang="de-CH" dirty="0"/>
              <a:t>}; // </a:t>
            </a:r>
            <a:r>
              <a:rPr lang="ru-RU" dirty="0"/>
              <a:t>указывает на функцию </a:t>
            </a:r>
            <a:r>
              <a:rPr lang="de-CH" dirty="0" err="1"/>
              <a:t>hello</a:t>
            </a:r>
            <a:endParaRPr lang="de-CH" dirty="0"/>
          </a:p>
          <a:p>
            <a:r>
              <a:rPr lang="de-CH" dirty="0" err="1"/>
              <a:t>auto</a:t>
            </a:r>
            <a:r>
              <a:rPr lang="de-CH" dirty="0"/>
              <a:t> message2 = </a:t>
            </a:r>
            <a:r>
              <a:rPr lang="de-CH" dirty="0" err="1"/>
              <a:t>hello</a:t>
            </a:r>
            <a:r>
              <a:rPr lang="de-CH" dirty="0"/>
              <a:t>; // </a:t>
            </a:r>
            <a:r>
              <a:rPr lang="ru-RU" dirty="0"/>
              <a:t>указывает на функцию </a:t>
            </a:r>
            <a:r>
              <a:rPr lang="de-CH" dirty="0" err="1"/>
              <a:t>hello</a:t>
            </a:r>
            <a:endParaRPr lang="de-CH" dirty="0"/>
          </a:p>
          <a:p>
            <a:endParaRPr lang="ru-RU" dirty="0"/>
          </a:p>
          <a:p>
            <a:r>
              <a:rPr lang="ru-RU" dirty="0"/>
              <a:t>Можно подчеркнуть, что переменная является именно указателем, указав после </a:t>
            </a:r>
            <a:r>
              <a:rPr lang="ru-RU" dirty="0" err="1"/>
              <a:t>auto</a:t>
            </a:r>
            <a:r>
              <a:rPr lang="ru-RU" dirty="0"/>
              <a:t> символ звездочки:</a:t>
            </a:r>
          </a:p>
          <a:p>
            <a:endParaRPr lang="ru-RU" dirty="0"/>
          </a:p>
          <a:p>
            <a:r>
              <a:rPr lang="de-CH" dirty="0" err="1"/>
              <a:t>auto</a:t>
            </a:r>
            <a:r>
              <a:rPr lang="de-CH" dirty="0"/>
              <a:t>* </a:t>
            </a:r>
            <a:r>
              <a:rPr lang="de-CH" dirty="0" err="1"/>
              <a:t>message</a:t>
            </a:r>
            <a:r>
              <a:rPr lang="de-CH" dirty="0"/>
              <a:t> { </a:t>
            </a:r>
            <a:r>
              <a:rPr lang="de-CH" dirty="0" err="1"/>
              <a:t>hello</a:t>
            </a:r>
            <a:r>
              <a:rPr lang="de-CH" dirty="0"/>
              <a:t>};</a:t>
            </a:r>
            <a:endParaRPr lang="ru-RU" dirty="0"/>
          </a:p>
          <a:p>
            <a:endParaRPr lang="ru-RU" dirty="0"/>
          </a:p>
        </p:txBody>
      </p:sp>
    </p:spTree>
    <p:extLst>
      <p:ext uri="{BB962C8B-B14F-4D97-AF65-F5344CB8AC3E}">
        <p14:creationId xmlns:p14="http://schemas.microsoft.com/office/powerpoint/2010/main" val="1526186443"/>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19AEBE7-AA94-EF62-E425-716A39ACF3EC}"/>
              </a:ext>
            </a:extLst>
          </p:cNvPr>
          <p:cNvSpPr>
            <a:spLocks noGrp="1"/>
          </p:cNvSpPr>
          <p:nvPr>
            <p:ph type="title"/>
          </p:nvPr>
        </p:nvSpPr>
        <p:spPr/>
        <p:txBody>
          <a:bodyPr/>
          <a:lstStyle/>
          <a:p>
            <a:r>
              <a:rPr lang="ru-RU" sz="2400" b="1" dirty="0"/>
              <a:t>Определение и инициализация указателя</a:t>
            </a:r>
            <a:endParaRPr lang="ru-RU" sz="2400" dirty="0"/>
          </a:p>
        </p:txBody>
      </p:sp>
      <p:sp>
        <p:nvSpPr>
          <p:cNvPr id="3" name="Объект 2">
            <a:extLst>
              <a:ext uri="{FF2B5EF4-FFF2-40B4-BE49-F238E27FC236}">
                <a16:creationId xmlns:a16="http://schemas.microsoft.com/office/drawing/2014/main" id="{0CCE5BBC-6FF5-BBDC-16F2-162F1F2A26B7}"/>
              </a:ext>
            </a:extLst>
          </p:cNvPr>
          <p:cNvSpPr>
            <a:spLocks noGrp="1"/>
          </p:cNvSpPr>
          <p:nvPr>
            <p:ph idx="1"/>
          </p:nvPr>
        </p:nvSpPr>
        <p:spPr/>
        <p:txBody>
          <a:bodyPr/>
          <a:lstStyle/>
          <a:p>
            <a:r>
              <a:rPr lang="ru-RU" dirty="0"/>
              <a:t>Стоит отметить, что при присвоении функции мы можем применять операцию получения адреса:</a:t>
            </a:r>
          </a:p>
          <a:p>
            <a:endParaRPr lang="ru-RU" dirty="0"/>
          </a:p>
          <a:p>
            <a:r>
              <a:rPr lang="de-CH" dirty="0"/>
              <a:t>	</a:t>
            </a:r>
          </a:p>
          <a:p>
            <a:r>
              <a:rPr lang="de-CH" dirty="0" err="1"/>
              <a:t>auto</a:t>
            </a:r>
            <a:r>
              <a:rPr lang="de-CH" dirty="0"/>
              <a:t> </a:t>
            </a:r>
            <a:r>
              <a:rPr lang="de-CH" dirty="0" err="1"/>
              <a:t>message</a:t>
            </a:r>
            <a:r>
              <a:rPr lang="de-CH" dirty="0"/>
              <a:t> { &amp;</a:t>
            </a:r>
            <a:r>
              <a:rPr lang="de-CH" dirty="0" err="1"/>
              <a:t>hello</a:t>
            </a:r>
            <a:r>
              <a:rPr lang="de-CH" dirty="0"/>
              <a:t>};</a:t>
            </a:r>
            <a:endParaRPr lang="ru-RU" dirty="0"/>
          </a:p>
          <a:p>
            <a:endParaRPr lang="ru-RU" dirty="0"/>
          </a:p>
          <a:p>
            <a:endParaRPr lang="ru-RU" dirty="0"/>
          </a:p>
        </p:txBody>
      </p:sp>
    </p:spTree>
    <p:extLst>
      <p:ext uri="{BB962C8B-B14F-4D97-AF65-F5344CB8AC3E}">
        <p14:creationId xmlns:p14="http://schemas.microsoft.com/office/powerpoint/2010/main" val="2960314817"/>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8C7113-789E-0732-9471-FBC3934AD25B}"/>
              </a:ext>
            </a:extLst>
          </p:cNvPr>
          <p:cNvSpPr>
            <a:spLocks noGrp="1"/>
          </p:cNvSpPr>
          <p:nvPr>
            <p:ph type="title"/>
          </p:nvPr>
        </p:nvSpPr>
        <p:spPr/>
        <p:txBody>
          <a:bodyPr/>
          <a:lstStyle/>
          <a:p>
            <a:r>
              <a:rPr lang="ru-RU" sz="2400" b="1" dirty="0"/>
              <a:t>Указатель на функцию с параметрами</a:t>
            </a:r>
            <a:endParaRPr lang="ru-RU" dirty="0"/>
          </a:p>
        </p:txBody>
      </p:sp>
      <p:sp>
        <p:nvSpPr>
          <p:cNvPr id="3" name="Объект 2">
            <a:extLst>
              <a:ext uri="{FF2B5EF4-FFF2-40B4-BE49-F238E27FC236}">
                <a16:creationId xmlns:a16="http://schemas.microsoft.com/office/drawing/2014/main" id="{60A08DF2-8DB2-DFE6-C2FA-42A7DF9D8549}"/>
              </a:ext>
            </a:extLst>
          </p:cNvPr>
          <p:cNvSpPr>
            <a:spLocks noGrp="1"/>
          </p:cNvSpPr>
          <p:nvPr>
            <p:ph idx="1"/>
          </p:nvPr>
        </p:nvSpPr>
        <p:spPr>
          <a:xfrm>
            <a:off x="358485" y="1268760"/>
            <a:ext cx="8229600" cy="5248275"/>
          </a:xfrm>
        </p:spPr>
        <p:txBody>
          <a:bodyPr/>
          <a:lstStyle/>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subtract</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a:t>
            </a:r>
          </a:p>
          <a:p>
            <a:endParaRPr lang="ru-RU" sz="1200" dirty="0">
              <a:solidFill>
                <a:srgbClr val="000000"/>
              </a:solidFill>
              <a:latin typeface="Consolas" panose="020B0609020204030204" pitchFamily="49" charset="0"/>
            </a:endParaRP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main</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 10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b{ 5 };</a:t>
            </a:r>
          </a:p>
          <a:p>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operation</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 </a:t>
            </a:r>
            <a:r>
              <a:rPr lang="de-CH" sz="1200" dirty="0" err="1">
                <a:solidFill>
                  <a:srgbClr val="000000"/>
                </a:solidFill>
                <a:latin typeface="Consolas" panose="020B0609020204030204" pitchFamily="49" charset="0"/>
              </a:rPr>
              <a:t>sum</a:t>
            </a:r>
            <a:r>
              <a:rPr lang="de-CH" sz="1200" dirty="0">
                <a:solidFill>
                  <a:srgbClr val="000000"/>
                </a:solidFill>
                <a:latin typeface="Consolas" panose="020B0609020204030204" pitchFamily="49" charset="0"/>
              </a:rPr>
              <a:t> };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указатель </a:t>
            </a:r>
            <a:r>
              <a:rPr lang="de-CH" sz="1200" dirty="0" err="1">
                <a:solidFill>
                  <a:srgbClr val="008000"/>
                </a:solidFill>
                <a:latin typeface="Consolas" panose="020B0609020204030204" pitchFamily="49" charset="0"/>
              </a:rPr>
              <a:t>operation</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указывает на функцию </a:t>
            </a:r>
            <a:r>
              <a:rPr lang="de-CH" sz="1200" dirty="0" err="1">
                <a:solidFill>
                  <a:srgbClr val="008000"/>
                </a:solidFill>
                <a:latin typeface="Consolas" panose="020B0609020204030204" pitchFamily="49" charset="0"/>
              </a:rPr>
              <a:t>sum</a:t>
            </a:r>
            <a:endParaRPr lang="de-CH"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result = operation(a, b);</a:t>
            </a:r>
          </a:p>
          <a:p>
            <a:r>
              <a:rPr lang="ru-RU" sz="1200" dirty="0">
                <a:solidFill>
                  <a:srgbClr val="000000"/>
                </a:solidFill>
                <a:latin typeface="Consolas" panose="020B0609020204030204" pitchFamily="49" charset="0"/>
              </a:rPr>
              <a:t>    </a:t>
            </a:r>
            <a:r>
              <a:rPr lang="ru-RU" sz="1200" dirty="0">
                <a:solidFill>
                  <a:srgbClr val="008000"/>
                </a:solidFill>
                <a:latin typeface="Consolas" panose="020B0609020204030204" pitchFamily="49" charset="0"/>
              </a:rPr>
              <a:t>// </a:t>
            </a:r>
            <a:r>
              <a:rPr lang="ru-RU" sz="1200" dirty="0" err="1">
                <a:solidFill>
                  <a:srgbClr val="008000"/>
                </a:solidFill>
                <a:latin typeface="Consolas" panose="020B0609020204030204" pitchFamily="49" charset="0"/>
              </a:rPr>
              <a:t>result</a:t>
            </a:r>
            <a:r>
              <a:rPr lang="ru-RU" sz="1200" dirty="0">
                <a:solidFill>
                  <a:srgbClr val="008000"/>
                </a:solidFill>
                <a:latin typeface="Consolas" panose="020B0609020204030204" pitchFamily="49" charset="0"/>
              </a:rPr>
              <a:t> = (*</a:t>
            </a:r>
            <a:r>
              <a:rPr lang="ru-RU" sz="1200" dirty="0" err="1">
                <a:solidFill>
                  <a:srgbClr val="008000"/>
                </a:solidFill>
                <a:latin typeface="Consolas" panose="020B0609020204030204" pitchFamily="49" charset="0"/>
              </a:rPr>
              <a:t>operation</a:t>
            </a:r>
            <a:r>
              <a:rPr lang="ru-RU" sz="1200" dirty="0">
                <a:solidFill>
                  <a:srgbClr val="008000"/>
                </a:solidFill>
                <a:latin typeface="Consolas" panose="020B0609020204030204" pitchFamily="49" charset="0"/>
              </a:rPr>
              <a:t>)(a, b); // альтернативный вариант</a:t>
            </a:r>
            <a:endParaRPr lang="ru-RU"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"result =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result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result = 15</a:t>
            </a:r>
            <a:endParaRPr lang="en-US" sz="1200" dirty="0">
              <a:solidFill>
                <a:srgbClr val="000000"/>
              </a:solidFill>
              <a:latin typeface="Consolas" panose="020B0609020204030204" pitchFamily="49" charset="0"/>
            </a:endParaRPr>
          </a:p>
          <a:p>
            <a:endParaRPr lang="ru-RU" sz="1200" dirty="0">
              <a:solidFill>
                <a:srgbClr val="000000"/>
              </a:solidFill>
              <a:latin typeface="Consolas" panose="020B0609020204030204" pitchFamily="49" charset="0"/>
            </a:endParaRP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operation</a:t>
            </a:r>
            <a:r>
              <a:rPr lang="de-CH" sz="1200" dirty="0">
                <a:solidFill>
                  <a:srgbClr val="000000"/>
                </a:solidFill>
                <a:latin typeface="Consolas" panose="020B0609020204030204" pitchFamily="49" charset="0"/>
              </a:rPr>
              <a:t> = </a:t>
            </a:r>
            <a:r>
              <a:rPr lang="de-CH" sz="1200" dirty="0" err="1">
                <a:solidFill>
                  <a:srgbClr val="000000"/>
                </a:solidFill>
                <a:latin typeface="Consolas" panose="020B0609020204030204" pitchFamily="49" charset="0"/>
              </a:rPr>
              <a:t>subtract</a:t>
            </a:r>
            <a:r>
              <a:rPr lang="de-CH" sz="1200" dirty="0">
                <a:solidFill>
                  <a:srgbClr val="000000"/>
                </a:solidFill>
                <a:latin typeface="Consolas" panose="020B0609020204030204" pitchFamily="49" charset="0"/>
              </a:rPr>
              <a:t>;   </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указатель </a:t>
            </a:r>
            <a:r>
              <a:rPr lang="de-CH" sz="1200" dirty="0" err="1">
                <a:solidFill>
                  <a:srgbClr val="008000"/>
                </a:solidFill>
                <a:latin typeface="Consolas" panose="020B0609020204030204" pitchFamily="49" charset="0"/>
              </a:rPr>
              <a:t>operation</a:t>
            </a:r>
            <a:r>
              <a:rPr lang="de-CH" sz="1200" dirty="0">
                <a:solidFill>
                  <a:srgbClr val="008000"/>
                </a:solidFill>
                <a:latin typeface="Consolas" panose="020B0609020204030204" pitchFamily="49" charset="0"/>
              </a:rPr>
              <a:t> </a:t>
            </a:r>
            <a:r>
              <a:rPr lang="ru-RU" sz="1200" dirty="0">
                <a:solidFill>
                  <a:srgbClr val="008000"/>
                </a:solidFill>
                <a:latin typeface="Consolas" panose="020B0609020204030204" pitchFamily="49" charset="0"/>
              </a:rPr>
              <a:t>указывает на функцию </a:t>
            </a:r>
            <a:r>
              <a:rPr lang="de-CH" sz="1200" dirty="0" err="1">
                <a:solidFill>
                  <a:srgbClr val="008000"/>
                </a:solidFill>
                <a:latin typeface="Consolas" panose="020B0609020204030204" pitchFamily="49" charset="0"/>
              </a:rPr>
              <a:t>subtract</a:t>
            </a:r>
            <a:endParaRPr lang="de-CH" sz="1200" dirty="0">
              <a:solidFill>
                <a:srgbClr val="000000"/>
              </a:solidFill>
              <a:latin typeface="Consolas" panose="020B0609020204030204" pitchFamily="49" charset="0"/>
            </a:endParaRPr>
          </a:p>
          <a:p>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result</a:t>
            </a:r>
            <a:r>
              <a:rPr lang="de-CH" sz="1200" dirty="0">
                <a:solidFill>
                  <a:srgbClr val="000000"/>
                </a:solidFill>
                <a:latin typeface="Consolas" panose="020B0609020204030204" pitchFamily="49" charset="0"/>
              </a:rPr>
              <a:t> = </a:t>
            </a:r>
            <a:r>
              <a:rPr lang="de-CH" sz="1200" dirty="0" err="1">
                <a:solidFill>
                  <a:srgbClr val="000000"/>
                </a:solidFill>
                <a:latin typeface="Consolas" panose="020B0609020204030204" pitchFamily="49" charset="0"/>
              </a:rPr>
              <a:t>operation</a:t>
            </a:r>
            <a:r>
              <a:rPr lang="de-CH" sz="1200" dirty="0">
                <a:solidFill>
                  <a:srgbClr val="000000"/>
                </a:solidFill>
                <a:latin typeface="Consolas" panose="020B0609020204030204" pitchFamily="49" charset="0"/>
              </a:rPr>
              <a:t>(a, b);</a:t>
            </a:r>
          </a:p>
          <a:p>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cout</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a:t>
            </a:r>
            <a:r>
              <a:rPr lang="en-US" sz="1200" dirty="0">
                <a:solidFill>
                  <a:srgbClr val="A31515"/>
                </a:solidFill>
                <a:latin typeface="Consolas" panose="020B0609020204030204" pitchFamily="49" charset="0"/>
              </a:rPr>
              <a:t>"result = "</a:t>
            </a:r>
            <a:r>
              <a:rPr lang="en-US" sz="1200" dirty="0">
                <a:solidFill>
                  <a:srgbClr val="000000"/>
                </a:solidFill>
                <a:latin typeface="Consolas" panose="020B0609020204030204" pitchFamily="49" charset="0"/>
              </a:rPr>
              <a: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result </a:t>
            </a:r>
            <a:r>
              <a:rPr lang="en-US" sz="1200" dirty="0">
                <a:solidFill>
                  <a:srgbClr val="008080"/>
                </a:solidFill>
                <a:latin typeface="Consolas" panose="020B0609020204030204" pitchFamily="49" charset="0"/>
              </a:rPr>
              <a:t>&lt;&lt;</a:t>
            </a:r>
            <a:r>
              <a:rPr lang="en-US" sz="1200" dirty="0">
                <a:solidFill>
                  <a:srgbClr val="000000"/>
                </a:solidFill>
                <a:latin typeface="Consolas" panose="020B0609020204030204" pitchFamily="49" charset="0"/>
              </a:rPr>
              <a:t> std::</a:t>
            </a:r>
            <a:r>
              <a:rPr lang="en-US" sz="1200" dirty="0" err="1">
                <a:solidFill>
                  <a:srgbClr val="000000"/>
                </a:solidFill>
                <a:latin typeface="Consolas" panose="020B0609020204030204" pitchFamily="49" charset="0"/>
              </a:rPr>
              <a:t>endl</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result = 5</a:t>
            </a:r>
            <a:endParaRPr lang="en-US" sz="1200" dirty="0">
              <a:solidFill>
                <a:srgbClr val="000000"/>
              </a:solidFill>
              <a:latin typeface="Consolas" panose="020B0609020204030204" pitchFamily="49" charset="0"/>
            </a:endParaRPr>
          </a:p>
          <a:p>
            <a:r>
              <a:rPr lang="ru-RU" sz="1200" dirty="0">
                <a:solidFill>
                  <a:srgbClr val="000000"/>
                </a:solidFill>
                <a:latin typeface="Consolas" panose="020B0609020204030204" pitchFamily="49" charset="0"/>
              </a:rPr>
              <a:t>}</a:t>
            </a:r>
          </a:p>
          <a:p>
            <a:r>
              <a:rPr lang="fr-FR" sz="1200" dirty="0">
                <a:solidFill>
                  <a:srgbClr val="0000FF"/>
                </a:solidFill>
                <a:latin typeface="Consolas" panose="020B0609020204030204" pitchFamily="49" charset="0"/>
              </a:rPr>
              <a:t>int</a:t>
            </a:r>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sum</a:t>
            </a:r>
            <a:r>
              <a:rPr lang="fr-FR" sz="1200" dirty="0">
                <a:solidFill>
                  <a:srgbClr val="000000"/>
                </a:solidFill>
                <a:latin typeface="Consolas" panose="020B0609020204030204" pitchFamily="49" charset="0"/>
              </a:rPr>
              <a:t>(</a:t>
            </a:r>
            <a:r>
              <a:rPr lang="fr-FR" sz="1200" dirty="0">
                <a:solidFill>
                  <a:srgbClr val="0000FF"/>
                </a:solidFill>
                <a:latin typeface="Consolas" panose="020B0609020204030204" pitchFamily="49" charset="0"/>
              </a:rPr>
              <a:t>int</a:t>
            </a:r>
            <a:r>
              <a:rPr lang="fr-FR" sz="1200" dirty="0">
                <a:solidFill>
                  <a:srgbClr val="000000"/>
                </a:solidFill>
                <a:latin typeface="Consolas" panose="020B0609020204030204" pitchFamily="49" charset="0"/>
              </a:rPr>
              <a:t> </a:t>
            </a:r>
            <a:r>
              <a:rPr lang="fr-FR" sz="1200" dirty="0">
                <a:solidFill>
                  <a:srgbClr val="808080"/>
                </a:solidFill>
                <a:latin typeface="Consolas" panose="020B0609020204030204" pitchFamily="49" charset="0"/>
              </a:rPr>
              <a:t>x</a:t>
            </a:r>
            <a:r>
              <a:rPr lang="fr-FR" sz="1200" dirty="0">
                <a:solidFill>
                  <a:srgbClr val="000000"/>
                </a:solidFill>
                <a:latin typeface="Consolas" panose="020B0609020204030204" pitchFamily="49" charset="0"/>
              </a:rPr>
              <a:t>, </a:t>
            </a:r>
            <a:r>
              <a:rPr lang="fr-FR" sz="1200" dirty="0">
                <a:solidFill>
                  <a:srgbClr val="0000FF"/>
                </a:solidFill>
                <a:latin typeface="Consolas" panose="020B0609020204030204" pitchFamily="49" charset="0"/>
              </a:rPr>
              <a:t>int</a:t>
            </a:r>
            <a:r>
              <a:rPr lang="fr-FR" sz="1200" dirty="0">
                <a:solidFill>
                  <a:srgbClr val="000000"/>
                </a:solidFill>
                <a:latin typeface="Consolas" panose="020B0609020204030204" pitchFamily="49" charset="0"/>
              </a:rPr>
              <a:t> </a:t>
            </a:r>
            <a:r>
              <a:rPr lang="fr-FR" sz="1200" dirty="0">
                <a:solidFill>
                  <a:srgbClr val="808080"/>
                </a:solidFill>
                <a:latin typeface="Consolas" panose="020B0609020204030204" pitchFamily="49" charset="0"/>
              </a:rPr>
              <a:t>y</a:t>
            </a:r>
            <a:r>
              <a:rPr lang="fr-FR"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x</a:t>
            </a:r>
            <a:r>
              <a:rPr lang="de-CH" sz="1200" dirty="0">
                <a:solidFill>
                  <a:srgbClr val="000000"/>
                </a:solidFill>
                <a:latin typeface="Consolas" panose="020B0609020204030204" pitchFamily="49" charset="0"/>
              </a:rPr>
              <a:t> + </a:t>
            </a:r>
            <a:r>
              <a:rPr lang="de-CH" sz="1200" dirty="0">
                <a:solidFill>
                  <a:srgbClr val="808080"/>
                </a:solidFill>
                <a:latin typeface="Consolas" panose="020B0609020204030204" pitchFamily="49" charset="0"/>
              </a:rPr>
              <a:t>y</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err="1">
                <a:solidFill>
                  <a:srgbClr val="000000"/>
                </a:solidFill>
                <a:latin typeface="Consolas" panose="020B0609020204030204" pitchFamily="49" charset="0"/>
              </a:rPr>
              <a:t>subtract</a:t>
            </a:r>
            <a:r>
              <a:rPr lang="de-CH" sz="1200" dirty="0">
                <a:solidFill>
                  <a:srgbClr val="000000"/>
                </a:solidFill>
                <a:latin typeface="Consolas" panose="020B0609020204030204" pitchFamily="49" charset="0"/>
              </a:rPr>
              <a:t>(</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x</a:t>
            </a:r>
            <a:r>
              <a:rPr lang="de-CH" sz="1200" dirty="0">
                <a:solidFill>
                  <a:srgbClr val="000000"/>
                </a:solidFill>
                <a:latin typeface="Consolas" panose="020B0609020204030204" pitchFamily="49" charset="0"/>
              </a:rPr>
              <a:t>, </a:t>
            </a:r>
            <a:r>
              <a:rPr lang="de-CH" sz="1200" dirty="0">
                <a:solidFill>
                  <a:srgbClr val="0000FF"/>
                </a:solidFill>
                <a:latin typeface="Consolas" panose="020B0609020204030204" pitchFamily="49" charset="0"/>
              </a:rPr>
              <a:t>int</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y</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r>
              <a:rPr lang="de-CH" sz="1200" dirty="0">
                <a:solidFill>
                  <a:srgbClr val="000000"/>
                </a:solidFill>
                <a:latin typeface="Consolas" panose="020B0609020204030204" pitchFamily="49" charset="0"/>
              </a:rPr>
              <a:t>    </a:t>
            </a:r>
            <a:r>
              <a:rPr lang="de-CH" sz="1200" dirty="0" err="1">
                <a:solidFill>
                  <a:srgbClr val="0000FF"/>
                </a:solidFill>
                <a:latin typeface="Consolas" panose="020B0609020204030204" pitchFamily="49" charset="0"/>
              </a:rPr>
              <a:t>return</a:t>
            </a:r>
            <a:r>
              <a:rPr lang="de-CH" sz="1200" dirty="0">
                <a:solidFill>
                  <a:srgbClr val="000000"/>
                </a:solidFill>
                <a:latin typeface="Consolas" panose="020B0609020204030204" pitchFamily="49" charset="0"/>
              </a:rPr>
              <a:t> </a:t>
            </a:r>
            <a:r>
              <a:rPr lang="de-CH" sz="1200" dirty="0">
                <a:solidFill>
                  <a:srgbClr val="808080"/>
                </a:solidFill>
                <a:latin typeface="Consolas" panose="020B0609020204030204" pitchFamily="49" charset="0"/>
              </a:rPr>
              <a:t>x</a:t>
            </a:r>
            <a:r>
              <a:rPr lang="de-CH" sz="1200" dirty="0">
                <a:solidFill>
                  <a:srgbClr val="000000"/>
                </a:solidFill>
                <a:latin typeface="Consolas" panose="020B0609020204030204" pitchFamily="49" charset="0"/>
              </a:rPr>
              <a:t> - </a:t>
            </a:r>
            <a:r>
              <a:rPr lang="de-CH" sz="1200" dirty="0">
                <a:solidFill>
                  <a:srgbClr val="808080"/>
                </a:solidFill>
                <a:latin typeface="Consolas" panose="020B0609020204030204" pitchFamily="49" charset="0"/>
              </a:rPr>
              <a:t>y</a:t>
            </a:r>
            <a:r>
              <a:rPr lang="de-CH" sz="1200" dirty="0">
                <a:solidFill>
                  <a:srgbClr val="000000"/>
                </a:solidFill>
                <a:latin typeface="Consolas" panose="020B0609020204030204" pitchFamily="49" charset="0"/>
              </a:rPr>
              <a:t>;</a:t>
            </a:r>
          </a:p>
          <a:p>
            <a:r>
              <a:rPr lang="ru-RU" sz="1200" dirty="0">
                <a:solidFill>
                  <a:srgbClr val="000000"/>
                </a:solidFill>
                <a:latin typeface="Consolas" panose="020B0609020204030204" pitchFamily="49" charset="0"/>
              </a:rPr>
              <a:t>}</a:t>
            </a:r>
          </a:p>
          <a:p>
            <a:endParaRPr lang="ru-RU" dirty="0"/>
          </a:p>
        </p:txBody>
      </p:sp>
    </p:spTree>
    <p:extLst>
      <p:ext uri="{BB962C8B-B14F-4D97-AF65-F5344CB8AC3E}">
        <p14:creationId xmlns:p14="http://schemas.microsoft.com/office/powerpoint/2010/main" val="400081253"/>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E1FC70-97A6-EB3C-9A7E-FB8226030B09}"/>
              </a:ext>
            </a:extLst>
          </p:cNvPr>
          <p:cNvSpPr>
            <a:spLocks noGrp="1"/>
          </p:cNvSpPr>
          <p:nvPr>
            <p:ph type="title"/>
          </p:nvPr>
        </p:nvSpPr>
        <p:spPr/>
        <p:txBody>
          <a:bodyPr/>
          <a:lstStyle/>
          <a:p>
            <a:r>
              <a:rPr lang="ru-RU" sz="2800" b="1" dirty="0"/>
              <a:t>Массивы указателей на функции</a:t>
            </a:r>
            <a:endParaRPr lang="ru-RU" dirty="0"/>
          </a:p>
        </p:txBody>
      </p:sp>
      <p:sp>
        <p:nvSpPr>
          <p:cNvPr id="3" name="Объект 2">
            <a:extLst>
              <a:ext uri="{FF2B5EF4-FFF2-40B4-BE49-F238E27FC236}">
                <a16:creationId xmlns:a16="http://schemas.microsoft.com/office/drawing/2014/main" id="{455BE9CA-E829-3827-557E-0789FBCB0988}"/>
              </a:ext>
            </a:extLst>
          </p:cNvPr>
          <p:cNvSpPr>
            <a:spLocks noGrp="1"/>
          </p:cNvSpPr>
          <p:nvPr>
            <p:ph idx="1"/>
          </p:nvPr>
        </p:nvSpPr>
        <p:spPr/>
        <p:txBody>
          <a:bodyPr/>
          <a:lstStyle/>
          <a:p>
            <a:r>
              <a:rPr lang="ru-RU" dirty="0"/>
              <a:t>Кроме одиночных указателей на функции мы можем определять их массивы. Для этого используется следующий формальный синтаксис:</a:t>
            </a:r>
          </a:p>
          <a:p>
            <a:endParaRPr lang="ru-RU" dirty="0"/>
          </a:p>
          <a:p>
            <a:r>
              <a:rPr lang="ru-RU" dirty="0"/>
              <a:t>тип (*</a:t>
            </a:r>
            <a:r>
              <a:rPr lang="ru-RU" dirty="0" err="1"/>
              <a:t>имя_массива</a:t>
            </a:r>
            <a:r>
              <a:rPr lang="ru-RU" dirty="0"/>
              <a:t>[размер]) (параметры)</a:t>
            </a:r>
          </a:p>
          <a:p>
            <a:endParaRPr lang="ru-RU" dirty="0"/>
          </a:p>
          <a:p>
            <a:r>
              <a:rPr lang="de-CH" dirty="0"/>
              <a:t>double (*</a:t>
            </a:r>
            <a:r>
              <a:rPr lang="de-CH" dirty="0" err="1"/>
              <a:t>actions</a:t>
            </a:r>
            <a:r>
              <a:rPr lang="de-CH" dirty="0"/>
              <a:t>[]) (int, int)</a:t>
            </a:r>
            <a:endParaRPr lang="ru-RU" dirty="0"/>
          </a:p>
          <a:p>
            <a:endParaRPr lang="ru-RU" dirty="0"/>
          </a:p>
          <a:p>
            <a:endParaRPr lang="ru-RU" dirty="0"/>
          </a:p>
        </p:txBody>
      </p:sp>
    </p:spTree>
    <p:extLst>
      <p:ext uri="{BB962C8B-B14F-4D97-AF65-F5344CB8AC3E}">
        <p14:creationId xmlns:p14="http://schemas.microsoft.com/office/powerpoint/2010/main" val="796244329"/>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BAD17D-C5C1-4C00-125E-D26A9884F390}"/>
              </a:ext>
            </a:extLst>
          </p:cNvPr>
          <p:cNvSpPr>
            <a:spLocks noGrp="1"/>
          </p:cNvSpPr>
          <p:nvPr>
            <p:ph type="title"/>
          </p:nvPr>
        </p:nvSpPr>
        <p:spPr/>
        <p:txBody>
          <a:bodyPr/>
          <a:lstStyle/>
          <a:p>
            <a:r>
              <a:rPr lang="ru-RU" sz="2400" b="1" dirty="0"/>
              <a:t>Массивы указателей на функции</a:t>
            </a:r>
            <a:endParaRPr lang="ru-RU" sz="2400" dirty="0"/>
          </a:p>
        </p:txBody>
      </p:sp>
      <p:sp>
        <p:nvSpPr>
          <p:cNvPr id="3" name="Объект 2">
            <a:extLst>
              <a:ext uri="{FF2B5EF4-FFF2-40B4-BE49-F238E27FC236}">
                <a16:creationId xmlns:a16="http://schemas.microsoft.com/office/drawing/2014/main" id="{00DABCD8-64B1-26FA-6BE8-8356E4D63F9C}"/>
              </a:ext>
            </a:extLst>
          </p:cNvPr>
          <p:cNvSpPr>
            <a:spLocks noGrp="1"/>
          </p:cNvSpPr>
          <p:nvPr>
            <p:ph idx="1"/>
          </p:nvPr>
        </p:nvSpPr>
        <p:spPr/>
        <p:txBody>
          <a:bodyPr/>
          <a:lstStyle/>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add</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subtract</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multiply</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a:t>
            </a:r>
          </a:p>
          <a:p>
            <a:endParaRPr lang="ru-RU" sz="900" dirty="0">
              <a:solidFill>
                <a:srgbClr val="000000"/>
              </a:solidFill>
              <a:latin typeface="Consolas" panose="020B0609020204030204" pitchFamily="49" charset="0"/>
            </a:endParaRPr>
          </a:p>
          <a:p>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main</a:t>
            </a:r>
            <a:r>
              <a:rPr lang="de-CH"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 10 };</a:t>
            </a:r>
          </a:p>
          <a:p>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b{ 5 };</a:t>
            </a: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void</a:t>
            </a:r>
            <a:r>
              <a:rPr lang="en-US" sz="900" dirty="0">
                <a:solidFill>
                  <a:srgbClr val="000000"/>
                </a:solidFill>
                <a:latin typeface="Consolas" panose="020B0609020204030204" pitchFamily="49" charset="0"/>
              </a:rPr>
              <a:t> (*operations[3])(</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int</a:t>
            </a:r>
            <a:r>
              <a:rPr lang="en-US" sz="900" dirty="0">
                <a:solidFill>
                  <a:srgbClr val="000000"/>
                </a:solidFill>
                <a:latin typeface="Consolas" panose="020B0609020204030204" pitchFamily="49" charset="0"/>
              </a:rPr>
              <a:t>) = { add, subtract, multiply };</a:t>
            </a:r>
          </a:p>
          <a:p>
            <a:endParaRPr lang="ru-RU" sz="900" dirty="0">
              <a:solidFill>
                <a:srgbClr val="000000"/>
              </a:solidFill>
              <a:latin typeface="Consolas" panose="020B0609020204030204" pitchFamily="49" charset="0"/>
            </a:endParaRPr>
          </a:p>
          <a:p>
            <a:r>
              <a:rPr lang="ru-RU" sz="900" dirty="0">
                <a:solidFill>
                  <a:srgbClr val="000000"/>
                </a:solidFill>
                <a:latin typeface="Consolas" panose="020B0609020204030204" pitchFamily="49" charset="0"/>
              </a:rPr>
              <a:t>    </a:t>
            </a:r>
            <a:r>
              <a:rPr lang="ru-RU" sz="900" dirty="0">
                <a:solidFill>
                  <a:srgbClr val="008000"/>
                </a:solidFill>
                <a:latin typeface="Consolas" panose="020B0609020204030204" pitchFamily="49" charset="0"/>
              </a:rPr>
              <a:t>// получаем длину массива</a:t>
            </a:r>
            <a:endParaRPr lang="ru-RU" sz="900" dirty="0">
              <a:solidFill>
                <a:srgbClr val="000000"/>
              </a:solidFill>
              <a:latin typeface="Consolas" panose="020B0609020204030204" pitchFamily="49" charset="0"/>
            </a:endParaRPr>
          </a:p>
          <a:p>
            <a:r>
              <a:rPr lang="en-US" sz="900" dirty="0">
                <a:solidFill>
                  <a:srgbClr val="000000"/>
                </a:solidFill>
                <a:latin typeface="Consolas" panose="020B0609020204030204" pitchFamily="49" charset="0"/>
              </a:rPr>
              <a:t>    </a:t>
            </a:r>
            <a:r>
              <a:rPr lang="en-US" sz="900" dirty="0">
                <a:solidFill>
                  <a:srgbClr val="0000FF"/>
                </a:solidFill>
                <a:latin typeface="Consolas" panose="020B0609020204030204" pitchFamily="49" charset="0"/>
              </a:rPr>
              <a:t>unsigned</a:t>
            </a:r>
            <a:r>
              <a:rPr lang="en-US" sz="900" dirty="0">
                <a:solidFill>
                  <a:srgbClr val="000000"/>
                </a:solidFill>
                <a:latin typeface="Consolas" panose="020B0609020204030204" pitchFamily="49" charset="0"/>
              </a:rPr>
              <a:t> length = std::size(operations);</a:t>
            </a:r>
          </a:p>
          <a:p>
            <a:endParaRPr lang="ru-RU" sz="900" dirty="0">
              <a:solidFill>
                <a:srgbClr val="000000"/>
              </a:solidFill>
              <a:latin typeface="Consolas" panose="020B0609020204030204" pitchFamily="49" charset="0"/>
            </a:endParaRPr>
          </a:p>
          <a:p>
            <a:r>
              <a:rPr lang="de-CH" sz="900" dirty="0">
                <a:solidFill>
                  <a:srgbClr val="000000"/>
                </a:solidFill>
                <a:latin typeface="Consolas" panose="020B0609020204030204" pitchFamily="49" charset="0"/>
              </a:rPr>
              <a:t>    </a:t>
            </a:r>
            <a:r>
              <a:rPr lang="de-CH" sz="900" dirty="0" err="1">
                <a:solidFill>
                  <a:srgbClr val="0000FF"/>
                </a:solidFill>
                <a:latin typeface="Consolas" panose="020B0609020204030204" pitchFamily="49" charset="0"/>
              </a:rPr>
              <a:t>for</a:t>
            </a:r>
            <a:r>
              <a:rPr lang="de-CH" sz="900" dirty="0">
                <a:solidFill>
                  <a:srgbClr val="000000"/>
                </a:solidFill>
                <a:latin typeface="Consolas" panose="020B0609020204030204" pitchFamily="49" charset="0"/>
              </a:rPr>
              <a:t> (</a:t>
            </a:r>
            <a:r>
              <a:rPr lang="de-CH" sz="900" dirty="0" err="1">
                <a:solidFill>
                  <a:srgbClr val="0000FF"/>
                </a:solidFill>
                <a:latin typeface="Consolas" panose="020B0609020204030204" pitchFamily="49" charset="0"/>
              </a:rPr>
              <a:t>unsigned</a:t>
            </a:r>
            <a:r>
              <a:rPr lang="de-CH" sz="900" dirty="0">
                <a:solidFill>
                  <a:srgbClr val="000000"/>
                </a:solidFill>
                <a:latin typeface="Consolas" panose="020B0609020204030204" pitchFamily="49" charset="0"/>
              </a:rPr>
              <a:t> i{}; i &lt; </a:t>
            </a:r>
            <a:r>
              <a:rPr lang="de-CH" sz="900" dirty="0" err="1">
                <a:solidFill>
                  <a:srgbClr val="000000"/>
                </a:solidFill>
                <a:latin typeface="Consolas" panose="020B0609020204030204" pitchFamily="49" charset="0"/>
              </a:rPr>
              <a:t>length</a:t>
            </a:r>
            <a:r>
              <a:rPr lang="de-CH" sz="900" dirty="0">
                <a:solidFill>
                  <a:srgbClr val="000000"/>
                </a:solidFill>
                <a:latin typeface="Consolas" panose="020B0609020204030204" pitchFamily="49" charset="0"/>
              </a:rPr>
              <a:t>; i++)</a:t>
            </a:r>
          </a:p>
          <a:p>
            <a:r>
              <a:rPr lang="ru-RU" sz="900" dirty="0">
                <a:solidFill>
                  <a:srgbClr val="000000"/>
                </a:solidFill>
                <a:latin typeface="Consolas" panose="020B0609020204030204" pitchFamily="49" charset="0"/>
              </a:rPr>
              <a:t>    {</a:t>
            </a:r>
          </a:p>
          <a:p>
            <a:r>
              <a:rPr lang="ru-RU" sz="900" dirty="0">
                <a:solidFill>
                  <a:srgbClr val="000000"/>
                </a:solidFill>
                <a:latin typeface="Consolas" panose="020B0609020204030204" pitchFamily="49" charset="0"/>
              </a:rPr>
              <a:t>        </a:t>
            </a:r>
            <a:r>
              <a:rPr lang="ru-RU" sz="900" dirty="0" err="1">
                <a:solidFill>
                  <a:srgbClr val="000000"/>
                </a:solidFill>
                <a:latin typeface="Consolas" panose="020B0609020204030204" pitchFamily="49" charset="0"/>
              </a:rPr>
              <a:t>operations</a:t>
            </a:r>
            <a:r>
              <a:rPr lang="ru-RU" sz="900" dirty="0">
                <a:solidFill>
                  <a:srgbClr val="000000"/>
                </a:solidFill>
                <a:latin typeface="Consolas" panose="020B0609020204030204" pitchFamily="49" charset="0"/>
              </a:rPr>
              <a:t>[i](a, b);    </a:t>
            </a:r>
            <a:r>
              <a:rPr lang="ru-RU" sz="900" dirty="0">
                <a:solidFill>
                  <a:srgbClr val="008000"/>
                </a:solidFill>
                <a:latin typeface="Consolas" panose="020B0609020204030204" pitchFamily="49" charset="0"/>
              </a:rPr>
              <a:t>// вызов функции по указателю</a:t>
            </a:r>
            <a:endParaRPr lang="ru-RU" sz="900" dirty="0">
              <a:solidFill>
                <a:srgbClr val="000000"/>
              </a:solidFill>
              <a:latin typeface="Consolas" panose="020B0609020204030204" pitchFamily="49" charset="0"/>
            </a:endParaRPr>
          </a:p>
          <a:p>
            <a:r>
              <a:rPr lang="ru-RU" sz="900" dirty="0">
                <a:solidFill>
                  <a:srgbClr val="000000"/>
                </a:solidFill>
                <a:latin typeface="Consolas" panose="020B0609020204030204" pitchFamily="49" charset="0"/>
              </a:rPr>
              <a:t>    }</a:t>
            </a:r>
          </a:p>
          <a:p>
            <a:r>
              <a:rPr lang="ru-RU"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add</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x</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y</a:t>
            </a:r>
            <a:r>
              <a:rPr lang="de-CH"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cout</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A31515"/>
                </a:solidFill>
                <a:latin typeface="Consolas" panose="020B0609020204030204" pitchFamily="49" charset="0"/>
              </a:rPr>
              <a:t>"x + y = "</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808080"/>
                </a:solidFill>
                <a:latin typeface="Consolas" panose="020B0609020204030204" pitchFamily="49" charset="0"/>
              </a:rPr>
              <a:t>x</a:t>
            </a:r>
            <a:r>
              <a:rPr lang="es-ES" sz="900" dirty="0">
                <a:solidFill>
                  <a:srgbClr val="000000"/>
                </a:solidFill>
                <a:latin typeface="Consolas" panose="020B0609020204030204" pitchFamily="49" charset="0"/>
              </a:rPr>
              <a:t> + </a:t>
            </a:r>
            <a:r>
              <a:rPr lang="es-ES" sz="900" dirty="0">
                <a:solidFill>
                  <a:srgbClr val="808080"/>
                </a:solidFill>
                <a:latin typeface="Consolas" panose="020B0609020204030204" pitchFamily="49" charset="0"/>
              </a:rPr>
              <a:t>y</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endl</a:t>
            </a:r>
            <a:r>
              <a:rPr lang="es-ES"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subtract</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x</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y</a:t>
            </a:r>
            <a:r>
              <a:rPr lang="de-CH"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cout</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A31515"/>
                </a:solidFill>
                <a:latin typeface="Consolas" panose="020B0609020204030204" pitchFamily="49" charset="0"/>
              </a:rPr>
              <a:t>"x - y = "</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808080"/>
                </a:solidFill>
                <a:latin typeface="Consolas" panose="020B0609020204030204" pitchFamily="49" charset="0"/>
              </a:rPr>
              <a:t>x</a:t>
            </a:r>
            <a:r>
              <a:rPr lang="es-ES" sz="900" dirty="0">
                <a:solidFill>
                  <a:srgbClr val="000000"/>
                </a:solidFill>
                <a:latin typeface="Consolas" panose="020B0609020204030204" pitchFamily="49" charset="0"/>
              </a:rPr>
              <a:t> - </a:t>
            </a:r>
            <a:r>
              <a:rPr lang="es-ES" sz="900" dirty="0">
                <a:solidFill>
                  <a:srgbClr val="808080"/>
                </a:solidFill>
                <a:latin typeface="Consolas" panose="020B0609020204030204" pitchFamily="49" charset="0"/>
              </a:rPr>
              <a:t>y</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endl</a:t>
            </a:r>
            <a:r>
              <a:rPr lang="es-ES"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de-CH" sz="900" dirty="0" err="1">
                <a:solidFill>
                  <a:srgbClr val="0000FF"/>
                </a:solidFill>
                <a:latin typeface="Consolas" panose="020B0609020204030204" pitchFamily="49" charset="0"/>
              </a:rPr>
              <a:t>void</a:t>
            </a:r>
            <a:r>
              <a:rPr lang="de-CH" sz="900" dirty="0">
                <a:solidFill>
                  <a:srgbClr val="000000"/>
                </a:solidFill>
                <a:latin typeface="Consolas" panose="020B0609020204030204" pitchFamily="49" charset="0"/>
              </a:rPr>
              <a:t> </a:t>
            </a:r>
            <a:r>
              <a:rPr lang="de-CH" sz="900" dirty="0" err="1">
                <a:solidFill>
                  <a:srgbClr val="000000"/>
                </a:solidFill>
                <a:latin typeface="Consolas" panose="020B0609020204030204" pitchFamily="49" charset="0"/>
              </a:rPr>
              <a:t>multiply</a:t>
            </a:r>
            <a:r>
              <a:rPr lang="de-CH" sz="900" dirty="0">
                <a:solidFill>
                  <a:srgbClr val="000000"/>
                </a:solidFill>
                <a:latin typeface="Consolas" panose="020B0609020204030204" pitchFamily="49" charset="0"/>
              </a:rPr>
              <a:t>(</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x</a:t>
            </a:r>
            <a:r>
              <a:rPr lang="de-CH" sz="900" dirty="0">
                <a:solidFill>
                  <a:srgbClr val="000000"/>
                </a:solidFill>
                <a:latin typeface="Consolas" panose="020B0609020204030204" pitchFamily="49" charset="0"/>
              </a:rPr>
              <a:t>, </a:t>
            </a:r>
            <a:r>
              <a:rPr lang="de-CH" sz="900" dirty="0">
                <a:solidFill>
                  <a:srgbClr val="0000FF"/>
                </a:solidFill>
                <a:latin typeface="Consolas" panose="020B0609020204030204" pitchFamily="49" charset="0"/>
              </a:rPr>
              <a:t>int</a:t>
            </a:r>
            <a:r>
              <a:rPr lang="de-CH" sz="900" dirty="0">
                <a:solidFill>
                  <a:srgbClr val="000000"/>
                </a:solidFill>
                <a:latin typeface="Consolas" panose="020B0609020204030204" pitchFamily="49" charset="0"/>
              </a:rPr>
              <a:t> </a:t>
            </a:r>
            <a:r>
              <a:rPr lang="de-CH" sz="900" dirty="0">
                <a:solidFill>
                  <a:srgbClr val="808080"/>
                </a:solidFill>
                <a:latin typeface="Consolas" panose="020B0609020204030204" pitchFamily="49" charset="0"/>
              </a:rPr>
              <a:t>y</a:t>
            </a:r>
            <a:r>
              <a:rPr lang="de-CH"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p>
          <a:p>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cout</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A31515"/>
                </a:solidFill>
                <a:latin typeface="Consolas" panose="020B0609020204030204" pitchFamily="49" charset="0"/>
              </a:rPr>
              <a:t>"x * y = "</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a:solidFill>
                  <a:srgbClr val="808080"/>
                </a:solidFill>
                <a:latin typeface="Consolas" panose="020B0609020204030204" pitchFamily="49" charset="0"/>
              </a:rPr>
              <a:t>x</a:t>
            </a:r>
            <a:r>
              <a:rPr lang="es-ES" sz="900" dirty="0">
                <a:solidFill>
                  <a:srgbClr val="000000"/>
                </a:solidFill>
                <a:latin typeface="Consolas" panose="020B0609020204030204" pitchFamily="49" charset="0"/>
              </a:rPr>
              <a:t> * </a:t>
            </a:r>
            <a:r>
              <a:rPr lang="es-ES" sz="900" dirty="0">
                <a:solidFill>
                  <a:srgbClr val="808080"/>
                </a:solidFill>
                <a:latin typeface="Consolas" panose="020B0609020204030204" pitchFamily="49" charset="0"/>
              </a:rPr>
              <a:t>y</a:t>
            </a:r>
            <a:r>
              <a:rPr lang="es-ES" sz="900" dirty="0">
                <a:solidFill>
                  <a:srgbClr val="000000"/>
                </a:solidFill>
                <a:latin typeface="Consolas" panose="020B0609020204030204" pitchFamily="49" charset="0"/>
              </a:rPr>
              <a:t> </a:t>
            </a:r>
            <a:r>
              <a:rPr lang="es-ES" sz="900" dirty="0">
                <a:solidFill>
                  <a:srgbClr val="008080"/>
                </a:solidFill>
                <a:latin typeface="Consolas" panose="020B0609020204030204" pitchFamily="49" charset="0"/>
              </a:rPr>
              <a:t>&lt;&lt;</a:t>
            </a:r>
            <a:r>
              <a:rPr lang="es-ES" sz="900" dirty="0">
                <a:solidFill>
                  <a:srgbClr val="000000"/>
                </a:solidFill>
                <a:latin typeface="Consolas" panose="020B0609020204030204" pitchFamily="49" charset="0"/>
              </a:rPr>
              <a:t> </a:t>
            </a:r>
            <a:r>
              <a:rPr lang="es-ES" sz="900" dirty="0" err="1">
                <a:solidFill>
                  <a:srgbClr val="000000"/>
                </a:solidFill>
                <a:latin typeface="Consolas" panose="020B0609020204030204" pitchFamily="49" charset="0"/>
              </a:rPr>
              <a:t>std</a:t>
            </a:r>
            <a:r>
              <a:rPr lang="es-ES" sz="900" dirty="0">
                <a:solidFill>
                  <a:srgbClr val="000000"/>
                </a:solidFill>
                <a:latin typeface="Consolas" panose="020B0609020204030204" pitchFamily="49" charset="0"/>
              </a:rPr>
              <a:t>::</a:t>
            </a:r>
            <a:r>
              <a:rPr lang="es-ES" sz="900" dirty="0" err="1">
                <a:solidFill>
                  <a:srgbClr val="000000"/>
                </a:solidFill>
                <a:latin typeface="Consolas" panose="020B0609020204030204" pitchFamily="49" charset="0"/>
              </a:rPr>
              <a:t>endl</a:t>
            </a:r>
            <a:r>
              <a:rPr lang="es-ES" sz="900" dirty="0">
                <a:solidFill>
                  <a:srgbClr val="000000"/>
                </a:solidFill>
                <a:latin typeface="Consolas" panose="020B0609020204030204" pitchFamily="49" charset="0"/>
              </a:rPr>
              <a:t>;</a:t>
            </a:r>
          </a:p>
          <a:p>
            <a:r>
              <a:rPr lang="ru-RU" sz="900" dirty="0">
                <a:solidFill>
                  <a:srgbClr val="000000"/>
                </a:solidFill>
                <a:latin typeface="Consolas" panose="020B0609020204030204" pitchFamily="49" charset="0"/>
              </a:rPr>
              <a:t>}</a:t>
            </a:r>
            <a:endParaRPr lang="ru-RU" sz="900" dirty="0"/>
          </a:p>
        </p:txBody>
      </p:sp>
    </p:spTree>
    <p:extLst>
      <p:ext uri="{BB962C8B-B14F-4D97-AF65-F5344CB8AC3E}">
        <p14:creationId xmlns:p14="http://schemas.microsoft.com/office/powerpoint/2010/main" val="2806296772"/>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0AAE64-391D-FDB8-A286-2E21BFD1E215}"/>
              </a:ext>
            </a:extLst>
          </p:cNvPr>
          <p:cNvSpPr>
            <a:spLocks noGrp="1"/>
          </p:cNvSpPr>
          <p:nvPr>
            <p:ph type="title"/>
          </p:nvPr>
        </p:nvSpPr>
        <p:spPr/>
        <p:txBody>
          <a:bodyPr/>
          <a:lstStyle/>
          <a:p>
            <a:r>
              <a:rPr lang="ru-RU" sz="2400" b="1" dirty="0"/>
              <a:t>Указатели на функции как параметры</a:t>
            </a:r>
            <a:endParaRPr lang="ru-RU" sz="2400" dirty="0"/>
          </a:p>
        </p:txBody>
      </p:sp>
      <p:sp>
        <p:nvSpPr>
          <p:cNvPr id="3" name="Объект 2">
            <a:extLst>
              <a:ext uri="{FF2B5EF4-FFF2-40B4-BE49-F238E27FC236}">
                <a16:creationId xmlns:a16="http://schemas.microsoft.com/office/drawing/2014/main" id="{40221CC9-1046-2E42-F0DD-C06F54983E7C}"/>
              </a:ext>
            </a:extLst>
          </p:cNvPr>
          <p:cNvSpPr>
            <a:spLocks noGrp="1"/>
          </p:cNvSpPr>
          <p:nvPr>
            <p:ph idx="1"/>
          </p:nvPr>
        </p:nvSpPr>
        <p:spPr/>
        <p:txBody>
          <a:bodyPr numCol="2"/>
          <a:lstStyle/>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add</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a:t>
            </a: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subtract</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a:t>
            </a:r>
          </a:p>
          <a:p>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err="1">
                <a:solidFill>
                  <a:srgbClr val="000000"/>
                </a:solidFill>
                <a:latin typeface="Consolas" panose="020B0609020204030204" pitchFamily="49" charset="0"/>
              </a:rPr>
              <a:t>operation</a:t>
            </a:r>
            <a:r>
              <a:rPr lang="ru-RU" sz="1600" dirty="0">
                <a:solidFill>
                  <a:srgbClr val="000000"/>
                </a:solidFill>
                <a:latin typeface="Consolas" panose="020B0609020204030204" pitchFamily="49" charset="0"/>
              </a:rPr>
              <a:t>(</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a:solidFill>
                  <a:srgbClr val="0000FF"/>
                </a:solidFill>
                <a:latin typeface="Consolas" panose="020B0609020204030204" pitchFamily="49" charset="0"/>
              </a:rPr>
              <a:t>int</a:t>
            </a:r>
            <a:r>
              <a:rPr lang="ru-RU" sz="1600" dirty="0">
                <a:solidFill>
                  <a:srgbClr val="000000"/>
                </a:solidFill>
                <a:latin typeface="Consolas" panose="020B0609020204030204" pitchFamily="49" charset="0"/>
              </a:rPr>
              <a:t>);  </a:t>
            </a:r>
            <a:r>
              <a:rPr lang="ru-RU" sz="1600" dirty="0">
                <a:solidFill>
                  <a:srgbClr val="008000"/>
                </a:solidFill>
                <a:latin typeface="Consolas" panose="020B0609020204030204" pitchFamily="49" charset="0"/>
              </a:rPr>
              <a:t>// первый параметр - указатель на функцию</a:t>
            </a:r>
            <a:endParaRPr lang="ru-RU" sz="1600" dirty="0">
              <a:solidFill>
                <a:srgbClr val="000000"/>
              </a:solidFill>
              <a:latin typeface="Consolas" panose="020B0609020204030204" pitchFamily="49" charset="0"/>
            </a:endParaRPr>
          </a:p>
          <a:p>
            <a:endParaRPr lang="ru-RU" sz="1600" dirty="0">
              <a:solidFill>
                <a:srgbClr val="000000"/>
              </a:solidFill>
              <a:latin typeface="Consolas" panose="020B0609020204030204" pitchFamily="49" charset="0"/>
            </a:endParaRP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main</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 10 };</a:t>
            </a:r>
          </a:p>
          <a:p>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b{ 6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result = operation(add, a, b);</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"result: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endParaRPr lang="ru-RU"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result = operation(subtract, a, b);</a:t>
            </a:r>
          </a:p>
          <a:p>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cout</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"result: "</a:t>
            </a:r>
            <a:r>
              <a:rPr lang="en-US" sz="1600" dirty="0">
                <a:solidFill>
                  <a:srgbClr val="000000"/>
                </a:solidFill>
                <a:latin typeface="Consolas" panose="020B0609020204030204" pitchFamily="49" charset="0"/>
              </a:rPr>
              <a: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result </a:t>
            </a:r>
            <a:r>
              <a:rPr lang="en-US" sz="1600" dirty="0">
                <a:solidFill>
                  <a:srgbClr val="008080"/>
                </a:solidFill>
                <a:latin typeface="Consolas" panose="020B0609020204030204" pitchFamily="49" charset="0"/>
              </a:rPr>
              <a:t>&lt;&lt;</a:t>
            </a:r>
            <a:r>
              <a:rPr lang="en-US" sz="1600" dirty="0">
                <a:solidFill>
                  <a:srgbClr val="000000"/>
                </a:solidFill>
                <a:latin typeface="Consolas" panose="020B0609020204030204" pitchFamily="49" charset="0"/>
              </a:rPr>
              <a:t> std::</a:t>
            </a:r>
            <a:r>
              <a:rPr lang="en-US" sz="1600" dirty="0" err="1">
                <a:solidFill>
                  <a:srgbClr val="000000"/>
                </a:solidFill>
                <a:latin typeface="Consolas" panose="020B0609020204030204" pitchFamily="49" charset="0"/>
              </a:rPr>
              <a:t>endl</a:t>
            </a:r>
            <a:r>
              <a:rPr lang="en-US"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endParaRPr lang="ru-RU" sz="1600" dirty="0">
              <a:solidFill>
                <a:srgbClr val="000000"/>
              </a:solidFill>
              <a:latin typeface="Consolas" panose="020B0609020204030204" pitchFamily="49" charset="0"/>
            </a:endParaRP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add</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x</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y</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return</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x</a:t>
            </a:r>
            <a:r>
              <a:rPr lang="de-CH" sz="1600" dirty="0">
                <a:solidFill>
                  <a:srgbClr val="000000"/>
                </a:solidFill>
                <a:latin typeface="Consolas" panose="020B0609020204030204" pitchFamily="49" charset="0"/>
              </a:rPr>
              <a:t> + </a:t>
            </a:r>
            <a:r>
              <a:rPr lang="de-CH" sz="1600" dirty="0">
                <a:solidFill>
                  <a:srgbClr val="808080"/>
                </a:solidFill>
                <a:latin typeface="Consolas" panose="020B0609020204030204" pitchFamily="49" charset="0"/>
              </a:rPr>
              <a:t>y</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subtract</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x</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y</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return</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x</a:t>
            </a:r>
            <a:r>
              <a:rPr lang="de-CH" sz="1600" dirty="0">
                <a:solidFill>
                  <a:srgbClr val="000000"/>
                </a:solidFill>
                <a:latin typeface="Consolas" panose="020B0609020204030204" pitchFamily="49" charset="0"/>
              </a:rPr>
              <a:t> - </a:t>
            </a:r>
            <a:r>
              <a:rPr lang="de-CH" sz="1600" dirty="0">
                <a:solidFill>
                  <a:srgbClr val="808080"/>
                </a:solidFill>
                <a:latin typeface="Consolas" panose="020B0609020204030204" pitchFamily="49" charset="0"/>
              </a:rPr>
              <a:t>y</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err="1">
                <a:solidFill>
                  <a:srgbClr val="000000"/>
                </a:solidFill>
                <a:latin typeface="Consolas" panose="020B0609020204030204" pitchFamily="49" charset="0"/>
              </a:rPr>
              <a:t>operation</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a:t>
            </a:r>
            <a:r>
              <a:rPr lang="de-CH" sz="1600" dirty="0" err="1">
                <a:solidFill>
                  <a:srgbClr val="808080"/>
                </a:solidFill>
                <a:latin typeface="Consolas" panose="020B0609020204030204" pitchFamily="49" charset="0"/>
              </a:rPr>
              <a:t>op</a:t>
            </a:r>
            <a:r>
              <a:rPr lang="de-CH" sz="1600" dirty="0">
                <a:solidFill>
                  <a:srgbClr val="000000"/>
                </a:solidFill>
                <a:latin typeface="Consolas" panose="020B0609020204030204" pitchFamily="49" charset="0"/>
              </a:rPr>
              <a:t>)(</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a</a:t>
            </a:r>
            <a:r>
              <a:rPr lang="de-CH" sz="1600" dirty="0">
                <a:solidFill>
                  <a:srgbClr val="000000"/>
                </a:solidFill>
                <a:latin typeface="Consolas" panose="020B0609020204030204" pitchFamily="49" charset="0"/>
              </a:rPr>
              <a:t>, </a:t>
            </a:r>
            <a:r>
              <a:rPr lang="de-CH" sz="1600" dirty="0">
                <a:solidFill>
                  <a:srgbClr val="0000FF"/>
                </a:solidFill>
                <a:latin typeface="Consolas" panose="020B0609020204030204" pitchFamily="49" charset="0"/>
              </a:rPr>
              <a:t>int</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b</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p>
          <a:p>
            <a:r>
              <a:rPr lang="de-CH" sz="1600" dirty="0">
                <a:solidFill>
                  <a:srgbClr val="000000"/>
                </a:solidFill>
                <a:latin typeface="Consolas" panose="020B0609020204030204" pitchFamily="49" charset="0"/>
              </a:rPr>
              <a:t>    </a:t>
            </a:r>
            <a:r>
              <a:rPr lang="de-CH" sz="1600" dirty="0" err="1">
                <a:solidFill>
                  <a:srgbClr val="0000FF"/>
                </a:solidFill>
                <a:latin typeface="Consolas" panose="020B0609020204030204" pitchFamily="49" charset="0"/>
              </a:rPr>
              <a:t>return</a:t>
            </a:r>
            <a:r>
              <a:rPr lang="de-CH" sz="1600" dirty="0">
                <a:solidFill>
                  <a:srgbClr val="000000"/>
                </a:solidFill>
                <a:latin typeface="Consolas" panose="020B0609020204030204" pitchFamily="49" charset="0"/>
              </a:rPr>
              <a:t> </a:t>
            </a:r>
            <a:r>
              <a:rPr lang="de-CH" sz="1600" dirty="0" err="1">
                <a:solidFill>
                  <a:srgbClr val="808080"/>
                </a:solidFill>
                <a:latin typeface="Consolas" panose="020B0609020204030204" pitchFamily="49" charset="0"/>
              </a:rPr>
              <a:t>op</a:t>
            </a:r>
            <a:r>
              <a:rPr lang="de-CH" sz="1600" dirty="0">
                <a:solidFill>
                  <a:srgbClr val="000000"/>
                </a:solidFill>
                <a:latin typeface="Consolas" panose="020B0609020204030204" pitchFamily="49" charset="0"/>
              </a:rPr>
              <a:t>(</a:t>
            </a:r>
            <a:r>
              <a:rPr lang="de-CH" sz="1600" dirty="0">
                <a:solidFill>
                  <a:srgbClr val="808080"/>
                </a:solidFill>
                <a:latin typeface="Consolas" panose="020B0609020204030204" pitchFamily="49" charset="0"/>
              </a:rPr>
              <a:t>a</a:t>
            </a:r>
            <a:r>
              <a:rPr lang="de-CH" sz="1600" dirty="0">
                <a:solidFill>
                  <a:srgbClr val="000000"/>
                </a:solidFill>
                <a:latin typeface="Consolas" panose="020B0609020204030204" pitchFamily="49" charset="0"/>
              </a:rPr>
              <a:t>, </a:t>
            </a:r>
            <a:r>
              <a:rPr lang="de-CH" sz="1600" dirty="0">
                <a:solidFill>
                  <a:srgbClr val="808080"/>
                </a:solidFill>
                <a:latin typeface="Consolas" panose="020B0609020204030204" pitchFamily="49" charset="0"/>
              </a:rPr>
              <a:t>b</a:t>
            </a:r>
            <a:r>
              <a:rPr lang="de-CH" sz="1600" dirty="0">
                <a:solidFill>
                  <a:srgbClr val="000000"/>
                </a:solidFill>
                <a:latin typeface="Consolas" panose="020B0609020204030204" pitchFamily="49" charset="0"/>
              </a:rPr>
              <a:t>);</a:t>
            </a:r>
          </a:p>
          <a:p>
            <a:r>
              <a:rPr lang="ru-RU" sz="1600" dirty="0">
                <a:solidFill>
                  <a:srgbClr val="000000"/>
                </a:solidFill>
                <a:latin typeface="Consolas" panose="020B0609020204030204" pitchFamily="49" charset="0"/>
              </a:rPr>
              <a:t>}</a:t>
            </a:r>
            <a:endParaRPr lang="ru-RU" sz="1600" dirty="0"/>
          </a:p>
        </p:txBody>
      </p:sp>
    </p:spTree>
    <p:extLst>
      <p:ext uri="{BB962C8B-B14F-4D97-AF65-F5344CB8AC3E}">
        <p14:creationId xmlns:p14="http://schemas.microsoft.com/office/powerpoint/2010/main" val="2158081502"/>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9BFB14-66BB-F638-19B6-95DB46ADBF85}"/>
              </a:ext>
            </a:extLst>
          </p:cNvPr>
          <p:cNvSpPr>
            <a:spLocks noGrp="1"/>
          </p:cNvSpPr>
          <p:nvPr>
            <p:ph type="title"/>
          </p:nvPr>
        </p:nvSpPr>
        <p:spPr/>
        <p:txBody>
          <a:bodyPr/>
          <a:lstStyle/>
          <a:p>
            <a:r>
              <a:rPr lang="ru-RU" b="1" dirty="0"/>
              <a:t>Тип функции</a:t>
            </a:r>
            <a:endParaRPr lang="ru-RU" dirty="0"/>
          </a:p>
        </p:txBody>
      </p:sp>
      <p:sp>
        <p:nvSpPr>
          <p:cNvPr id="3" name="Объект 2">
            <a:extLst>
              <a:ext uri="{FF2B5EF4-FFF2-40B4-BE49-F238E27FC236}">
                <a16:creationId xmlns:a16="http://schemas.microsoft.com/office/drawing/2014/main" id="{C8327DD5-65EA-CBBA-714C-D4E64BA89FB4}"/>
              </a:ext>
            </a:extLst>
          </p:cNvPr>
          <p:cNvSpPr>
            <a:spLocks noGrp="1"/>
          </p:cNvSpPr>
          <p:nvPr>
            <p:ph idx="1"/>
          </p:nvPr>
        </p:nvSpPr>
        <p:spPr/>
        <p:txBody>
          <a:bodyPr/>
          <a:lstStyle/>
          <a:p>
            <a:r>
              <a:rPr lang="ru-RU" dirty="0"/>
              <a:t>При определении указателя на функцию применяется синтаксис, который может показаться </a:t>
            </a:r>
            <a:r>
              <a:rPr lang="ru-RU" dirty="0" err="1"/>
              <a:t>малочитабельным</a:t>
            </a:r>
            <a:r>
              <a:rPr lang="ru-RU" dirty="0"/>
              <a:t>, например:</a:t>
            </a:r>
            <a:endParaRPr lang="en-US" dirty="0"/>
          </a:p>
          <a:p>
            <a:endParaRPr lang="en-US" dirty="0"/>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a:t>
            </a: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operation</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 };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указатель </a:t>
            </a:r>
            <a:r>
              <a:rPr lang="de-CH" sz="2000" dirty="0" err="1">
                <a:solidFill>
                  <a:srgbClr val="008000"/>
                </a:solidFill>
                <a:highlight>
                  <a:srgbClr val="FFFFFF"/>
                </a:highlight>
                <a:latin typeface="Cascadia Mono" panose="020B0609020000020004" pitchFamily="49" charset="0"/>
              </a:rPr>
              <a:t>operation</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указывает на функцию </a:t>
            </a:r>
            <a:r>
              <a:rPr lang="de-CH" sz="2000" dirty="0" err="1">
                <a:solidFill>
                  <a:srgbClr val="008000"/>
                </a:solidFill>
                <a:highlight>
                  <a:srgbClr val="FFFFFF"/>
                </a:highlight>
                <a:latin typeface="Cascadia Mono" panose="020B0609020000020004" pitchFamily="49" charset="0"/>
              </a:rPr>
              <a:t>sum</a:t>
            </a:r>
            <a:endParaRPr lang="de-CH"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operation(3, 5)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x</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y</a:t>
            </a:r>
            <a:r>
              <a:rPr lang="de-CH" sz="2000" dirty="0">
                <a:solidFill>
                  <a:srgbClr val="000000"/>
                </a:solidFill>
                <a:highlight>
                  <a:srgbClr val="FFFFFF"/>
                </a:highlight>
                <a:latin typeface="Cascadia Mono" panose="020B0609020000020004" pitchFamily="49" charset="0"/>
              </a:rPr>
              <a:t>) {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x</a:t>
            </a:r>
            <a:r>
              <a:rPr lang="de-CH" sz="2000" dirty="0">
                <a:solidFill>
                  <a:srgbClr val="000000"/>
                </a:solidFill>
                <a:highlight>
                  <a:srgbClr val="FFFFFF"/>
                </a:highlight>
                <a:latin typeface="Cascadia Mono" panose="020B0609020000020004" pitchFamily="49" charset="0"/>
              </a:rPr>
              <a:t> + </a:t>
            </a:r>
            <a:r>
              <a:rPr lang="de-CH" sz="2000" dirty="0">
                <a:solidFill>
                  <a:srgbClr val="808080"/>
                </a:solidFill>
                <a:highlight>
                  <a:srgbClr val="FFFFFF"/>
                </a:highlight>
                <a:latin typeface="Cascadia Mono" panose="020B0609020000020004" pitchFamily="49" charset="0"/>
              </a:rPr>
              <a:t>y</a:t>
            </a:r>
            <a:r>
              <a:rPr lang="de-CH" sz="2000" dirty="0">
                <a:solidFill>
                  <a:srgbClr val="000000"/>
                </a:solidFill>
                <a:highlight>
                  <a:srgbClr val="FFFFFF"/>
                </a:highlight>
                <a:latin typeface="Cascadia Mono" panose="020B0609020000020004" pitchFamily="49" charset="0"/>
              </a:rPr>
              <a:t>; }</a:t>
            </a:r>
          </a:p>
          <a:p>
            <a:endParaRPr lang="ru-RU" dirty="0"/>
          </a:p>
        </p:txBody>
      </p:sp>
    </p:spTree>
    <p:extLst>
      <p:ext uri="{BB962C8B-B14F-4D97-AF65-F5344CB8AC3E}">
        <p14:creationId xmlns:p14="http://schemas.microsoft.com/office/powerpoint/2010/main" val="3445497488"/>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00DD7C-EE17-5A12-9D13-FDB6661015FB}"/>
              </a:ext>
            </a:extLst>
          </p:cNvPr>
          <p:cNvSpPr>
            <a:spLocks noGrp="1"/>
          </p:cNvSpPr>
          <p:nvPr>
            <p:ph type="title"/>
          </p:nvPr>
        </p:nvSpPr>
        <p:spPr/>
        <p:txBody>
          <a:bodyPr/>
          <a:lstStyle/>
          <a:p>
            <a:r>
              <a:rPr lang="ru-RU" b="1" dirty="0"/>
              <a:t>Тип функции</a:t>
            </a:r>
            <a:endParaRPr lang="ru-RU" dirty="0"/>
          </a:p>
        </p:txBody>
      </p:sp>
      <p:sp>
        <p:nvSpPr>
          <p:cNvPr id="3" name="Объект 2">
            <a:extLst>
              <a:ext uri="{FF2B5EF4-FFF2-40B4-BE49-F238E27FC236}">
                <a16:creationId xmlns:a16="http://schemas.microsoft.com/office/drawing/2014/main" id="{26714548-6E80-255F-F1D3-AA4915AF8BEE}"/>
              </a:ext>
            </a:extLst>
          </p:cNvPr>
          <p:cNvSpPr>
            <a:spLocks noGrp="1"/>
          </p:cNvSpPr>
          <p:nvPr>
            <p:ph idx="1"/>
          </p:nvPr>
        </p:nvSpPr>
        <p:spPr/>
        <p:txBody>
          <a:bodyPr/>
          <a:lstStyle/>
          <a:p>
            <a:r>
              <a:rPr lang="ru-RU" dirty="0"/>
              <a:t>Так как указатель на функцию представляет отдельный тип, то для него можно определить </a:t>
            </a:r>
            <a:r>
              <a:rPr lang="ru-RU" dirty="0" err="1"/>
              <a:t>псевдноним</a:t>
            </a:r>
            <a:r>
              <a:rPr lang="ru-RU" dirty="0"/>
              <a:t> с помощью ключевого слова </a:t>
            </a:r>
            <a:r>
              <a:rPr lang="ru-RU" b="1" dirty="0" err="1"/>
              <a:t>using</a:t>
            </a:r>
            <a:r>
              <a:rPr lang="ru-RU" dirty="0"/>
              <a:t>:</a:t>
            </a:r>
            <a:endParaRPr lang="en-US" dirty="0"/>
          </a:p>
          <a:p>
            <a:endParaRPr lang="en-US" dirty="0"/>
          </a:p>
          <a:p>
            <a:r>
              <a:rPr lang="ru-RU" sz="1400" dirty="0">
                <a:solidFill>
                  <a:srgbClr val="008000"/>
                </a:solidFill>
                <a:highlight>
                  <a:srgbClr val="FFFFFF"/>
                </a:highlight>
                <a:latin typeface="Cascadia Mono" panose="020B0609020000020004" pitchFamily="49" charset="0"/>
              </a:rPr>
              <a:t>// </a:t>
            </a:r>
            <a:r>
              <a:rPr lang="ru-RU" sz="1400" dirty="0" err="1">
                <a:solidFill>
                  <a:srgbClr val="008000"/>
                </a:solidFill>
                <a:highlight>
                  <a:srgbClr val="FFFFFF"/>
                </a:highlight>
                <a:latin typeface="Cascadia Mono" panose="020B0609020000020004" pitchFamily="49" charset="0"/>
              </a:rPr>
              <a:t>BinaryOp</a:t>
            </a:r>
            <a:r>
              <a:rPr lang="ru-RU" sz="1400" dirty="0">
                <a:solidFill>
                  <a:srgbClr val="008000"/>
                </a:solidFill>
                <a:highlight>
                  <a:srgbClr val="FFFFFF"/>
                </a:highlight>
                <a:latin typeface="Cascadia Mono" panose="020B0609020000020004" pitchFamily="49" charset="0"/>
              </a:rPr>
              <a:t> представляет указатель на функцию типа int (*)(int, int)</a:t>
            </a:r>
            <a:endParaRPr lang="ru-RU" sz="1400" dirty="0">
              <a:solidFill>
                <a:srgbClr val="000000"/>
              </a:solidFill>
              <a:highlight>
                <a:srgbClr val="FFFFFF"/>
              </a:highlight>
              <a:latin typeface="Cascadia Mono" panose="020B0609020000020004" pitchFamily="49" charset="0"/>
            </a:endParaRPr>
          </a:p>
          <a:p>
            <a:r>
              <a:rPr lang="en-US" sz="1400" dirty="0">
                <a:solidFill>
                  <a:srgbClr val="0000FF"/>
                </a:solidFill>
                <a:highlight>
                  <a:srgbClr val="FFFFFF"/>
                </a:highlight>
                <a:latin typeface="Cascadia Mono" panose="020B0609020000020004" pitchFamily="49" charset="0"/>
              </a:rPr>
              <a:t>using</a:t>
            </a:r>
            <a:r>
              <a:rPr lang="en-US" sz="1400" dirty="0">
                <a:solidFill>
                  <a:srgbClr val="000000"/>
                </a:solidFill>
                <a:highlight>
                  <a:srgbClr val="FFFFFF"/>
                </a:highlight>
                <a:latin typeface="Cascadia Mono" panose="020B0609020000020004" pitchFamily="49" charset="0"/>
              </a:rPr>
              <a:t> </a:t>
            </a:r>
            <a:r>
              <a:rPr lang="en-US" sz="1400" dirty="0" err="1">
                <a:solidFill>
                  <a:srgbClr val="2B91AF"/>
                </a:solidFill>
                <a:highlight>
                  <a:srgbClr val="FFFFFF"/>
                </a:highlight>
                <a:latin typeface="Cascadia Mono" panose="020B0609020000020004" pitchFamily="49" charset="0"/>
              </a:rPr>
              <a:t>BinaryOp</a:t>
            </a:r>
            <a:r>
              <a:rPr lang="en-US" sz="1400" dirty="0">
                <a:solidFill>
                  <a:srgbClr val="000000"/>
                </a:solidFill>
                <a:highlight>
                  <a:srgbClr val="FFFFFF"/>
                </a:highlight>
                <a:latin typeface="Cascadia Mono" panose="020B0609020000020004" pitchFamily="49" charset="0"/>
              </a:rPr>
              <a:t> =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a:t>
            </a:r>
          </a:p>
          <a:p>
            <a:endParaRPr lang="ru-RU" sz="1400" dirty="0">
              <a:solidFill>
                <a:srgbClr val="000000"/>
              </a:solidFill>
              <a:highlight>
                <a:srgbClr val="FFFFFF"/>
              </a:highlight>
              <a:latin typeface="Cascadia Mono" panose="020B0609020000020004" pitchFamily="49" charset="0"/>
            </a:endParaRP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sum</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a:t>
            </a: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subtract</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a:t>
            </a:r>
          </a:p>
          <a:p>
            <a:endParaRPr lang="ru-RU" sz="1400" dirty="0">
              <a:solidFill>
                <a:srgbClr val="000000"/>
              </a:solidFill>
              <a:highlight>
                <a:srgbClr val="FFFFFF"/>
              </a:highlight>
              <a:latin typeface="Cascadia Mono" panose="020B0609020000020004" pitchFamily="49" charset="0"/>
            </a:endParaRP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r>
              <a:rPr lang="de-CH" sz="1400" dirty="0">
                <a:solidFill>
                  <a:srgbClr val="000000"/>
                </a:solidFill>
                <a:highlight>
                  <a:srgbClr val="FFFFFF"/>
                </a:highlight>
                <a:latin typeface="Cascadia Mono" panose="020B0609020000020004" pitchFamily="49" charset="0"/>
              </a:rPr>
              <a:t>    </a:t>
            </a:r>
            <a:r>
              <a:rPr lang="de-CH" sz="1400" dirty="0" err="1">
                <a:solidFill>
                  <a:srgbClr val="2B91AF"/>
                </a:solidFill>
                <a:highlight>
                  <a:srgbClr val="FFFFFF"/>
                </a:highlight>
                <a:latin typeface="Cascadia Mono" panose="020B0609020000020004" pitchFamily="49" charset="0"/>
              </a:rPr>
              <a:t>BinaryOp</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operation</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sum</a:t>
            </a:r>
            <a:r>
              <a:rPr lang="de-CH" sz="1400" dirty="0">
                <a:solidFill>
                  <a:srgbClr val="000000"/>
                </a:solidFill>
                <a:highlight>
                  <a:srgbClr val="FFFFFF"/>
                </a:highlight>
                <a:latin typeface="Cascadia Mono" panose="020B0609020000020004" pitchFamily="49" charset="0"/>
              </a:rPr>
              <a:t> };</a:t>
            </a:r>
          </a:p>
          <a:p>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operation(8, 5)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13</a:t>
            </a:r>
            <a:endParaRPr lang="en-US"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operation</a:t>
            </a:r>
            <a:r>
              <a:rPr lang="de-CH" sz="1400" dirty="0">
                <a:solidFill>
                  <a:srgbClr val="000000"/>
                </a:solidFill>
                <a:highlight>
                  <a:srgbClr val="FFFFFF"/>
                </a:highlight>
                <a:latin typeface="Cascadia Mono" panose="020B0609020000020004" pitchFamily="49" charset="0"/>
              </a:rPr>
              <a:t> = </a:t>
            </a:r>
            <a:r>
              <a:rPr lang="de-CH" sz="1400" dirty="0" err="1">
                <a:solidFill>
                  <a:srgbClr val="000000"/>
                </a:solidFill>
                <a:highlight>
                  <a:srgbClr val="FFFFFF"/>
                </a:highlight>
                <a:latin typeface="Cascadia Mono" panose="020B0609020000020004" pitchFamily="49" charset="0"/>
              </a:rPr>
              <a:t>subtract</a:t>
            </a:r>
            <a:r>
              <a:rPr lang="de-CH" sz="1400" dirty="0">
                <a:solidFill>
                  <a:srgbClr val="000000"/>
                </a:solidFill>
                <a:highlight>
                  <a:srgbClr val="FFFFFF"/>
                </a:highlight>
                <a:latin typeface="Cascadia Mono" panose="020B0609020000020004" pitchFamily="49" charset="0"/>
              </a:rPr>
              <a:t>;</a:t>
            </a:r>
          </a:p>
          <a:p>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operation(8, 5)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3</a:t>
            </a:r>
            <a:endParaRPr lang="en-US"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a:t>
            </a: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sum</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x</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y</a:t>
            </a:r>
            <a:r>
              <a:rPr lang="de-CH" sz="1400" dirty="0">
                <a:solidFill>
                  <a:srgbClr val="000000"/>
                </a:solidFill>
                <a:highlight>
                  <a:srgbClr val="FFFFFF"/>
                </a:highlight>
                <a:latin typeface="Cascadia Mono" panose="020B0609020000020004" pitchFamily="49" charset="0"/>
              </a:rPr>
              <a:t>) { </a:t>
            </a:r>
            <a:r>
              <a:rPr lang="de-CH" sz="1400" dirty="0" err="1">
                <a:solidFill>
                  <a:srgbClr val="0000FF"/>
                </a:solidFill>
                <a:highlight>
                  <a:srgbClr val="FFFFFF"/>
                </a:highlight>
                <a:latin typeface="Cascadia Mono" panose="020B0609020000020004" pitchFamily="49" charset="0"/>
              </a:rPr>
              <a:t>return</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x</a:t>
            </a:r>
            <a:r>
              <a:rPr lang="de-CH" sz="1400" dirty="0">
                <a:solidFill>
                  <a:srgbClr val="000000"/>
                </a:solidFill>
                <a:highlight>
                  <a:srgbClr val="FFFFFF"/>
                </a:highlight>
                <a:latin typeface="Cascadia Mono" panose="020B0609020000020004" pitchFamily="49" charset="0"/>
              </a:rPr>
              <a:t> + </a:t>
            </a:r>
            <a:r>
              <a:rPr lang="de-CH" sz="1400" dirty="0">
                <a:solidFill>
                  <a:srgbClr val="808080"/>
                </a:solidFill>
                <a:highlight>
                  <a:srgbClr val="FFFFFF"/>
                </a:highlight>
                <a:latin typeface="Cascadia Mono" panose="020B0609020000020004" pitchFamily="49" charset="0"/>
              </a:rPr>
              <a:t>y</a:t>
            </a:r>
            <a:r>
              <a:rPr lang="de-CH" sz="1400" dirty="0">
                <a:solidFill>
                  <a:srgbClr val="000000"/>
                </a:solidFill>
                <a:highlight>
                  <a:srgbClr val="FFFFFF"/>
                </a:highlight>
                <a:latin typeface="Cascadia Mono" panose="020B0609020000020004" pitchFamily="49" charset="0"/>
              </a:rPr>
              <a:t>; }</a:t>
            </a: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subtract</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x</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y</a:t>
            </a:r>
            <a:r>
              <a:rPr lang="de-CH" sz="1400" dirty="0">
                <a:solidFill>
                  <a:srgbClr val="000000"/>
                </a:solidFill>
                <a:highlight>
                  <a:srgbClr val="FFFFFF"/>
                </a:highlight>
                <a:latin typeface="Cascadia Mono" panose="020B0609020000020004" pitchFamily="49" charset="0"/>
              </a:rPr>
              <a:t>) { </a:t>
            </a:r>
            <a:r>
              <a:rPr lang="de-CH" sz="1400" dirty="0" err="1">
                <a:solidFill>
                  <a:srgbClr val="0000FF"/>
                </a:solidFill>
                <a:highlight>
                  <a:srgbClr val="FFFFFF"/>
                </a:highlight>
                <a:latin typeface="Cascadia Mono" panose="020B0609020000020004" pitchFamily="49" charset="0"/>
              </a:rPr>
              <a:t>return</a:t>
            </a:r>
            <a:r>
              <a:rPr lang="de-CH" sz="1400" dirty="0">
                <a:solidFill>
                  <a:srgbClr val="000000"/>
                </a:solidFill>
                <a:highlight>
                  <a:srgbClr val="FFFFFF"/>
                </a:highlight>
                <a:latin typeface="Cascadia Mono" panose="020B0609020000020004" pitchFamily="49" charset="0"/>
              </a:rPr>
              <a:t> </a:t>
            </a:r>
            <a:r>
              <a:rPr lang="de-CH" sz="1400" dirty="0">
                <a:solidFill>
                  <a:srgbClr val="808080"/>
                </a:solidFill>
                <a:highlight>
                  <a:srgbClr val="FFFFFF"/>
                </a:highlight>
                <a:latin typeface="Cascadia Mono" panose="020B0609020000020004" pitchFamily="49" charset="0"/>
              </a:rPr>
              <a:t>x</a:t>
            </a:r>
            <a:r>
              <a:rPr lang="de-CH" sz="1400" dirty="0">
                <a:solidFill>
                  <a:srgbClr val="000000"/>
                </a:solidFill>
                <a:highlight>
                  <a:srgbClr val="FFFFFF"/>
                </a:highlight>
                <a:latin typeface="Cascadia Mono" panose="020B0609020000020004" pitchFamily="49" charset="0"/>
              </a:rPr>
              <a:t> - </a:t>
            </a:r>
            <a:r>
              <a:rPr lang="de-CH" sz="1400" dirty="0">
                <a:solidFill>
                  <a:srgbClr val="808080"/>
                </a:solidFill>
                <a:highlight>
                  <a:srgbClr val="FFFFFF"/>
                </a:highlight>
                <a:latin typeface="Cascadia Mono" panose="020B0609020000020004" pitchFamily="49" charset="0"/>
              </a:rPr>
              <a:t>y</a:t>
            </a:r>
            <a:r>
              <a:rPr lang="de-CH" sz="1400" dirty="0">
                <a:solidFill>
                  <a:srgbClr val="000000"/>
                </a:solidFill>
                <a:highlight>
                  <a:srgbClr val="FFFFFF"/>
                </a:highlight>
                <a:latin typeface="Cascadia Mono" panose="020B0609020000020004" pitchFamily="49" charset="0"/>
              </a:rPr>
              <a:t>; }</a:t>
            </a:r>
          </a:p>
          <a:p>
            <a:endParaRPr lang="ru-RU" dirty="0"/>
          </a:p>
        </p:txBody>
      </p:sp>
    </p:spTree>
    <p:extLst>
      <p:ext uri="{BB962C8B-B14F-4D97-AF65-F5344CB8AC3E}">
        <p14:creationId xmlns:p14="http://schemas.microsoft.com/office/powerpoint/2010/main" val="3620546753"/>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F17D51-F4AE-66C0-E1A0-58EF9613A1CF}"/>
              </a:ext>
            </a:extLst>
          </p:cNvPr>
          <p:cNvSpPr>
            <a:spLocks noGrp="1"/>
          </p:cNvSpPr>
          <p:nvPr>
            <p:ph type="title"/>
          </p:nvPr>
        </p:nvSpPr>
        <p:spPr/>
        <p:txBody>
          <a:bodyPr/>
          <a:lstStyle/>
          <a:p>
            <a:r>
              <a:rPr lang="ru-RU" b="1" dirty="0"/>
              <a:t>Тип функции</a:t>
            </a:r>
            <a:endParaRPr lang="ru-RU" dirty="0"/>
          </a:p>
        </p:txBody>
      </p:sp>
      <p:sp>
        <p:nvSpPr>
          <p:cNvPr id="3" name="Объект 2">
            <a:extLst>
              <a:ext uri="{FF2B5EF4-FFF2-40B4-BE49-F238E27FC236}">
                <a16:creationId xmlns:a16="http://schemas.microsoft.com/office/drawing/2014/main" id="{C5D67DB5-3125-6496-0CF5-1167F0B960FC}"/>
              </a:ext>
            </a:extLst>
          </p:cNvPr>
          <p:cNvSpPr>
            <a:spLocks noGrp="1"/>
          </p:cNvSpPr>
          <p:nvPr>
            <p:ph idx="1"/>
          </p:nvPr>
        </p:nvSpPr>
        <p:spPr/>
        <p:txBody>
          <a:bodyPr/>
          <a:lstStyle/>
          <a:p>
            <a:r>
              <a:rPr lang="ru-RU" dirty="0"/>
              <a:t>Аналогичным образом можно использовать псевдонимы для определения параметров:</a:t>
            </a:r>
            <a:endParaRPr lang="en-US" dirty="0"/>
          </a:p>
          <a:p>
            <a:r>
              <a:rPr lang="ru-RU" sz="1200" dirty="0">
                <a:solidFill>
                  <a:srgbClr val="008000"/>
                </a:solidFill>
                <a:highlight>
                  <a:srgbClr val="FFFFFF"/>
                </a:highlight>
                <a:latin typeface="Cascadia Mono" panose="020B0609020000020004" pitchFamily="49" charset="0"/>
              </a:rPr>
              <a:t>// </a:t>
            </a:r>
            <a:r>
              <a:rPr lang="ru-RU" sz="1200" dirty="0" err="1">
                <a:solidFill>
                  <a:srgbClr val="008000"/>
                </a:solidFill>
                <a:highlight>
                  <a:srgbClr val="FFFFFF"/>
                </a:highlight>
                <a:latin typeface="Cascadia Mono" panose="020B0609020000020004" pitchFamily="49" charset="0"/>
              </a:rPr>
              <a:t>BinaryOp</a:t>
            </a:r>
            <a:r>
              <a:rPr lang="ru-RU" sz="1200" dirty="0">
                <a:solidFill>
                  <a:srgbClr val="008000"/>
                </a:solidFill>
                <a:highlight>
                  <a:srgbClr val="FFFFFF"/>
                </a:highlight>
                <a:latin typeface="Cascadia Mono" panose="020B0609020000020004" pitchFamily="49" charset="0"/>
              </a:rPr>
              <a:t> представляет указатель на функцию типа int (*)(int, int)</a:t>
            </a:r>
            <a:endParaRPr lang="ru-RU" sz="1200" dirty="0">
              <a:solidFill>
                <a:srgbClr val="000000"/>
              </a:solidFill>
              <a:highlight>
                <a:srgbClr val="FFFFFF"/>
              </a:highlight>
              <a:latin typeface="Cascadia Mono" panose="020B0609020000020004" pitchFamily="49" charset="0"/>
            </a:endParaRPr>
          </a:p>
          <a:p>
            <a:r>
              <a:rPr lang="en-US" sz="1200" dirty="0">
                <a:solidFill>
                  <a:srgbClr val="0000FF"/>
                </a:solidFill>
                <a:highlight>
                  <a:srgbClr val="FFFFFF"/>
                </a:highlight>
                <a:latin typeface="Cascadia Mono" panose="020B0609020000020004" pitchFamily="49" charset="0"/>
              </a:rPr>
              <a:t>using</a:t>
            </a:r>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BinaryOp</a:t>
            </a:r>
            <a:r>
              <a:rPr lang="en-US" sz="1200" dirty="0">
                <a:solidFill>
                  <a:srgbClr val="000000"/>
                </a:solidFill>
                <a:highlight>
                  <a:srgbClr val="FFFFFF"/>
                </a:highlight>
                <a:latin typeface="Cascadia Mono" panose="020B0609020000020004" pitchFamily="49" charset="0"/>
              </a:rPr>
              <a:t> =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a:t>
            </a:r>
          </a:p>
          <a:p>
            <a:endParaRPr lang="ru-RU" sz="1200" dirty="0">
              <a:solidFill>
                <a:srgbClr val="000000"/>
              </a:solidFill>
              <a:highlight>
                <a:srgbClr val="FFFFFF"/>
              </a:highlight>
              <a:latin typeface="Cascadia Mono" panose="020B0609020000020004" pitchFamily="49" charset="0"/>
            </a:endParaRP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sum</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en-US" sz="1200" dirty="0">
                <a:solidFill>
                  <a:srgbClr val="0000FF"/>
                </a:solidFill>
                <a:highlight>
                  <a:srgbClr val="FFFFFF"/>
                </a:highlight>
                <a:latin typeface="Cascadia Mono" panose="020B0609020000020004" pitchFamily="49" charset="0"/>
              </a:rPr>
              <a:t>void</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do_operation</a:t>
            </a:r>
            <a:r>
              <a:rPr lang="en-US" sz="1200" dirty="0">
                <a:solidFill>
                  <a:srgbClr val="000000"/>
                </a:solidFill>
                <a:highlight>
                  <a:srgbClr val="FFFFFF"/>
                </a:highlight>
                <a:latin typeface="Cascadia Mono" panose="020B0609020000020004" pitchFamily="49" charset="0"/>
              </a:rPr>
              <a: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BinaryOp</a:t>
            </a:r>
            <a:r>
              <a:rPr lang="en-US" sz="1200" dirty="0">
                <a:solidFill>
                  <a:srgbClr val="000000"/>
                </a:solidFill>
                <a:highlight>
                  <a:srgbClr val="FFFFFF"/>
                </a:highlight>
                <a:latin typeface="Cascadia Mono" panose="020B0609020000020004" pitchFamily="49" charset="0"/>
              </a:rPr>
              <a:t>);</a:t>
            </a:r>
          </a:p>
          <a:p>
            <a:endParaRPr lang="ru-RU" sz="1200" dirty="0">
              <a:solidFill>
                <a:srgbClr val="000000"/>
              </a:solidFill>
              <a:highlight>
                <a:srgbClr val="FFFFFF"/>
              </a:highlight>
              <a:latin typeface="Cascadia Mono" panose="020B0609020000020004" pitchFamily="49" charset="0"/>
            </a:endParaRP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main</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do_operation</a:t>
            </a:r>
            <a:r>
              <a:rPr lang="en-US" sz="1200" dirty="0">
                <a:solidFill>
                  <a:srgbClr val="000000"/>
                </a:solidFill>
                <a:highlight>
                  <a:srgbClr val="FFFFFF"/>
                </a:highlight>
                <a:latin typeface="Cascadia Mono" panose="020B0609020000020004" pitchFamily="49" charset="0"/>
              </a:rPr>
              <a:t>(10, 6, sum);       </a:t>
            </a:r>
            <a:r>
              <a:rPr lang="en-US" sz="1200" dirty="0">
                <a:solidFill>
                  <a:srgbClr val="008000"/>
                </a:solidFill>
                <a:highlight>
                  <a:srgbClr val="FFFFFF"/>
                </a:highlight>
                <a:latin typeface="Cascadia Mono" panose="020B0609020000020004" pitchFamily="49" charset="0"/>
              </a:rPr>
              <a:t>// 16</a:t>
            </a:r>
            <a:endParaRPr lang="en-US"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do_operation</a:t>
            </a:r>
            <a:r>
              <a:rPr lang="en-US" sz="1200" dirty="0">
                <a:solidFill>
                  <a:srgbClr val="000000"/>
                </a:solidFill>
                <a:highlight>
                  <a:srgbClr val="FFFFFF"/>
                </a:highlight>
                <a:latin typeface="Cascadia Mono" panose="020B0609020000020004" pitchFamily="49" charset="0"/>
              </a:rPr>
              <a:t>(10, 6, subtract);  </a:t>
            </a:r>
            <a:r>
              <a:rPr lang="en-US" sz="1200" dirty="0">
                <a:solidFill>
                  <a:srgbClr val="008000"/>
                </a:solidFill>
                <a:highlight>
                  <a:srgbClr val="FFFFFF"/>
                </a:highlight>
                <a:latin typeface="Cascadia Mono" panose="020B0609020000020004" pitchFamily="49" charset="0"/>
              </a:rPr>
              <a:t>// 4</a:t>
            </a:r>
            <a:endParaRPr lang="en-US"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a:t>
            </a:r>
          </a:p>
          <a:p>
            <a:r>
              <a:rPr lang="en-US" sz="1200" dirty="0">
                <a:solidFill>
                  <a:srgbClr val="0000FF"/>
                </a:solidFill>
                <a:highlight>
                  <a:srgbClr val="FFFFFF"/>
                </a:highlight>
                <a:latin typeface="Cascadia Mono" panose="020B0609020000020004" pitchFamily="49" charset="0"/>
              </a:rPr>
              <a:t>void</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do_operation</a:t>
            </a:r>
            <a:r>
              <a:rPr lang="en-US" sz="1200" dirty="0">
                <a:solidFill>
                  <a:srgbClr val="000000"/>
                </a:solidFill>
                <a:highlight>
                  <a:srgbClr val="FFFFFF"/>
                </a:highlight>
                <a:latin typeface="Cascadia Mono" panose="020B0609020000020004" pitchFamily="49" charset="0"/>
              </a:rPr>
              <a: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a</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b</a:t>
            </a:r>
            <a:r>
              <a:rPr lang="en-US" sz="1200" dirty="0">
                <a:solidFill>
                  <a:srgbClr val="000000"/>
                </a:solidFill>
                <a:highlight>
                  <a:srgbClr val="FFFFFF"/>
                </a:highlight>
                <a:latin typeface="Cascadia Mono" panose="020B0609020000020004" pitchFamily="49" charset="0"/>
              </a:rPr>
              <a:t>, </a:t>
            </a:r>
            <a:r>
              <a:rPr lang="en-US" sz="1200" dirty="0" err="1">
                <a:solidFill>
                  <a:srgbClr val="2B91AF"/>
                </a:solidFill>
                <a:highlight>
                  <a:srgbClr val="FFFFFF"/>
                </a:highlight>
                <a:latin typeface="Cascadia Mono" panose="020B0609020000020004" pitchFamily="49" charset="0"/>
              </a:rPr>
              <a:t>BinaryOp</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op</a:t>
            </a:r>
            <a:r>
              <a:rPr lang="en-US"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double</a:t>
            </a:r>
            <a:r>
              <a:rPr lang="en-US" sz="1200" dirty="0">
                <a:solidFill>
                  <a:srgbClr val="000000"/>
                </a:solidFill>
                <a:highlight>
                  <a:srgbClr val="FFFFFF"/>
                </a:highlight>
                <a:latin typeface="Cascadia Mono" panose="020B0609020000020004" pitchFamily="49" charset="0"/>
              </a:rPr>
              <a:t> result = </a:t>
            </a:r>
            <a:r>
              <a:rPr lang="en-US" sz="1200" dirty="0">
                <a:solidFill>
                  <a:srgbClr val="808080"/>
                </a:solidFill>
                <a:highlight>
                  <a:srgbClr val="FFFFFF"/>
                </a:highlight>
                <a:latin typeface="Cascadia Mono" panose="020B0609020000020004" pitchFamily="49" charset="0"/>
              </a:rPr>
              <a:t>op</a:t>
            </a:r>
            <a:r>
              <a:rPr lang="en-US" sz="1200" dirty="0">
                <a:solidFill>
                  <a:srgbClr val="000000"/>
                </a:solidFill>
                <a:highlight>
                  <a:srgbClr val="FFFFFF"/>
                </a:highlight>
                <a:latin typeface="Cascadia Mono" panose="020B0609020000020004" pitchFamily="49" charset="0"/>
              </a:rPr>
              <a:t>(</a:t>
            </a:r>
            <a:r>
              <a:rPr lang="en-US" sz="1200" dirty="0">
                <a:solidFill>
                  <a:srgbClr val="808080"/>
                </a:solidFill>
                <a:highlight>
                  <a:srgbClr val="FFFFFF"/>
                </a:highlight>
                <a:latin typeface="Cascadia Mono" panose="020B0609020000020004" pitchFamily="49" charset="0"/>
              </a:rPr>
              <a:t>a</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b</a:t>
            </a:r>
            <a:r>
              <a:rPr lang="en-US" sz="1200" dirty="0">
                <a:solidFill>
                  <a:srgbClr val="000000"/>
                </a:solidFill>
                <a:highlight>
                  <a:srgbClr val="FFFFFF"/>
                </a:highlight>
                <a:latin typeface="Cascadia Mono" panose="020B0609020000020004" pitchFamily="49" charset="0"/>
              </a:rPr>
              <a:t>);</a:t>
            </a:r>
          </a:p>
          <a:p>
            <a:r>
              <a:rPr lang="en-US" sz="1200" dirty="0">
                <a:solidFill>
                  <a:srgbClr val="000000"/>
                </a:solidFill>
                <a:highlight>
                  <a:srgbClr val="FFFFFF"/>
                </a:highlight>
                <a:latin typeface="Cascadia Mono" panose="020B0609020000020004" pitchFamily="49" charset="0"/>
              </a:rPr>
              <a:t>    std::</a:t>
            </a:r>
            <a:r>
              <a:rPr lang="en-US" sz="1200" dirty="0" err="1">
                <a:solidFill>
                  <a:srgbClr val="000000"/>
                </a:solidFill>
                <a:highlight>
                  <a:srgbClr val="FFFFFF"/>
                </a:highlight>
                <a:latin typeface="Cascadia Mono" panose="020B0609020000020004" pitchFamily="49" charset="0"/>
              </a:rPr>
              <a:t>cout</a:t>
            </a:r>
            <a:r>
              <a:rPr lang="en-US" sz="1200" dirty="0">
                <a:solidFill>
                  <a:srgbClr val="000000"/>
                </a:solidFill>
                <a:highlight>
                  <a:srgbClr val="FFFFFF"/>
                </a:highlight>
                <a:latin typeface="Cascadia Mono" panose="020B0609020000020004" pitchFamily="49" charset="0"/>
              </a:rPr>
              <a:t> </a:t>
            </a:r>
            <a:r>
              <a:rPr lang="en-US" sz="1200" dirty="0">
                <a:solidFill>
                  <a:srgbClr val="008080"/>
                </a:solidFill>
                <a:highlight>
                  <a:srgbClr val="FFFFFF"/>
                </a:highlight>
                <a:latin typeface="Cascadia Mono" panose="020B0609020000020004" pitchFamily="49" charset="0"/>
              </a:rPr>
              <a:t>&lt;&lt;</a:t>
            </a:r>
            <a:r>
              <a:rPr lang="en-US" sz="1200" dirty="0">
                <a:solidFill>
                  <a:srgbClr val="000000"/>
                </a:solidFill>
                <a:highlight>
                  <a:srgbClr val="FFFFFF"/>
                </a:highlight>
                <a:latin typeface="Cascadia Mono" panose="020B0609020000020004" pitchFamily="49" charset="0"/>
              </a:rPr>
              <a:t> result </a:t>
            </a:r>
            <a:r>
              <a:rPr lang="en-US" sz="1200" dirty="0">
                <a:solidFill>
                  <a:srgbClr val="008080"/>
                </a:solidFill>
                <a:highlight>
                  <a:srgbClr val="FFFFFF"/>
                </a:highlight>
                <a:latin typeface="Cascadia Mono" panose="020B0609020000020004" pitchFamily="49" charset="0"/>
              </a:rPr>
              <a:t>&lt;&lt;</a:t>
            </a:r>
            <a:r>
              <a:rPr lang="en-US" sz="1200" dirty="0">
                <a:solidFill>
                  <a:srgbClr val="000000"/>
                </a:solidFill>
                <a:highlight>
                  <a:srgbClr val="FFFFFF"/>
                </a:highlight>
                <a:latin typeface="Cascadia Mono" panose="020B0609020000020004" pitchFamily="49" charset="0"/>
              </a:rPr>
              <a:t> std::</a:t>
            </a:r>
            <a:r>
              <a:rPr lang="en-US" sz="1200" dirty="0" err="1">
                <a:solidFill>
                  <a:srgbClr val="000000"/>
                </a:solidFill>
                <a:highlight>
                  <a:srgbClr val="FFFFFF"/>
                </a:highlight>
                <a:latin typeface="Cascadia Mono" panose="020B0609020000020004" pitchFamily="49" charset="0"/>
              </a:rPr>
              <a:t>endl</a:t>
            </a:r>
            <a:r>
              <a:rPr lang="en-US"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sum</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 {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 }</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 {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 }</a:t>
            </a:r>
          </a:p>
          <a:p>
            <a:endParaRPr lang="ru-RU" dirty="0"/>
          </a:p>
        </p:txBody>
      </p:sp>
    </p:spTree>
    <p:extLst>
      <p:ext uri="{BB962C8B-B14F-4D97-AF65-F5344CB8AC3E}">
        <p14:creationId xmlns:p14="http://schemas.microsoft.com/office/powerpoint/2010/main" val="331758042"/>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34A51A-31DE-FE4F-2B87-A43D5057C1E3}"/>
              </a:ext>
            </a:extLst>
          </p:cNvPr>
          <p:cNvSpPr>
            <a:spLocks noGrp="1"/>
          </p:cNvSpPr>
          <p:nvPr>
            <p:ph type="title"/>
          </p:nvPr>
        </p:nvSpPr>
        <p:spPr/>
        <p:txBody>
          <a:bodyPr/>
          <a:lstStyle/>
          <a:p>
            <a:r>
              <a:rPr lang="ru-RU" sz="1800" b="1" dirty="0"/>
              <a:t>Указатель на функцию как возвращаемое значение</a:t>
            </a:r>
            <a:endParaRPr lang="ru-RU" dirty="0"/>
          </a:p>
        </p:txBody>
      </p:sp>
      <p:sp>
        <p:nvSpPr>
          <p:cNvPr id="3" name="Объект 2">
            <a:extLst>
              <a:ext uri="{FF2B5EF4-FFF2-40B4-BE49-F238E27FC236}">
                <a16:creationId xmlns:a16="http://schemas.microsoft.com/office/drawing/2014/main" id="{6C2DE082-4B12-84B3-4559-CE8E5D64BA3D}"/>
              </a:ext>
            </a:extLst>
          </p:cNvPr>
          <p:cNvSpPr>
            <a:spLocks noGrp="1"/>
          </p:cNvSpPr>
          <p:nvPr>
            <p:ph idx="1"/>
          </p:nvPr>
        </p:nvSpPr>
        <p:spPr/>
        <p:txBody>
          <a:bodyPr/>
          <a:lstStyle/>
          <a:p>
            <a:r>
              <a:rPr lang="ru-RU" dirty="0"/>
              <a:t>Функция может возвращать указатель на другую функцию. Это может быть актуально, если имеется ограниченное количество вариантов - выполняемых функций, и надо выбрать одну из них. </a:t>
            </a:r>
            <a:endParaRPr lang="en-US" dirty="0"/>
          </a:p>
          <a:p>
            <a:r>
              <a:rPr lang="ru-RU" dirty="0"/>
              <a:t>Но при этом набор вариантов и выбор из них определяется в промежуточной функции.</a:t>
            </a:r>
          </a:p>
        </p:txBody>
      </p:sp>
    </p:spTree>
    <p:extLst>
      <p:ext uri="{BB962C8B-B14F-4D97-AF65-F5344CB8AC3E}">
        <p14:creationId xmlns:p14="http://schemas.microsoft.com/office/powerpoint/2010/main" val="2478879484"/>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CB998E-FF55-CD72-64C4-BFD19441CFE8}"/>
              </a:ext>
            </a:extLst>
          </p:cNvPr>
          <p:cNvSpPr>
            <a:spLocks noGrp="1"/>
          </p:cNvSpPr>
          <p:nvPr>
            <p:ph type="title"/>
          </p:nvPr>
        </p:nvSpPr>
        <p:spPr/>
        <p:txBody>
          <a:bodyPr/>
          <a:lstStyle/>
          <a:p>
            <a:r>
              <a:rPr lang="ru-RU" sz="1600" b="1" dirty="0"/>
              <a:t>Указатель на функцию как возвращаемое значение</a:t>
            </a:r>
            <a:endParaRPr lang="ru-RU" sz="1600" dirty="0"/>
          </a:p>
        </p:txBody>
      </p:sp>
      <p:sp>
        <p:nvSpPr>
          <p:cNvPr id="3" name="Объект 2">
            <a:extLst>
              <a:ext uri="{FF2B5EF4-FFF2-40B4-BE49-F238E27FC236}">
                <a16:creationId xmlns:a16="http://schemas.microsoft.com/office/drawing/2014/main" id="{69A8EF3B-A1BB-63B5-9DED-D89D3C379A11}"/>
              </a:ext>
            </a:extLst>
          </p:cNvPr>
          <p:cNvSpPr>
            <a:spLocks noGrp="1"/>
          </p:cNvSpPr>
          <p:nvPr>
            <p:ph idx="1"/>
          </p:nvPr>
        </p:nvSpPr>
        <p:spPr/>
        <p:txBody>
          <a:bodyPr/>
          <a:lstStyle/>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goodmorning</a:t>
            </a:r>
            <a:r>
              <a:rPr lang="de-CH" sz="1050" dirty="0">
                <a:solidFill>
                  <a:srgbClr val="000000"/>
                </a:solidFill>
                <a:highlight>
                  <a:srgbClr val="FFFFFF"/>
                </a:highlight>
                <a:latin typeface="Cascadia Mono" panose="020B0609020000020004" pitchFamily="49" charset="0"/>
              </a:rPr>
              <a:t>();</a:t>
            </a: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goodevening</a:t>
            </a:r>
            <a:r>
              <a:rPr lang="de-CH" sz="1050" dirty="0">
                <a:solidFill>
                  <a:srgbClr val="000000"/>
                </a:solidFill>
                <a:highlight>
                  <a:srgbClr val="FFFFFF"/>
                </a:highlight>
                <a:latin typeface="Cascadia Mono" panose="020B0609020000020004" pitchFamily="49" charset="0"/>
              </a:rPr>
              <a:t>();</a:t>
            </a: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message</a:t>
            </a:r>
            <a:r>
              <a:rPr lang="de-CH" sz="1050" dirty="0">
                <a:solidFill>
                  <a:srgbClr val="000000"/>
                </a:solidFill>
                <a:highlight>
                  <a:srgbClr val="FFFFFF"/>
                </a:highlight>
                <a:latin typeface="Cascadia Mono" panose="020B0609020000020004" pitchFamily="49" charset="0"/>
              </a:rPr>
              <a:t>(</a:t>
            </a:r>
            <a:r>
              <a:rPr lang="de-CH" sz="1050" dirty="0" err="1">
                <a:solidFill>
                  <a:srgbClr val="0000FF"/>
                </a:solidFill>
                <a:highlight>
                  <a:srgbClr val="FFFFFF"/>
                </a:highlight>
                <a:latin typeface="Cascadia Mono" panose="020B0609020000020004" pitchFamily="49" charset="0"/>
              </a:rPr>
              <a:t>unsigned</a:t>
            </a:r>
            <a:r>
              <a:rPr lang="de-CH" sz="1050" dirty="0">
                <a:solidFill>
                  <a:srgbClr val="000000"/>
                </a:solidFill>
                <a:highlight>
                  <a:srgbClr val="FFFFFF"/>
                </a:highlight>
                <a:latin typeface="Cascadia Mono" panose="020B0609020000020004" pitchFamily="49" charset="0"/>
              </a:rPr>
              <a:t>))();</a:t>
            </a:r>
          </a:p>
          <a:p>
            <a:endParaRPr lang="ru-RU" sz="1050" dirty="0">
              <a:solidFill>
                <a:srgbClr val="000000"/>
              </a:solidFill>
              <a:highlight>
                <a:srgbClr val="FFFFFF"/>
              </a:highlight>
              <a:latin typeface="Cascadia Mono" panose="020B0609020000020004" pitchFamily="49" charset="0"/>
            </a:endParaRPr>
          </a:p>
          <a:p>
            <a:r>
              <a:rPr lang="de-CH" sz="1050" dirty="0">
                <a:solidFill>
                  <a:srgbClr val="0000FF"/>
                </a:solidFill>
                <a:highlight>
                  <a:srgbClr val="FFFFFF"/>
                </a:highlight>
                <a:latin typeface="Cascadia Mono" panose="020B0609020000020004" pitchFamily="49" charset="0"/>
              </a:rPr>
              <a:t>int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main</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r>
              <a:rPr lang="ru-RU" sz="1050" dirty="0" err="1">
                <a:solidFill>
                  <a:srgbClr val="0000FF"/>
                </a:solidFill>
                <a:highlight>
                  <a:srgbClr val="FFFFFF"/>
                </a:highlight>
                <a:latin typeface="Cascadia Mono" panose="020B0609020000020004" pitchFamily="49" charset="0"/>
              </a:rPr>
              <a:t>void</a:t>
            </a:r>
            <a:r>
              <a:rPr lang="ru-RU" sz="1050" dirty="0">
                <a:solidFill>
                  <a:srgbClr val="000000"/>
                </a:solidFill>
                <a:highlight>
                  <a:srgbClr val="FFFFFF"/>
                </a:highlight>
                <a:latin typeface="Cascadia Mono" panose="020B0609020000020004" pitchFamily="49" charset="0"/>
              </a:rPr>
              <a:t>(*</a:t>
            </a:r>
            <a:r>
              <a:rPr lang="ru-RU" sz="1050" dirty="0" err="1">
                <a:solidFill>
                  <a:srgbClr val="000000"/>
                </a:solidFill>
                <a:highlight>
                  <a:srgbClr val="FFFFFF"/>
                </a:highlight>
                <a:latin typeface="Cascadia Mono" panose="020B0609020000020004" pitchFamily="49" charset="0"/>
              </a:rPr>
              <a:t>action</a:t>
            </a:r>
            <a:r>
              <a:rPr lang="ru-RU" sz="1050" dirty="0">
                <a:solidFill>
                  <a:srgbClr val="000000"/>
                </a:solidFill>
                <a:highlight>
                  <a:srgbClr val="FFFFFF"/>
                </a:highlight>
                <a:latin typeface="Cascadia Mono" panose="020B0609020000020004" pitchFamily="49" charset="0"/>
              </a:rPr>
              <a:t>)() { </a:t>
            </a:r>
            <a:r>
              <a:rPr lang="ru-RU" sz="1050" dirty="0" err="1">
                <a:solidFill>
                  <a:srgbClr val="000000"/>
                </a:solidFill>
                <a:highlight>
                  <a:srgbClr val="FFFFFF"/>
                </a:highlight>
                <a:latin typeface="Cascadia Mono" panose="020B0609020000020004" pitchFamily="49" charset="0"/>
              </a:rPr>
              <a:t>message</a:t>
            </a:r>
            <a:r>
              <a:rPr lang="ru-RU" sz="1050" dirty="0">
                <a:solidFill>
                  <a:srgbClr val="000000"/>
                </a:solidFill>
                <a:highlight>
                  <a:srgbClr val="FFFFFF"/>
                </a:highlight>
                <a:latin typeface="Cascadia Mono" panose="020B0609020000020004" pitchFamily="49" charset="0"/>
              </a:rPr>
              <a:t>(10) };    </a:t>
            </a:r>
            <a:r>
              <a:rPr lang="ru-RU" sz="1050" dirty="0">
                <a:solidFill>
                  <a:srgbClr val="008000"/>
                </a:solidFill>
                <a:highlight>
                  <a:srgbClr val="FFFFFF"/>
                </a:highlight>
                <a:latin typeface="Cascadia Mono" panose="020B0609020000020004" pitchFamily="49" charset="0"/>
              </a:rPr>
              <a:t>// указатель на выбранную функцию</a:t>
            </a:r>
            <a:endParaRPr lang="ru-RU"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a:solidFill>
                  <a:srgbClr val="008000"/>
                </a:solidFill>
                <a:highlight>
                  <a:srgbClr val="FFFFFF"/>
                </a:highlight>
                <a:latin typeface="Cascadia Mono" panose="020B0609020000020004" pitchFamily="49" charset="0"/>
              </a:rPr>
              <a:t>// выполняем полученную функцию</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action</a:t>
            </a:r>
            <a:r>
              <a:rPr lang="de-CH" sz="1050" dirty="0">
                <a:solidFill>
                  <a:srgbClr val="000000"/>
                </a:solidFill>
                <a:highlight>
                  <a:srgbClr val="FFFFFF"/>
                </a:highlight>
                <a:latin typeface="Cascadia Mono" panose="020B0609020000020004" pitchFamily="49" charset="0"/>
              </a:rPr>
              <a:t>();                       </a:t>
            </a:r>
            <a:r>
              <a:rPr lang="de-CH" sz="1050" dirty="0">
                <a:solidFill>
                  <a:srgbClr val="008000"/>
                </a:solidFill>
                <a:highlight>
                  <a:srgbClr val="FFFFFF"/>
                </a:highlight>
                <a:latin typeface="Cascadia Mono" panose="020B0609020000020004" pitchFamily="49" charset="0"/>
              </a:rPr>
              <a:t>// </a:t>
            </a:r>
            <a:r>
              <a:rPr lang="de-CH" sz="1050" dirty="0" err="1">
                <a:solidFill>
                  <a:srgbClr val="008000"/>
                </a:solidFill>
                <a:highlight>
                  <a:srgbClr val="FFFFFF"/>
                </a:highlight>
                <a:latin typeface="Cascadia Mono" panose="020B0609020000020004" pitchFamily="49" charset="0"/>
              </a:rPr>
              <a:t>Good</a:t>
            </a:r>
            <a:r>
              <a:rPr lang="de-CH" sz="1050" dirty="0">
                <a:solidFill>
                  <a:srgbClr val="008000"/>
                </a:solidFill>
                <a:highlight>
                  <a:srgbClr val="FFFFFF"/>
                </a:highlight>
                <a:latin typeface="Cascadia Mono" panose="020B0609020000020004" pitchFamily="49" charset="0"/>
              </a:rPr>
              <a:t> Morning!</a:t>
            </a:r>
            <a:endParaRPr lang="de-CH"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err="1">
                <a:solidFill>
                  <a:srgbClr val="000000"/>
                </a:solidFill>
                <a:highlight>
                  <a:srgbClr val="FFFFFF"/>
                </a:highlight>
                <a:latin typeface="Cascadia Mono" panose="020B0609020000020004" pitchFamily="49" charset="0"/>
              </a:rPr>
              <a:t>action</a:t>
            </a:r>
            <a:r>
              <a:rPr lang="ru-RU" sz="1050" dirty="0">
                <a:solidFill>
                  <a:srgbClr val="000000"/>
                </a:solidFill>
                <a:highlight>
                  <a:srgbClr val="FFFFFF"/>
                </a:highlight>
                <a:latin typeface="Cascadia Mono" panose="020B0609020000020004" pitchFamily="49" charset="0"/>
              </a:rPr>
              <a:t> = </a:t>
            </a:r>
            <a:r>
              <a:rPr lang="ru-RU" sz="1050" dirty="0" err="1">
                <a:solidFill>
                  <a:srgbClr val="000000"/>
                </a:solidFill>
                <a:highlight>
                  <a:srgbClr val="FFFFFF"/>
                </a:highlight>
                <a:latin typeface="Cascadia Mono" panose="020B0609020000020004" pitchFamily="49" charset="0"/>
              </a:rPr>
              <a:t>message</a:t>
            </a:r>
            <a:r>
              <a:rPr lang="ru-RU" sz="1050" dirty="0">
                <a:solidFill>
                  <a:srgbClr val="000000"/>
                </a:solidFill>
                <a:highlight>
                  <a:srgbClr val="FFFFFF"/>
                </a:highlight>
                <a:latin typeface="Cascadia Mono" panose="020B0609020000020004" pitchFamily="49" charset="0"/>
              </a:rPr>
              <a:t>(16);           </a:t>
            </a:r>
            <a:r>
              <a:rPr lang="ru-RU" sz="1050" dirty="0">
                <a:solidFill>
                  <a:srgbClr val="008000"/>
                </a:solidFill>
                <a:highlight>
                  <a:srgbClr val="FFFFFF"/>
                </a:highlight>
                <a:latin typeface="Cascadia Mono" panose="020B0609020000020004" pitchFamily="49" charset="0"/>
              </a:rPr>
              <a:t>// получаем новую функцию</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action</a:t>
            </a:r>
            <a:r>
              <a:rPr lang="de-CH" sz="1050" dirty="0">
                <a:solidFill>
                  <a:srgbClr val="000000"/>
                </a:solidFill>
                <a:highlight>
                  <a:srgbClr val="FFFFFF"/>
                </a:highlight>
                <a:latin typeface="Cascadia Mono" panose="020B0609020000020004" pitchFamily="49" charset="0"/>
              </a:rPr>
              <a:t>();                       </a:t>
            </a:r>
            <a:r>
              <a:rPr lang="de-CH" sz="1050" dirty="0">
                <a:solidFill>
                  <a:srgbClr val="008000"/>
                </a:solidFill>
                <a:highlight>
                  <a:srgbClr val="FFFFFF"/>
                </a:highlight>
                <a:latin typeface="Cascadia Mono" panose="020B0609020000020004" pitchFamily="49" charset="0"/>
              </a:rPr>
              <a:t>// </a:t>
            </a:r>
            <a:r>
              <a:rPr lang="de-CH" sz="1050" dirty="0" err="1">
                <a:solidFill>
                  <a:srgbClr val="008000"/>
                </a:solidFill>
                <a:highlight>
                  <a:srgbClr val="FFFFFF"/>
                </a:highlight>
                <a:latin typeface="Cascadia Mono" panose="020B0609020000020004" pitchFamily="49" charset="0"/>
              </a:rPr>
              <a:t>Good</a:t>
            </a:r>
            <a:r>
              <a:rPr lang="de-CH" sz="1050" dirty="0">
                <a:solidFill>
                  <a:srgbClr val="008000"/>
                </a:solidFill>
                <a:highlight>
                  <a:srgbClr val="FFFFFF"/>
                </a:highlight>
                <a:latin typeface="Cascadia Mono" panose="020B0609020000020004" pitchFamily="49" charset="0"/>
              </a:rPr>
              <a:t> </a:t>
            </a:r>
            <a:r>
              <a:rPr lang="de-CH" sz="1050" dirty="0" err="1">
                <a:solidFill>
                  <a:srgbClr val="008000"/>
                </a:solidFill>
                <a:highlight>
                  <a:srgbClr val="FFFFFF"/>
                </a:highlight>
                <a:latin typeface="Cascadia Mono" panose="020B0609020000020004" pitchFamily="49" charset="0"/>
              </a:rPr>
              <a:t>Evening</a:t>
            </a:r>
            <a:r>
              <a:rPr lang="de-CH" sz="1050" dirty="0">
                <a:solidFill>
                  <a:srgbClr val="008000"/>
                </a:solidFill>
                <a:highlight>
                  <a:srgbClr val="FFFFFF"/>
                </a:highlight>
                <a:latin typeface="Cascadia Mono" panose="020B0609020000020004" pitchFamily="49" charset="0"/>
              </a:rPr>
              <a:t>!</a:t>
            </a:r>
            <a:endParaRPr lang="de-CH"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a:t>
            </a:r>
          </a:p>
          <a:p>
            <a:endParaRPr lang="ru-RU" sz="1050" dirty="0">
              <a:solidFill>
                <a:srgbClr val="000000"/>
              </a:solidFill>
              <a:highlight>
                <a:srgbClr val="FFFFFF"/>
              </a:highlight>
              <a:latin typeface="Cascadia Mono" panose="020B0609020000020004" pitchFamily="49" charset="0"/>
            </a:endParaRP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message</a:t>
            </a:r>
            <a:r>
              <a:rPr lang="de-CH" sz="1050" dirty="0">
                <a:solidFill>
                  <a:srgbClr val="000000"/>
                </a:solidFill>
                <a:highlight>
                  <a:srgbClr val="FFFFFF"/>
                </a:highlight>
                <a:latin typeface="Cascadia Mono" panose="020B0609020000020004" pitchFamily="49" charset="0"/>
              </a:rPr>
              <a:t>(</a:t>
            </a:r>
            <a:r>
              <a:rPr lang="de-CH" sz="1050" dirty="0" err="1">
                <a:solidFill>
                  <a:srgbClr val="0000FF"/>
                </a:solidFill>
                <a:highlight>
                  <a:srgbClr val="FFFFFF"/>
                </a:highlight>
                <a:latin typeface="Cascadia Mono" panose="020B0609020000020004" pitchFamily="49" charset="0"/>
              </a:rPr>
              <a:t>unsigned</a:t>
            </a:r>
            <a:r>
              <a:rPr lang="de-CH" sz="1050" dirty="0">
                <a:solidFill>
                  <a:srgbClr val="000000"/>
                </a:solidFill>
                <a:highlight>
                  <a:srgbClr val="FFFFFF"/>
                </a:highlight>
                <a:latin typeface="Cascadia Mono" panose="020B0609020000020004" pitchFamily="49" charset="0"/>
              </a:rPr>
              <a:t> </a:t>
            </a:r>
            <a:r>
              <a:rPr lang="de-CH" sz="1050" dirty="0" err="1">
                <a:solidFill>
                  <a:srgbClr val="808080"/>
                </a:solidFill>
                <a:highlight>
                  <a:srgbClr val="FFFFFF"/>
                </a:highlight>
                <a:latin typeface="Cascadia Mono" panose="020B0609020000020004" pitchFamily="49" charset="0"/>
              </a:rPr>
              <a:t>hour</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if</a:t>
            </a:r>
            <a:r>
              <a:rPr lang="de-CH" sz="1050" dirty="0">
                <a:solidFill>
                  <a:srgbClr val="000000"/>
                </a:solidFill>
                <a:highlight>
                  <a:srgbClr val="FFFFFF"/>
                </a:highlight>
                <a:latin typeface="Cascadia Mono" panose="020B0609020000020004" pitchFamily="49" charset="0"/>
              </a:rPr>
              <a:t> (</a:t>
            </a:r>
            <a:r>
              <a:rPr lang="de-CH" sz="1050" dirty="0" err="1">
                <a:solidFill>
                  <a:srgbClr val="808080"/>
                </a:solidFill>
                <a:highlight>
                  <a:srgbClr val="FFFFFF"/>
                </a:highlight>
                <a:latin typeface="Cascadia Mono" panose="020B0609020000020004" pitchFamily="49" charset="0"/>
              </a:rPr>
              <a:t>hour</a:t>
            </a:r>
            <a:r>
              <a:rPr lang="de-CH" sz="1050" dirty="0">
                <a:solidFill>
                  <a:srgbClr val="000000"/>
                </a:solidFill>
                <a:highlight>
                  <a:srgbClr val="FFFFFF"/>
                </a:highlight>
                <a:latin typeface="Cascadia Mono" panose="020B0609020000020004" pitchFamily="49" charset="0"/>
              </a:rPr>
              <a:t> &gt; 15)</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return</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goodevening</a:t>
            </a:r>
            <a:r>
              <a:rPr lang="de-CH" sz="1050" dirty="0">
                <a:solidFill>
                  <a:srgbClr val="000000"/>
                </a:solidFill>
                <a:highlight>
                  <a:srgbClr val="FFFFFF"/>
                </a:highlight>
                <a:latin typeface="Cascadia Mono" panose="020B0609020000020004" pitchFamily="49" charset="0"/>
              </a:rPr>
              <a:t>;</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else</a:t>
            </a:r>
            <a:endParaRPr lang="de-CH"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return</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goodmorning</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goodmorning</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std::</a:t>
            </a:r>
            <a:r>
              <a:rPr lang="en-US" sz="1050" dirty="0" err="1">
                <a:solidFill>
                  <a:srgbClr val="000000"/>
                </a:solidFill>
                <a:highlight>
                  <a:srgbClr val="FFFFFF"/>
                </a:highlight>
                <a:latin typeface="Cascadia Mono" panose="020B0609020000020004" pitchFamily="49" charset="0"/>
              </a:rPr>
              <a:t>cout</a:t>
            </a:r>
            <a:r>
              <a:rPr lang="en-US" sz="1050" dirty="0">
                <a:solidFill>
                  <a:srgbClr val="000000"/>
                </a:solidFill>
                <a:highlight>
                  <a:srgbClr val="FFFFFF"/>
                </a:highlight>
                <a:latin typeface="Cascadia Mono" panose="020B0609020000020004" pitchFamily="49" charset="0"/>
              </a:rPr>
              <a:t> </a:t>
            </a:r>
            <a:r>
              <a:rPr lang="en-US" sz="1050" dirty="0">
                <a:solidFill>
                  <a:srgbClr val="008080"/>
                </a:solidFill>
                <a:highlight>
                  <a:srgbClr val="FFFFFF"/>
                </a:highlight>
                <a:latin typeface="Cascadia Mono" panose="020B0609020000020004" pitchFamily="49" charset="0"/>
              </a:rPr>
              <a:t>&lt;&lt;</a:t>
            </a:r>
            <a:r>
              <a:rPr lang="en-US" sz="1050" dirty="0">
                <a:solidFill>
                  <a:srgbClr val="000000"/>
                </a:solidFill>
                <a:highlight>
                  <a:srgbClr val="FFFFFF"/>
                </a:highlight>
                <a:latin typeface="Cascadia Mono" panose="020B0609020000020004" pitchFamily="49" charset="0"/>
              </a:rPr>
              <a:t> </a:t>
            </a:r>
            <a:r>
              <a:rPr lang="en-US" sz="1050" dirty="0">
                <a:solidFill>
                  <a:srgbClr val="A31515"/>
                </a:solidFill>
                <a:highlight>
                  <a:srgbClr val="FFFFFF"/>
                </a:highlight>
                <a:latin typeface="Cascadia Mono" panose="020B0609020000020004" pitchFamily="49" charset="0"/>
              </a:rPr>
              <a:t>"Good Morning!"</a:t>
            </a:r>
            <a:r>
              <a:rPr lang="en-US" sz="1050" dirty="0">
                <a:solidFill>
                  <a:srgbClr val="000000"/>
                </a:solidFill>
                <a:highlight>
                  <a:srgbClr val="FFFFFF"/>
                </a:highlight>
                <a:latin typeface="Cascadia Mono" panose="020B0609020000020004" pitchFamily="49" charset="0"/>
              </a:rPr>
              <a:t> </a:t>
            </a:r>
            <a:r>
              <a:rPr lang="en-US" sz="1050" dirty="0">
                <a:solidFill>
                  <a:srgbClr val="008080"/>
                </a:solidFill>
                <a:highlight>
                  <a:srgbClr val="FFFFFF"/>
                </a:highlight>
                <a:latin typeface="Cascadia Mono" panose="020B0609020000020004" pitchFamily="49" charset="0"/>
              </a:rPr>
              <a:t>&lt;&lt;</a:t>
            </a:r>
            <a:r>
              <a:rPr lang="en-US" sz="1050" dirty="0">
                <a:solidFill>
                  <a:srgbClr val="000000"/>
                </a:solidFill>
                <a:highlight>
                  <a:srgbClr val="FFFFFF"/>
                </a:highlight>
                <a:latin typeface="Cascadia Mono" panose="020B0609020000020004" pitchFamily="49" charset="0"/>
              </a:rPr>
              <a:t> std::</a:t>
            </a:r>
            <a:r>
              <a:rPr lang="en-US" sz="1050" dirty="0" err="1">
                <a:solidFill>
                  <a:srgbClr val="000000"/>
                </a:solidFill>
                <a:highlight>
                  <a:srgbClr val="FFFFFF"/>
                </a:highlight>
                <a:latin typeface="Cascadia Mono" panose="020B0609020000020004" pitchFamily="49" charset="0"/>
              </a:rPr>
              <a:t>endl</a:t>
            </a:r>
            <a:r>
              <a:rPr lang="en-US"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de-CH" sz="1050" dirty="0" err="1">
                <a:solidFill>
                  <a:srgbClr val="0000FF"/>
                </a:solidFill>
                <a:highlight>
                  <a:srgbClr val="FFFFFF"/>
                </a:highlight>
                <a:latin typeface="Cascadia Mono" panose="020B0609020000020004" pitchFamily="49" charset="0"/>
              </a:rPr>
              <a:t>void</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goodevening</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std::</a:t>
            </a:r>
            <a:r>
              <a:rPr lang="en-US" sz="1050" dirty="0" err="1">
                <a:solidFill>
                  <a:srgbClr val="000000"/>
                </a:solidFill>
                <a:highlight>
                  <a:srgbClr val="FFFFFF"/>
                </a:highlight>
                <a:latin typeface="Cascadia Mono" panose="020B0609020000020004" pitchFamily="49" charset="0"/>
              </a:rPr>
              <a:t>cout</a:t>
            </a:r>
            <a:r>
              <a:rPr lang="en-US" sz="1050" dirty="0">
                <a:solidFill>
                  <a:srgbClr val="000000"/>
                </a:solidFill>
                <a:highlight>
                  <a:srgbClr val="FFFFFF"/>
                </a:highlight>
                <a:latin typeface="Cascadia Mono" panose="020B0609020000020004" pitchFamily="49" charset="0"/>
              </a:rPr>
              <a:t> </a:t>
            </a:r>
            <a:r>
              <a:rPr lang="en-US" sz="1050" dirty="0">
                <a:solidFill>
                  <a:srgbClr val="008080"/>
                </a:solidFill>
                <a:highlight>
                  <a:srgbClr val="FFFFFF"/>
                </a:highlight>
                <a:latin typeface="Cascadia Mono" panose="020B0609020000020004" pitchFamily="49" charset="0"/>
              </a:rPr>
              <a:t>&lt;&lt;</a:t>
            </a:r>
            <a:r>
              <a:rPr lang="en-US" sz="1050" dirty="0">
                <a:solidFill>
                  <a:srgbClr val="000000"/>
                </a:solidFill>
                <a:highlight>
                  <a:srgbClr val="FFFFFF"/>
                </a:highlight>
                <a:latin typeface="Cascadia Mono" panose="020B0609020000020004" pitchFamily="49" charset="0"/>
              </a:rPr>
              <a:t> </a:t>
            </a:r>
            <a:r>
              <a:rPr lang="en-US" sz="1050" dirty="0">
                <a:solidFill>
                  <a:srgbClr val="A31515"/>
                </a:solidFill>
                <a:highlight>
                  <a:srgbClr val="FFFFFF"/>
                </a:highlight>
                <a:latin typeface="Cascadia Mono" panose="020B0609020000020004" pitchFamily="49" charset="0"/>
              </a:rPr>
              <a:t>"Good Evening!"</a:t>
            </a:r>
            <a:r>
              <a:rPr lang="en-US" sz="1050" dirty="0">
                <a:solidFill>
                  <a:srgbClr val="000000"/>
                </a:solidFill>
                <a:highlight>
                  <a:srgbClr val="FFFFFF"/>
                </a:highlight>
                <a:latin typeface="Cascadia Mono" panose="020B0609020000020004" pitchFamily="49" charset="0"/>
              </a:rPr>
              <a:t> </a:t>
            </a:r>
            <a:r>
              <a:rPr lang="en-US" sz="1050" dirty="0">
                <a:solidFill>
                  <a:srgbClr val="008080"/>
                </a:solidFill>
                <a:highlight>
                  <a:srgbClr val="FFFFFF"/>
                </a:highlight>
                <a:latin typeface="Cascadia Mono" panose="020B0609020000020004" pitchFamily="49" charset="0"/>
              </a:rPr>
              <a:t>&lt;&lt;</a:t>
            </a:r>
            <a:r>
              <a:rPr lang="en-US" sz="1050" dirty="0">
                <a:solidFill>
                  <a:srgbClr val="000000"/>
                </a:solidFill>
                <a:highlight>
                  <a:srgbClr val="FFFFFF"/>
                </a:highlight>
                <a:latin typeface="Cascadia Mono" panose="020B0609020000020004" pitchFamily="49" charset="0"/>
              </a:rPr>
              <a:t> std::</a:t>
            </a:r>
            <a:r>
              <a:rPr lang="en-US" sz="1050" dirty="0" err="1">
                <a:solidFill>
                  <a:srgbClr val="000000"/>
                </a:solidFill>
                <a:highlight>
                  <a:srgbClr val="FFFFFF"/>
                </a:highlight>
                <a:latin typeface="Cascadia Mono" panose="020B0609020000020004" pitchFamily="49" charset="0"/>
              </a:rPr>
              <a:t>endl</a:t>
            </a:r>
            <a:r>
              <a:rPr lang="en-US"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endParaRPr lang="ru-RU" sz="1050" dirty="0"/>
          </a:p>
        </p:txBody>
      </p:sp>
    </p:spTree>
    <p:extLst>
      <p:ext uri="{BB962C8B-B14F-4D97-AF65-F5344CB8AC3E}">
        <p14:creationId xmlns:p14="http://schemas.microsoft.com/office/powerpoint/2010/main" val="2784026009"/>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C35B04-FB56-DB6B-D7AD-B19D16A2899F}"/>
              </a:ext>
            </a:extLst>
          </p:cNvPr>
          <p:cNvSpPr>
            <a:spLocks noGrp="1"/>
          </p:cNvSpPr>
          <p:nvPr>
            <p:ph type="title"/>
          </p:nvPr>
        </p:nvSpPr>
        <p:spPr/>
        <p:txBody>
          <a:bodyPr/>
          <a:lstStyle/>
          <a:p>
            <a:r>
              <a:rPr kumimoji="0" lang="ru-RU" sz="1800" b="1" i="0" u="none" strike="noStrike" kern="1200" cap="none" spc="0" normalizeH="0" baseline="0" noProof="0" dirty="0">
                <a:ln>
                  <a:noFill/>
                </a:ln>
                <a:solidFill>
                  <a:srgbClr val="F3C43F"/>
                </a:solidFill>
                <a:effectLst/>
                <a:uLnTx/>
                <a:uFillTx/>
                <a:latin typeface="Verdana"/>
                <a:ea typeface="+mj-ea"/>
                <a:cs typeface="+mj-cs"/>
              </a:rPr>
              <a:t>Указатель на функцию как возвращаемое значение</a:t>
            </a:r>
            <a:endParaRPr lang="ru-RU" dirty="0"/>
          </a:p>
        </p:txBody>
      </p:sp>
      <p:sp>
        <p:nvSpPr>
          <p:cNvPr id="3" name="Объект 2">
            <a:extLst>
              <a:ext uri="{FF2B5EF4-FFF2-40B4-BE49-F238E27FC236}">
                <a16:creationId xmlns:a16="http://schemas.microsoft.com/office/drawing/2014/main" id="{D37495E8-C137-4876-CB66-0BECE1CB4440}"/>
              </a:ext>
            </a:extLst>
          </p:cNvPr>
          <p:cNvSpPr>
            <a:spLocks noGrp="1"/>
          </p:cNvSpPr>
          <p:nvPr>
            <p:ph idx="1"/>
          </p:nvPr>
        </p:nvSpPr>
        <p:spPr/>
        <p:txBody>
          <a:bodyPr numCol="2"/>
          <a:lstStyle/>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add</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multiply</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select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p>
          <a:p>
            <a:endParaRPr lang="ru-RU" sz="1200" dirty="0">
              <a:solidFill>
                <a:srgbClr val="000000"/>
              </a:solidFill>
              <a:highlight>
                <a:srgbClr val="FFFFFF"/>
              </a:highlight>
              <a:latin typeface="Cascadia Mono" panose="020B0609020000020004" pitchFamily="49" charset="0"/>
            </a:endParaRP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main</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action</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 </a:t>
            </a:r>
            <a:r>
              <a:rPr lang="de-CH" sz="1200" dirty="0" err="1">
                <a:solidFill>
                  <a:srgbClr val="000000"/>
                </a:solidFill>
                <a:highlight>
                  <a:srgbClr val="FFFFFF"/>
                </a:highlight>
                <a:latin typeface="Cascadia Mono" panose="020B0609020000020004" pitchFamily="49" charset="0"/>
              </a:rPr>
              <a:t>select</a:t>
            </a:r>
            <a:r>
              <a:rPr lang="de-CH" sz="1200" dirty="0">
                <a:solidFill>
                  <a:srgbClr val="000000"/>
                </a:solidFill>
                <a:highlight>
                  <a:srgbClr val="FFFFFF"/>
                </a:highlight>
                <a:latin typeface="Cascadia Mono" panose="020B0609020000020004" pitchFamily="49" charset="0"/>
              </a:rPr>
              <a:t>(1) };  </a:t>
            </a:r>
            <a:r>
              <a:rPr lang="de-CH" sz="1200" dirty="0">
                <a:solidFill>
                  <a:srgbClr val="008000"/>
                </a:solidFill>
                <a:highlight>
                  <a:srgbClr val="FFFFFF"/>
                </a:highlight>
                <a:latin typeface="Cascadia Mono" panose="020B0609020000020004" pitchFamily="49" charset="0"/>
              </a:rPr>
              <a:t>// </a:t>
            </a:r>
            <a:r>
              <a:rPr lang="ru-RU" sz="1200" dirty="0">
                <a:solidFill>
                  <a:srgbClr val="008000"/>
                </a:solidFill>
                <a:highlight>
                  <a:srgbClr val="FFFFFF"/>
                </a:highlight>
                <a:latin typeface="Cascadia Mono" panose="020B0609020000020004" pitchFamily="49" charset="0"/>
              </a:rPr>
              <a:t>получаем указатель на функцию </a:t>
            </a:r>
            <a:r>
              <a:rPr lang="de-CH" sz="1200" dirty="0" err="1">
                <a:solidFill>
                  <a:srgbClr val="008000"/>
                </a:solidFill>
                <a:highlight>
                  <a:srgbClr val="FFFFFF"/>
                </a:highlight>
                <a:latin typeface="Cascadia Mono" panose="020B0609020000020004" pitchFamily="49" charset="0"/>
              </a:rPr>
              <a:t>add</a:t>
            </a:r>
            <a:endParaRPr lang="de-CH" sz="1200" dirty="0">
              <a:solidFill>
                <a:srgbClr val="000000"/>
              </a:solidFill>
              <a:highlight>
                <a:srgbClr val="FFFFFF"/>
              </a:highlight>
              <a:latin typeface="Cascadia Mono" panose="020B0609020000020004" pitchFamily="49" charset="0"/>
            </a:endParaRPr>
          </a:p>
          <a:p>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action</a:t>
            </a:r>
            <a:r>
              <a:rPr lang="de-CH" sz="1200" dirty="0">
                <a:solidFill>
                  <a:srgbClr val="000000"/>
                </a:solidFill>
                <a:highlight>
                  <a:srgbClr val="FFFFFF"/>
                </a:highlight>
                <a:latin typeface="Cascadia Mono" panose="020B0609020000020004" pitchFamily="49" charset="0"/>
              </a:rPr>
              <a:t>(8, 5)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endl</a:t>
            </a:r>
            <a:r>
              <a:rPr lang="de-CH" sz="1200" dirty="0">
                <a:solidFill>
                  <a:srgbClr val="000000"/>
                </a:solidFill>
                <a:highlight>
                  <a:srgbClr val="FFFFFF"/>
                </a:highlight>
                <a:latin typeface="Cascadia Mono" panose="020B0609020000020004" pitchFamily="49" charset="0"/>
              </a:rPr>
              <a:t>; </a:t>
            </a:r>
            <a:r>
              <a:rPr lang="de-CH" sz="1200" dirty="0">
                <a:solidFill>
                  <a:srgbClr val="008000"/>
                </a:solidFill>
                <a:highlight>
                  <a:srgbClr val="FFFFFF"/>
                </a:highlight>
                <a:latin typeface="Cascadia Mono" panose="020B0609020000020004" pitchFamily="49" charset="0"/>
              </a:rPr>
              <a:t>// 13</a:t>
            </a:r>
            <a:endParaRPr lang="de-CH" sz="1200" dirty="0">
              <a:solidFill>
                <a:srgbClr val="000000"/>
              </a:solidFill>
              <a:highlight>
                <a:srgbClr val="FFFFFF"/>
              </a:highlight>
              <a:latin typeface="Cascadia Mono" panose="020B0609020000020004" pitchFamily="49" charset="0"/>
            </a:endParaRPr>
          </a:p>
          <a:p>
            <a:endParaRPr lang="ru-RU"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    </a:t>
            </a:r>
            <a:r>
              <a:rPr lang="ru-RU" sz="1200" dirty="0" err="1">
                <a:solidFill>
                  <a:srgbClr val="000000"/>
                </a:solidFill>
                <a:highlight>
                  <a:srgbClr val="FFFFFF"/>
                </a:highlight>
                <a:latin typeface="Cascadia Mono" panose="020B0609020000020004" pitchFamily="49" charset="0"/>
              </a:rPr>
              <a:t>action</a:t>
            </a:r>
            <a:r>
              <a:rPr lang="ru-RU" sz="1200" dirty="0">
                <a:solidFill>
                  <a:srgbClr val="000000"/>
                </a:solidFill>
                <a:highlight>
                  <a:srgbClr val="FFFFFF"/>
                </a:highlight>
                <a:latin typeface="Cascadia Mono" panose="020B0609020000020004" pitchFamily="49" charset="0"/>
              </a:rPr>
              <a:t> = </a:t>
            </a:r>
            <a:r>
              <a:rPr lang="ru-RU" sz="1200" dirty="0" err="1">
                <a:solidFill>
                  <a:srgbClr val="000000"/>
                </a:solidFill>
                <a:highlight>
                  <a:srgbClr val="FFFFFF"/>
                </a:highlight>
                <a:latin typeface="Cascadia Mono" panose="020B0609020000020004" pitchFamily="49" charset="0"/>
              </a:rPr>
              <a:t>select</a:t>
            </a:r>
            <a:r>
              <a:rPr lang="ru-RU" sz="1200" dirty="0">
                <a:solidFill>
                  <a:srgbClr val="000000"/>
                </a:solidFill>
                <a:highlight>
                  <a:srgbClr val="FFFFFF"/>
                </a:highlight>
                <a:latin typeface="Cascadia Mono" panose="020B0609020000020004" pitchFamily="49" charset="0"/>
              </a:rPr>
              <a:t>(2);  </a:t>
            </a:r>
            <a:r>
              <a:rPr lang="ru-RU" sz="1200" dirty="0">
                <a:solidFill>
                  <a:srgbClr val="008000"/>
                </a:solidFill>
                <a:highlight>
                  <a:srgbClr val="FFFFFF"/>
                </a:highlight>
                <a:latin typeface="Cascadia Mono" panose="020B0609020000020004" pitchFamily="49" charset="0"/>
              </a:rPr>
              <a:t>// получаем указатель на функцию </a:t>
            </a:r>
            <a:r>
              <a:rPr lang="ru-RU" sz="1200" dirty="0" err="1">
                <a:solidFill>
                  <a:srgbClr val="008000"/>
                </a:solidFill>
                <a:highlight>
                  <a:srgbClr val="FFFFFF"/>
                </a:highlight>
                <a:latin typeface="Cascadia Mono" panose="020B0609020000020004" pitchFamily="49" charset="0"/>
              </a:rPr>
              <a:t>subtract</a:t>
            </a:r>
            <a:endParaRPr lang="ru-RU" sz="1200" dirty="0">
              <a:solidFill>
                <a:srgbClr val="000000"/>
              </a:solidFill>
              <a:highlight>
                <a:srgbClr val="FFFFFF"/>
              </a:highlight>
              <a:latin typeface="Cascadia Mono" panose="020B0609020000020004" pitchFamily="49" charset="0"/>
            </a:endParaRPr>
          </a:p>
          <a:p>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action</a:t>
            </a:r>
            <a:r>
              <a:rPr lang="de-CH" sz="1200" dirty="0">
                <a:solidFill>
                  <a:srgbClr val="000000"/>
                </a:solidFill>
                <a:highlight>
                  <a:srgbClr val="FFFFFF"/>
                </a:highlight>
                <a:latin typeface="Cascadia Mono" panose="020B0609020000020004" pitchFamily="49" charset="0"/>
              </a:rPr>
              <a:t>(8, 5)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endl</a:t>
            </a:r>
            <a:r>
              <a:rPr lang="de-CH" sz="1200" dirty="0">
                <a:solidFill>
                  <a:srgbClr val="000000"/>
                </a:solidFill>
                <a:highlight>
                  <a:srgbClr val="FFFFFF"/>
                </a:highlight>
                <a:latin typeface="Cascadia Mono" panose="020B0609020000020004" pitchFamily="49" charset="0"/>
              </a:rPr>
              <a:t>; </a:t>
            </a:r>
            <a:r>
              <a:rPr lang="de-CH" sz="1200" dirty="0">
                <a:solidFill>
                  <a:srgbClr val="008000"/>
                </a:solidFill>
                <a:highlight>
                  <a:srgbClr val="FFFFFF"/>
                </a:highlight>
                <a:latin typeface="Cascadia Mono" panose="020B0609020000020004" pitchFamily="49" charset="0"/>
              </a:rPr>
              <a:t>// 3</a:t>
            </a:r>
            <a:endParaRPr lang="de-CH" sz="1200" dirty="0">
              <a:solidFill>
                <a:srgbClr val="000000"/>
              </a:solidFill>
              <a:highlight>
                <a:srgbClr val="FFFFFF"/>
              </a:highlight>
              <a:latin typeface="Cascadia Mono" panose="020B0609020000020004" pitchFamily="49" charset="0"/>
            </a:endParaRPr>
          </a:p>
          <a:p>
            <a:endParaRPr lang="ru-RU"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    </a:t>
            </a:r>
            <a:r>
              <a:rPr lang="ru-RU" sz="1200" dirty="0" err="1">
                <a:solidFill>
                  <a:srgbClr val="000000"/>
                </a:solidFill>
                <a:highlight>
                  <a:srgbClr val="FFFFFF"/>
                </a:highlight>
                <a:latin typeface="Cascadia Mono" panose="020B0609020000020004" pitchFamily="49" charset="0"/>
              </a:rPr>
              <a:t>action</a:t>
            </a:r>
            <a:r>
              <a:rPr lang="ru-RU" sz="1200" dirty="0">
                <a:solidFill>
                  <a:srgbClr val="000000"/>
                </a:solidFill>
                <a:highlight>
                  <a:srgbClr val="FFFFFF"/>
                </a:highlight>
                <a:latin typeface="Cascadia Mono" panose="020B0609020000020004" pitchFamily="49" charset="0"/>
              </a:rPr>
              <a:t> = </a:t>
            </a:r>
            <a:r>
              <a:rPr lang="ru-RU" sz="1200" dirty="0" err="1">
                <a:solidFill>
                  <a:srgbClr val="000000"/>
                </a:solidFill>
                <a:highlight>
                  <a:srgbClr val="FFFFFF"/>
                </a:highlight>
                <a:latin typeface="Cascadia Mono" panose="020B0609020000020004" pitchFamily="49" charset="0"/>
              </a:rPr>
              <a:t>select</a:t>
            </a:r>
            <a:r>
              <a:rPr lang="ru-RU" sz="1200" dirty="0">
                <a:solidFill>
                  <a:srgbClr val="000000"/>
                </a:solidFill>
                <a:highlight>
                  <a:srgbClr val="FFFFFF"/>
                </a:highlight>
                <a:latin typeface="Cascadia Mono" panose="020B0609020000020004" pitchFamily="49" charset="0"/>
              </a:rPr>
              <a:t>(3);  </a:t>
            </a:r>
            <a:r>
              <a:rPr lang="ru-RU" sz="1200" dirty="0">
                <a:solidFill>
                  <a:srgbClr val="008000"/>
                </a:solidFill>
                <a:highlight>
                  <a:srgbClr val="FFFFFF"/>
                </a:highlight>
                <a:latin typeface="Cascadia Mono" panose="020B0609020000020004" pitchFamily="49" charset="0"/>
              </a:rPr>
              <a:t>// получаем указатель на функцию </a:t>
            </a:r>
            <a:r>
              <a:rPr lang="ru-RU" sz="1200" dirty="0" err="1">
                <a:solidFill>
                  <a:srgbClr val="008000"/>
                </a:solidFill>
                <a:highlight>
                  <a:srgbClr val="FFFFFF"/>
                </a:highlight>
                <a:latin typeface="Cascadia Mono" panose="020B0609020000020004" pitchFamily="49" charset="0"/>
              </a:rPr>
              <a:t>multiply</a:t>
            </a:r>
            <a:endParaRPr lang="ru-RU" sz="1200" dirty="0">
              <a:solidFill>
                <a:srgbClr val="000000"/>
              </a:solidFill>
              <a:highlight>
                <a:srgbClr val="FFFFFF"/>
              </a:highlight>
              <a:latin typeface="Cascadia Mono" panose="020B0609020000020004" pitchFamily="49" charset="0"/>
            </a:endParaRPr>
          </a:p>
          <a:p>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action</a:t>
            </a:r>
            <a:r>
              <a:rPr lang="de-CH" sz="1200" dirty="0">
                <a:solidFill>
                  <a:srgbClr val="000000"/>
                </a:solidFill>
                <a:highlight>
                  <a:srgbClr val="FFFFFF"/>
                </a:highlight>
                <a:latin typeface="Cascadia Mono" panose="020B0609020000020004" pitchFamily="49" charset="0"/>
              </a:rPr>
              <a:t>(8, 5)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endl</a:t>
            </a:r>
            <a:r>
              <a:rPr lang="de-CH" sz="1200" dirty="0">
                <a:solidFill>
                  <a:srgbClr val="000000"/>
                </a:solidFill>
                <a:highlight>
                  <a:srgbClr val="FFFFFF"/>
                </a:highlight>
                <a:latin typeface="Cascadia Mono" panose="020B0609020000020004" pitchFamily="49" charset="0"/>
              </a:rPr>
              <a:t>; </a:t>
            </a:r>
            <a:r>
              <a:rPr lang="de-CH" sz="1200" dirty="0">
                <a:solidFill>
                  <a:srgbClr val="008000"/>
                </a:solidFill>
                <a:highlight>
                  <a:srgbClr val="FFFFFF"/>
                </a:highlight>
                <a:latin typeface="Cascadia Mono" panose="020B0609020000020004" pitchFamily="49" charset="0"/>
              </a:rPr>
              <a:t>// 40</a:t>
            </a:r>
            <a:endParaRPr lang="de-CH"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a:t>
            </a:r>
          </a:p>
          <a:p>
            <a:endParaRPr lang="ru-RU" sz="1200" dirty="0">
              <a:solidFill>
                <a:srgbClr val="000000"/>
              </a:solidFill>
              <a:highlight>
                <a:srgbClr val="FFFFFF"/>
              </a:highlight>
              <a:latin typeface="Cascadia Mono" panose="020B0609020000020004" pitchFamily="49" charset="0"/>
            </a:endParaRPr>
          </a:p>
          <a:p>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(*select(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808080"/>
                </a:solidFill>
                <a:highlight>
                  <a:srgbClr val="FFFFFF"/>
                </a:highlight>
                <a:latin typeface="Cascadia Mono" panose="020B0609020000020004" pitchFamily="49" charset="0"/>
              </a:rPr>
              <a:t>choice</a:t>
            </a:r>
            <a:r>
              <a:rPr lang="en-US" sz="1200" dirty="0">
                <a:solidFill>
                  <a:srgbClr val="000000"/>
                </a:solidFill>
                <a:highlight>
                  <a:srgbClr val="FFFFFF"/>
                </a:highlight>
                <a:latin typeface="Cascadia Mono" panose="020B0609020000020004" pitchFamily="49" charset="0"/>
              </a:rPr>
              <a:t>))(</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 </a:t>
            </a:r>
            <a:r>
              <a:rPr lang="en-US" sz="1200" dirty="0">
                <a:solidFill>
                  <a:srgbClr val="0000FF"/>
                </a:solidFill>
                <a:highlight>
                  <a:srgbClr val="FFFFFF"/>
                </a:highlight>
                <a:latin typeface="Cascadia Mono" panose="020B0609020000020004" pitchFamily="49" charset="0"/>
              </a:rPr>
              <a:t>int</a:t>
            </a:r>
            <a:r>
              <a:rPr lang="en-US"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    </a:t>
            </a:r>
            <a:r>
              <a:rPr lang="ru-RU" sz="1200" dirty="0">
                <a:solidFill>
                  <a:srgbClr val="008000"/>
                </a:solidFill>
                <a:highlight>
                  <a:srgbClr val="FFFFFF"/>
                </a:highlight>
                <a:latin typeface="Cascadia Mono" panose="020B0609020000020004" pitchFamily="49" charset="0"/>
              </a:rPr>
              <a:t>// возвращаем нужную функцию в зависимости от </a:t>
            </a:r>
            <a:r>
              <a:rPr lang="ru-RU" sz="1200" dirty="0" err="1">
                <a:solidFill>
                  <a:srgbClr val="008000"/>
                </a:solidFill>
                <a:highlight>
                  <a:srgbClr val="FFFFFF"/>
                </a:highlight>
                <a:latin typeface="Cascadia Mono" panose="020B0609020000020004" pitchFamily="49" charset="0"/>
              </a:rPr>
              <a:t>choice</a:t>
            </a:r>
            <a:endParaRPr lang="ru-RU" sz="1200" dirty="0">
              <a:solidFill>
                <a:srgbClr val="000000"/>
              </a:solidFill>
              <a:highlight>
                <a:srgbClr val="FFFFFF"/>
              </a:highlight>
              <a:latin typeface="Cascadia Mono" panose="020B0609020000020004" pitchFamily="49" charset="0"/>
            </a:endParaRPr>
          </a:p>
          <a:p>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switch</a:t>
            </a:r>
            <a:r>
              <a:rPr lang="de-CH" sz="1200" dirty="0">
                <a:solidFill>
                  <a:srgbClr val="000000"/>
                </a:solidFill>
                <a:highlight>
                  <a:srgbClr val="FFFFFF"/>
                </a:highlight>
                <a:latin typeface="Cascadia Mono" panose="020B0609020000020004" pitchFamily="49" charset="0"/>
              </a:rPr>
              <a:t> (</a:t>
            </a:r>
            <a:r>
              <a:rPr lang="de-CH" sz="1200" dirty="0" err="1">
                <a:solidFill>
                  <a:srgbClr val="808080"/>
                </a:solidFill>
                <a:highlight>
                  <a:srgbClr val="FFFFFF"/>
                </a:highlight>
                <a:latin typeface="Cascadia Mono" panose="020B0609020000020004" pitchFamily="49" charset="0"/>
              </a:rPr>
              <a:t>choice</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    {</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case</a:t>
            </a:r>
            <a:r>
              <a:rPr lang="de-CH" sz="1200" dirty="0">
                <a:solidFill>
                  <a:srgbClr val="000000"/>
                </a:solidFill>
                <a:highlight>
                  <a:srgbClr val="FFFFFF"/>
                </a:highlight>
                <a:latin typeface="Cascadia Mono" panose="020B0609020000020004" pitchFamily="49" charset="0"/>
              </a:rPr>
              <a:t> 2:</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case</a:t>
            </a:r>
            <a:r>
              <a:rPr lang="de-CH" sz="1200" dirty="0">
                <a:solidFill>
                  <a:srgbClr val="000000"/>
                </a:solidFill>
                <a:highlight>
                  <a:srgbClr val="FFFFFF"/>
                </a:highlight>
                <a:latin typeface="Cascadia Mono" panose="020B0609020000020004" pitchFamily="49" charset="0"/>
              </a:rPr>
              <a:t> 3:</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multiply</a:t>
            </a:r>
            <a:r>
              <a:rPr lang="de-CH"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default</a:t>
            </a:r>
            <a:r>
              <a:rPr lang="de-CH"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add</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    }</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add</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subtract</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multiply</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x</a:t>
            </a:r>
            <a:r>
              <a:rPr lang="de-CH" sz="1200" dirty="0">
                <a:solidFill>
                  <a:srgbClr val="000000"/>
                </a:solidFill>
                <a:highlight>
                  <a:srgbClr val="FFFFFF"/>
                </a:highlight>
                <a:latin typeface="Cascadia Mono" panose="020B0609020000020004" pitchFamily="49" charset="0"/>
              </a:rPr>
              <a:t> * </a:t>
            </a:r>
            <a:r>
              <a:rPr lang="de-CH" sz="1200" dirty="0">
                <a:solidFill>
                  <a:srgbClr val="808080"/>
                </a:solidFill>
                <a:highlight>
                  <a:srgbClr val="FFFFFF"/>
                </a:highlight>
                <a:latin typeface="Cascadia Mono" panose="020B0609020000020004" pitchFamily="49" charset="0"/>
              </a:rPr>
              <a:t>y</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1663280242"/>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66D4EA-7599-E435-F10C-891B018C3697}"/>
              </a:ext>
            </a:extLst>
          </p:cNvPr>
          <p:cNvSpPr>
            <a:spLocks noGrp="1"/>
          </p:cNvSpPr>
          <p:nvPr>
            <p:ph type="title"/>
          </p:nvPr>
        </p:nvSpPr>
        <p:spPr/>
        <p:txBody>
          <a:bodyPr/>
          <a:lstStyle/>
          <a:p>
            <a:r>
              <a:rPr kumimoji="0" lang="ru-RU" sz="1800" b="1" i="0" u="none" strike="noStrike" kern="1200" cap="none" spc="0" normalizeH="0" baseline="0" noProof="0" dirty="0">
                <a:ln>
                  <a:noFill/>
                </a:ln>
                <a:solidFill>
                  <a:srgbClr val="F3C43F"/>
                </a:solidFill>
                <a:effectLst/>
                <a:uLnTx/>
                <a:uFillTx/>
                <a:latin typeface="Verdana"/>
                <a:ea typeface="+mj-ea"/>
                <a:cs typeface="+mj-cs"/>
              </a:rPr>
              <a:t>Указатель на функцию как возвращаемое значение</a:t>
            </a:r>
            <a:endParaRPr lang="ru-RU" dirty="0"/>
          </a:p>
        </p:txBody>
      </p:sp>
      <p:sp>
        <p:nvSpPr>
          <p:cNvPr id="3" name="Объект 2">
            <a:extLst>
              <a:ext uri="{FF2B5EF4-FFF2-40B4-BE49-F238E27FC236}">
                <a16:creationId xmlns:a16="http://schemas.microsoft.com/office/drawing/2014/main" id="{3F518E68-13CD-6467-C961-13FBC35B9F3B}"/>
              </a:ext>
            </a:extLst>
          </p:cNvPr>
          <p:cNvSpPr>
            <a:spLocks noGrp="1"/>
          </p:cNvSpPr>
          <p:nvPr>
            <p:ph idx="1"/>
          </p:nvPr>
        </p:nvSpPr>
        <p:spPr/>
        <p:txBody>
          <a:bodyPr/>
          <a:lstStyle/>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add</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subtract</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multiply</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select</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a:t>
            </a:r>
          </a:p>
          <a:p>
            <a:endParaRPr lang="ru-RU" sz="900" dirty="0">
              <a:solidFill>
                <a:srgbClr val="000000"/>
              </a:solidFill>
              <a:highlight>
                <a:srgbClr val="FFFFFF"/>
              </a:highlight>
              <a:latin typeface="Cascadia Mono" panose="020B0609020000020004" pitchFamily="49" charset="0"/>
            </a:endParaRP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main</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r>
              <a:rPr lang="ru-RU" sz="900" dirty="0">
                <a:solidFill>
                  <a:srgbClr val="0000FF"/>
                </a:solidFill>
                <a:highlight>
                  <a:srgbClr val="FFFFFF"/>
                </a:highlight>
                <a:latin typeface="Cascadia Mono" panose="020B0609020000020004" pitchFamily="49" charset="0"/>
              </a:rPr>
              <a:t>int</a:t>
            </a:r>
            <a:r>
              <a:rPr lang="ru-RU" sz="900" dirty="0">
                <a:solidFill>
                  <a:srgbClr val="000000"/>
                </a:solidFill>
                <a:highlight>
                  <a:srgbClr val="FFFFFF"/>
                </a:highlight>
                <a:latin typeface="Cascadia Mono" panose="020B0609020000020004" pitchFamily="49" charset="0"/>
              </a:rPr>
              <a:t>(*</a:t>
            </a:r>
            <a:r>
              <a:rPr lang="ru-RU" sz="900" dirty="0" err="1">
                <a:solidFill>
                  <a:srgbClr val="000000"/>
                </a:solidFill>
                <a:highlight>
                  <a:srgbClr val="FFFFFF"/>
                </a:highlight>
                <a:latin typeface="Cascadia Mono" panose="020B0609020000020004" pitchFamily="49" charset="0"/>
              </a:rPr>
              <a:t>action</a:t>
            </a:r>
            <a:r>
              <a:rPr lang="ru-RU" sz="900" dirty="0">
                <a:solidFill>
                  <a:srgbClr val="000000"/>
                </a:solidFill>
                <a:highlight>
                  <a:srgbClr val="FFFFFF"/>
                </a:highlight>
                <a:latin typeface="Cascadia Mono" panose="020B0609020000020004" pitchFamily="49" charset="0"/>
              </a:rPr>
              <a:t>)(</a:t>
            </a:r>
            <a:r>
              <a:rPr lang="ru-RU" sz="900" dirty="0">
                <a:solidFill>
                  <a:srgbClr val="0000FF"/>
                </a:solidFill>
                <a:highlight>
                  <a:srgbClr val="FFFFFF"/>
                </a:highlight>
                <a:latin typeface="Cascadia Mono" panose="020B0609020000020004" pitchFamily="49" charset="0"/>
              </a:rPr>
              <a:t>int</a:t>
            </a:r>
            <a:r>
              <a:rPr lang="ru-RU" sz="900" dirty="0">
                <a:solidFill>
                  <a:srgbClr val="000000"/>
                </a:solidFill>
                <a:highlight>
                  <a:srgbClr val="FFFFFF"/>
                </a:highlight>
                <a:latin typeface="Cascadia Mono" panose="020B0609020000020004" pitchFamily="49" charset="0"/>
              </a:rPr>
              <a:t>, </a:t>
            </a:r>
            <a:r>
              <a:rPr lang="ru-RU" sz="900" dirty="0">
                <a:solidFill>
                  <a:srgbClr val="0000FF"/>
                </a:solidFill>
                <a:highlight>
                  <a:srgbClr val="FFFFFF"/>
                </a:highlight>
                <a:latin typeface="Cascadia Mono" panose="020B0609020000020004" pitchFamily="49" charset="0"/>
              </a:rPr>
              <a:t>int</a:t>
            </a:r>
            <a:r>
              <a:rPr lang="ru-RU" sz="900" dirty="0">
                <a:solidFill>
                  <a:srgbClr val="000000"/>
                </a:solidFill>
                <a:highlight>
                  <a:srgbClr val="FFFFFF"/>
                </a:highlight>
                <a:latin typeface="Cascadia Mono" panose="020B0609020000020004" pitchFamily="49" charset="0"/>
              </a:rPr>
              <a:t>) { </a:t>
            </a:r>
            <a:r>
              <a:rPr lang="ru-RU" sz="900" dirty="0" err="1">
                <a:solidFill>
                  <a:srgbClr val="000000"/>
                </a:solidFill>
                <a:highlight>
                  <a:srgbClr val="FFFFFF"/>
                </a:highlight>
                <a:latin typeface="Cascadia Mono" panose="020B0609020000020004" pitchFamily="49" charset="0"/>
              </a:rPr>
              <a:t>select</a:t>
            </a:r>
            <a:r>
              <a:rPr lang="ru-RU" sz="900" dirty="0">
                <a:solidFill>
                  <a:srgbClr val="000000"/>
                </a:solidFill>
                <a:highlight>
                  <a:srgbClr val="FFFFFF"/>
                </a:highlight>
                <a:latin typeface="Cascadia Mono" panose="020B0609020000020004" pitchFamily="49" charset="0"/>
              </a:rPr>
              <a:t>(14) };  </a:t>
            </a:r>
            <a:r>
              <a:rPr lang="ru-RU" sz="900" dirty="0">
                <a:solidFill>
                  <a:srgbClr val="008000"/>
                </a:solidFill>
                <a:highlight>
                  <a:srgbClr val="FFFFFF"/>
                </a:highlight>
                <a:latin typeface="Cascadia Mono" panose="020B0609020000020004" pitchFamily="49" charset="0"/>
              </a:rPr>
              <a:t>// получаем указатель на функцию</a:t>
            </a:r>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err="1">
                <a:solidFill>
                  <a:srgbClr val="0000FF"/>
                </a:solidFill>
                <a:highlight>
                  <a:srgbClr val="FFFFFF"/>
                </a:highlight>
                <a:latin typeface="Cascadia Mono" panose="020B0609020000020004" pitchFamily="49" charset="0"/>
              </a:rPr>
              <a:t>if</a:t>
            </a:r>
            <a:r>
              <a:rPr lang="ru-RU" sz="900" dirty="0">
                <a:solidFill>
                  <a:srgbClr val="000000"/>
                </a:solidFill>
                <a:highlight>
                  <a:srgbClr val="FFFFFF"/>
                </a:highlight>
                <a:latin typeface="Cascadia Mono" panose="020B0609020000020004" pitchFamily="49" charset="0"/>
              </a:rPr>
              <a:t> (</a:t>
            </a:r>
            <a:r>
              <a:rPr lang="ru-RU" sz="900" dirty="0" err="1">
                <a:solidFill>
                  <a:srgbClr val="000000"/>
                </a:solidFill>
                <a:highlight>
                  <a:srgbClr val="FFFFFF"/>
                </a:highlight>
                <a:latin typeface="Cascadia Mono" panose="020B0609020000020004" pitchFamily="49" charset="0"/>
              </a:rPr>
              <a:t>action</a:t>
            </a:r>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если не равно </a:t>
            </a:r>
            <a:r>
              <a:rPr lang="ru-RU" sz="900" dirty="0" err="1">
                <a:solidFill>
                  <a:srgbClr val="008000"/>
                </a:solidFill>
                <a:highlight>
                  <a:srgbClr val="FFFFFF"/>
                </a:highlight>
                <a:latin typeface="Cascadia Mono" panose="020B0609020000020004" pitchFamily="49" charset="0"/>
              </a:rPr>
              <a:t>nullptr</a:t>
            </a:r>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cout</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action</a:t>
            </a:r>
            <a:r>
              <a:rPr lang="de-CH" sz="900" dirty="0">
                <a:solidFill>
                  <a:srgbClr val="000000"/>
                </a:solidFill>
                <a:highlight>
                  <a:srgbClr val="FFFFFF"/>
                </a:highlight>
                <a:latin typeface="Cascadia Mono" panose="020B0609020000020004" pitchFamily="49" charset="0"/>
              </a:rPr>
              <a:t>(8, 5)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endl</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else</a:t>
            </a:r>
            <a:endParaRPr lang="de-CH"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std::</a:t>
            </a:r>
            <a:r>
              <a:rPr lang="en-US" sz="900" dirty="0" err="1">
                <a:solidFill>
                  <a:srgbClr val="000000"/>
                </a:solidFill>
                <a:highlight>
                  <a:srgbClr val="FFFFFF"/>
                </a:highlight>
                <a:latin typeface="Cascadia Mono" panose="020B0609020000020004" pitchFamily="49" charset="0"/>
              </a:rPr>
              <a:t>cout</a:t>
            </a:r>
            <a:r>
              <a:rPr lang="en-US" sz="900" dirty="0">
                <a:solidFill>
                  <a:srgbClr val="000000"/>
                </a:solidFill>
                <a:highlight>
                  <a:srgbClr val="FFFFFF"/>
                </a:highlight>
                <a:latin typeface="Cascadia Mono" panose="020B0609020000020004" pitchFamily="49" charset="0"/>
              </a:rPr>
              <a:t> </a:t>
            </a:r>
            <a:r>
              <a:rPr lang="en-US" sz="900" dirty="0">
                <a:solidFill>
                  <a:srgbClr val="008080"/>
                </a:solidFill>
                <a:highlight>
                  <a:srgbClr val="FFFFFF"/>
                </a:highlight>
                <a:latin typeface="Cascadia Mono" panose="020B0609020000020004" pitchFamily="49" charset="0"/>
              </a:rPr>
              <a:t>&lt;&lt;</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"Undefined"</a:t>
            </a:r>
            <a:r>
              <a:rPr lang="en-US" sz="900" dirty="0">
                <a:solidFill>
                  <a:srgbClr val="000000"/>
                </a:solidFill>
                <a:highlight>
                  <a:srgbClr val="FFFFFF"/>
                </a:highlight>
                <a:latin typeface="Cascadia Mono" panose="020B0609020000020004" pitchFamily="49" charset="0"/>
              </a:rPr>
              <a:t> </a:t>
            </a:r>
            <a:r>
              <a:rPr lang="en-US" sz="900" dirty="0">
                <a:solidFill>
                  <a:srgbClr val="008080"/>
                </a:solidFill>
                <a:highlight>
                  <a:srgbClr val="FFFFFF"/>
                </a:highlight>
                <a:latin typeface="Cascadia Mono" panose="020B0609020000020004" pitchFamily="49" charset="0"/>
              </a:rPr>
              <a:t>&lt;&lt;</a:t>
            </a:r>
            <a:r>
              <a:rPr lang="en-US" sz="900" dirty="0">
                <a:solidFill>
                  <a:srgbClr val="000000"/>
                </a:solidFill>
                <a:highlight>
                  <a:srgbClr val="FFFFFF"/>
                </a:highlight>
                <a:latin typeface="Cascadia Mono" panose="020B0609020000020004" pitchFamily="49" charset="0"/>
              </a:rPr>
              <a:t> std::</a:t>
            </a:r>
            <a:r>
              <a:rPr lang="en-US" sz="900" dirty="0" err="1">
                <a:solidFill>
                  <a:srgbClr val="000000"/>
                </a:solidFill>
                <a:highlight>
                  <a:srgbClr val="FFFFFF"/>
                </a:highlight>
                <a:latin typeface="Cascadia Mono" panose="020B0609020000020004" pitchFamily="49" charset="0"/>
              </a:rPr>
              <a:t>endl</a:t>
            </a:r>
            <a:r>
              <a:rPr lang="en-US"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a:t>
            </a:r>
          </a:p>
          <a:p>
            <a:endParaRPr lang="ru-RU" sz="900" dirty="0">
              <a:solidFill>
                <a:srgbClr val="000000"/>
              </a:solidFill>
              <a:highlight>
                <a:srgbClr val="FFFFFF"/>
              </a:highlight>
              <a:latin typeface="Cascadia Mono" panose="020B0609020000020004" pitchFamily="49" charset="0"/>
            </a:endParaRPr>
          </a:p>
          <a:p>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(*select(</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choice</a:t>
            </a:r>
            <a:r>
              <a:rPr lang="en-US" sz="900" dirty="0">
                <a:solidFill>
                  <a:srgbClr val="000000"/>
                </a:solidFill>
                <a:highlight>
                  <a:srgbClr val="FFFFFF"/>
                </a:highlight>
                <a:latin typeface="Cascadia Mono" panose="020B0609020000020004" pitchFamily="49" charset="0"/>
              </a:rPr>
              <a:t>))(</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actions</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x,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y) { </a:t>
            </a:r>
            <a:r>
              <a:rPr lang="de-CH" sz="900" dirty="0" err="1">
                <a:solidFill>
                  <a:srgbClr val="000000"/>
                </a:solidFill>
                <a:highlight>
                  <a:srgbClr val="FFFFFF"/>
                </a:highlight>
                <a:latin typeface="Cascadia Mono" panose="020B0609020000020004" pitchFamily="49" charset="0"/>
              </a:rPr>
              <a:t>add</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subtract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multiply</a:t>
            </a:r>
            <a:r>
              <a:rPr lang="de-CH"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возвращаем нужную функцию в зависимости от </a:t>
            </a:r>
            <a:r>
              <a:rPr lang="ru-RU" sz="900" dirty="0" err="1">
                <a:solidFill>
                  <a:srgbClr val="008000"/>
                </a:solidFill>
                <a:highlight>
                  <a:srgbClr val="FFFFFF"/>
                </a:highlight>
                <a:latin typeface="Cascadia Mono" panose="020B0609020000020004" pitchFamily="49" charset="0"/>
              </a:rPr>
              <a:t>choice</a:t>
            </a:r>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возвращаем нужную функцию</a:t>
            </a:r>
            <a:endParaRPr lang="ru-RU"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if</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choice</a:t>
            </a:r>
            <a:r>
              <a:rPr lang="en-US" sz="900" dirty="0">
                <a:solidFill>
                  <a:srgbClr val="000000"/>
                </a:solidFill>
                <a:highlight>
                  <a:srgbClr val="FFFFFF"/>
                </a:highlight>
                <a:latin typeface="Cascadia Mono" panose="020B0609020000020004" pitchFamily="49" charset="0"/>
              </a:rPr>
              <a:t> &gt; 0 &amp;&amp; </a:t>
            </a:r>
            <a:r>
              <a:rPr lang="en-US" sz="900" dirty="0">
                <a:solidFill>
                  <a:srgbClr val="808080"/>
                </a:solidFill>
                <a:highlight>
                  <a:srgbClr val="FFFFFF"/>
                </a:highlight>
                <a:latin typeface="Cascadia Mono" panose="020B0609020000020004" pitchFamily="49" charset="0"/>
              </a:rPr>
              <a:t>choice</a:t>
            </a:r>
            <a:r>
              <a:rPr lang="en-US" sz="900" dirty="0">
                <a:solidFill>
                  <a:srgbClr val="000000"/>
                </a:solidFill>
                <a:highlight>
                  <a:srgbClr val="FFFFFF"/>
                </a:highlight>
                <a:latin typeface="Cascadia Mono" panose="020B0609020000020004" pitchFamily="49" charset="0"/>
              </a:rPr>
              <a:t> &lt; 4)</a:t>
            </a: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return</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actions</a:t>
            </a:r>
            <a:r>
              <a:rPr lang="de-CH" sz="900" dirty="0">
                <a:solidFill>
                  <a:srgbClr val="000000"/>
                </a:solidFill>
                <a:highlight>
                  <a:srgbClr val="FFFFFF"/>
                </a:highlight>
                <a:latin typeface="Cascadia Mono" panose="020B0609020000020004" pitchFamily="49" charset="0"/>
              </a:rPr>
              <a:t>[</a:t>
            </a:r>
            <a:r>
              <a:rPr lang="de-CH" sz="900" dirty="0" err="1">
                <a:solidFill>
                  <a:srgbClr val="808080"/>
                </a:solidFill>
                <a:highlight>
                  <a:srgbClr val="FFFFFF"/>
                </a:highlight>
                <a:latin typeface="Cascadia Mono" panose="020B0609020000020004" pitchFamily="49" charset="0"/>
              </a:rPr>
              <a:t>choice</a:t>
            </a:r>
            <a:r>
              <a:rPr lang="de-CH" sz="900" dirty="0">
                <a:solidFill>
                  <a:srgbClr val="000000"/>
                </a:solidFill>
                <a:highlight>
                  <a:srgbClr val="FFFFFF"/>
                </a:highlight>
                <a:latin typeface="Cascadia Mono" panose="020B0609020000020004" pitchFamily="49" charset="0"/>
              </a:rPr>
              <a:t> - 1];</a:t>
            </a: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else</a:t>
            </a:r>
            <a:endParaRPr lang="de-CH"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return</a:t>
            </a:r>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nullptr</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add(</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x</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y</a:t>
            </a:r>
            <a:r>
              <a:rPr lang="en-US" sz="900" dirty="0">
                <a:solidFill>
                  <a:srgbClr val="000000"/>
                </a:solidFill>
                <a:highlight>
                  <a:srgbClr val="FFFFFF"/>
                </a:highlight>
                <a:latin typeface="Cascadia Mono" panose="020B0609020000020004" pitchFamily="49" charset="0"/>
              </a:rPr>
              <a:t>) { </a:t>
            </a:r>
            <a:r>
              <a:rPr lang="en-US" sz="900" dirty="0">
                <a:solidFill>
                  <a:srgbClr val="0000FF"/>
                </a:solidFill>
                <a:highlight>
                  <a:srgbClr val="FFFFFF"/>
                </a:highlight>
                <a:latin typeface="Cascadia Mono" panose="020B0609020000020004" pitchFamily="49" charset="0"/>
              </a:rPr>
              <a:t>return</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x</a:t>
            </a:r>
            <a:r>
              <a:rPr lang="en-US" sz="900" dirty="0">
                <a:solidFill>
                  <a:srgbClr val="000000"/>
                </a:solidFill>
                <a:highlight>
                  <a:srgbClr val="FFFFFF"/>
                </a:highlight>
                <a:latin typeface="Cascadia Mono" panose="020B0609020000020004" pitchFamily="49" charset="0"/>
              </a:rPr>
              <a:t> + </a:t>
            </a:r>
            <a:r>
              <a:rPr lang="en-US" sz="900" dirty="0">
                <a:solidFill>
                  <a:srgbClr val="808080"/>
                </a:solidFill>
                <a:highlight>
                  <a:srgbClr val="FFFFFF"/>
                </a:highlight>
                <a:latin typeface="Cascadia Mono" panose="020B0609020000020004" pitchFamily="49" charset="0"/>
              </a:rPr>
              <a:t>y</a:t>
            </a:r>
            <a:r>
              <a:rPr lang="en-US" sz="900" dirty="0">
                <a:solidFill>
                  <a:srgbClr val="000000"/>
                </a:solidFill>
                <a:highlight>
                  <a:srgbClr val="FFFFFF"/>
                </a:highlight>
                <a:latin typeface="Cascadia Mono" panose="020B0609020000020004" pitchFamily="49" charset="0"/>
              </a:rPr>
              <a:t>; }</a:t>
            </a: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subtract</a:t>
            </a:r>
            <a:r>
              <a:rPr lang="de-CH" sz="900" dirty="0">
                <a:solidFill>
                  <a:srgbClr val="000000"/>
                </a:solidFill>
                <a:highlight>
                  <a:srgbClr val="FFFFFF"/>
                </a:highlight>
                <a:latin typeface="Cascadia Mono" panose="020B0609020000020004" pitchFamily="49" charset="0"/>
              </a:rPr>
              <a:t>(</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808080"/>
                </a:solidFill>
                <a:highlight>
                  <a:srgbClr val="FFFFFF"/>
                </a:highlight>
                <a:latin typeface="Cascadia Mono" panose="020B0609020000020004" pitchFamily="49" charset="0"/>
              </a:rPr>
              <a:t>x</a:t>
            </a:r>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a:solidFill>
                  <a:srgbClr val="808080"/>
                </a:solidFill>
                <a:highlight>
                  <a:srgbClr val="FFFFFF"/>
                </a:highlight>
                <a:latin typeface="Cascadia Mono" panose="020B0609020000020004" pitchFamily="49" charset="0"/>
              </a:rPr>
              <a:t>y</a:t>
            </a:r>
            <a:r>
              <a:rPr lang="de-CH" sz="900" dirty="0">
                <a:solidFill>
                  <a:srgbClr val="000000"/>
                </a:solidFill>
                <a:highlight>
                  <a:srgbClr val="FFFFFF"/>
                </a:highlight>
                <a:latin typeface="Cascadia Mono" panose="020B0609020000020004" pitchFamily="49" charset="0"/>
              </a:rPr>
              <a:t>) { </a:t>
            </a:r>
            <a:r>
              <a:rPr lang="de-CH" sz="900" dirty="0" err="1">
                <a:solidFill>
                  <a:srgbClr val="0000FF"/>
                </a:solidFill>
                <a:highlight>
                  <a:srgbClr val="FFFFFF"/>
                </a:highlight>
                <a:latin typeface="Cascadia Mono" panose="020B0609020000020004" pitchFamily="49" charset="0"/>
              </a:rPr>
              <a:t>return</a:t>
            </a:r>
            <a:r>
              <a:rPr lang="de-CH" sz="900" dirty="0">
                <a:solidFill>
                  <a:srgbClr val="000000"/>
                </a:solidFill>
                <a:highlight>
                  <a:srgbClr val="FFFFFF"/>
                </a:highlight>
                <a:latin typeface="Cascadia Mono" panose="020B0609020000020004" pitchFamily="49" charset="0"/>
              </a:rPr>
              <a:t> </a:t>
            </a:r>
            <a:r>
              <a:rPr lang="de-CH" sz="900" dirty="0">
                <a:solidFill>
                  <a:srgbClr val="808080"/>
                </a:solidFill>
                <a:highlight>
                  <a:srgbClr val="FFFFFF"/>
                </a:highlight>
                <a:latin typeface="Cascadia Mono" panose="020B0609020000020004" pitchFamily="49" charset="0"/>
              </a:rPr>
              <a:t>x</a:t>
            </a:r>
            <a:r>
              <a:rPr lang="de-CH" sz="900" dirty="0">
                <a:solidFill>
                  <a:srgbClr val="000000"/>
                </a:solidFill>
                <a:highlight>
                  <a:srgbClr val="FFFFFF"/>
                </a:highlight>
                <a:latin typeface="Cascadia Mono" panose="020B0609020000020004" pitchFamily="49" charset="0"/>
              </a:rPr>
              <a:t> - </a:t>
            </a:r>
            <a:r>
              <a:rPr lang="de-CH" sz="900" dirty="0">
                <a:solidFill>
                  <a:srgbClr val="808080"/>
                </a:solidFill>
                <a:highlight>
                  <a:srgbClr val="FFFFFF"/>
                </a:highlight>
                <a:latin typeface="Cascadia Mono" panose="020B0609020000020004" pitchFamily="49" charset="0"/>
              </a:rPr>
              <a:t>y</a:t>
            </a:r>
            <a:r>
              <a:rPr lang="de-CH" sz="900" dirty="0">
                <a:solidFill>
                  <a:srgbClr val="000000"/>
                </a:solidFill>
                <a:highlight>
                  <a:srgbClr val="FFFFFF"/>
                </a:highlight>
                <a:latin typeface="Cascadia Mono" panose="020B0609020000020004" pitchFamily="49" charset="0"/>
              </a:rPr>
              <a:t>; }</a:t>
            </a:r>
          </a:p>
          <a:p>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multiply(</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x</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y</a:t>
            </a:r>
            <a:r>
              <a:rPr lang="en-US" sz="900" dirty="0">
                <a:solidFill>
                  <a:srgbClr val="000000"/>
                </a:solidFill>
                <a:highlight>
                  <a:srgbClr val="FFFFFF"/>
                </a:highlight>
                <a:latin typeface="Cascadia Mono" panose="020B0609020000020004" pitchFamily="49" charset="0"/>
              </a:rPr>
              <a:t>) { </a:t>
            </a:r>
            <a:r>
              <a:rPr lang="en-US" sz="900" dirty="0">
                <a:solidFill>
                  <a:srgbClr val="0000FF"/>
                </a:solidFill>
                <a:highlight>
                  <a:srgbClr val="FFFFFF"/>
                </a:highlight>
                <a:latin typeface="Cascadia Mono" panose="020B0609020000020004" pitchFamily="49" charset="0"/>
              </a:rPr>
              <a:t>return</a:t>
            </a:r>
            <a:r>
              <a:rPr lang="en-US" sz="900" dirty="0">
                <a:solidFill>
                  <a:srgbClr val="000000"/>
                </a:solidFill>
                <a:highlight>
                  <a:srgbClr val="FFFFFF"/>
                </a:highlight>
                <a:latin typeface="Cascadia Mono" panose="020B0609020000020004" pitchFamily="49" charset="0"/>
              </a:rPr>
              <a:t> </a:t>
            </a:r>
            <a:r>
              <a:rPr lang="en-US" sz="900" dirty="0">
                <a:solidFill>
                  <a:srgbClr val="808080"/>
                </a:solidFill>
                <a:highlight>
                  <a:srgbClr val="FFFFFF"/>
                </a:highlight>
                <a:latin typeface="Cascadia Mono" panose="020B0609020000020004" pitchFamily="49" charset="0"/>
              </a:rPr>
              <a:t>x</a:t>
            </a:r>
            <a:r>
              <a:rPr lang="en-US" sz="900" dirty="0">
                <a:solidFill>
                  <a:srgbClr val="000000"/>
                </a:solidFill>
                <a:highlight>
                  <a:srgbClr val="FFFFFF"/>
                </a:highlight>
                <a:latin typeface="Cascadia Mono" panose="020B0609020000020004" pitchFamily="49" charset="0"/>
              </a:rPr>
              <a:t> * </a:t>
            </a:r>
            <a:r>
              <a:rPr lang="en-US" sz="900" dirty="0">
                <a:solidFill>
                  <a:srgbClr val="808080"/>
                </a:solidFill>
                <a:highlight>
                  <a:srgbClr val="FFFFFF"/>
                </a:highlight>
                <a:latin typeface="Cascadia Mono" panose="020B0609020000020004" pitchFamily="49" charset="0"/>
              </a:rPr>
              <a:t>y</a:t>
            </a:r>
            <a:r>
              <a:rPr lang="en-US" sz="900" dirty="0">
                <a:solidFill>
                  <a:srgbClr val="000000"/>
                </a:solidFill>
                <a:highlight>
                  <a:srgbClr val="FFFFFF"/>
                </a:highlight>
                <a:latin typeface="Cascadia Mono" panose="020B0609020000020004" pitchFamily="49" charset="0"/>
              </a:rPr>
              <a:t>; }</a:t>
            </a:r>
            <a:endParaRPr lang="ru-RU" sz="900" dirty="0"/>
          </a:p>
        </p:txBody>
      </p:sp>
    </p:spTree>
    <p:extLst>
      <p:ext uri="{BB962C8B-B14F-4D97-AF65-F5344CB8AC3E}">
        <p14:creationId xmlns:p14="http://schemas.microsoft.com/office/powerpoint/2010/main" val="2274329175"/>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A29A5B-BD8A-FEF9-ABF8-71C477DD78DA}"/>
              </a:ext>
            </a:extLst>
          </p:cNvPr>
          <p:cNvSpPr>
            <a:spLocks noGrp="1"/>
          </p:cNvSpPr>
          <p:nvPr>
            <p:ph type="title"/>
          </p:nvPr>
        </p:nvSpPr>
        <p:spPr/>
        <p:txBody>
          <a:bodyPr/>
          <a:lstStyle/>
          <a:p>
            <a:r>
              <a:rPr lang="ru-RU" sz="2400" b="1" dirty="0"/>
              <a:t>Разделение программы на файлы</a:t>
            </a:r>
            <a:endParaRPr lang="ru-RU" dirty="0"/>
          </a:p>
        </p:txBody>
      </p:sp>
      <p:sp>
        <p:nvSpPr>
          <p:cNvPr id="3" name="Объект 2">
            <a:extLst>
              <a:ext uri="{FF2B5EF4-FFF2-40B4-BE49-F238E27FC236}">
                <a16:creationId xmlns:a16="http://schemas.microsoft.com/office/drawing/2014/main" id="{503F4F0A-3D0C-282F-2BF6-D351676976F6}"/>
              </a:ext>
            </a:extLst>
          </p:cNvPr>
          <p:cNvSpPr>
            <a:spLocks noGrp="1"/>
          </p:cNvSpPr>
          <p:nvPr>
            <p:ph idx="1"/>
          </p:nvPr>
        </p:nvSpPr>
        <p:spPr/>
        <p:txBody>
          <a:bodyPr/>
          <a:lstStyle/>
          <a:p>
            <a:r>
              <a:rPr lang="ru-RU" dirty="0"/>
              <a:t>Если программа содержит много кода, то более оптимально было бы разнести отдельные части кода по отдельным файлам. Например, одни функции могут храниться в одном файле исходного кода, другие функции - в другом файле.</a:t>
            </a:r>
            <a:endParaRPr lang="en-US" dirty="0"/>
          </a:p>
          <a:p>
            <a:endParaRPr lang="en-US" dirty="0"/>
          </a:p>
          <a:p>
            <a:r>
              <a:rPr lang="ru-RU" dirty="0"/>
              <a:t>Например, определим файл </a:t>
            </a:r>
            <a:r>
              <a:rPr lang="ru-RU" b="1" dirty="0"/>
              <a:t>sum.cpp</a:t>
            </a:r>
            <a:r>
              <a:rPr lang="ru-RU" dirty="0"/>
              <a:t>, который будет иметь следующий код:</a:t>
            </a:r>
            <a:endParaRPr lang="en-US" dirty="0"/>
          </a:p>
          <a:p>
            <a:endParaRPr lang="en-US" dirty="0"/>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a</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b</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a</a:t>
            </a:r>
            <a:r>
              <a:rPr lang="de-CH" sz="2000" dirty="0">
                <a:solidFill>
                  <a:srgbClr val="000000"/>
                </a:solidFill>
                <a:highlight>
                  <a:srgbClr val="FFFFFF"/>
                </a:highlight>
                <a:latin typeface="Cascadia Mono" panose="020B0609020000020004" pitchFamily="49" charset="0"/>
              </a:rPr>
              <a:t> + </a:t>
            </a:r>
            <a:r>
              <a:rPr lang="de-CH" sz="2000" dirty="0">
                <a:solidFill>
                  <a:srgbClr val="808080"/>
                </a:solidFill>
                <a:highlight>
                  <a:srgbClr val="FFFFFF"/>
                </a:highlight>
                <a:latin typeface="Cascadia Mono" panose="020B0609020000020004" pitchFamily="49" charset="0"/>
              </a:rPr>
              <a:t>b</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976780350"/>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524ADE-0724-0CCC-DA01-440C4F4C1F3A}"/>
              </a:ext>
            </a:extLst>
          </p:cNvPr>
          <p:cNvSpPr>
            <a:spLocks noGrp="1"/>
          </p:cNvSpPr>
          <p:nvPr>
            <p:ph type="title"/>
          </p:nvPr>
        </p:nvSpPr>
        <p:spPr/>
        <p:txBody>
          <a:bodyPr/>
          <a:lstStyle/>
          <a:p>
            <a:r>
              <a:rPr lang="ru-RU" sz="2400" b="1" dirty="0"/>
              <a:t>Разделение программы на файлы</a:t>
            </a:r>
            <a:endParaRPr lang="ru-RU" sz="2400" dirty="0"/>
          </a:p>
        </p:txBody>
      </p:sp>
      <p:sp>
        <p:nvSpPr>
          <p:cNvPr id="3" name="Объект 2">
            <a:extLst>
              <a:ext uri="{FF2B5EF4-FFF2-40B4-BE49-F238E27FC236}">
                <a16:creationId xmlns:a16="http://schemas.microsoft.com/office/drawing/2014/main" id="{0DEB9A08-0FCE-064B-D74F-8CB8B9286E9B}"/>
              </a:ext>
            </a:extLst>
          </p:cNvPr>
          <p:cNvSpPr>
            <a:spLocks noGrp="1"/>
          </p:cNvSpPr>
          <p:nvPr>
            <p:ph idx="1"/>
          </p:nvPr>
        </p:nvSpPr>
        <p:spPr/>
        <p:txBody>
          <a:bodyPr/>
          <a:lstStyle/>
          <a:p>
            <a:r>
              <a:rPr lang="ru-RU" dirty="0"/>
              <a:t>Добавим еще один файл - </a:t>
            </a:r>
            <a:r>
              <a:rPr lang="ru-RU" b="1" dirty="0" err="1"/>
              <a:t>sum.h</a:t>
            </a:r>
            <a:r>
              <a:rPr lang="ru-RU" dirty="0"/>
              <a:t>, который будет содержать объявление функции </a:t>
            </a:r>
            <a:r>
              <a:rPr lang="ru-RU" dirty="0" err="1"/>
              <a:t>sum</a:t>
            </a:r>
            <a:r>
              <a:rPr lang="ru-RU" dirty="0"/>
              <a:t>:</a:t>
            </a:r>
            <a:endParaRPr lang="en-US" dirty="0"/>
          </a:p>
          <a:p>
            <a:r>
              <a:rPr lang="de-CH" sz="2000" dirty="0">
                <a:solidFill>
                  <a:srgbClr val="808080"/>
                </a:solidFill>
                <a:highlight>
                  <a:srgbClr val="FFFFFF"/>
                </a:highlight>
                <a:latin typeface="Cascadia Mono" panose="020B0609020000020004" pitchFamily="49" charset="0"/>
              </a:rPr>
              <a:t>#pragma</a:t>
            </a:r>
            <a:r>
              <a:rPr lang="de-CH" sz="2000" dirty="0">
                <a:solidFill>
                  <a:srgbClr val="000000"/>
                </a:solidFill>
                <a:highlight>
                  <a:srgbClr val="FFFFFF"/>
                </a:highlight>
                <a:latin typeface="Cascadia Mono" panose="020B0609020000020004" pitchFamily="49" charset="0"/>
              </a:rPr>
              <a:t> </a:t>
            </a:r>
            <a:r>
              <a:rPr lang="de-CH" sz="2000" dirty="0" err="1">
                <a:solidFill>
                  <a:srgbClr val="808080"/>
                </a:solidFill>
                <a:highlight>
                  <a:srgbClr val="FFFFFF"/>
                </a:highlight>
                <a:latin typeface="Cascadia Mono" panose="020B0609020000020004" pitchFamily="49" charset="0"/>
              </a:rPr>
              <a:t>once</a:t>
            </a:r>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sum</a:t>
            </a:r>
            <a:r>
              <a:rPr lang="de-CH" sz="2000" dirty="0">
                <a:solidFill>
                  <a:srgbClr val="000000"/>
                </a:solidFill>
                <a:highlight>
                  <a:srgbClr val="FFFFFF"/>
                </a:highlight>
                <a:latin typeface="Cascadia Mono" panose="020B0609020000020004" pitchFamily="49" charset="0"/>
              </a:rPr>
              <a: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a:t>
            </a:r>
          </a:p>
          <a:p>
            <a:endParaRPr lang="de-CH" dirty="0">
              <a:solidFill>
                <a:srgbClr val="000000"/>
              </a:solidFill>
              <a:highlight>
                <a:srgbClr val="FFFFFF"/>
              </a:highlight>
              <a:latin typeface="Cascadia Mono" panose="020B0609020000020004" pitchFamily="49" charset="0"/>
            </a:endParaRPr>
          </a:p>
          <a:p>
            <a:r>
              <a:rPr lang="ru-RU" dirty="0"/>
              <a:t>И также определим главный файл, который назовем </a:t>
            </a:r>
            <a:r>
              <a:rPr lang="ru-RU" b="1" dirty="0"/>
              <a:t>app.cpp</a:t>
            </a:r>
            <a:r>
              <a:rPr lang="ru-RU" dirty="0"/>
              <a:t>:</a:t>
            </a:r>
            <a:endParaRPr lang="en-US" dirty="0"/>
          </a:p>
          <a:p>
            <a:r>
              <a:rPr lang="de-CH" sz="1800" dirty="0">
                <a:solidFill>
                  <a:srgbClr val="808080"/>
                </a:solidFill>
                <a:highlight>
                  <a:srgbClr val="FFFFFF"/>
                </a:highlight>
                <a:latin typeface="Cascadia Mono" panose="020B0609020000020004" pitchFamily="49" charset="0"/>
              </a:rPr>
              <a:t>#include</a:t>
            </a:r>
            <a:r>
              <a:rPr lang="de-CH" sz="1800" dirty="0">
                <a:solidFill>
                  <a:srgbClr val="000000"/>
                </a:solidFill>
                <a:highlight>
                  <a:srgbClr val="FFFFFF"/>
                </a:highlight>
                <a:latin typeface="Cascadia Mono" panose="020B0609020000020004" pitchFamily="49" charset="0"/>
              </a:rPr>
              <a:t> </a:t>
            </a:r>
            <a:r>
              <a:rPr lang="de-CH" sz="1800" dirty="0">
                <a:solidFill>
                  <a:srgbClr val="A31515"/>
                </a:solidFill>
                <a:highlight>
                  <a:srgbClr val="FFFFFF"/>
                </a:highlight>
                <a:latin typeface="Cascadia Mono" panose="020B0609020000020004" pitchFamily="49" charset="0"/>
              </a:rPr>
              <a:t>&lt;</a:t>
            </a:r>
            <a:r>
              <a:rPr lang="de-CH" sz="1800" dirty="0" err="1">
                <a:solidFill>
                  <a:srgbClr val="A31515"/>
                </a:solidFill>
                <a:highlight>
                  <a:srgbClr val="FFFFFF"/>
                </a:highlight>
                <a:latin typeface="Cascadia Mono" panose="020B0609020000020004" pitchFamily="49" charset="0"/>
              </a:rPr>
              <a:t>iostream</a:t>
            </a:r>
            <a:r>
              <a:rPr lang="de-CH" sz="1800" dirty="0">
                <a:solidFill>
                  <a:srgbClr val="A31515"/>
                </a:solidFill>
                <a:highlight>
                  <a:srgbClr val="FFFFFF"/>
                </a:highlight>
                <a:latin typeface="Cascadia Mono" panose="020B0609020000020004" pitchFamily="49" charset="0"/>
              </a:rPr>
              <a:t>&gt;</a:t>
            </a:r>
            <a:endParaRPr lang="de-CH" sz="1800" dirty="0">
              <a:solidFill>
                <a:srgbClr val="000000"/>
              </a:solidFill>
              <a:highlight>
                <a:srgbClr val="FFFFFF"/>
              </a:highlight>
              <a:latin typeface="Cascadia Mono" panose="020B0609020000020004" pitchFamily="49" charset="0"/>
            </a:endParaRPr>
          </a:p>
          <a:p>
            <a:r>
              <a:rPr lang="de-CH" sz="1800" dirty="0">
                <a:solidFill>
                  <a:srgbClr val="808080"/>
                </a:solidFill>
                <a:highlight>
                  <a:srgbClr val="FFFFFF"/>
                </a:highlight>
                <a:latin typeface="Cascadia Mono" panose="020B0609020000020004" pitchFamily="49" charset="0"/>
              </a:rPr>
              <a:t>#include</a:t>
            </a:r>
            <a:r>
              <a:rPr lang="de-CH" sz="1800" dirty="0">
                <a:solidFill>
                  <a:srgbClr val="000000"/>
                </a:solidFill>
                <a:highlight>
                  <a:srgbClr val="FFFFFF"/>
                </a:highlight>
                <a:latin typeface="Cascadia Mono" panose="020B0609020000020004" pitchFamily="49" charset="0"/>
              </a:rPr>
              <a:t> </a:t>
            </a:r>
            <a:r>
              <a:rPr lang="de-CH" sz="1800" dirty="0">
                <a:solidFill>
                  <a:srgbClr val="A31515"/>
                </a:solidFill>
                <a:highlight>
                  <a:srgbClr val="FFFFFF"/>
                </a:highlight>
                <a:latin typeface="Cascadia Mono" panose="020B0609020000020004" pitchFamily="49" charset="0"/>
              </a:rPr>
              <a:t>"</a:t>
            </a:r>
            <a:r>
              <a:rPr lang="de-CH" sz="1800" dirty="0" err="1">
                <a:solidFill>
                  <a:srgbClr val="A31515"/>
                </a:solidFill>
                <a:highlight>
                  <a:srgbClr val="FFFFFF"/>
                </a:highlight>
                <a:latin typeface="Cascadia Mono" panose="020B0609020000020004" pitchFamily="49" charset="0"/>
              </a:rPr>
              <a:t>sum.h</a:t>
            </a:r>
            <a:r>
              <a:rPr lang="de-CH" sz="1800" dirty="0">
                <a:solidFill>
                  <a:srgbClr val="A31515"/>
                </a:solidFill>
                <a:highlight>
                  <a:srgbClr val="FFFFFF"/>
                </a:highlight>
                <a:latin typeface="Cascadia Mono" panose="020B0609020000020004" pitchFamily="49" charset="0"/>
              </a:rPr>
              <a:t>"</a:t>
            </a:r>
            <a:r>
              <a:rPr lang="de-CH" sz="1800" dirty="0">
                <a:solidFill>
                  <a:srgbClr val="000000"/>
                </a:solidFill>
                <a:highlight>
                  <a:srgbClr val="FFFFFF"/>
                </a:highlight>
                <a:latin typeface="Cascadia Mono" panose="020B0609020000020004" pitchFamily="49" charset="0"/>
              </a:rPr>
              <a:t>    </a:t>
            </a:r>
            <a:r>
              <a:rPr lang="de-CH" sz="1800" dirty="0">
                <a:solidFill>
                  <a:srgbClr val="008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подключаем файл </a:t>
            </a:r>
            <a:r>
              <a:rPr lang="de-CH" sz="1800" dirty="0" err="1">
                <a:solidFill>
                  <a:srgbClr val="008000"/>
                </a:solidFill>
                <a:highlight>
                  <a:srgbClr val="FFFFFF"/>
                </a:highlight>
                <a:latin typeface="Cascadia Mono" panose="020B0609020000020004" pitchFamily="49" charset="0"/>
              </a:rPr>
              <a:t>sum.h</a:t>
            </a:r>
            <a:endParaRPr lang="de-CH" sz="1800" dirty="0">
              <a:solidFill>
                <a:srgbClr val="000000"/>
              </a:solidFill>
              <a:highlight>
                <a:srgbClr val="FFFFFF"/>
              </a:highlight>
              <a:latin typeface="Cascadia Mono" panose="020B0609020000020004" pitchFamily="49" charset="0"/>
            </a:endParaRPr>
          </a:p>
          <a:p>
            <a:endParaRPr lang="ru-RU" sz="1800" dirty="0">
              <a:solidFill>
                <a:srgbClr val="000000"/>
              </a:solidFill>
              <a:highlight>
                <a:srgbClr val="FFFFFF"/>
              </a:highlight>
              <a:latin typeface="Cascadia Mono" panose="020B0609020000020004" pitchFamily="49" charset="0"/>
            </a:endParaRPr>
          </a:p>
          <a:p>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main</a:t>
            </a:r>
            <a:r>
              <a:rPr lang="de-CH"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a:t>
            </a:r>
          </a:p>
          <a:p>
            <a:r>
              <a:rPr lang="de-CH" sz="1800" dirty="0">
                <a:solidFill>
                  <a:srgbClr val="000000"/>
                </a:solidFill>
                <a:highlight>
                  <a:srgbClr val="FFFFFF"/>
                </a:highlight>
                <a:latin typeface="Cascadia Mono" panose="020B0609020000020004" pitchFamily="49" charset="0"/>
              </a:rPr>
              <a:t>    </a:t>
            </a:r>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result</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sum</a:t>
            </a:r>
            <a:r>
              <a:rPr lang="de-CH" sz="1800" dirty="0">
                <a:solidFill>
                  <a:srgbClr val="000000"/>
                </a:solidFill>
                <a:highlight>
                  <a:srgbClr val="FFFFFF"/>
                </a:highlight>
                <a:latin typeface="Cascadia Mono" panose="020B0609020000020004" pitchFamily="49" charset="0"/>
              </a:rPr>
              <a:t>(5, 4) };</a:t>
            </a: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"result =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result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  </a:t>
            </a:r>
            <a:r>
              <a:rPr lang="en-US" sz="1800" dirty="0">
                <a:solidFill>
                  <a:srgbClr val="008000"/>
                </a:solidFill>
                <a:highlight>
                  <a:srgbClr val="FFFFFF"/>
                </a:highlight>
                <a:latin typeface="Cascadia Mono" panose="020B0609020000020004" pitchFamily="49" charset="0"/>
              </a:rPr>
              <a:t>// result = 9</a:t>
            </a:r>
            <a:endParaRPr lang="en-US" sz="1800" dirty="0">
              <a:solidFill>
                <a:srgbClr val="000000"/>
              </a:solidFill>
              <a:highlight>
                <a:srgbClr val="FFFFFF"/>
              </a:highlight>
              <a:latin typeface="Cascadia Mono" panose="020B0609020000020004" pitchFamily="49" charset="0"/>
            </a:endParaRPr>
          </a:p>
          <a:p>
            <a:r>
              <a:rPr lang="ru-RU" sz="1800" dirty="0">
                <a:solidFill>
                  <a:srgbClr val="000000"/>
                </a:solidFill>
                <a:highlight>
                  <a:srgbClr val="FFFFFF"/>
                </a:highlight>
                <a:latin typeface="Cascadia Mono" panose="020B0609020000020004" pitchFamily="49" charset="0"/>
              </a:rPr>
              <a:t>}</a:t>
            </a:r>
            <a:endParaRPr lang="ru-RU" sz="1800" dirty="0"/>
          </a:p>
        </p:txBody>
      </p:sp>
    </p:spTree>
    <p:extLst>
      <p:ext uri="{BB962C8B-B14F-4D97-AF65-F5344CB8AC3E}">
        <p14:creationId xmlns:p14="http://schemas.microsoft.com/office/powerpoint/2010/main" val="930928085"/>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91E92B-792E-8FCD-B20F-1D07A98548B8}"/>
              </a:ext>
            </a:extLst>
          </p:cNvPr>
          <p:cNvSpPr>
            <a:spLocks noGrp="1"/>
          </p:cNvSpPr>
          <p:nvPr>
            <p:ph type="title"/>
          </p:nvPr>
        </p:nvSpPr>
        <p:spPr/>
        <p:txBody>
          <a:bodyPr/>
          <a:lstStyle/>
          <a:p>
            <a:r>
              <a:rPr lang="ru-RU" sz="2800" b="1" dirty="0"/>
              <a:t>Разделение программы на файлы</a:t>
            </a:r>
            <a:endParaRPr lang="ru-RU" sz="2800" dirty="0"/>
          </a:p>
        </p:txBody>
      </p:sp>
      <p:sp>
        <p:nvSpPr>
          <p:cNvPr id="3" name="Объект 2">
            <a:extLst>
              <a:ext uri="{FF2B5EF4-FFF2-40B4-BE49-F238E27FC236}">
                <a16:creationId xmlns:a16="http://schemas.microsoft.com/office/drawing/2014/main" id="{497737D7-721A-BE8E-6BF6-85C3E7F87A39}"/>
              </a:ext>
            </a:extLst>
          </p:cNvPr>
          <p:cNvSpPr>
            <a:spLocks noGrp="1"/>
          </p:cNvSpPr>
          <p:nvPr>
            <p:ph idx="1"/>
          </p:nvPr>
        </p:nvSpPr>
        <p:spPr/>
        <p:txBody>
          <a:bodyPr/>
          <a:lstStyle/>
          <a:p>
            <a:r>
              <a:rPr lang="ru-RU" dirty="0"/>
              <a:t>Функция </a:t>
            </a:r>
            <a:r>
              <a:rPr lang="ru-RU" dirty="0" err="1"/>
              <a:t>main</a:t>
            </a:r>
            <a:r>
              <a:rPr lang="ru-RU" dirty="0"/>
              <a:t> вызывает функцию </a:t>
            </a:r>
            <a:r>
              <a:rPr lang="ru-RU" dirty="0" err="1"/>
              <a:t>sum</a:t>
            </a:r>
            <a:r>
              <a:rPr lang="ru-RU" dirty="0"/>
              <a:t> для вычисления суммы чисел. Но перед использованием функции она должна быть определена или по крайней мере должен быть известен ее заголовок. В прошлых темах объявление функции добавлялось непосредственно в главный и единственный файл программы. Однако если функции определены в отдельных файлах, то более оптимально помещать объявления функций в специальные заголовочные файлы и потом подключать эти файлы. Именно поэтому в начале с помощью директивы </a:t>
            </a:r>
            <a:r>
              <a:rPr lang="ru-RU" dirty="0" err="1"/>
              <a:t>include</a:t>
            </a:r>
            <a:r>
              <a:rPr lang="ru-RU" dirty="0"/>
              <a:t> подключается файл </a:t>
            </a:r>
            <a:r>
              <a:rPr lang="ru-RU" dirty="0" err="1"/>
              <a:t>sum.h</a:t>
            </a:r>
            <a:r>
              <a:rPr lang="ru-RU" dirty="0"/>
              <a:t>, который содержит объявление или заголовок функции.</a:t>
            </a:r>
          </a:p>
        </p:txBody>
      </p:sp>
    </p:spTree>
    <p:extLst>
      <p:ext uri="{BB962C8B-B14F-4D97-AF65-F5344CB8AC3E}">
        <p14:creationId xmlns:p14="http://schemas.microsoft.com/office/powerpoint/2010/main" val="3408658654"/>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9E18546-0B3A-B5D4-0118-C0D8E47A4201}"/>
              </a:ext>
            </a:extLst>
          </p:cNvPr>
          <p:cNvSpPr>
            <a:spLocks noGrp="1"/>
          </p:cNvSpPr>
          <p:nvPr>
            <p:ph type="title"/>
          </p:nvPr>
        </p:nvSpPr>
        <p:spPr/>
        <p:txBody>
          <a:bodyPr/>
          <a:lstStyle/>
          <a:p>
            <a:r>
              <a:rPr lang="ru-RU" dirty="0"/>
              <a:t>Внешние объекты</a:t>
            </a:r>
          </a:p>
        </p:txBody>
      </p:sp>
      <p:sp>
        <p:nvSpPr>
          <p:cNvPr id="3" name="Объект 2">
            <a:extLst>
              <a:ext uri="{FF2B5EF4-FFF2-40B4-BE49-F238E27FC236}">
                <a16:creationId xmlns:a16="http://schemas.microsoft.com/office/drawing/2014/main" id="{19A250F1-64F9-2D6F-D6F2-108A8548FC68}"/>
              </a:ext>
            </a:extLst>
          </p:cNvPr>
          <p:cNvSpPr>
            <a:spLocks noGrp="1"/>
          </p:cNvSpPr>
          <p:nvPr>
            <p:ph idx="1"/>
          </p:nvPr>
        </p:nvSpPr>
        <p:spPr/>
        <p:txBody>
          <a:bodyPr/>
          <a:lstStyle/>
          <a:p>
            <a:r>
              <a:rPr lang="ru-RU" dirty="0"/>
              <a:t>Кроме функций внешние файлы могут содержать различные объекты - переменные и константы. Для подключения внешних объектов в файл кода применяется ключевое слово </a:t>
            </a:r>
            <a:r>
              <a:rPr lang="ru-RU" b="1" u="sng" dirty="0" err="1"/>
              <a:t>extern</a:t>
            </a:r>
            <a:r>
              <a:rPr lang="ru-RU" dirty="0"/>
              <a:t>.</a:t>
            </a:r>
          </a:p>
          <a:p>
            <a:endParaRPr lang="ru-RU" dirty="0"/>
          </a:p>
          <a:p>
            <a:r>
              <a:rPr lang="ru-RU" dirty="0"/>
              <a:t>Например, пусть у нас есть файл objects.cpp, в котором </a:t>
            </a:r>
            <a:r>
              <a:rPr lang="ru-RU" dirty="0" err="1"/>
              <a:t>определяюься</a:t>
            </a:r>
            <a:r>
              <a:rPr lang="ru-RU" dirty="0"/>
              <a:t> :</a:t>
            </a:r>
            <a:endParaRPr lang="en-US" dirty="0"/>
          </a:p>
          <a:p>
            <a:endParaRPr lang="en-US" dirty="0"/>
          </a:p>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&lt;</a:t>
            </a:r>
            <a:r>
              <a:rPr lang="de-CH" sz="2000" dirty="0" err="1">
                <a:solidFill>
                  <a:srgbClr val="0000FF"/>
                </a:solidFill>
                <a:highlight>
                  <a:srgbClr val="FFFFFF"/>
                </a:highlight>
                <a:latin typeface="Cascadia Mono" panose="020B0609020000020004" pitchFamily="49" charset="0"/>
              </a:rPr>
              <a:t>string</a:t>
            </a:r>
            <a:r>
              <a:rPr lang="de-CH" sz="2000" dirty="0">
                <a:solidFill>
                  <a:srgbClr val="0000FF"/>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2B91AF"/>
                </a:solidFill>
                <a:highlight>
                  <a:srgbClr val="FFFFFF"/>
                </a:highlight>
                <a:latin typeface="Cascadia Mono" panose="020B0609020000020004" pitchFamily="49" charset="0"/>
              </a:rPr>
              <a:t>string</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message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"Hello"</a:t>
            </a:r>
            <a:r>
              <a:rPr lang="de-CH" sz="2000" dirty="0">
                <a:solidFill>
                  <a:srgbClr val="000000"/>
                </a:solidFill>
                <a:highlight>
                  <a:srgbClr val="FFFFFF"/>
                </a:highlight>
                <a:latin typeface="Cascadia Mono" panose="020B0609020000020004" pitchFamily="49" charset="0"/>
              </a:rPr>
              <a:t> };</a:t>
            </a:r>
          </a:p>
          <a:p>
            <a:r>
              <a:rPr lang="de-CH" sz="2000" dirty="0" err="1">
                <a:solidFill>
                  <a:srgbClr val="0000FF"/>
                </a:solidFill>
                <a:highlight>
                  <a:srgbClr val="FFFFFF"/>
                </a:highlight>
                <a:latin typeface="Cascadia Mono" panose="020B0609020000020004" pitchFamily="49" charset="0"/>
              </a:rPr>
              <a:t>unsigned</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times</a:t>
            </a:r>
            <a:r>
              <a:rPr lang="de-CH" sz="2000" dirty="0">
                <a:solidFill>
                  <a:srgbClr val="000000"/>
                </a:solidFill>
                <a:highlight>
                  <a:srgbClr val="FFFFFF"/>
                </a:highlight>
                <a:latin typeface="Cascadia Mono" panose="020B0609020000020004" pitchFamily="49" charset="0"/>
              </a:rPr>
              <a:t>{ 3 };</a:t>
            </a:r>
            <a:endParaRPr lang="ru-RU" dirty="0"/>
          </a:p>
        </p:txBody>
      </p:sp>
    </p:spTree>
    <p:extLst>
      <p:ext uri="{BB962C8B-B14F-4D97-AF65-F5344CB8AC3E}">
        <p14:creationId xmlns:p14="http://schemas.microsoft.com/office/powerpoint/2010/main" val="1359573938"/>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B3D808-4B44-D2AA-48EA-C61773C5A942}"/>
              </a:ext>
            </a:extLst>
          </p:cNvPr>
          <p:cNvSpPr>
            <a:spLocks noGrp="1"/>
          </p:cNvSpPr>
          <p:nvPr>
            <p:ph type="title"/>
          </p:nvPr>
        </p:nvSpPr>
        <p:spPr/>
        <p:txBody>
          <a:bodyPr/>
          <a:lstStyle/>
          <a:p>
            <a:r>
              <a:rPr lang="ru-RU" dirty="0"/>
              <a:t>Внешние объекты</a:t>
            </a:r>
          </a:p>
        </p:txBody>
      </p:sp>
      <p:sp>
        <p:nvSpPr>
          <p:cNvPr id="3" name="Объект 2">
            <a:extLst>
              <a:ext uri="{FF2B5EF4-FFF2-40B4-BE49-F238E27FC236}">
                <a16:creationId xmlns:a16="http://schemas.microsoft.com/office/drawing/2014/main" id="{6A86D730-190E-EAE9-D7E0-460A8E5CA697}"/>
              </a:ext>
            </a:extLst>
          </p:cNvPr>
          <p:cNvSpPr>
            <a:spLocks noGrp="1"/>
          </p:cNvSpPr>
          <p:nvPr>
            <p:ph idx="1"/>
          </p:nvPr>
        </p:nvSpPr>
        <p:spPr/>
        <p:txBody>
          <a:bodyPr/>
          <a:lstStyle/>
          <a:p>
            <a:r>
              <a:rPr lang="ru-RU" dirty="0">
                <a:highlight>
                  <a:srgbClr val="FFFFFF"/>
                </a:highlight>
              </a:rPr>
              <a:t>Пусть главный файл программы  использует эти переменные:</a:t>
            </a:r>
            <a:endParaRPr lang="de-CH" sz="1600" dirty="0">
              <a:solidFill>
                <a:srgbClr val="808080"/>
              </a:solidFill>
              <a:highlight>
                <a:srgbClr val="FFFFFF"/>
              </a:highlight>
              <a:latin typeface="Cascadia Mono" panose="020B0609020000020004" pitchFamily="49" charset="0"/>
            </a:endParaRPr>
          </a:p>
          <a:p>
            <a:endParaRPr lang="de-CH" sz="1600" dirty="0">
              <a:solidFill>
                <a:srgbClr val="80808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0000FF"/>
                </a:solidFill>
                <a:highlight>
                  <a:srgbClr val="FFFFFF"/>
                </a:highlight>
                <a:latin typeface="Cascadia Mono" panose="020B0609020000020004" pitchFamily="49" charset="0"/>
              </a:rPr>
              <a:t>&lt;</a:t>
            </a:r>
            <a:r>
              <a:rPr lang="de-CH" sz="1600" dirty="0" err="1">
                <a:solidFill>
                  <a:srgbClr val="0000FF"/>
                </a:solidFill>
                <a:highlight>
                  <a:srgbClr val="FFFFFF"/>
                </a:highlight>
                <a:latin typeface="Cascadia Mono" panose="020B0609020000020004" pitchFamily="49" charset="0"/>
              </a:rPr>
              <a:t>iostream</a:t>
            </a:r>
            <a:r>
              <a:rPr lang="de-CH" sz="1600" dirty="0">
                <a:solidFill>
                  <a:srgbClr val="0000FF"/>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extern</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2B91AF"/>
                </a:solidFill>
                <a:highlight>
                  <a:srgbClr val="FFFFFF"/>
                </a:highlight>
                <a:latin typeface="Cascadia Mono" panose="020B0609020000020004" pitchFamily="49" charset="0"/>
              </a:rPr>
              <a:t>string</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message</a:t>
            </a:r>
            <a:r>
              <a:rPr lang="de-CH" sz="1600" dirty="0">
                <a:solidFill>
                  <a:srgbClr val="000000"/>
                </a:solidFill>
                <a:highlight>
                  <a:srgbClr val="FFFFFF"/>
                </a:highlight>
                <a:latin typeface="Cascadia Mono" panose="020B0609020000020004" pitchFamily="49" charset="0"/>
              </a:rPr>
              <a:t>;</a:t>
            </a:r>
          </a:p>
          <a:p>
            <a:r>
              <a:rPr lang="de-CH" sz="1600" dirty="0">
                <a:solidFill>
                  <a:srgbClr val="0000FF"/>
                </a:solidFill>
                <a:highlight>
                  <a:srgbClr val="FFFFFF"/>
                </a:highlight>
                <a:latin typeface="Cascadia Mono" panose="020B0609020000020004" pitchFamily="49" charset="0"/>
              </a:rPr>
              <a:t>extern</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for</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i{}; i &lt;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 i++)</a:t>
            </a:r>
          </a:p>
          <a:p>
            <a:r>
              <a:rPr lang="ru-RU" sz="1600" dirty="0">
                <a:solidFill>
                  <a:srgbClr val="000000"/>
                </a:solidFill>
                <a:highlight>
                  <a:srgbClr val="FFFFFF"/>
                </a:highlight>
                <a:latin typeface="Cascadia Mono" panose="020B0609020000020004" pitchFamily="49" charset="0"/>
              </a:rPr>
              <a:t>    {</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cout</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message</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endl</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4128810322"/>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B94E2E0-47BC-B61E-170E-2C9154E6C1CF}"/>
              </a:ext>
            </a:extLst>
          </p:cNvPr>
          <p:cNvSpPr>
            <a:spLocks noGrp="1"/>
          </p:cNvSpPr>
          <p:nvPr>
            <p:ph type="title"/>
          </p:nvPr>
        </p:nvSpPr>
        <p:spPr/>
        <p:txBody>
          <a:bodyPr/>
          <a:lstStyle/>
          <a:p>
            <a:r>
              <a:rPr lang="ru-RU" dirty="0"/>
              <a:t>Внешние объекты</a:t>
            </a:r>
          </a:p>
        </p:txBody>
      </p:sp>
      <p:sp>
        <p:nvSpPr>
          <p:cNvPr id="3" name="Объект 2">
            <a:extLst>
              <a:ext uri="{FF2B5EF4-FFF2-40B4-BE49-F238E27FC236}">
                <a16:creationId xmlns:a16="http://schemas.microsoft.com/office/drawing/2014/main" id="{6FF79367-2EEC-29F8-82BB-37202B95F3A2}"/>
              </a:ext>
            </a:extLst>
          </p:cNvPr>
          <p:cNvSpPr>
            <a:spLocks noGrp="1"/>
          </p:cNvSpPr>
          <p:nvPr>
            <p:ph idx="1"/>
          </p:nvPr>
        </p:nvSpPr>
        <p:spPr/>
        <p:txBody>
          <a:bodyPr/>
          <a:lstStyle/>
          <a:p>
            <a:r>
              <a:rPr lang="ru-RU" b="1" dirty="0"/>
              <a:t>Подключение констант</a:t>
            </a:r>
            <a:endParaRPr lang="en-US" b="1" dirty="0"/>
          </a:p>
          <a:p>
            <a:r>
              <a:rPr lang="ru-RU" dirty="0"/>
              <a:t>Подключение констант имеет особенность - ключевое слово </a:t>
            </a:r>
            <a:r>
              <a:rPr lang="ru-RU" b="1" dirty="0" err="1"/>
              <a:t>extern</a:t>
            </a:r>
            <a:r>
              <a:rPr lang="ru-RU" dirty="0"/>
              <a:t> надо указывать и при определении константы. </a:t>
            </a:r>
            <a:endParaRPr lang="en-US" dirty="0"/>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string</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en-US" sz="1600" dirty="0">
                <a:solidFill>
                  <a:srgbClr val="0000FF"/>
                </a:solidFill>
                <a:highlight>
                  <a:srgbClr val="FFFFFF"/>
                </a:highlight>
                <a:latin typeface="Cascadia Mono" panose="020B0609020000020004" pitchFamily="49" charset="0"/>
              </a:rPr>
              <a:t>extern</a:t>
            </a:r>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const</a:t>
            </a:r>
            <a:r>
              <a:rPr lang="en-US" sz="1600" dirty="0">
                <a:solidFill>
                  <a:srgbClr val="000000"/>
                </a:solidFill>
                <a:highlight>
                  <a:srgbClr val="FFFFFF"/>
                </a:highlight>
                <a:latin typeface="Cascadia Mono" panose="020B0609020000020004" pitchFamily="49" charset="0"/>
              </a:rPr>
              <a:t> std::</a:t>
            </a:r>
            <a:r>
              <a:rPr lang="en-US" sz="1600" dirty="0">
                <a:solidFill>
                  <a:srgbClr val="2B91AF"/>
                </a:solidFill>
                <a:highlight>
                  <a:srgbClr val="FFFFFF"/>
                </a:highlight>
                <a:latin typeface="Cascadia Mono" panose="020B0609020000020004" pitchFamily="49" charset="0"/>
              </a:rPr>
              <a:t>string</a:t>
            </a:r>
            <a:r>
              <a:rPr lang="en-US" sz="1600" dirty="0">
                <a:solidFill>
                  <a:srgbClr val="000000"/>
                </a:solidFill>
                <a:highlight>
                  <a:srgbClr val="FFFFFF"/>
                </a:highlight>
                <a:latin typeface="Cascadia Mono" panose="020B0609020000020004" pitchFamily="49" charset="0"/>
              </a:rPr>
              <a:t> message{ </a:t>
            </a:r>
            <a:r>
              <a:rPr lang="en-US" sz="1600" dirty="0">
                <a:solidFill>
                  <a:srgbClr val="A31515"/>
                </a:solidFill>
                <a:highlight>
                  <a:srgbClr val="FFFFFF"/>
                </a:highlight>
                <a:latin typeface="Cascadia Mono" panose="020B0609020000020004" pitchFamily="49" charset="0"/>
              </a:rPr>
              <a:t>"Hello"</a:t>
            </a:r>
            <a:r>
              <a:rPr lang="en-US" sz="1600" dirty="0">
                <a:solidFill>
                  <a:srgbClr val="000000"/>
                </a:solidFill>
                <a:highlight>
                  <a:srgbClr val="FFFFFF"/>
                </a:highlight>
                <a:latin typeface="Cascadia Mono" panose="020B0609020000020004" pitchFamily="49" charset="0"/>
              </a:rPr>
              <a:t> };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константа</a:t>
            </a:r>
            <a:endParaRPr lang="en-US" sz="1600" dirty="0">
              <a:solidFill>
                <a:srgbClr val="000000"/>
              </a:solidFill>
              <a:highlight>
                <a:srgbClr val="FFFFFF"/>
              </a:highlight>
              <a:latin typeface="Cascadia Mono" panose="020B0609020000020004" pitchFamily="49" charset="0"/>
            </a:endParaRPr>
          </a:p>
          <a:p>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 3 };</a:t>
            </a:r>
          </a:p>
          <a:p>
            <a:endParaRPr lang="de-CH" sz="1600" b="1"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en-US" sz="1600" dirty="0">
                <a:solidFill>
                  <a:srgbClr val="0000FF"/>
                </a:solidFill>
                <a:highlight>
                  <a:srgbClr val="FFFFFF"/>
                </a:highlight>
                <a:latin typeface="Cascadia Mono" panose="020B0609020000020004" pitchFamily="49" charset="0"/>
              </a:rPr>
              <a:t>extern</a:t>
            </a:r>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const</a:t>
            </a:r>
            <a:r>
              <a:rPr lang="en-US" sz="1600" dirty="0">
                <a:solidFill>
                  <a:srgbClr val="000000"/>
                </a:solidFill>
                <a:highlight>
                  <a:srgbClr val="FFFFFF"/>
                </a:highlight>
                <a:latin typeface="Cascadia Mono" panose="020B0609020000020004" pitchFamily="49" charset="0"/>
              </a:rPr>
              <a:t> std::</a:t>
            </a:r>
            <a:r>
              <a:rPr lang="en-US" sz="1600" dirty="0">
                <a:solidFill>
                  <a:srgbClr val="2B91AF"/>
                </a:solidFill>
                <a:highlight>
                  <a:srgbClr val="FFFFFF"/>
                </a:highlight>
                <a:latin typeface="Cascadia Mono" panose="020B0609020000020004" pitchFamily="49" charset="0"/>
              </a:rPr>
              <a:t>string</a:t>
            </a:r>
            <a:r>
              <a:rPr lang="en-US" sz="1600" dirty="0">
                <a:solidFill>
                  <a:srgbClr val="000000"/>
                </a:solidFill>
                <a:highlight>
                  <a:srgbClr val="FFFFFF"/>
                </a:highlight>
                <a:latin typeface="Cascadia Mono" panose="020B0609020000020004" pitchFamily="49" charset="0"/>
              </a:rPr>
              <a:t> message;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подключаем</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константу</a:t>
            </a:r>
            <a:endParaRPr lang="en-US"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extern</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for</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i{}; i &lt;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 i++)</a:t>
            </a:r>
          </a:p>
          <a:p>
            <a:r>
              <a:rPr lang="ru-RU" sz="1600" dirty="0">
                <a:solidFill>
                  <a:srgbClr val="000000"/>
                </a:solidFill>
                <a:highlight>
                  <a:srgbClr val="FFFFFF"/>
                </a:highlight>
                <a:latin typeface="Cascadia Mono" panose="020B0609020000020004" pitchFamily="49" charset="0"/>
              </a:rPr>
              <a:t>    {</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cout</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message</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endl</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p>
          <a:p>
            <a:endParaRPr lang="ru-RU" sz="1600" b="1" dirty="0"/>
          </a:p>
        </p:txBody>
      </p:sp>
    </p:spTree>
    <p:extLst>
      <p:ext uri="{BB962C8B-B14F-4D97-AF65-F5344CB8AC3E}">
        <p14:creationId xmlns:p14="http://schemas.microsoft.com/office/powerpoint/2010/main" val="1233641719"/>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FB1CBC-9370-340E-0B19-27E0F9410F07}"/>
              </a:ext>
            </a:extLst>
          </p:cNvPr>
          <p:cNvSpPr>
            <a:spLocks noGrp="1"/>
          </p:cNvSpPr>
          <p:nvPr>
            <p:ph type="title"/>
          </p:nvPr>
        </p:nvSpPr>
        <p:spPr/>
        <p:txBody>
          <a:bodyPr/>
          <a:lstStyle/>
          <a:p>
            <a:r>
              <a:rPr lang="ru-RU" dirty="0"/>
              <a:t>Вынесение объявления в заголовочные файлы</a:t>
            </a:r>
          </a:p>
        </p:txBody>
      </p:sp>
      <p:sp>
        <p:nvSpPr>
          <p:cNvPr id="3" name="Объект 2">
            <a:extLst>
              <a:ext uri="{FF2B5EF4-FFF2-40B4-BE49-F238E27FC236}">
                <a16:creationId xmlns:a16="http://schemas.microsoft.com/office/drawing/2014/main" id="{E6E2868F-1282-723A-1BB3-0DA7C856A0AB}"/>
              </a:ext>
            </a:extLst>
          </p:cNvPr>
          <p:cNvSpPr>
            <a:spLocks noGrp="1"/>
          </p:cNvSpPr>
          <p:nvPr>
            <p:ph idx="1"/>
          </p:nvPr>
        </p:nvSpPr>
        <p:spPr/>
        <p:txBody>
          <a:bodyPr/>
          <a:lstStyle/>
          <a:p>
            <a:r>
              <a:rPr lang="de-CH" sz="2000" dirty="0">
                <a:solidFill>
                  <a:srgbClr val="808080"/>
                </a:solidFill>
                <a:highlight>
                  <a:srgbClr val="FFFFFF"/>
                </a:highlight>
                <a:latin typeface="Cascadia Mono" panose="020B0609020000020004" pitchFamily="49" charset="0"/>
              </a:rPr>
              <a:t>#pragma</a:t>
            </a:r>
            <a:r>
              <a:rPr lang="de-CH" sz="2000" dirty="0">
                <a:solidFill>
                  <a:srgbClr val="000000"/>
                </a:solidFill>
                <a:highlight>
                  <a:srgbClr val="FFFFFF"/>
                </a:highlight>
                <a:latin typeface="Cascadia Mono" panose="020B0609020000020004" pitchFamily="49" charset="0"/>
              </a:rPr>
              <a:t> </a:t>
            </a:r>
            <a:r>
              <a:rPr lang="de-CH" sz="2000" dirty="0" err="1">
                <a:solidFill>
                  <a:srgbClr val="808080"/>
                </a:solidFill>
                <a:highlight>
                  <a:srgbClr val="FFFFFF"/>
                </a:highlight>
                <a:latin typeface="Cascadia Mono" panose="020B0609020000020004" pitchFamily="49" charset="0"/>
              </a:rPr>
              <a:t>once</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en-US" sz="1600" dirty="0">
                <a:solidFill>
                  <a:srgbClr val="0000FF"/>
                </a:solidFill>
                <a:highlight>
                  <a:srgbClr val="FFFFFF"/>
                </a:highlight>
                <a:latin typeface="Cascadia Mono" panose="020B0609020000020004" pitchFamily="49" charset="0"/>
              </a:rPr>
              <a:t>extern</a:t>
            </a:r>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const</a:t>
            </a:r>
            <a:r>
              <a:rPr lang="en-US" sz="1600" dirty="0">
                <a:solidFill>
                  <a:srgbClr val="000000"/>
                </a:solidFill>
                <a:highlight>
                  <a:srgbClr val="FFFFFF"/>
                </a:highlight>
                <a:latin typeface="Cascadia Mono" panose="020B0609020000020004" pitchFamily="49" charset="0"/>
              </a:rPr>
              <a:t> std::string message;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подключаем</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константу</a:t>
            </a:r>
            <a:endParaRPr lang="en-US"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extern</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a:t>
            </a:r>
          </a:p>
          <a:p>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ru-RU" sz="1600" dirty="0">
                <a:solidFill>
                  <a:srgbClr val="808080"/>
                </a:solidFill>
                <a:highlight>
                  <a:srgbClr val="FFFFFF"/>
                </a:highlight>
                <a:latin typeface="Cascadia Mono" panose="020B0609020000020004" pitchFamily="49" charset="0"/>
              </a:rPr>
              <a:t>#include</a:t>
            </a:r>
            <a:r>
              <a:rPr lang="ru-RU" sz="1600" dirty="0">
                <a:solidFill>
                  <a:srgbClr val="000000"/>
                </a:solidFill>
                <a:highlight>
                  <a:srgbClr val="FFFFFF"/>
                </a:highlight>
                <a:latin typeface="Cascadia Mono" panose="020B0609020000020004" pitchFamily="49" charset="0"/>
              </a:rPr>
              <a:t> </a:t>
            </a:r>
            <a:r>
              <a:rPr lang="ru-RU" sz="1600" dirty="0">
                <a:solidFill>
                  <a:srgbClr val="A31515"/>
                </a:solidFill>
                <a:highlight>
                  <a:srgbClr val="FFFFFF"/>
                </a:highlight>
                <a:latin typeface="Cascadia Mono" panose="020B0609020000020004" pitchFamily="49" charset="0"/>
              </a:rPr>
              <a:t>"</a:t>
            </a:r>
            <a:r>
              <a:rPr lang="ru-RU" sz="1600" dirty="0" err="1">
                <a:solidFill>
                  <a:srgbClr val="A31515"/>
                </a:solidFill>
                <a:highlight>
                  <a:srgbClr val="FFFFFF"/>
                </a:highlight>
                <a:latin typeface="Cascadia Mono" panose="020B0609020000020004" pitchFamily="49" charset="0"/>
              </a:rPr>
              <a:t>sum.h</a:t>
            </a:r>
            <a:r>
              <a:rPr lang="ru-RU" sz="1600" dirty="0">
                <a:solidFill>
                  <a:srgbClr val="A31515"/>
                </a:solidFill>
                <a:highlight>
                  <a:srgbClr val="FFFFFF"/>
                </a:highlight>
                <a:latin typeface="Cascadia Mono" panose="020B0609020000020004" pitchFamily="49" charset="0"/>
              </a:rPr>
              <a:t>"</a:t>
            </a:r>
            <a:r>
              <a:rPr lang="ru-RU" sz="1600" dirty="0">
                <a:solidFill>
                  <a:srgbClr val="000000"/>
                </a:solidFill>
                <a:highlight>
                  <a:srgbClr val="FFFFFF"/>
                </a:highlight>
                <a:latin typeface="Cascadia Mono" panose="020B0609020000020004" pitchFamily="49" charset="0"/>
              </a:rPr>
              <a:t>        </a:t>
            </a:r>
            <a:r>
              <a:rPr lang="ru-RU" sz="1600" dirty="0">
                <a:solidFill>
                  <a:srgbClr val="008000"/>
                </a:solidFill>
                <a:highlight>
                  <a:srgbClr val="FFFFFF"/>
                </a:highlight>
                <a:latin typeface="Cascadia Mono" panose="020B0609020000020004" pitchFamily="49" charset="0"/>
              </a:rPr>
              <a:t>// подключаем внешние объекты</a:t>
            </a:r>
            <a:endParaRPr lang="ru-RU"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for</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i{}; i &lt; </a:t>
            </a:r>
            <a:r>
              <a:rPr lang="de-CH" sz="1600" dirty="0" err="1">
                <a:solidFill>
                  <a:srgbClr val="000000"/>
                </a:solidFill>
                <a:highlight>
                  <a:srgbClr val="FFFFFF"/>
                </a:highlight>
                <a:latin typeface="Cascadia Mono" panose="020B0609020000020004" pitchFamily="49" charset="0"/>
              </a:rPr>
              <a:t>times</a:t>
            </a:r>
            <a:r>
              <a:rPr lang="de-CH" sz="1600" dirty="0">
                <a:solidFill>
                  <a:srgbClr val="000000"/>
                </a:solidFill>
                <a:highlight>
                  <a:srgbClr val="FFFFFF"/>
                </a:highlight>
                <a:latin typeface="Cascadia Mono" panose="020B0609020000020004" pitchFamily="49" charset="0"/>
              </a:rPr>
              <a:t>; i++)</a:t>
            </a:r>
          </a:p>
          <a:p>
            <a:r>
              <a:rPr lang="ru-RU" sz="1600" dirty="0">
                <a:solidFill>
                  <a:srgbClr val="000000"/>
                </a:solidFill>
                <a:highlight>
                  <a:srgbClr val="FFFFFF"/>
                </a:highlight>
                <a:latin typeface="Cascadia Mono" panose="020B0609020000020004" pitchFamily="49" charset="0"/>
              </a:rPr>
              <a:t>    {</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cout</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message</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endl</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1347394706"/>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431022-CC8A-A012-7A9C-9D0E78721856}"/>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DAF96225-F2A9-F281-6E04-B38A964383F8}"/>
              </a:ext>
            </a:extLst>
          </p:cNvPr>
          <p:cNvSpPr>
            <a:spLocks noGrp="1"/>
          </p:cNvSpPr>
          <p:nvPr>
            <p:ph idx="1"/>
          </p:nvPr>
        </p:nvSpPr>
        <p:spPr/>
        <p:txBody>
          <a:bodyPr/>
          <a:lstStyle/>
          <a:p>
            <a:r>
              <a:rPr lang="ru-RU" b="1" u="sng" dirty="0"/>
              <a:t>Глобальные объекты</a:t>
            </a:r>
            <a:r>
              <a:rPr lang="ru-RU" dirty="0"/>
              <a:t> создаются при запуске программы и освобождаются при ее завершении.</a:t>
            </a:r>
          </a:p>
          <a:p>
            <a:endParaRPr lang="ru-RU" dirty="0"/>
          </a:p>
          <a:p>
            <a:r>
              <a:rPr lang="ru-RU" b="1" u="sng" dirty="0"/>
              <a:t>Локальные автоматические объекты </a:t>
            </a:r>
            <a:r>
              <a:rPr lang="ru-RU" dirty="0"/>
              <a:t>создаются в блоке кода и удаляются, когда этот блок кода завершает работу.</a:t>
            </a:r>
          </a:p>
          <a:p>
            <a:endParaRPr lang="ru-RU" dirty="0"/>
          </a:p>
          <a:p>
            <a:r>
              <a:rPr lang="ru-RU" b="1" u="sng" dirty="0"/>
              <a:t>Локальные статические </a:t>
            </a:r>
            <a:r>
              <a:rPr lang="ru-RU" dirty="0"/>
              <a:t>объекты создаются перед их первым использованием и освобождаются при завершении программы.</a:t>
            </a:r>
          </a:p>
          <a:p>
            <a:endParaRPr lang="ru-RU" dirty="0"/>
          </a:p>
        </p:txBody>
      </p:sp>
    </p:spTree>
    <p:extLst>
      <p:ext uri="{BB962C8B-B14F-4D97-AF65-F5344CB8AC3E}">
        <p14:creationId xmlns:p14="http://schemas.microsoft.com/office/powerpoint/2010/main" val="154276720"/>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BAF612-2BAB-8F35-5B50-9219DEB6AEE1}"/>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E18C379B-776B-23E2-AFCC-E725A634A0C3}"/>
              </a:ext>
            </a:extLst>
          </p:cNvPr>
          <p:cNvSpPr>
            <a:spLocks noGrp="1"/>
          </p:cNvSpPr>
          <p:nvPr>
            <p:ph idx="1"/>
          </p:nvPr>
        </p:nvSpPr>
        <p:spPr/>
        <p:txBody>
          <a:bodyPr/>
          <a:lstStyle/>
          <a:p>
            <a:r>
              <a:rPr lang="ru-RU" dirty="0"/>
              <a:t>Глобальные, а также статические локальные объекты помещаются в </a:t>
            </a:r>
            <a:r>
              <a:rPr lang="ru-RU" b="1" dirty="0"/>
              <a:t>статической памяти</a:t>
            </a:r>
            <a:r>
              <a:rPr lang="ru-RU" dirty="0"/>
              <a:t>. </a:t>
            </a:r>
          </a:p>
          <a:p>
            <a:r>
              <a:rPr lang="ru-RU" dirty="0"/>
              <a:t>Локальные автоматические объекты размещаются в </a:t>
            </a:r>
            <a:r>
              <a:rPr lang="ru-RU" b="1" dirty="0"/>
              <a:t>стеке</a:t>
            </a:r>
            <a:r>
              <a:rPr lang="ru-RU" dirty="0"/>
              <a:t>.</a:t>
            </a:r>
          </a:p>
          <a:p>
            <a:r>
              <a:rPr lang="ru-RU" dirty="0"/>
              <a:t>Объекты в статической памяти и стеке создаются и удаляются компилятором. Статическая память очищается при завершении программы, а объекты из стека существуют, пока выполняется блок, в котором они определены. </a:t>
            </a:r>
          </a:p>
          <a:p>
            <a:endParaRPr lang="ru-RU" dirty="0"/>
          </a:p>
          <a:p>
            <a:r>
              <a:rPr lang="ru-RU" dirty="0"/>
              <a:t>Когда блок завершает выполнение, то память в стеке, отведенная для переменных блока, освобождается. </a:t>
            </a:r>
          </a:p>
          <a:p>
            <a:endParaRPr lang="ru-RU" dirty="0"/>
          </a:p>
          <a:p>
            <a:r>
              <a:rPr lang="ru-RU" dirty="0"/>
              <a:t>Память, выделяемая для стека, имеет ограниченный фиксированный размер.</a:t>
            </a:r>
          </a:p>
        </p:txBody>
      </p:sp>
    </p:spTree>
    <p:extLst>
      <p:ext uri="{BB962C8B-B14F-4D97-AF65-F5344CB8AC3E}">
        <p14:creationId xmlns:p14="http://schemas.microsoft.com/office/powerpoint/2010/main" val="3630464875"/>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BFA09C-B13D-9282-8BFC-B9EE28159A41}"/>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8D67C9D3-6D31-B6EF-1954-688F1FB0E837}"/>
              </a:ext>
            </a:extLst>
          </p:cNvPr>
          <p:cNvSpPr>
            <a:spLocks noGrp="1"/>
          </p:cNvSpPr>
          <p:nvPr>
            <p:ph idx="1"/>
          </p:nvPr>
        </p:nvSpPr>
        <p:spPr/>
        <p:txBody>
          <a:bodyPr/>
          <a:lstStyle/>
          <a:p>
            <a:pPr algn="just"/>
            <a:r>
              <a:rPr lang="ru-RU" dirty="0"/>
              <a:t>В дополнение к этим типам в C++ можно создавать </a:t>
            </a:r>
            <a:r>
              <a:rPr lang="ru-RU" b="1" dirty="0"/>
              <a:t>динамические объекты</a:t>
            </a:r>
            <a:r>
              <a:rPr lang="ru-RU" dirty="0"/>
              <a:t>. Продолжительность их жизни не зависит от того, где они созданы. Динамические объекты существуют, пока не будут удалены явным образом. Динамические объекты размещаются в </a:t>
            </a:r>
            <a:r>
              <a:rPr lang="ru-RU" b="1" dirty="0"/>
              <a:t>динамической памяти</a:t>
            </a:r>
            <a:r>
              <a:rPr lang="ru-RU" dirty="0"/>
              <a:t> (</a:t>
            </a:r>
            <a:r>
              <a:rPr lang="ru-RU" dirty="0" err="1"/>
              <a:t>free</a:t>
            </a:r>
            <a:r>
              <a:rPr lang="ru-RU" dirty="0"/>
              <a:t> </a:t>
            </a:r>
            <a:r>
              <a:rPr lang="ru-RU" dirty="0" err="1"/>
              <a:t>store</a:t>
            </a:r>
            <a:r>
              <a:rPr lang="ru-RU" dirty="0"/>
              <a:t>). Это область памяти, не занятая операционной системой или другими загруженными в данный момент программами.</a:t>
            </a:r>
          </a:p>
        </p:txBody>
      </p:sp>
    </p:spTree>
    <p:extLst>
      <p:ext uri="{BB962C8B-B14F-4D97-AF65-F5344CB8AC3E}">
        <p14:creationId xmlns:p14="http://schemas.microsoft.com/office/powerpoint/2010/main" val="3367340174"/>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D02512-A4EB-92A4-F445-3A6F9EFE23C5}"/>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2425BBBF-BB4D-1BBF-5494-E5AF2658DBF5}"/>
              </a:ext>
            </a:extLst>
          </p:cNvPr>
          <p:cNvSpPr>
            <a:spLocks noGrp="1"/>
          </p:cNvSpPr>
          <p:nvPr>
            <p:ph idx="1"/>
          </p:nvPr>
        </p:nvSpPr>
        <p:spPr/>
        <p:txBody>
          <a:bodyPr/>
          <a:lstStyle/>
          <a:p>
            <a:r>
              <a:rPr lang="ru-RU" dirty="0"/>
              <a:t>Для управления динамическими объектами применяются операторы </a:t>
            </a:r>
            <a:r>
              <a:rPr lang="ru-RU" b="1" dirty="0" err="1"/>
              <a:t>new</a:t>
            </a:r>
            <a:r>
              <a:rPr lang="ru-RU" dirty="0"/>
              <a:t> и </a:t>
            </a:r>
            <a:r>
              <a:rPr lang="ru-RU" b="1" dirty="0" err="1"/>
              <a:t>delete</a:t>
            </a:r>
            <a:r>
              <a:rPr lang="ru-RU" dirty="0"/>
              <a:t>.</a:t>
            </a:r>
          </a:p>
          <a:p>
            <a:endParaRPr lang="ru-RU" dirty="0"/>
          </a:p>
          <a:p>
            <a:r>
              <a:rPr lang="ru-RU" dirty="0"/>
              <a:t>Оператор </a:t>
            </a:r>
            <a:r>
              <a:rPr lang="ru-RU" b="1" dirty="0" err="1"/>
              <a:t>new</a:t>
            </a:r>
            <a:r>
              <a:rPr lang="ru-RU" dirty="0"/>
              <a:t> выделяет место в динамической памяти для объекта и возвращает указатель на этот объект.</a:t>
            </a:r>
          </a:p>
          <a:p>
            <a:endParaRPr lang="ru-RU" dirty="0"/>
          </a:p>
          <a:p>
            <a:r>
              <a:rPr lang="ru-RU" dirty="0"/>
              <a:t>Оператор </a:t>
            </a:r>
            <a:r>
              <a:rPr lang="ru-RU" b="1" dirty="0" err="1"/>
              <a:t>delete</a:t>
            </a:r>
            <a:r>
              <a:rPr lang="ru-RU" dirty="0"/>
              <a:t> получает указатель на динамический объект и удаляет его из памяти.</a:t>
            </a:r>
          </a:p>
          <a:p>
            <a:endParaRPr lang="ru-RU" dirty="0"/>
          </a:p>
        </p:txBody>
      </p:sp>
    </p:spTree>
    <p:extLst>
      <p:ext uri="{BB962C8B-B14F-4D97-AF65-F5344CB8AC3E}">
        <p14:creationId xmlns:p14="http://schemas.microsoft.com/office/powerpoint/2010/main" val="93592432"/>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E78E7E-57C9-124A-8E6F-A6D9D2ECC287}"/>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D50F4278-A991-DAD4-1784-D90CD1B3422A}"/>
              </a:ext>
            </a:extLst>
          </p:cNvPr>
          <p:cNvSpPr>
            <a:spLocks noGrp="1"/>
          </p:cNvSpPr>
          <p:nvPr>
            <p:ph idx="1"/>
          </p:nvPr>
        </p:nvSpPr>
        <p:spPr/>
        <p:txBody>
          <a:bodyPr/>
          <a:lstStyle/>
          <a:p>
            <a:r>
              <a:rPr lang="ru-RU" b="1" dirty="0"/>
              <a:t>Выделение памяти</a:t>
            </a:r>
          </a:p>
          <a:p>
            <a:endParaRPr lang="ru-RU" dirty="0"/>
          </a:p>
          <a:p>
            <a:r>
              <a:rPr lang="ru-RU" dirty="0"/>
              <a:t>Создание динамического объекта:</a:t>
            </a:r>
          </a:p>
          <a:p>
            <a:endParaRPr lang="ru-RU" dirty="0"/>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p>
          <a:p>
            <a:pPr lvl="1"/>
            <a:r>
              <a:rPr lang="ru-RU" dirty="0">
                <a:solidFill>
                  <a:srgbClr val="008000"/>
                </a:solidFill>
                <a:highlight>
                  <a:srgbClr val="FFFFFF"/>
                </a:highlight>
                <a:latin typeface="Cascadia Mono" panose="020B0609020000020004" pitchFamily="49" charset="0"/>
              </a:rPr>
              <a:t>// или так</a:t>
            </a: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021440905"/>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4EFC6B-CD1B-329F-CF26-6652245F8C2C}"/>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7103CEB0-EB93-73B7-F594-B372EA205D35}"/>
              </a:ext>
            </a:extLst>
          </p:cNvPr>
          <p:cNvSpPr>
            <a:spLocks noGrp="1"/>
          </p:cNvSpPr>
          <p:nvPr>
            <p:ph idx="1"/>
          </p:nvPr>
        </p:nvSpPr>
        <p:spPr/>
        <p:txBody>
          <a:bodyPr/>
          <a:lstStyle/>
          <a:p>
            <a:r>
              <a:rPr lang="ru-RU" dirty="0"/>
              <a:t>Можно инициализировать объект при выделении памяти:</a:t>
            </a:r>
          </a:p>
          <a:p>
            <a:endParaRPr lang="ru-RU" dirty="0"/>
          </a:p>
          <a:p>
            <a:pPr lvl="1"/>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ptr</a:t>
            </a:r>
            <a:r>
              <a:rPr lang="ru-RU" dirty="0">
                <a:solidFill>
                  <a:srgbClr val="000000"/>
                </a:solidFill>
                <a:highlight>
                  <a:srgbClr val="FFFFFF"/>
                </a:highlight>
                <a:latin typeface="Cascadia Mono" panose="020B0609020000020004" pitchFamily="49" charset="0"/>
              </a:rPr>
              <a:t>{ </a:t>
            </a:r>
            <a:r>
              <a:rPr lang="ru-RU" dirty="0" err="1">
                <a:solidFill>
                  <a:srgbClr val="0000FF"/>
                </a:solidFill>
                <a:highlight>
                  <a:srgbClr val="FFFFFF"/>
                </a:highlight>
                <a:latin typeface="Cascadia Mono" panose="020B0609020000020004" pitchFamily="49" charset="0"/>
              </a:rPr>
              <a:t>new</a:t>
            </a:r>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    </a:t>
            </a:r>
            <a:r>
              <a:rPr lang="ru-RU" dirty="0">
                <a:solidFill>
                  <a:srgbClr val="008000"/>
                </a:solidFill>
                <a:highlight>
                  <a:srgbClr val="FFFFFF"/>
                </a:highlight>
                <a:latin typeface="Cascadia Mono" panose="020B0609020000020004" pitchFamily="49" charset="0"/>
              </a:rPr>
              <a:t>// значение по умолчанию - 0</a:t>
            </a:r>
            <a:endParaRPr lang="ru-RU" dirty="0">
              <a:solidFill>
                <a:srgbClr val="000000"/>
              </a:solidFill>
              <a:highlight>
                <a:srgbClr val="FFFFFF"/>
              </a:highlight>
              <a:latin typeface="Cascadia Mono" panose="020B0609020000020004" pitchFamily="49" charset="0"/>
            </a:endParaRPr>
          </a:p>
          <a:p>
            <a:pPr lvl="1"/>
            <a:r>
              <a:rPr lang="de-CH" dirty="0">
                <a:solidFill>
                  <a:srgbClr val="008000"/>
                </a:solidFill>
                <a:highlight>
                  <a:srgbClr val="FFFFFF"/>
                </a:highlight>
                <a:latin typeface="Cascadia Mono" panose="020B0609020000020004" pitchFamily="49" charset="0"/>
              </a:rPr>
              <a:t>// int *</a:t>
            </a:r>
            <a:r>
              <a:rPr lang="de-CH" dirty="0" err="1">
                <a:solidFill>
                  <a:srgbClr val="008000"/>
                </a:solidFill>
                <a:highlight>
                  <a:srgbClr val="FFFFFF"/>
                </a:highlight>
                <a:latin typeface="Cascadia Mono" panose="020B0609020000020004" pitchFamily="49" charset="0"/>
              </a:rPr>
              <a:t>ptr</a:t>
            </a:r>
            <a:r>
              <a:rPr lang="de-CH" dirty="0">
                <a:solidFill>
                  <a:srgbClr val="008000"/>
                </a:solidFill>
                <a:highlight>
                  <a:srgbClr val="FFFFFF"/>
                </a:highlight>
                <a:latin typeface="Cascadia Mono" panose="020B0609020000020004" pitchFamily="49" charset="0"/>
              </a:rPr>
              <a:t> = </a:t>
            </a:r>
            <a:r>
              <a:rPr lang="de-CH" dirty="0" err="1">
                <a:solidFill>
                  <a:srgbClr val="008000"/>
                </a:solidFill>
                <a:highlight>
                  <a:srgbClr val="FFFFFF"/>
                </a:highlight>
                <a:latin typeface="Cascadia Mono" panose="020B0609020000020004" pitchFamily="49" charset="0"/>
              </a:rPr>
              <a:t>new</a:t>
            </a:r>
            <a:r>
              <a:rPr lang="de-CH" dirty="0">
                <a:solidFill>
                  <a:srgbClr val="008000"/>
                </a:solidFill>
                <a:highlight>
                  <a:srgbClr val="FFFFFF"/>
                </a:highlight>
                <a:latin typeface="Cascadia Mono" panose="020B0609020000020004" pitchFamily="49" charset="0"/>
              </a:rPr>
              <a:t> int(); - </a:t>
            </a:r>
            <a:r>
              <a:rPr lang="ru-RU" dirty="0">
                <a:solidFill>
                  <a:srgbClr val="008000"/>
                </a:solidFill>
                <a:highlight>
                  <a:srgbClr val="FFFFFF"/>
                </a:highlight>
                <a:latin typeface="Cascadia Mono" panose="020B0609020000020004" pitchFamily="49" charset="0"/>
              </a:rPr>
              <a:t>или так</a:t>
            </a:r>
            <a:endParaRPr lang="ru-RU" dirty="0">
              <a:solidFill>
                <a:srgbClr val="000000"/>
              </a:solidFill>
              <a:highlight>
                <a:srgbClr val="FFFFFF"/>
              </a:highlight>
              <a:latin typeface="Cascadia Mono" panose="020B0609020000020004" pitchFamily="49" charset="0"/>
            </a:endParaRP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0</a:t>
            </a:r>
            <a:endParaRPr lang="ru-RU" dirty="0">
              <a:solidFill>
                <a:srgbClr val="008000"/>
              </a:solidFill>
              <a:highlight>
                <a:srgbClr val="FFFFFF"/>
              </a:highlight>
              <a:latin typeface="Cascadia Mono" panose="020B0609020000020004" pitchFamily="49" charset="0"/>
            </a:endParaRPr>
          </a:p>
          <a:p>
            <a:pPr lvl="1"/>
            <a:endParaRPr lang="ru-RU" dirty="0">
              <a:solidFill>
                <a:srgbClr val="008000"/>
              </a:solidFill>
              <a:highlight>
                <a:srgbClr val="FFFFFF"/>
              </a:highlight>
              <a:latin typeface="Cascadia Mono" panose="020B0609020000020004" pitchFamily="49" charset="0"/>
            </a:endParaRPr>
          </a:p>
          <a:p>
            <a:pPr lvl="1"/>
            <a:endParaRPr lang="ru-RU" dirty="0">
              <a:solidFill>
                <a:srgbClr val="008000"/>
              </a:solidFill>
              <a:highlight>
                <a:srgbClr val="FFFFFF"/>
              </a:highlight>
              <a:latin typeface="Cascadia Mono" panose="020B0609020000020004" pitchFamily="49" charset="0"/>
            </a:endParaRPr>
          </a:p>
          <a:p>
            <a:pPr lvl="1"/>
            <a:endParaRPr lang="ru-RU" dirty="0">
              <a:solidFill>
                <a:srgbClr val="008000"/>
              </a:solidFill>
              <a:highlight>
                <a:srgbClr val="FFFFFF"/>
              </a:highlight>
              <a:latin typeface="Cascadia Mono" panose="020B0609020000020004" pitchFamily="49" charset="0"/>
            </a:endParaRPr>
          </a:p>
          <a:p>
            <a:pPr lvl="1"/>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ptr</a:t>
            </a:r>
            <a:r>
              <a:rPr lang="ru-RU" dirty="0">
                <a:solidFill>
                  <a:srgbClr val="000000"/>
                </a:solidFill>
                <a:highlight>
                  <a:srgbClr val="FFFFFF"/>
                </a:highlight>
                <a:latin typeface="Cascadia Mono" panose="020B0609020000020004" pitchFamily="49" charset="0"/>
              </a:rPr>
              <a:t>{ </a:t>
            </a:r>
            <a:r>
              <a:rPr lang="ru-RU" dirty="0" err="1">
                <a:solidFill>
                  <a:srgbClr val="0000FF"/>
                </a:solidFill>
                <a:highlight>
                  <a:srgbClr val="FFFFFF"/>
                </a:highlight>
                <a:latin typeface="Cascadia Mono" panose="020B0609020000020004" pitchFamily="49" charset="0"/>
              </a:rPr>
              <a:t>new</a:t>
            </a:r>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    </a:t>
            </a:r>
            <a:r>
              <a:rPr lang="ru-RU" dirty="0">
                <a:solidFill>
                  <a:srgbClr val="008000"/>
                </a:solidFill>
                <a:highlight>
                  <a:srgbClr val="FFFFFF"/>
                </a:highlight>
                <a:latin typeface="Cascadia Mono" panose="020B0609020000020004" pitchFamily="49" charset="0"/>
              </a:rPr>
              <a:t>// значение по умолчанию - 0</a:t>
            </a:r>
            <a:endParaRPr lang="ru-RU" dirty="0">
              <a:solidFill>
                <a:srgbClr val="000000"/>
              </a:solidFill>
              <a:highlight>
                <a:srgbClr val="FFFFFF"/>
              </a:highlight>
              <a:latin typeface="Cascadia Mono" panose="020B0609020000020004" pitchFamily="49" charset="0"/>
            </a:endParaRPr>
          </a:p>
          <a:p>
            <a:pPr lvl="1"/>
            <a:r>
              <a:rPr lang="ru-RU" dirty="0">
                <a:solidFill>
                  <a:srgbClr val="008000"/>
                </a:solidFill>
                <a:highlight>
                  <a:srgbClr val="FFFFFF"/>
                </a:highlight>
                <a:latin typeface="Cascadia Mono" panose="020B0609020000020004" pitchFamily="49" charset="0"/>
              </a:rPr>
              <a:t>// int *</a:t>
            </a:r>
            <a:r>
              <a:rPr lang="ru-RU" dirty="0" err="1">
                <a:solidFill>
                  <a:srgbClr val="008000"/>
                </a:solidFill>
                <a:highlight>
                  <a:srgbClr val="FFFFFF"/>
                </a:highlight>
                <a:latin typeface="Cascadia Mono" panose="020B0609020000020004" pitchFamily="49" charset="0"/>
              </a:rPr>
              <a:t>ptr</a:t>
            </a:r>
            <a:r>
              <a:rPr lang="ru-RU" dirty="0">
                <a:solidFill>
                  <a:srgbClr val="008000"/>
                </a:solidFill>
                <a:highlight>
                  <a:srgbClr val="FFFFFF"/>
                </a:highlight>
                <a:latin typeface="Cascadia Mono" panose="020B0609020000020004" pitchFamily="49" charset="0"/>
              </a:rPr>
              <a:t>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 - или так</a:t>
            </a:r>
            <a:endParaRPr lang="ru-RU" dirty="0">
              <a:solidFill>
                <a:srgbClr val="000000"/>
              </a:solidFill>
              <a:highlight>
                <a:srgbClr val="FFFFFF"/>
              </a:highlight>
              <a:latin typeface="Cascadia Mono" panose="020B0609020000020004" pitchFamily="49" charset="0"/>
            </a:endParaRP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0</a:t>
            </a:r>
            <a:endParaRPr lang="ru-RU" dirty="0"/>
          </a:p>
        </p:txBody>
      </p:sp>
    </p:spTree>
    <p:extLst>
      <p:ext uri="{BB962C8B-B14F-4D97-AF65-F5344CB8AC3E}">
        <p14:creationId xmlns:p14="http://schemas.microsoft.com/office/powerpoint/2010/main" val="3883262523"/>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858D74-D185-BBAA-49B3-971E08D495D8}"/>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8B4B559F-31CA-DC97-CFDD-E9BDB9CEC10C}"/>
              </a:ext>
            </a:extLst>
          </p:cNvPr>
          <p:cNvSpPr>
            <a:spLocks noGrp="1"/>
          </p:cNvSpPr>
          <p:nvPr>
            <p:ph idx="1"/>
          </p:nvPr>
        </p:nvSpPr>
        <p:spPr/>
        <p:txBody>
          <a:bodyPr/>
          <a:lstStyle/>
          <a:p>
            <a:r>
              <a:rPr lang="ru-RU" dirty="0"/>
              <a:t>Можно инициализировать объект некоторым конкретным значением, например:</a:t>
            </a:r>
          </a:p>
          <a:p>
            <a:endParaRPr lang="ru-RU" dirty="0"/>
          </a:p>
          <a:p>
            <a:pPr lvl="1"/>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ptr</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{5} };</a:t>
            </a:r>
          </a:p>
          <a:p>
            <a:pPr lvl="1"/>
            <a:r>
              <a:rPr lang="ru-RU" dirty="0">
                <a:solidFill>
                  <a:srgbClr val="008000"/>
                </a:solidFill>
                <a:highlight>
                  <a:srgbClr val="FFFFFF"/>
                </a:highlight>
                <a:latin typeface="Cascadia Mono" panose="020B0609020000020004" pitchFamily="49" charset="0"/>
              </a:rPr>
              <a:t>// альтернативные варианты</a:t>
            </a:r>
            <a:endParaRPr lang="ru-RU" dirty="0">
              <a:solidFill>
                <a:srgbClr val="000000"/>
              </a:solidFill>
              <a:highlight>
                <a:srgbClr val="FFFFFF"/>
              </a:highlight>
              <a:latin typeface="Cascadia Mono" panose="020B0609020000020004" pitchFamily="49" charset="0"/>
            </a:endParaRPr>
          </a:p>
          <a:p>
            <a:pPr lvl="1"/>
            <a:r>
              <a:rPr lang="en-US" dirty="0">
                <a:solidFill>
                  <a:srgbClr val="008000"/>
                </a:solidFill>
                <a:highlight>
                  <a:srgbClr val="FFFFFF"/>
                </a:highlight>
                <a:latin typeface="Cascadia Mono" panose="020B0609020000020004" pitchFamily="49" charset="0"/>
              </a:rPr>
              <a:t>// int *</a:t>
            </a:r>
            <a:r>
              <a:rPr lang="en-US" dirty="0" err="1">
                <a:solidFill>
                  <a:srgbClr val="008000"/>
                </a:solidFill>
                <a:highlight>
                  <a:srgbClr val="FFFFFF"/>
                </a:highlight>
                <a:latin typeface="Cascadia Mono" panose="020B0609020000020004" pitchFamily="49" charset="0"/>
              </a:rPr>
              <a:t>ptr</a:t>
            </a:r>
            <a:r>
              <a:rPr lang="en-US" dirty="0">
                <a:solidFill>
                  <a:srgbClr val="008000"/>
                </a:solidFill>
                <a:highlight>
                  <a:srgbClr val="FFFFFF"/>
                </a:highlight>
                <a:latin typeface="Cascadia Mono" panose="020B0609020000020004" pitchFamily="49" charset="0"/>
              </a:rPr>
              <a:t> = new int{5};</a:t>
            </a:r>
            <a:endParaRPr lang="en-US" dirty="0">
              <a:solidFill>
                <a:srgbClr val="000000"/>
              </a:solidFill>
              <a:highlight>
                <a:srgbClr val="FFFFFF"/>
              </a:highlight>
              <a:latin typeface="Cascadia Mono" panose="020B0609020000020004" pitchFamily="49" charset="0"/>
            </a:endParaRPr>
          </a:p>
          <a:p>
            <a:pPr lvl="1"/>
            <a:r>
              <a:rPr lang="en-US" dirty="0">
                <a:solidFill>
                  <a:srgbClr val="008000"/>
                </a:solidFill>
                <a:highlight>
                  <a:srgbClr val="FFFFFF"/>
                </a:highlight>
                <a:latin typeface="Cascadia Mono" panose="020B0609020000020004" pitchFamily="49" charset="0"/>
              </a:rPr>
              <a:t>// int *</a:t>
            </a:r>
            <a:r>
              <a:rPr lang="en-US" dirty="0" err="1">
                <a:solidFill>
                  <a:srgbClr val="008000"/>
                </a:solidFill>
                <a:highlight>
                  <a:srgbClr val="FFFFFF"/>
                </a:highlight>
                <a:latin typeface="Cascadia Mono" panose="020B0609020000020004" pitchFamily="49" charset="0"/>
              </a:rPr>
              <a:t>ptr</a:t>
            </a:r>
            <a:r>
              <a:rPr lang="en-US" dirty="0">
                <a:solidFill>
                  <a:srgbClr val="008000"/>
                </a:solidFill>
                <a:highlight>
                  <a:srgbClr val="FFFFFF"/>
                </a:highlight>
                <a:latin typeface="Cascadia Mono" panose="020B0609020000020004" pitchFamily="49" charset="0"/>
              </a:rPr>
              <a:t> {new int(5)};</a:t>
            </a:r>
            <a:endParaRPr lang="en-US" dirty="0">
              <a:solidFill>
                <a:srgbClr val="000000"/>
              </a:solidFill>
              <a:highlight>
                <a:srgbClr val="FFFFFF"/>
              </a:highlight>
              <a:latin typeface="Cascadia Mono" panose="020B0609020000020004" pitchFamily="49" charset="0"/>
            </a:endParaRPr>
          </a:p>
          <a:p>
            <a:pPr lvl="1"/>
            <a:r>
              <a:rPr lang="en-US" dirty="0">
                <a:solidFill>
                  <a:srgbClr val="008000"/>
                </a:solidFill>
                <a:highlight>
                  <a:srgbClr val="FFFFFF"/>
                </a:highlight>
                <a:latin typeface="Cascadia Mono" panose="020B0609020000020004" pitchFamily="49" charset="0"/>
              </a:rPr>
              <a:t>// int *</a:t>
            </a:r>
            <a:r>
              <a:rPr lang="en-US" dirty="0" err="1">
                <a:solidFill>
                  <a:srgbClr val="008000"/>
                </a:solidFill>
                <a:highlight>
                  <a:srgbClr val="FFFFFF"/>
                </a:highlight>
                <a:latin typeface="Cascadia Mono" panose="020B0609020000020004" pitchFamily="49" charset="0"/>
              </a:rPr>
              <a:t>ptr</a:t>
            </a:r>
            <a:r>
              <a:rPr lang="en-US" dirty="0">
                <a:solidFill>
                  <a:srgbClr val="008000"/>
                </a:solidFill>
                <a:highlight>
                  <a:srgbClr val="FFFFFF"/>
                </a:highlight>
                <a:latin typeface="Cascadia Mono" panose="020B0609020000020004" pitchFamily="49" charset="0"/>
              </a:rPr>
              <a:t> = new int(5);</a:t>
            </a:r>
            <a:endParaRPr lang="en-US" dirty="0">
              <a:solidFill>
                <a:srgbClr val="000000"/>
              </a:solidFill>
              <a:highlight>
                <a:srgbClr val="FFFFFF"/>
              </a:highlight>
              <a:latin typeface="Cascadia Mono" panose="020B0609020000020004" pitchFamily="49" charset="0"/>
            </a:endParaRP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5</a:t>
            </a:r>
            <a:endParaRPr lang="ru-RU" dirty="0"/>
          </a:p>
        </p:txBody>
      </p:sp>
    </p:spTree>
    <p:extLst>
      <p:ext uri="{BB962C8B-B14F-4D97-AF65-F5344CB8AC3E}">
        <p14:creationId xmlns:p14="http://schemas.microsoft.com/office/powerpoint/2010/main" val="1431137583"/>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9A7B77-369B-477F-0360-7378F4C1C6F7}"/>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C1216638-F0DE-990C-51BA-92157B6746BB}"/>
              </a:ext>
            </a:extLst>
          </p:cNvPr>
          <p:cNvSpPr>
            <a:spLocks noGrp="1"/>
          </p:cNvSpPr>
          <p:nvPr>
            <p:ph idx="1"/>
          </p:nvPr>
        </p:nvSpPr>
        <p:spPr/>
        <p:txBody>
          <a:bodyPr/>
          <a:lstStyle/>
          <a:p>
            <a:r>
              <a:rPr lang="ru-RU" dirty="0"/>
              <a:t>Далее, используя указатель, можно присвоить динамическому объекту другое значение:</a:t>
            </a:r>
          </a:p>
          <a:p>
            <a:endParaRPr lang="ru-RU" dirty="0"/>
          </a:p>
          <a:p>
            <a:pPr lvl="1"/>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ptr</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{5} };</a:t>
            </a: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ptr</a:t>
            </a:r>
            <a:r>
              <a:rPr lang="de-CH" dirty="0">
                <a:solidFill>
                  <a:srgbClr val="A31515"/>
                </a:solidFill>
                <a:highlight>
                  <a:srgbClr val="FFFFFF"/>
                </a:highlight>
                <a:latin typeface="Cascadia Mono" panose="020B0609020000020004" pitchFamily="49" charset="0"/>
              </a:rPr>
              <a:t> = "</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de-CH" dirty="0" err="1">
                <a:solidFill>
                  <a:srgbClr val="008000"/>
                </a:solidFill>
                <a:highlight>
                  <a:srgbClr val="FFFFFF"/>
                </a:highlight>
                <a:latin typeface="Cascadia Mono" panose="020B0609020000020004" pitchFamily="49" charset="0"/>
              </a:rPr>
              <a:t>ptr</a:t>
            </a:r>
            <a:r>
              <a:rPr lang="de-CH" dirty="0">
                <a:solidFill>
                  <a:srgbClr val="008000"/>
                </a:solidFill>
                <a:highlight>
                  <a:srgbClr val="FFFFFF"/>
                </a:highlight>
                <a:latin typeface="Cascadia Mono" panose="020B0609020000020004" pitchFamily="49" charset="0"/>
              </a:rPr>
              <a:t> = 5</a:t>
            </a:r>
          </a:p>
          <a:p>
            <a:pPr lvl="1"/>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 22;</a:t>
            </a:r>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ptr</a:t>
            </a:r>
            <a:r>
              <a:rPr lang="de-CH" dirty="0">
                <a:solidFill>
                  <a:srgbClr val="A31515"/>
                </a:solidFill>
                <a:highlight>
                  <a:srgbClr val="FFFFFF"/>
                </a:highlight>
                <a:latin typeface="Cascadia Mono" panose="020B0609020000020004" pitchFamily="49" charset="0"/>
              </a:rPr>
              <a:t> = "</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de-CH" dirty="0" err="1">
                <a:solidFill>
                  <a:srgbClr val="008000"/>
                </a:solidFill>
                <a:highlight>
                  <a:srgbClr val="FFFFFF"/>
                </a:highlight>
                <a:latin typeface="Cascadia Mono" panose="020B0609020000020004" pitchFamily="49" charset="0"/>
              </a:rPr>
              <a:t>ptr</a:t>
            </a:r>
            <a:r>
              <a:rPr lang="de-CH" dirty="0">
                <a:solidFill>
                  <a:srgbClr val="008000"/>
                </a:solidFill>
                <a:highlight>
                  <a:srgbClr val="FFFFFF"/>
                </a:highlight>
                <a:latin typeface="Cascadia Mono" panose="020B0609020000020004" pitchFamily="49" charset="0"/>
              </a:rPr>
              <a:t> = 22</a:t>
            </a:r>
            <a:endParaRPr lang="ru-RU" dirty="0"/>
          </a:p>
        </p:txBody>
      </p:sp>
    </p:spTree>
    <p:extLst>
      <p:ext uri="{BB962C8B-B14F-4D97-AF65-F5344CB8AC3E}">
        <p14:creationId xmlns:p14="http://schemas.microsoft.com/office/powerpoint/2010/main" val="2974020669"/>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9787B5-0BA8-BA08-B6AF-D8AD6E37CFB0}"/>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94708AB9-95F1-A754-A73E-D62A5C299C3B}"/>
              </a:ext>
            </a:extLst>
          </p:cNvPr>
          <p:cNvSpPr>
            <a:spLocks noGrp="1"/>
          </p:cNvSpPr>
          <p:nvPr>
            <p:ph idx="1"/>
          </p:nvPr>
        </p:nvSpPr>
        <p:spPr/>
        <p:txBody>
          <a:bodyPr/>
          <a:lstStyle/>
          <a:p>
            <a:r>
              <a:rPr lang="ru-RU" b="1" dirty="0"/>
              <a:t>Освобождение памяти</a:t>
            </a:r>
          </a:p>
          <a:p>
            <a:endParaRPr lang="ru-RU" dirty="0"/>
          </a:p>
          <a:p>
            <a:r>
              <a:rPr lang="ru-RU" dirty="0"/>
              <a:t>Динамические объекты будут существовать, пока не будут явным образом удалены. И после завершения использования динамических объектов следует освободить их память с помощью оператора </a:t>
            </a:r>
            <a:r>
              <a:rPr lang="ru-RU" b="1" dirty="0" err="1"/>
              <a:t>delete</a:t>
            </a:r>
            <a:r>
              <a:rPr lang="ru-RU" dirty="0"/>
              <a:t>:</a:t>
            </a:r>
          </a:p>
          <a:p>
            <a:endParaRPr lang="ru-RU" dirty="0"/>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{5} };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выделяем память</a:t>
            </a:r>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ptr</a:t>
            </a:r>
            <a:r>
              <a:rPr lang="de-CH" dirty="0">
                <a:solidFill>
                  <a:srgbClr val="A31515"/>
                </a:solidFill>
                <a:highlight>
                  <a:srgbClr val="FFFFFF"/>
                </a:highlight>
                <a:latin typeface="Cascadia Mono" panose="020B0609020000020004" pitchFamily="49" charset="0"/>
              </a:rPr>
              <a:t> = "</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de-CH" dirty="0" err="1">
                <a:solidFill>
                  <a:srgbClr val="008000"/>
                </a:solidFill>
                <a:highlight>
                  <a:srgbClr val="FFFFFF"/>
                </a:highlight>
                <a:latin typeface="Cascadia Mono" panose="020B0609020000020004" pitchFamily="49" charset="0"/>
              </a:rPr>
              <a:t>ptr</a:t>
            </a:r>
            <a:r>
              <a:rPr lang="de-CH" dirty="0">
                <a:solidFill>
                  <a:srgbClr val="008000"/>
                </a:solidFill>
                <a:highlight>
                  <a:srgbClr val="FFFFFF"/>
                </a:highlight>
                <a:latin typeface="Cascadia Mono" panose="020B0609020000020004" pitchFamily="49" charset="0"/>
              </a:rPr>
              <a:t> = 5</a:t>
            </a:r>
            <a:endParaRPr lang="de-CH"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delete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освобождаем память</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3231854516"/>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F38290-20C5-A275-65B6-3DE9A01686FC}"/>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3401A8F3-C6BF-E513-79CB-925016D3B8EF}"/>
              </a:ext>
            </a:extLst>
          </p:cNvPr>
          <p:cNvSpPr>
            <a:spLocks noGrp="1"/>
          </p:cNvSpPr>
          <p:nvPr>
            <p:ph idx="1"/>
          </p:nvPr>
        </p:nvSpPr>
        <p:spPr/>
        <p:txBody>
          <a:bodyPr/>
          <a:lstStyle/>
          <a:p>
            <a:r>
              <a:rPr lang="ru-RU" dirty="0"/>
              <a:t>Особенно это надо учитывать, если динамический объект создается в одной части кода, а используется в другой. </a:t>
            </a:r>
          </a:p>
          <a:p>
            <a:r>
              <a:rPr lang="ru-RU" dirty="0"/>
              <a:t>Например:</a:t>
            </a:r>
          </a:p>
          <a:p>
            <a:pPr lvl="1"/>
            <a:endParaRPr lang="ru-RU" sz="1400" dirty="0">
              <a:solidFill>
                <a:srgbClr val="0000FF"/>
              </a:solidFill>
              <a:highlight>
                <a:srgbClr val="FFFFFF"/>
              </a:highlight>
              <a:latin typeface="Cascadia Mono" panose="020B0609020000020004" pitchFamily="49" charset="0"/>
            </a:endParaRPr>
          </a:p>
          <a:p>
            <a:pPr lvl="1"/>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createPtr</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808080"/>
                </a:solidFill>
                <a:highlight>
                  <a:srgbClr val="FFFFFF"/>
                </a:highlight>
                <a:latin typeface="Cascadia Mono" panose="020B0609020000020004" pitchFamily="49" charset="0"/>
              </a:rPr>
              <a:t>value</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a:t>
            </a:r>
            <a:r>
              <a:rPr lang="en-US" sz="1400" dirty="0" err="1">
                <a:solidFill>
                  <a:srgbClr val="000000"/>
                </a:solidFill>
                <a:highlight>
                  <a:srgbClr val="FFFFFF"/>
                </a:highlight>
                <a:latin typeface="Cascadia Mono" panose="020B0609020000020004" pitchFamily="49" charset="0"/>
              </a:rPr>
              <a:t>ptr</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new</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a:t>
            </a:r>
            <a:r>
              <a:rPr lang="en-US" sz="1400" dirty="0">
                <a:solidFill>
                  <a:srgbClr val="808080"/>
                </a:solidFill>
                <a:highlight>
                  <a:srgbClr val="FFFFFF"/>
                </a:highlight>
                <a:latin typeface="Cascadia Mono" panose="020B0609020000020004" pitchFamily="49" charset="0"/>
              </a:rPr>
              <a:t>value</a:t>
            </a:r>
            <a:r>
              <a:rPr lang="en-US" sz="1400" dirty="0">
                <a:solidFill>
                  <a:srgbClr val="000000"/>
                </a:solidFill>
                <a:highlight>
                  <a:srgbClr val="FFFFFF"/>
                </a:highlight>
                <a:latin typeface="Cascadia Mono" panose="020B0609020000020004" pitchFamily="49" charset="0"/>
              </a:rPr>
              <a:t>} };</a:t>
            </a:r>
          </a:p>
          <a:p>
            <a:pPr lvl="1"/>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return</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ptr</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de-CH" sz="1400" dirty="0" err="1">
                <a:solidFill>
                  <a:srgbClr val="0000FF"/>
                </a:solidFill>
                <a:highlight>
                  <a:srgbClr val="FFFFFF"/>
                </a:highlight>
                <a:latin typeface="Cascadia Mono" panose="020B0609020000020004" pitchFamily="49" charset="0"/>
              </a:rPr>
              <a:t>void</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usePtr</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obj</a:t>
            </a:r>
            <a:r>
              <a:rPr lang="de-CH" sz="1400" dirty="0">
                <a:solidFill>
                  <a:srgbClr val="000000"/>
                </a:solidFill>
                <a:highlight>
                  <a:srgbClr val="FFFFFF"/>
                </a:highlight>
                <a:latin typeface="Cascadia Mono" panose="020B0609020000020004" pitchFamily="49" charset="0"/>
              </a:rPr>
              <a:t> = </a:t>
            </a:r>
            <a:r>
              <a:rPr lang="de-CH" sz="1400" dirty="0" err="1">
                <a:solidFill>
                  <a:srgbClr val="000000"/>
                </a:solidFill>
                <a:highlight>
                  <a:srgbClr val="FFFFFF"/>
                </a:highlight>
                <a:latin typeface="Cascadia Mono" panose="020B0609020000020004" pitchFamily="49" charset="0"/>
              </a:rPr>
              <a:t>createPtr</a:t>
            </a:r>
            <a:r>
              <a:rPr lang="de-CH" sz="1400" dirty="0">
                <a:solidFill>
                  <a:srgbClr val="000000"/>
                </a:solidFill>
                <a:highlight>
                  <a:srgbClr val="FFFFFF"/>
                </a:highlight>
                <a:latin typeface="Cascadia Mono" panose="020B0609020000020004" pitchFamily="49" charset="0"/>
              </a:rPr>
              <a:t>(10);</a:t>
            </a:r>
          </a:p>
          <a:p>
            <a:pPr lvl="1"/>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000000"/>
                </a:solidFill>
                <a:highlight>
                  <a:srgbClr val="FFFFFF"/>
                </a:highlight>
                <a:latin typeface="Cascadia Mono" panose="020B0609020000020004" pitchFamily="49" charset="0"/>
              </a:rPr>
              <a:t>cout</a:t>
            </a:r>
            <a:r>
              <a:rPr lang="de-CH" sz="1400" dirty="0">
                <a:solidFill>
                  <a:srgbClr val="000000"/>
                </a:solidFill>
                <a:highlight>
                  <a:srgbClr val="FFFFFF"/>
                </a:highlight>
                <a:latin typeface="Cascadia Mono" panose="020B0609020000020004" pitchFamily="49" charset="0"/>
              </a:rPr>
              <a:t> </a:t>
            </a:r>
            <a:r>
              <a:rPr lang="de-CH" sz="1400" dirty="0">
                <a:solidFill>
                  <a:srgbClr val="008080"/>
                </a:solidFill>
                <a:highlight>
                  <a:srgbClr val="FFFFFF"/>
                </a:highlight>
                <a:latin typeface="Cascadia Mono" panose="020B0609020000020004" pitchFamily="49" charset="0"/>
              </a:rPr>
              <a:t>&lt;&lt;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obj</a:t>
            </a:r>
            <a:r>
              <a:rPr lang="de-CH" sz="1400" dirty="0">
                <a:solidFill>
                  <a:srgbClr val="000000"/>
                </a:solidFill>
                <a:highlight>
                  <a:srgbClr val="FFFFFF"/>
                </a:highlight>
                <a:latin typeface="Cascadia Mono" panose="020B0609020000020004" pitchFamily="49" charset="0"/>
              </a:rPr>
              <a:t> </a:t>
            </a:r>
            <a:r>
              <a:rPr lang="de-CH" sz="1400" dirty="0">
                <a:solidFill>
                  <a:srgbClr val="008080"/>
                </a:solidFill>
                <a:highlight>
                  <a:srgbClr val="FFFFFF"/>
                </a:highlight>
                <a:latin typeface="Cascadia Mono" panose="020B0609020000020004" pitchFamily="49" charset="0"/>
              </a:rPr>
              <a:t>&lt;&lt;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000000"/>
                </a:solidFill>
                <a:highlight>
                  <a:srgbClr val="FFFFFF"/>
                </a:highlight>
                <a:latin typeface="Cascadia Mono" panose="020B0609020000020004" pitchFamily="49" charset="0"/>
              </a:rPr>
              <a:t>endl</a:t>
            </a:r>
            <a:r>
              <a:rPr lang="de-CH" sz="1400" dirty="0">
                <a:solidFill>
                  <a:srgbClr val="000000"/>
                </a:solidFill>
                <a:highlight>
                  <a:srgbClr val="FFFFFF"/>
                </a:highlight>
                <a:latin typeface="Cascadia Mono" panose="020B0609020000020004" pitchFamily="49" charset="0"/>
              </a:rPr>
              <a:t>;  </a:t>
            </a:r>
            <a:r>
              <a:rPr lang="de-CH" sz="1400" dirty="0">
                <a:solidFill>
                  <a:srgbClr val="008000"/>
                </a:solidFill>
                <a:highlight>
                  <a:srgbClr val="FFFFFF"/>
                </a:highlight>
                <a:latin typeface="Cascadia Mono" panose="020B0609020000020004" pitchFamily="49" charset="0"/>
              </a:rPr>
              <a:t>// 10</a:t>
            </a:r>
            <a:endParaRPr lang="de-CH" sz="1400" dirty="0">
              <a:solidFill>
                <a:srgbClr val="000000"/>
              </a:solidFill>
              <a:highlight>
                <a:srgbClr val="FFFFFF"/>
              </a:highlight>
              <a:latin typeface="Cascadia Mono" panose="020B0609020000020004" pitchFamily="49" charset="0"/>
            </a:endParaRPr>
          </a:p>
          <a:p>
            <a:pPr lvl="1"/>
            <a:r>
              <a:rPr lang="ru-RU" sz="1400" dirty="0">
                <a:solidFill>
                  <a:srgbClr val="000000"/>
                </a:solidFill>
                <a:highlight>
                  <a:srgbClr val="FFFFFF"/>
                </a:highlight>
                <a:latin typeface="Cascadia Mono" panose="020B0609020000020004" pitchFamily="49" charset="0"/>
              </a:rPr>
              <a:t>    </a:t>
            </a:r>
            <a:r>
              <a:rPr lang="ru-RU" sz="1400" dirty="0" err="1">
                <a:solidFill>
                  <a:srgbClr val="0000FF"/>
                </a:solidFill>
                <a:highlight>
                  <a:srgbClr val="FFFFFF"/>
                </a:highlight>
                <a:latin typeface="Cascadia Mono" panose="020B0609020000020004" pitchFamily="49" charset="0"/>
              </a:rPr>
              <a:t>delete</a:t>
            </a:r>
            <a:r>
              <a:rPr lang="ru-RU" sz="1400" dirty="0">
                <a:solidFill>
                  <a:srgbClr val="000000"/>
                </a:solidFill>
                <a:highlight>
                  <a:srgbClr val="FFFFFF"/>
                </a:highlight>
                <a:latin typeface="Cascadia Mono" panose="020B0609020000020004" pitchFamily="49" charset="0"/>
              </a:rPr>
              <a:t> </a:t>
            </a:r>
            <a:r>
              <a:rPr lang="ru-RU" sz="1400" dirty="0" err="1">
                <a:solidFill>
                  <a:srgbClr val="000000"/>
                </a:solidFill>
                <a:highlight>
                  <a:srgbClr val="FFFFFF"/>
                </a:highlight>
                <a:latin typeface="Cascadia Mono" panose="020B0609020000020004" pitchFamily="49" charset="0"/>
              </a:rPr>
              <a:t>obj</a:t>
            </a:r>
            <a:r>
              <a:rPr lang="ru-RU" sz="1400" dirty="0">
                <a:solidFill>
                  <a:srgbClr val="000000"/>
                </a:solidFill>
                <a:highlight>
                  <a:srgbClr val="FFFFFF"/>
                </a:highlight>
                <a:latin typeface="Cascadia Mono" panose="020B0609020000020004" pitchFamily="49" charset="0"/>
              </a:rPr>
              <a:t>;  </a:t>
            </a:r>
            <a:r>
              <a:rPr lang="ru-RU" sz="1400" dirty="0">
                <a:solidFill>
                  <a:srgbClr val="008000"/>
                </a:solidFill>
                <a:highlight>
                  <a:srgbClr val="FFFFFF"/>
                </a:highlight>
                <a:latin typeface="Cascadia Mono" panose="020B0609020000020004" pitchFamily="49" charset="0"/>
              </a:rPr>
              <a:t>// объект надо освободить</a:t>
            </a:r>
            <a:endParaRPr lang="ru-RU" sz="1400" dirty="0">
              <a:solidFill>
                <a:srgbClr val="000000"/>
              </a:solidFill>
              <a:highlight>
                <a:srgbClr val="FFFFFF"/>
              </a:highlight>
              <a:latin typeface="Cascadia Mono" panose="020B0609020000020004" pitchFamily="49" charset="0"/>
            </a:endParaRPr>
          </a:p>
          <a:p>
            <a:pPr lvl="1"/>
            <a:r>
              <a:rPr lang="ru-RU" sz="1400" dirty="0">
                <a:solidFill>
                  <a:srgbClr val="000000"/>
                </a:solidFill>
                <a:highlight>
                  <a:srgbClr val="FFFFFF"/>
                </a:highlight>
                <a:latin typeface="Cascadia Mono" panose="020B0609020000020004" pitchFamily="49" charset="0"/>
              </a:rPr>
              <a:t>}</a:t>
            </a:r>
          </a:p>
          <a:p>
            <a:pPr lvl="1"/>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usePtr</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582975543"/>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74A8B5-A881-AD2A-B6F6-A8F73F9D42E1}"/>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BA8CECE2-E289-4787-AE76-9072BB58A126}"/>
              </a:ext>
            </a:extLst>
          </p:cNvPr>
          <p:cNvSpPr>
            <a:spLocks noGrp="1"/>
          </p:cNvSpPr>
          <p:nvPr>
            <p:ph idx="1"/>
          </p:nvPr>
        </p:nvSpPr>
        <p:spPr/>
        <p:txBody>
          <a:bodyPr/>
          <a:lstStyle/>
          <a:p>
            <a:r>
              <a:rPr lang="ru-RU" dirty="0"/>
              <a:t>Но стоит отметить, что даже после освобождения памяти указатель по-прежнему содержит старый адрес, хотя память по нему условно освобождена и готова к использованию для будущих динамических объектов. </a:t>
            </a:r>
          </a:p>
          <a:p>
            <a:endParaRPr lang="ru-RU" dirty="0"/>
          </a:p>
          <a:p>
            <a:pPr lvl="1"/>
            <a:r>
              <a:rPr lang="en-US" dirty="0" err="1">
                <a:solidFill>
                  <a:srgbClr val="0000FF"/>
                </a:solidFill>
                <a:highlight>
                  <a:srgbClr val="FFFFFF"/>
                </a:highlight>
                <a:latin typeface="Cascadia Mono" panose="020B0609020000020004" pitchFamily="49" charset="0"/>
              </a:rPr>
              <a:t>i</a:t>
            </a:r>
            <a:r>
              <a:rPr lang="de-CH" dirty="0" err="1">
                <a:solidFill>
                  <a:srgbClr val="0000FF"/>
                </a:solidFill>
                <a:highlight>
                  <a:srgbClr val="FFFFFF"/>
                </a:highlight>
                <a:latin typeface="Cascadia Mono" panose="020B0609020000020004" pitchFamily="49" charset="0"/>
              </a:rPr>
              <a:t>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ptr</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{12}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12</a:t>
            </a:r>
            <a:endParaRPr lang="de-CH"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delete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a:t>
            </a:r>
          </a:p>
          <a:p>
            <a:pPr lvl="1"/>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ошибочные сценарии</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std</a:t>
            </a:r>
            <a:r>
              <a:rPr lang="ru-RU" dirty="0">
                <a:solidFill>
                  <a:srgbClr val="000000"/>
                </a:solidFill>
                <a:highlight>
                  <a:srgbClr val="FFFFFF"/>
                </a:highlight>
                <a:latin typeface="Cascadia Mono" panose="020B0609020000020004" pitchFamily="49" charset="0"/>
              </a:rPr>
              <a:t>::</a:t>
            </a:r>
            <a:r>
              <a:rPr lang="ru-RU" dirty="0" err="1">
                <a:solidFill>
                  <a:srgbClr val="000000"/>
                </a:solidFill>
                <a:highlight>
                  <a:srgbClr val="FFFFFF"/>
                </a:highlight>
                <a:latin typeface="Cascadia Mono" panose="020B0609020000020004" pitchFamily="49" charset="0"/>
              </a:rPr>
              <a:t>cout</a:t>
            </a:r>
            <a:r>
              <a:rPr lang="ru-RU" dirty="0">
                <a:solidFill>
                  <a:srgbClr val="000000"/>
                </a:solidFill>
                <a:highlight>
                  <a:srgbClr val="FFFFFF"/>
                </a:highlight>
                <a:latin typeface="Cascadia Mono" panose="020B0609020000020004" pitchFamily="49" charset="0"/>
              </a:rPr>
              <a:t> </a:t>
            </a:r>
            <a:r>
              <a:rPr lang="ru-RU" dirty="0">
                <a:solidFill>
                  <a:srgbClr val="008080"/>
                </a:solidFill>
                <a:highlight>
                  <a:srgbClr val="FFFFFF"/>
                </a:highlight>
                <a:latin typeface="Cascadia Mono" panose="020B0609020000020004" pitchFamily="49" charset="0"/>
              </a:rPr>
              <a:t>&lt;&lt;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ptr</a:t>
            </a:r>
            <a:r>
              <a:rPr lang="ru-RU" dirty="0">
                <a:solidFill>
                  <a:srgbClr val="000000"/>
                </a:solidFill>
                <a:highlight>
                  <a:srgbClr val="FFFFFF"/>
                </a:highlight>
                <a:latin typeface="Cascadia Mono" panose="020B0609020000020004" pitchFamily="49" charset="0"/>
              </a:rPr>
              <a:t> </a:t>
            </a:r>
            <a:r>
              <a:rPr lang="ru-RU" dirty="0">
                <a:solidFill>
                  <a:srgbClr val="008080"/>
                </a:solidFill>
                <a:highlight>
                  <a:srgbClr val="FFFFFF"/>
                </a:highlight>
                <a:latin typeface="Cascadia Mono" panose="020B0609020000020004" pitchFamily="49" charset="0"/>
              </a:rPr>
              <a:t>&lt;&lt;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std</a:t>
            </a:r>
            <a:r>
              <a:rPr lang="ru-RU" dirty="0">
                <a:solidFill>
                  <a:srgbClr val="000000"/>
                </a:solidFill>
                <a:highlight>
                  <a:srgbClr val="FFFFFF"/>
                </a:highlight>
                <a:latin typeface="Cascadia Mono" panose="020B0609020000020004" pitchFamily="49" charset="0"/>
              </a:rPr>
              <a:t>::</a:t>
            </a:r>
            <a:r>
              <a:rPr lang="ru-RU" dirty="0" err="1">
                <a:solidFill>
                  <a:srgbClr val="000000"/>
                </a:solidFill>
                <a:highlight>
                  <a:srgbClr val="FFFFFF"/>
                </a:highlight>
                <a:latin typeface="Cascadia Mono" panose="020B0609020000020004" pitchFamily="49" charset="0"/>
              </a:rPr>
              <a:t>endl</a:t>
            </a:r>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объект по указателю </a:t>
            </a:r>
            <a:r>
              <a:rPr lang="ru-RU" dirty="0" err="1">
                <a:solidFill>
                  <a:srgbClr val="008000"/>
                </a:solidFill>
                <a:highlight>
                  <a:srgbClr val="FFFFFF"/>
                </a:highlight>
                <a:latin typeface="Cascadia Mono" panose="020B0609020000020004" pitchFamily="49" charset="0"/>
              </a:rPr>
              <a:t>ptr</a:t>
            </a:r>
            <a:r>
              <a:rPr lang="ru-RU" dirty="0">
                <a:solidFill>
                  <a:srgbClr val="008000"/>
                </a:solidFill>
                <a:highlight>
                  <a:srgbClr val="FFFFFF"/>
                </a:highlight>
                <a:latin typeface="Cascadia Mono" panose="020B0609020000020004" pitchFamily="49" charset="0"/>
              </a:rPr>
              <a:t> уже удален!</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err="1">
                <a:solidFill>
                  <a:srgbClr val="0000FF"/>
                </a:solidFill>
                <a:highlight>
                  <a:srgbClr val="FFFFFF"/>
                </a:highlight>
                <a:latin typeface="Cascadia Mono" panose="020B0609020000020004" pitchFamily="49" charset="0"/>
              </a:rPr>
              <a:t>delete</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ptr</a:t>
            </a:r>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объект по указателю </a:t>
            </a:r>
            <a:r>
              <a:rPr lang="ru-RU" dirty="0" err="1">
                <a:solidFill>
                  <a:srgbClr val="008000"/>
                </a:solidFill>
                <a:highlight>
                  <a:srgbClr val="FFFFFF"/>
                </a:highlight>
                <a:latin typeface="Cascadia Mono" panose="020B0609020000020004" pitchFamily="49" charset="0"/>
              </a:rPr>
              <a:t>ptr</a:t>
            </a:r>
            <a:r>
              <a:rPr lang="ru-RU" dirty="0">
                <a:solidFill>
                  <a:srgbClr val="008000"/>
                </a:solidFill>
                <a:highlight>
                  <a:srgbClr val="FFFFFF"/>
                </a:highlight>
                <a:latin typeface="Cascadia Mono" panose="020B0609020000020004" pitchFamily="49" charset="0"/>
              </a:rPr>
              <a:t> уже удален!</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249102251"/>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694A0B-0A6A-4B70-9027-0386ACD1471A}"/>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3634C521-7333-D521-80BA-EA0F191E7593}"/>
              </a:ext>
            </a:extLst>
          </p:cNvPr>
          <p:cNvSpPr>
            <a:spLocks noGrp="1"/>
          </p:cNvSpPr>
          <p:nvPr>
            <p:ph idx="1"/>
          </p:nvPr>
        </p:nvSpPr>
        <p:spPr/>
        <p:txBody>
          <a:bodyPr/>
          <a:lstStyle/>
          <a:p>
            <a:r>
              <a:rPr lang="ru-RU" dirty="0"/>
              <a:t>Чтобы избежать подобных болтающихся указателей, рекомендуется после освобождения памяти обнулять указатель:</a:t>
            </a:r>
          </a:p>
          <a:p>
            <a:pPr lvl="1"/>
            <a:br>
              <a:rPr lang="ru-RU" dirty="0"/>
            </a:b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ptr</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{12}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12</a:t>
            </a:r>
            <a:endParaRPr lang="de-CH"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delete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ptr</a:t>
            </a:r>
            <a:r>
              <a:rPr lang="de-CH" dirty="0">
                <a:solidFill>
                  <a:srgbClr val="000000"/>
                </a:solidFill>
                <a:highlight>
                  <a:srgbClr val="FFFFFF"/>
                </a:highlight>
                <a:latin typeface="Cascadia Mono" panose="020B0609020000020004" pitchFamily="49" charset="0"/>
              </a:rPr>
              <a:t> = </a:t>
            </a:r>
            <a:r>
              <a:rPr lang="de-CH" dirty="0" err="1">
                <a:solidFill>
                  <a:srgbClr val="0000FF"/>
                </a:solidFill>
                <a:highlight>
                  <a:srgbClr val="FFFFFF"/>
                </a:highlight>
                <a:latin typeface="Cascadia Mono" panose="020B0609020000020004" pitchFamily="49" charset="0"/>
              </a:rPr>
              <a:t>nullptr</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обнуляем указатель</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4154253696"/>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608590-284D-0F1E-40D5-5EE5F16F3ADB}"/>
              </a:ext>
            </a:extLst>
          </p:cNvPr>
          <p:cNvSpPr>
            <a:spLocks noGrp="1"/>
          </p:cNvSpPr>
          <p:nvPr>
            <p:ph type="title"/>
          </p:nvPr>
        </p:nvSpPr>
        <p:spPr/>
        <p:txBody>
          <a:bodyPr/>
          <a:lstStyle/>
          <a:p>
            <a:r>
              <a:rPr lang="ru-RU" b="1" dirty="0"/>
              <a:t>Динамическая память</a:t>
            </a:r>
            <a:endParaRPr lang="ru-RU" dirty="0"/>
          </a:p>
        </p:txBody>
      </p:sp>
      <p:sp>
        <p:nvSpPr>
          <p:cNvPr id="3" name="Объект 2">
            <a:extLst>
              <a:ext uri="{FF2B5EF4-FFF2-40B4-BE49-F238E27FC236}">
                <a16:creationId xmlns:a16="http://schemas.microsoft.com/office/drawing/2014/main" id="{F2684086-48FE-728A-C044-622288A86163}"/>
              </a:ext>
            </a:extLst>
          </p:cNvPr>
          <p:cNvSpPr>
            <a:spLocks noGrp="1"/>
          </p:cNvSpPr>
          <p:nvPr>
            <p:ph idx="1"/>
          </p:nvPr>
        </p:nvSpPr>
        <p:spPr/>
        <p:txBody>
          <a:bodyPr/>
          <a:lstStyle/>
          <a:p>
            <a:r>
              <a:rPr lang="ru-RU" dirty="0"/>
              <a:t>В то же время недопустимость указателей после применения к ним оператора </a:t>
            </a:r>
            <a:r>
              <a:rPr lang="ru-RU" dirty="0" err="1"/>
              <a:t>delete</a:t>
            </a:r>
            <a:r>
              <a:rPr lang="ru-RU" dirty="0"/>
              <a:t> не означает, что эти указатели мы в принципе не сможем использовать. Мы сможем их использовать, если присвоим им адрес другого объекта:</a:t>
            </a:r>
            <a:endParaRPr lang="en-US" dirty="0"/>
          </a:p>
          <a:p>
            <a:pPr lvl="1"/>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pPr lvl="1"/>
            <a:r>
              <a:rPr lang="ru-RU" sz="1400" dirty="0">
                <a:solidFill>
                  <a:srgbClr val="000000"/>
                </a:solidFill>
                <a:highlight>
                  <a:srgbClr val="FFFFFF"/>
                </a:highlight>
                <a:latin typeface="Cascadia Mono" panose="020B0609020000020004" pitchFamily="49" charset="0"/>
              </a:rPr>
              <a:t>{</a:t>
            </a:r>
          </a:p>
          <a:p>
            <a:pPr lvl="1"/>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 p1{ </a:t>
            </a:r>
            <a:r>
              <a:rPr lang="en-US" sz="1400" dirty="0">
                <a:solidFill>
                  <a:srgbClr val="0000FF"/>
                </a:solidFill>
                <a:highlight>
                  <a:srgbClr val="FFFFFF"/>
                </a:highlight>
                <a:latin typeface="Cascadia Mono" panose="020B0609020000020004" pitchFamily="49" charset="0"/>
              </a:rPr>
              <a:t>new</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{12} };</a:t>
            </a:r>
          </a:p>
          <a:p>
            <a:pPr lvl="1"/>
            <a:r>
              <a:rPr lang="ru-RU" sz="1400" dirty="0">
                <a:solidFill>
                  <a:srgbClr val="000000"/>
                </a:solidFill>
                <a:highlight>
                  <a:srgbClr val="FFFFFF"/>
                </a:highlight>
                <a:latin typeface="Cascadia Mono" panose="020B0609020000020004" pitchFamily="49" charset="0"/>
              </a:rPr>
              <a:t>    </a:t>
            </a:r>
            <a:r>
              <a:rPr lang="ru-RU" sz="1400" dirty="0">
                <a:solidFill>
                  <a:srgbClr val="0000FF"/>
                </a:solidFill>
                <a:highlight>
                  <a:srgbClr val="FFFFFF"/>
                </a:highlight>
                <a:latin typeface="Cascadia Mono" panose="020B0609020000020004" pitchFamily="49" charset="0"/>
              </a:rPr>
              <a:t>int</a:t>
            </a:r>
            <a:r>
              <a:rPr lang="ru-RU" sz="1400" dirty="0">
                <a:solidFill>
                  <a:srgbClr val="000000"/>
                </a:solidFill>
                <a:highlight>
                  <a:srgbClr val="FFFFFF"/>
                </a:highlight>
                <a:latin typeface="Cascadia Mono" panose="020B0609020000020004" pitchFamily="49" charset="0"/>
              </a:rPr>
              <a:t>* p2{ p1 };   </a:t>
            </a:r>
            <a:r>
              <a:rPr lang="ru-RU" sz="1400" dirty="0">
                <a:solidFill>
                  <a:srgbClr val="008000"/>
                </a:solidFill>
                <a:highlight>
                  <a:srgbClr val="FFFFFF"/>
                </a:highlight>
                <a:latin typeface="Cascadia Mono" panose="020B0609020000020004" pitchFamily="49" charset="0"/>
              </a:rPr>
              <a:t>// p1 и  p2 указывают на один и тот же объект</a:t>
            </a:r>
            <a:endParaRPr lang="ru-RU" sz="1400" dirty="0">
              <a:solidFill>
                <a:srgbClr val="000000"/>
              </a:solidFill>
              <a:highlight>
                <a:srgbClr val="FFFFFF"/>
              </a:highlight>
              <a:latin typeface="Cascadia Mono" panose="020B0609020000020004" pitchFamily="49" charset="0"/>
            </a:endParaRPr>
          </a:p>
          <a:p>
            <a:pPr lvl="1"/>
            <a:endParaRPr lang="ru-RU" sz="1400" dirty="0">
              <a:solidFill>
                <a:srgbClr val="000000"/>
              </a:solidFill>
              <a:highlight>
                <a:srgbClr val="FFFFFF"/>
              </a:highlight>
              <a:latin typeface="Cascadia Mono" panose="020B0609020000020004" pitchFamily="49" charset="0"/>
            </a:endParaRPr>
          </a:p>
          <a:p>
            <a:pPr lvl="1"/>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*p1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12</a:t>
            </a:r>
            <a:endParaRPr lang="en-US" sz="1400" dirty="0">
              <a:solidFill>
                <a:srgbClr val="000000"/>
              </a:solidFill>
              <a:highlight>
                <a:srgbClr val="FFFFFF"/>
              </a:highlight>
              <a:latin typeface="Cascadia Mono" panose="020B0609020000020004" pitchFamily="49" charset="0"/>
            </a:endParaRPr>
          </a:p>
          <a:p>
            <a:pPr lvl="1"/>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*p2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12</a:t>
            </a:r>
            <a:endParaRPr lang="en-US" sz="1400" dirty="0">
              <a:solidFill>
                <a:srgbClr val="000000"/>
              </a:solidFill>
              <a:highlight>
                <a:srgbClr val="FFFFFF"/>
              </a:highlight>
              <a:latin typeface="Cascadia Mono" panose="020B0609020000020004" pitchFamily="49" charset="0"/>
            </a:endParaRPr>
          </a:p>
          <a:p>
            <a:pPr lvl="1"/>
            <a:r>
              <a:rPr lang="ru-RU" sz="1400" dirty="0">
                <a:solidFill>
                  <a:srgbClr val="000000"/>
                </a:solidFill>
                <a:highlight>
                  <a:srgbClr val="FFFFFF"/>
                </a:highlight>
                <a:latin typeface="Cascadia Mono" panose="020B0609020000020004" pitchFamily="49" charset="0"/>
              </a:rPr>
              <a:t>    </a:t>
            </a:r>
            <a:r>
              <a:rPr lang="ru-RU" sz="1400" dirty="0" err="1">
                <a:solidFill>
                  <a:srgbClr val="0000FF"/>
                </a:solidFill>
                <a:highlight>
                  <a:srgbClr val="FFFFFF"/>
                </a:highlight>
                <a:latin typeface="Cascadia Mono" panose="020B0609020000020004" pitchFamily="49" charset="0"/>
              </a:rPr>
              <a:t>delete</a:t>
            </a:r>
            <a:r>
              <a:rPr lang="ru-RU" sz="1400" dirty="0">
                <a:solidFill>
                  <a:srgbClr val="000000"/>
                </a:solidFill>
                <a:highlight>
                  <a:srgbClr val="FFFFFF"/>
                </a:highlight>
                <a:latin typeface="Cascadia Mono" panose="020B0609020000020004" pitchFamily="49" charset="0"/>
              </a:rPr>
              <a:t> p1;      </a:t>
            </a:r>
            <a:r>
              <a:rPr lang="ru-RU" sz="1400" dirty="0">
                <a:solidFill>
                  <a:srgbClr val="008000"/>
                </a:solidFill>
                <a:highlight>
                  <a:srgbClr val="FFFFFF"/>
                </a:highlight>
                <a:latin typeface="Cascadia Mono" panose="020B0609020000020004" pitchFamily="49" charset="0"/>
              </a:rPr>
              <a:t>// адреса в p1 и p2 недопустимы</a:t>
            </a:r>
            <a:endParaRPr lang="ru-RU" sz="1400" dirty="0">
              <a:solidFill>
                <a:srgbClr val="000000"/>
              </a:solidFill>
              <a:highlight>
                <a:srgbClr val="FFFFFF"/>
              </a:highlight>
              <a:latin typeface="Cascadia Mono" panose="020B0609020000020004" pitchFamily="49" charset="0"/>
            </a:endParaRPr>
          </a:p>
          <a:p>
            <a:pPr lvl="1"/>
            <a:r>
              <a:rPr lang="de-CH" sz="1400" dirty="0">
                <a:solidFill>
                  <a:srgbClr val="000000"/>
                </a:solidFill>
                <a:highlight>
                  <a:srgbClr val="FFFFFF"/>
                </a:highlight>
                <a:latin typeface="Cascadia Mono" panose="020B0609020000020004" pitchFamily="49" charset="0"/>
              </a:rPr>
              <a:t>    p1 = </a:t>
            </a:r>
            <a:r>
              <a:rPr lang="de-CH" sz="1400" dirty="0" err="1">
                <a:solidFill>
                  <a:srgbClr val="0000FF"/>
                </a:solidFill>
                <a:highlight>
                  <a:srgbClr val="FFFFFF"/>
                </a:highlight>
                <a:latin typeface="Cascadia Mono" panose="020B0609020000020004" pitchFamily="49" charset="0"/>
              </a:rPr>
              <a:t>nullptr</a:t>
            </a:r>
            <a:r>
              <a:rPr lang="de-CH" sz="1400" dirty="0">
                <a:solidFill>
                  <a:srgbClr val="000000"/>
                </a:solidFill>
                <a:highlight>
                  <a:srgbClr val="FFFFFF"/>
                </a:highlight>
                <a:latin typeface="Cascadia Mono" panose="020B0609020000020004" pitchFamily="49" charset="0"/>
              </a:rPr>
              <a:t>;</a:t>
            </a:r>
          </a:p>
          <a:p>
            <a:pPr lvl="1"/>
            <a:r>
              <a:rPr lang="de-CH" sz="1400" dirty="0">
                <a:solidFill>
                  <a:srgbClr val="000000"/>
                </a:solidFill>
                <a:highlight>
                  <a:srgbClr val="FFFFFF"/>
                </a:highlight>
                <a:latin typeface="Cascadia Mono" panose="020B0609020000020004" pitchFamily="49" charset="0"/>
              </a:rPr>
              <a:t>    p2 = </a:t>
            </a:r>
            <a:r>
              <a:rPr lang="de-CH" sz="1400" dirty="0" err="1">
                <a:solidFill>
                  <a:srgbClr val="0000FF"/>
                </a:solidFill>
                <a:highlight>
                  <a:srgbClr val="FFFFFF"/>
                </a:highlight>
                <a:latin typeface="Cascadia Mono" panose="020B0609020000020004" pitchFamily="49" charset="0"/>
              </a:rPr>
              <a:t>nullptr</a:t>
            </a:r>
            <a:r>
              <a:rPr lang="de-CH" sz="1400" dirty="0">
                <a:solidFill>
                  <a:srgbClr val="000000"/>
                </a:solidFill>
                <a:highlight>
                  <a:srgbClr val="FFFFFF"/>
                </a:highlight>
                <a:latin typeface="Cascadia Mono" panose="020B0609020000020004" pitchFamily="49" charset="0"/>
              </a:rPr>
              <a:t>;</a:t>
            </a:r>
          </a:p>
          <a:p>
            <a:pPr lvl="1"/>
            <a:endParaRPr lang="ru-RU" sz="1400" dirty="0">
              <a:solidFill>
                <a:srgbClr val="000000"/>
              </a:solidFill>
              <a:highlight>
                <a:srgbClr val="FFFFFF"/>
              </a:highlight>
              <a:latin typeface="Cascadia Mono" panose="020B0609020000020004" pitchFamily="49" charset="0"/>
            </a:endParaRPr>
          </a:p>
          <a:p>
            <a:pPr lvl="1"/>
            <a:r>
              <a:rPr lang="ru-RU" sz="1400" dirty="0">
                <a:solidFill>
                  <a:srgbClr val="000000"/>
                </a:solidFill>
                <a:highlight>
                  <a:srgbClr val="FFFFFF"/>
                </a:highlight>
                <a:latin typeface="Cascadia Mono" panose="020B0609020000020004" pitchFamily="49" charset="0"/>
              </a:rPr>
              <a:t>    p1 = </a:t>
            </a:r>
            <a:r>
              <a:rPr lang="ru-RU" sz="1400" dirty="0" err="1">
                <a:solidFill>
                  <a:srgbClr val="0000FF"/>
                </a:solidFill>
                <a:highlight>
                  <a:srgbClr val="FFFFFF"/>
                </a:highlight>
                <a:latin typeface="Cascadia Mono" panose="020B0609020000020004" pitchFamily="49" charset="0"/>
              </a:rPr>
              <a:t>new</a:t>
            </a:r>
            <a:r>
              <a:rPr lang="ru-RU" sz="1400" dirty="0">
                <a:solidFill>
                  <a:srgbClr val="000000"/>
                </a:solidFill>
                <a:highlight>
                  <a:srgbClr val="FFFFFF"/>
                </a:highlight>
                <a:latin typeface="Cascadia Mono" panose="020B0609020000020004" pitchFamily="49" charset="0"/>
              </a:rPr>
              <a:t> </a:t>
            </a:r>
            <a:r>
              <a:rPr lang="ru-RU" sz="1400" dirty="0">
                <a:solidFill>
                  <a:srgbClr val="0000FF"/>
                </a:solidFill>
                <a:highlight>
                  <a:srgbClr val="FFFFFF"/>
                </a:highlight>
                <a:latin typeface="Cascadia Mono" panose="020B0609020000020004" pitchFamily="49" charset="0"/>
              </a:rPr>
              <a:t>int</a:t>
            </a:r>
            <a:r>
              <a:rPr lang="ru-RU" sz="1400" dirty="0">
                <a:solidFill>
                  <a:srgbClr val="000000"/>
                </a:solidFill>
                <a:highlight>
                  <a:srgbClr val="FFFFFF"/>
                </a:highlight>
                <a:latin typeface="Cascadia Mono" panose="020B0609020000020004" pitchFamily="49" charset="0"/>
              </a:rPr>
              <a:t>{ 11 };   </a:t>
            </a:r>
            <a:r>
              <a:rPr lang="ru-RU" sz="1400" dirty="0">
                <a:solidFill>
                  <a:srgbClr val="008000"/>
                </a:solidFill>
                <a:highlight>
                  <a:srgbClr val="FFFFFF"/>
                </a:highlight>
                <a:latin typeface="Cascadia Mono" panose="020B0609020000020004" pitchFamily="49" charset="0"/>
              </a:rPr>
              <a:t>// p1 указывает на новый объект</a:t>
            </a:r>
            <a:endParaRPr lang="ru-RU" sz="1400" dirty="0">
              <a:solidFill>
                <a:srgbClr val="000000"/>
              </a:solidFill>
              <a:highlight>
                <a:srgbClr val="FFFFFF"/>
              </a:highlight>
              <a:latin typeface="Cascadia Mono" panose="020B0609020000020004" pitchFamily="49" charset="0"/>
            </a:endParaRPr>
          </a:p>
          <a:p>
            <a:pPr lvl="1"/>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cout</a:t>
            </a:r>
            <a:r>
              <a:rPr lang="en-US" sz="1400" dirty="0">
                <a:solidFill>
                  <a:srgbClr val="000000"/>
                </a:solidFill>
                <a:highlight>
                  <a:srgbClr val="FFFFFF"/>
                </a:highlight>
                <a:latin typeface="Cascadia Mono" panose="020B0609020000020004" pitchFamily="49" charset="0"/>
              </a:rPr>
              <a:t>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*p1 </a:t>
            </a:r>
            <a:r>
              <a:rPr lang="en-US" sz="1400" dirty="0">
                <a:solidFill>
                  <a:srgbClr val="008080"/>
                </a:solidFill>
                <a:highlight>
                  <a:srgbClr val="FFFFFF"/>
                </a:highlight>
                <a:latin typeface="Cascadia Mono" panose="020B0609020000020004" pitchFamily="49" charset="0"/>
              </a:rPr>
              <a:t>&lt;&lt;</a:t>
            </a:r>
            <a:r>
              <a:rPr lang="en-US" sz="1400" dirty="0">
                <a:solidFill>
                  <a:srgbClr val="000000"/>
                </a:solidFill>
                <a:highlight>
                  <a:srgbClr val="FFFFFF"/>
                </a:highlight>
                <a:latin typeface="Cascadia Mono" panose="020B0609020000020004" pitchFamily="49" charset="0"/>
              </a:rPr>
              <a:t> std::</a:t>
            </a:r>
            <a:r>
              <a:rPr lang="en-US" sz="1400" dirty="0" err="1">
                <a:solidFill>
                  <a:srgbClr val="000000"/>
                </a:solidFill>
                <a:highlight>
                  <a:srgbClr val="FFFFFF"/>
                </a:highlight>
                <a:latin typeface="Cascadia Mono" panose="020B0609020000020004" pitchFamily="49" charset="0"/>
              </a:rPr>
              <a:t>endl</a:t>
            </a:r>
            <a:r>
              <a:rPr lang="en-US" sz="1400" dirty="0">
                <a:solidFill>
                  <a:srgbClr val="000000"/>
                </a:solidFill>
                <a:highlight>
                  <a:srgbClr val="FFFFFF"/>
                </a:highlight>
                <a:latin typeface="Cascadia Mono" panose="020B0609020000020004" pitchFamily="49" charset="0"/>
              </a:rPr>
              <a:t>;  </a:t>
            </a:r>
            <a:r>
              <a:rPr lang="en-US" sz="1400" dirty="0">
                <a:solidFill>
                  <a:srgbClr val="008000"/>
                </a:solidFill>
                <a:highlight>
                  <a:srgbClr val="FFFFFF"/>
                </a:highlight>
                <a:latin typeface="Cascadia Mono" panose="020B0609020000020004" pitchFamily="49" charset="0"/>
              </a:rPr>
              <a:t>// 11</a:t>
            </a:r>
            <a:endParaRPr lang="en-US" sz="1400" dirty="0">
              <a:solidFill>
                <a:srgbClr val="000000"/>
              </a:solidFill>
              <a:highlight>
                <a:srgbClr val="FFFFFF"/>
              </a:highlight>
              <a:latin typeface="Cascadia Mono" panose="020B0609020000020004" pitchFamily="49" charset="0"/>
            </a:endParaRPr>
          </a:p>
          <a:p>
            <a:pPr lvl="1"/>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delete</a:t>
            </a:r>
            <a:r>
              <a:rPr lang="de-CH" sz="1400" dirty="0">
                <a:solidFill>
                  <a:srgbClr val="000000"/>
                </a:solidFill>
                <a:highlight>
                  <a:srgbClr val="FFFFFF"/>
                </a:highlight>
                <a:latin typeface="Cascadia Mono" panose="020B0609020000020004" pitchFamily="49" charset="0"/>
              </a:rPr>
              <a:t> p1;</a:t>
            </a:r>
          </a:p>
          <a:p>
            <a:pPr lvl="1"/>
            <a:r>
              <a:rPr lang="ru-RU" sz="1400" dirty="0">
                <a:solidFill>
                  <a:srgbClr val="000000"/>
                </a:solidFill>
                <a:highlight>
                  <a:srgbClr val="FFFFFF"/>
                </a:highlight>
                <a:latin typeface="Cascadia Mono" panose="020B0609020000020004" pitchFamily="49" charset="0"/>
              </a:rPr>
              <a:t>}</a:t>
            </a:r>
            <a:endParaRPr lang="ru-RU" sz="1400" dirty="0"/>
          </a:p>
        </p:txBody>
      </p:sp>
    </p:spTree>
    <p:extLst>
      <p:ext uri="{BB962C8B-B14F-4D97-AF65-F5344CB8AC3E}">
        <p14:creationId xmlns:p14="http://schemas.microsoft.com/office/powerpoint/2010/main" val="1643872462"/>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4CEFC4-4325-26A4-7842-DB3D5180BA61}"/>
              </a:ext>
            </a:extLst>
          </p:cNvPr>
          <p:cNvSpPr>
            <a:spLocks noGrp="1"/>
          </p:cNvSpPr>
          <p:nvPr>
            <p:ph type="title"/>
          </p:nvPr>
        </p:nvSpPr>
        <p:spPr/>
        <p:txBody>
          <a:bodyPr/>
          <a:lstStyle/>
          <a:p>
            <a:r>
              <a:rPr lang="ru-RU" b="1" dirty="0"/>
              <a:t>Динамические массивы</a:t>
            </a:r>
          </a:p>
        </p:txBody>
      </p:sp>
      <p:sp>
        <p:nvSpPr>
          <p:cNvPr id="3" name="Объект 2">
            <a:extLst>
              <a:ext uri="{FF2B5EF4-FFF2-40B4-BE49-F238E27FC236}">
                <a16:creationId xmlns:a16="http://schemas.microsoft.com/office/drawing/2014/main" id="{9E11092E-C5B6-CBFF-AB6C-037F792F574F}"/>
              </a:ext>
            </a:extLst>
          </p:cNvPr>
          <p:cNvSpPr>
            <a:spLocks noGrp="1"/>
          </p:cNvSpPr>
          <p:nvPr>
            <p:ph idx="1"/>
          </p:nvPr>
        </p:nvSpPr>
        <p:spPr/>
        <p:txBody>
          <a:bodyPr/>
          <a:lstStyle/>
          <a:p>
            <a:r>
              <a:rPr lang="ru-RU" b="1" dirty="0"/>
              <a:t>Динамические массивы</a:t>
            </a:r>
          </a:p>
          <a:p>
            <a:r>
              <a:rPr lang="ru-RU" dirty="0"/>
              <a:t>Кроме отдельных динамических объектов в языке C++ мы можем использовать динамические массивы. Для выделения памяти под динамический массив также используется оператор </a:t>
            </a:r>
            <a:r>
              <a:rPr lang="ru-RU" b="1" dirty="0" err="1"/>
              <a:t>new</a:t>
            </a:r>
            <a:r>
              <a:rPr lang="ru-RU" dirty="0"/>
              <a:t>, после которого в квадратных скобках указывается, сколько массив будет содержать объектов:</a:t>
            </a:r>
            <a:endParaRPr lang="en-US" dirty="0"/>
          </a:p>
          <a:p>
            <a:endParaRPr lang="en-US" dirty="0"/>
          </a:p>
          <a:p>
            <a:endParaRPr lang="ru-RU" sz="2000"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numbers</a:t>
            </a:r>
            <a:r>
              <a:rPr lang="ru-RU" dirty="0">
                <a:solidFill>
                  <a:srgbClr val="000000"/>
                </a:solidFill>
                <a:highlight>
                  <a:srgbClr val="FFFFFF"/>
                </a:highlight>
                <a:latin typeface="Cascadia Mono" panose="020B0609020000020004" pitchFamily="49" charset="0"/>
              </a:rPr>
              <a:t>{ </a:t>
            </a:r>
            <a:r>
              <a:rPr lang="ru-RU" dirty="0" err="1">
                <a:solidFill>
                  <a:srgbClr val="0000FF"/>
                </a:solidFill>
                <a:highlight>
                  <a:srgbClr val="FFFFFF"/>
                </a:highlight>
                <a:latin typeface="Cascadia Mono" panose="020B0609020000020004" pitchFamily="49" charset="0"/>
              </a:rPr>
              <a:t>new</a:t>
            </a:r>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[4] }; </a:t>
            </a:r>
            <a:r>
              <a:rPr lang="ru-RU" dirty="0">
                <a:solidFill>
                  <a:srgbClr val="008000"/>
                </a:solidFill>
                <a:highlight>
                  <a:srgbClr val="FFFFFF"/>
                </a:highlight>
                <a:latin typeface="Cascadia Mono" panose="020B0609020000020004" pitchFamily="49" charset="0"/>
              </a:rPr>
              <a:t>// динамический массив из 4 </a:t>
            </a:r>
            <a:r>
              <a:rPr lang="en-US"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чисел</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или так</a:t>
            </a:r>
            <a:endParaRPr lang="ru-RU"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int *numbers = new int[4];</a:t>
            </a:r>
          </a:p>
          <a:p>
            <a:pPr lvl="1"/>
            <a:endParaRPr lang="en-US" dirty="0">
              <a:solidFill>
                <a:srgbClr val="008000"/>
              </a:solidFill>
              <a:highlight>
                <a:srgbClr val="FFFFFF"/>
              </a:highlight>
              <a:latin typeface="Cascadia Mono" panose="020B0609020000020004" pitchFamily="49" charset="0"/>
            </a:endParaRPr>
          </a:p>
          <a:p>
            <a:r>
              <a:rPr lang="ru-RU" dirty="0"/>
              <a:t>Причем в этом случае оператор </a:t>
            </a:r>
            <a:r>
              <a:rPr lang="ru-RU" dirty="0" err="1"/>
              <a:t>new</a:t>
            </a:r>
            <a:r>
              <a:rPr lang="ru-RU" dirty="0"/>
              <a:t> также возвращает указатель на объект типа int - первый элемент в созданном массиве.</a:t>
            </a:r>
            <a:endParaRPr lang="en-US" dirty="0">
              <a:solidFill>
                <a:srgbClr val="008000"/>
              </a:solidFill>
              <a:highlight>
                <a:srgbClr val="FFFFFF"/>
              </a:highlight>
              <a:latin typeface="Cascadia Mono" panose="020B0609020000020004" pitchFamily="49" charset="0"/>
            </a:endParaRPr>
          </a:p>
        </p:txBody>
      </p:sp>
    </p:spTree>
    <p:extLst>
      <p:ext uri="{BB962C8B-B14F-4D97-AF65-F5344CB8AC3E}">
        <p14:creationId xmlns:p14="http://schemas.microsoft.com/office/powerpoint/2010/main" val="2724915715"/>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FA00-10A0-040A-92B9-AC482734A40D}"/>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B68322FB-A395-A592-D134-2E9030DE40AC}"/>
              </a:ext>
            </a:extLst>
          </p:cNvPr>
          <p:cNvSpPr>
            <a:spLocks noGrp="1"/>
          </p:cNvSpPr>
          <p:nvPr>
            <p:ph idx="1"/>
          </p:nvPr>
        </p:nvSpPr>
        <p:spPr/>
        <p:txBody>
          <a:bodyPr/>
          <a:lstStyle/>
          <a:p>
            <a:endParaRPr lang="en-US" dirty="0"/>
          </a:p>
          <a:p>
            <a:endParaRPr lang="en-US" dirty="0"/>
          </a:p>
          <a:p>
            <a:pPr lvl="1"/>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numbers1{ </a:t>
            </a:r>
            <a:r>
              <a:rPr lang="ru-RU" dirty="0" err="1">
                <a:solidFill>
                  <a:srgbClr val="0000FF"/>
                </a:solidFill>
                <a:highlight>
                  <a:srgbClr val="FFFFFF"/>
                </a:highlight>
                <a:latin typeface="Cascadia Mono" panose="020B0609020000020004" pitchFamily="49" charset="0"/>
              </a:rPr>
              <a:t>new</a:t>
            </a:r>
            <a:r>
              <a:rPr lang="ru-RU" dirty="0">
                <a:solidFill>
                  <a:srgbClr val="000000"/>
                </a:solidFill>
                <a:highlight>
                  <a:srgbClr val="FFFFFF"/>
                </a:highlight>
                <a:latin typeface="Cascadia Mono" panose="020B0609020000020004" pitchFamily="49" charset="0"/>
              </a:rPr>
              <a:t> </a:t>
            </a:r>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[4] {} };               </a:t>
            </a:r>
            <a:r>
              <a:rPr lang="ru-RU" dirty="0">
                <a:solidFill>
                  <a:srgbClr val="008000"/>
                </a:solidFill>
                <a:highlight>
                  <a:srgbClr val="FFFFFF"/>
                </a:highlight>
                <a:latin typeface="Cascadia Mono" panose="020B0609020000020004" pitchFamily="49" charset="0"/>
              </a:rPr>
              <a:t>// массив состоит из чисел 0, 0, 0, 0</a:t>
            </a:r>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numbers2{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[4] { 1, 2, 3, 4 } };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массив состоит из чисел 1, 2, 3, 4</a:t>
            </a:r>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numbers3{ </a:t>
            </a:r>
            <a:r>
              <a:rPr lang="de-CH" dirty="0" err="1">
                <a:solidFill>
                  <a:srgbClr val="0000FF"/>
                </a:solidFill>
                <a:highlight>
                  <a:srgbClr val="FFFFFF"/>
                </a:highlight>
                <a:latin typeface="Cascadia Mono" panose="020B0609020000020004" pitchFamily="49" charset="0"/>
              </a:rPr>
              <a:t>new</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[4] { 1, 2 } };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массив состоит из чисел 1, 2, 0, 0</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аналогичные определения массивов</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int *numbers1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int[4]{};             // массив состоит из чисел 0, 0, 0, 0</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int *numbers1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int[4]();             // массив состоит из чисел 0, 0, 0, 0</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int *numbers2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int[4]{ 1, 2, 3, 4 }; // массив состоит из чисел 1, 2, 3, 4</a:t>
            </a:r>
            <a:endParaRPr lang="ru-RU"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int *numbers3 = </a:t>
            </a:r>
            <a:r>
              <a:rPr lang="ru-RU" dirty="0" err="1">
                <a:solidFill>
                  <a:srgbClr val="008000"/>
                </a:solidFill>
                <a:highlight>
                  <a:srgbClr val="FFFFFF"/>
                </a:highlight>
                <a:latin typeface="Cascadia Mono" panose="020B0609020000020004" pitchFamily="49" charset="0"/>
              </a:rPr>
              <a:t>new</a:t>
            </a:r>
            <a:r>
              <a:rPr lang="ru-RU" dirty="0">
                <a:solidFill>
                  <a:srgbClr val="008000"/>
                </a:solidFill>
                <a:highlight>
                  <a:srgbClr val="FFFFFF"/>
                </a:highlight>
                <a:latin typeface="Cascadia Mono" panose="020B0609020000020004" pitchFamily="49" charset="0"/>
              </a:rPr>
              <a:t> int[4]{ 1, 2 };       // массив состоит из чисел 1, 2, 0, 0</a:t>
            </a:r>
            <a:endParaRPr lang="ru-RU" dirty="0"/>
          </a:p>
        </p:txBody>
      </p:sp>
    </p:spTree>
    <p:extLst>
      <p:ext uri="{BB962C8B-B14F-4D97-AF65-F5344CB8AC3E}">
        <p14:creationId xmlns:p14="http://schemas.microsoft.com/office/powerpoint/2010/main" val="3828326997"/>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D5C860-B5DA-E87E-7291-DDB92AA78756}"/>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DA0DB15D-FD49-34D4-7855-F332FE83C1E5}"/>
              </a:ext>
            </a:extLst>
          </p:cNvPr>
          <p:cNvSpPr>
            <a:spLocks noGrp="1"/>
          </p:cNvSpPr>
          <p:nvPr>
            <p:ph idx="1"/>
          </p:nvPr>
        </p:nvSpPr>
        <p:spPr/>
        <p:txBody>
          <a:bodyPr/>
          <a:lstStyle/>
          <a:p>
            <a:r>
              <a:rPr lang="ru-RU" dirty="0"/>
              <a:t>При инициализации массива конкретными значениями следует учитывать, что если значений в фигурных скобках больше чем длина массива, то оператор </a:t>
            </a:r>
            <a:r>
              <a:rPr lang="ru-RU" dirty="0" err="1"/>
              <a:t>new</a:t>
            </a:r>
            <a:r>
              <a:rPr lang="ru-RU" dirty="0"/>
              <a:t> потерпит неудачу и не сможет создать массив. Если переданных значений, наоборот, меньше, то элементы, для которых не предоставлены значения, инициализируются значением по умолчанию.</a:t>
            </a:r>
            <a:endParaRPr lang="en-US" dirty="0"/>
          </a:p>
          <a:p>
            <a:endParaRPr lang="en-US" dirty="0"/>
          </a:p>
          <a:p>
            <a:r>
              <a:rPr lang="ru-RU" dirty="0"/>
              <a:t>Стоит отметить, что в стандарт С++20 добавлена возможность выведения размера массива, поэтому, если применяется стандарт С++20, то можно не указывать длину массива:</a:t>
            </a:r>
            <a:endParaRPr lang="en-US" dirty="0"/>
          </a:p>
          <a:p>
            <a:endParaRPr lang="en-US" dirty="0"/>
          </a:p>
          <a:p>
            <a:r>
              <a:rPr lang="ru-RU" b="1" dirty="0"/>
              <a:t>int</a:t>
            </a:r>
            <a:r>
              <a:rPr lang="ru-RU" dirty="0"/>
              <a:t> *</a:t>
            </a:r>
            <a:r>
              <a:rPr lang="ru-RU" dirty="0" err="1"/>
              <a:t>numbers</a:t>
            </a:r>
            <a:r>
              <a:rPr lang="ru-RU" dirty="0"/>
              <a:t> {</a:t>
            </a:r>
            <a:r>
              <a:rPr lang="ru-RU" b="1" dirty="0" err="1"/>
              <a:t>new</a:t>
            </a:r>
            <a:r>
              <a:rPr lang="ru-RU" dirty="0"/>
              <a:t> </a:t>
            </a:r>
            <a:r>
              <a:rPr lang="ru-RU" b="1" dirty="0"/>
              <a:t>int</a:t>
            </a:r>
            <a:r>
              <a:rPr lang="ru-RU" dirty="0"/>
              <a:t>[]{ 1, 2, 3, 4 }}; // массив состоит из чисел 1, 2, 3, 4</a:t>
            </a:r>
          </a:p>
        </p:txBody>
      </p:sp>
    </p:spTree>
    <p:extLst>
      <p:ext uri="{BB962C8B-B14F-4D97-AF65-F5344CB8AC3E}">
        <p14:creationId xmlns:p14="http://schemas.microsoft.com/office/powerpoint/2010/main" val="3682175675"/>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29CD28-B817-5367-3895-F3A2AD962B81}"/>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31DCDF7D-9F2E-C7C1-BCE1-46EB2B886FF4}"/>
              </a:ext>
            </a:extLst>
          </p:cNvPr>
          <p:cNvSpPr>
            <a:spLocks noGrp="1"/>
          </p:cNvSpPr>
          <p:nvPr>
            <p:ph idx="1"/>
          </p:nvPr>
        </p:nvSpPr>
        <p:spPr/>
        <p:txBody>
          <a:bodyPr/>
          <a:lstStyle/>
          <a:p>
            <a:r>
              <a:rPr lang="ru-RU" dirty="0"/>
              <a:t>После создания динамического массива мы сможем с ним работать по полученному указателю, получать и изменять его элементы:</a:t>
            </a: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 numbers{ </a:t>
            </a:r>
            <a:r>
              <a:rPr lang="en-US" dirty="0">
                <a:solidFill>
                  <a:srgbClr val="0000FF"/>
                </a:solidFill>
                <a:highlight>
                  <a:srgbClr val="FFFFFF"/>
                </a:highlight>
                <a:latin typeface="Cascadia Mono" panose="020B0609020000020004" pitchFamily="49" charset="0"/>
              </a:rPr>
              <a:t>new</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int</a:t>
            </a:r>
            <a:r>
              <a:rPr lang="en-US" dirty="0">
                <a:solidFill>
                  <a:srgbClr val="000000"/>
                </a:solidFill>
                <a:highlight>
                  <a:srgbClr val="FFFFFF"/>
                </a:highlight>
                <a:latin typeface="Cascadia Mono" panose="020B0609020000020004" pitchFamily="49" charset="0"/>
              </a:rPr>
              <a:t>[4] { 1, 2, 3, 4 } };</a:t>
            </a:r>
          </a:p>
          <a:p>
            <a:pPr lvl="1"/>
            <a:endParaRPr lang="ru-RU" dirty="0">
              <a:solidFill>
                <a:srgbClr val="000000"/>
              </a:solidFill>
              <a:highlight>
                <a:srgbClr val="FFFFFF"/>
              </a:highlight>
              <a:latin typeface="Cascadia Mono" panose="020B0609020000020004" pitchFamily="49" charset="0"/>
            </a:endParaRPr>
          </a:p>
          <a:p>
            <a:pPr lvl="1"/>
            <a:r>
              <a:rPr lang="ru-RU" dirty="0">
                <a:solidFill>
                  <a:srgbClr val="008000"/>
                </a:solidFill>
                <a:highlight>
                  <a:srgbClr val="FFFFFF"/>
                </a:highlight>
                <a:latin typeface="Cascadia Mono" panose="020B0609020000020004" pitchFamily="49" charset="0"/>
              </a:rPr>
              <a:t>// получение элементов через синтаксис массивов</a:t>
            </a:r>
            <a:endParaRPr lang="ru-RU"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numbers[0]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1</a:t>
            </a:r>
            <a:endParaRPr lang="en-US"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numbers[1]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2</a:t>
            </a:r>
            <a:endParaRPr lang="en-US"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ru-RU" dirty="0">
                <a:solidFill>
                  <a:srgbClr val="008000"/>
                </a:solidFill>
                <a:highlight>
                  <a:srgbClr val="FFFFFF"/>
                </a:highlight>
                <a:latin typeface="Cascadia Mono" panose="020B0609020000020004" pitchFamily="49" charset="0"/>
              </a:rPr>
              <a:t>// получение элементов через операцию разыменования</a:t>
            </a:r>
            <a:endParaRPr lang="ru-RU"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*numbers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1</a:t>
            </a:r>
            <a:endParaRPr lang="en-US"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*(numbers + 1)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2</a:t>
            </a:r>
            <a:endParaRPr lang="en-US"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Delete </a:t>
            </a:r>
            <a:r>
              <a:rPr lang="en-US" dirty="0">
                <a:solidFill>
                  <a:srgbClr val="0000FF"/>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numbers</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79499877"/>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006EFF-0D9C-19AC-1C00-709F972FE9DB}"/>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C9166732-3C1A-E240-C464-1DBEEDA66010}"/>
              </a:ext>
            </a:extLst>
          </p:cNvPr>
          <p:cNvSpPr>
            <a:spLocks noGrp="1"/>
          </p:cNvSpPr>
          <p:nvPr>
            <p:ph idx="1"/>
          </p:nvPr>
        </p:nvSpPr>
        <p:spPr/>
        <p:txBody>
          <a:bodyPr/>
          <a:lstStyle/>
          <a:p>
            <a:r>
              <a:rPr lang="ru-RU" dirty="0"/>
              <a:t>Причем для доступа к элементам динамического массива можно использовать как синтаксис массивов (</a:t>
            </a:r>
            <a:r>
              <a:rPr lang="ru-RU" dirty="0" err="1"/>
              <a:t>numbers</a:t>
            </a:r>
            <a:r>
              <a:rPr lang="ru-RU" dirty="0"/>
              <a:t>[0]), так и операцию разыменования (*</a:t>
            </a:r>
            <a:r>
              <a:rPr lang="ru-RU" dirty="0" err="1"/>
              <a:t>numbers</a:t>
            </a:r>
            <a:r>
              <a:rPr lang="ru-RU" dirty="0"/>
              <a:t>)</a:t>
            </a:r>
          </a:p>
          <a:p>
            <a:r>
              <a:rPr lang="ru-RU" dirty="0"/>
              <a:t>Соответственно для перебора такого массива можно использовать различные способы:</a:t>
            </a:r>
          </a:p>
          <a:p>
            <a:endParaRPr lang="ru-RU" dirty="0"/>
          </a:p>
        </p:txBody>
      </p:sp>
    </p:spTree>
    <p:extLst>
      <p:ext uri="{BB962C8B-B14F-4D97-AF65-F5344CB8AC3E}">
        <p14:creationId xmlns:p14="http://schemas.microsoft.com/office/powerpoint/2010/main" val="4227846133"/>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9A4A63-888A-2FD3-4613-4005C0ECC314}"/>
              </a:ext>
            </a:extLst>
          </p:cNvPr>
          <p:cNvSpPr>
            <a:spLocks noGrp="1"/>
          </p:cNvSpPr>
          <p:nvPr>
            <p:ph type="title"/>
          </p:nvPr>
        </p:nvSpPr>
        <p:spPr/>
        <p:txBody>
          <a:bodyPr/>
          <a:lstStyle/>
          <a:p>
            <a:r>
              <a:rPr lang="ru-RU" b="1" dirty="0"/>
              <a:t>Динамические массивы</a:t>
            </a:r>
            <a:endParaRPr lang="ru-RU" dirty="0"/>
          </a:p>
        </p:txBody>
      </p:sp>
      <p:sp>
        <p:nvSpPr>
          <p:cNvPr id="3" name="Объект 2">
            <a:extLst>
              <a:ext uri="{FF2B5EF4-FFF2-40B4-BE49-F238E27FC236}">
                <a16:creationId xmlns:a16="http://schemas.microsoft.com/office/drawing/2014/main" id="{DDB62178-9203-7F20-78E0-10099AF83127}"/>
              </a:ext>
            </a:extLst>
          </p:cNvPr>
          <p:cNvSpPr>
            <a:spLocks noGrp="1"/>
          </p:cNvSpPr>
          <p:nvPr>
            <p:ph idx="1"/>
          </p:nvPr>
        </p:nvSpPr>
        <p:spPr/>
        <p:txBody>
          <a:bodyPr/>
          <a:lstStyle/>
          <a:p>
            <a:r>
              <a:rPr lang="de-CH" sz="1050" dirty="0">
                <a:solidFill>
                  <a:srgbClr val="0000FF"/>
                </a:solidFill>
                <a:highlight>
                  <a:srgbClr val="FFFFFF"/>
                </a:highlight>
                <a:latin typeface="Cascadia Mono" panose="020B0609020000020004" pitchFamily="49" charset="0"/>
              </a:rPr>
              <a:t>int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main</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r>
              <a:rPr lang="ru-RU" sz="1050" dirty="0" err="1">
                <a:solidFill>
                  <a:srgbClr val="0000FF"/>
                </a:solidFill>
                <a:highlight>
                  <a:srgbClr val="FFFFFF"/>
                </a:highlight>
                <a:latin typeface="Cascadia Mono" panose="020B0609020000020004" pitchFamily="49" charset="0"/>
              </a:rPr>
              <a:t>unsigned</a:t>
            </a:r>
            <a:r>
              <a:rPr lang="ru-RU" sz="1050" dirty="0">
                <a:solidFill>
                  <a:srgbClr val="000000"/>
                </a:solidFill>
                <a:highlight>
                  <a:srgbClr val="FFFFFF"/>
                </a:highlight>
                <a:latin typeface="Cascadia Mono" panose="020B0609020000020004" pitchFamily="49" charset="0"/>
              </a:rPr>
              <a:t> n{ 5 };  </a:t>
            </a:r>
            <a:r>
              <a:rPr lang="ru-RU" sz="1050" dirty="0">
                <a:solidFill>
                  <a:srgbClr val="008000"/>
                </a:solidFill>
                <a:highlight>
                  <a:srgbClr val="FFFFFF"/>
                </a:highlight>
                <a:latin typeface="Cascadia Mono" panose="020B0609020000020004" pitchFamily="49" charset="0"/>
              </a:rPr>
              <a:t>// размер массива</a:t>
            </a:r>
            <a:endParaRPr lang="ru-RU"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 p{ </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[n] { 1, 2, 3, 4, 5 } };</a:t>
            </a:r>
          </a:p>
          <a:p>
            <a:endParaRPr lang="ru-RU"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a:solidFill>
                  <a:srgbClr val="008000"/>
                </a:solidFill>
                <a:highlight>
                  <a:srgbClr val="FFFFFF"/>
                </a:highlight>
                <a:latin typeface="Cascadia Mono" panose="020B0609020000020004" pitchFamily="49" charset="0"/>
              </a:rPr>
              <a:t>// используем индексы</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for</a:t>
            </a:r>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unsigned</a:t>
            </a:r>
            <a:r>
              <a:rPr lang="de-CH" sz="1050" dirty="0">
                <a:solidFill>
                  <a:srgbClr val="000000"/>
                </a:solidFill>
                <a:highlight>
                  <a:srgbClr val="FFFFFF"/>
                </a:highlight>
                <a:latin typeface="Cascadia Mono" panose="020B0609020000020004" pitchFamily="49" charset="0"/>
              </a:rPr>
              <a:t> i{}; i &lt; n; i++)</a:t>
            </a:r>
          </a:p>
          <a:p>
            <a:r>
              <a:rPr lang="ru-RU" sz="1050" dirty="0">
                <a:solidFill>
                  <a:srgbClr val="000000"/>
                </a:solidFill>
                <a:highlight>
                  <a:srgbClr val="FFFFFF"/>
                </a:highlight>
                <a:latin typeface="Cascadia Mono" panose="020B0609020000020004" pitchFamily="49" charset="0"/>
              </a:rPr>
              <a:t>    {</a:t>
            </a:r>
          </a:p>
          <a:p>
            <a:r>
              <a:rPr lang="fr-FR" sz="1050" dirty="0">
                <a:solidFill>
                  <a:srgbClr val="000000"/>
                </a:solidFill>
                <a:highlight>
                  <a:srgbClr val="FFFFFF"/>
                </a:highlight>
                <a:latin typeface="Cascadia Mono" panose="020B0609020000020004" pitchFamily="49" charset="0"/>
              </a:rPr>
              <a:t>        std::cout </a:t>
            </a:r>
            <a:r>
              <a:rPr lang="fr-FR" sz="1050" dirty="0">
                <a:solidFill>
                  <a:srgbClr val="008080"/>
                </a:solidFill>
                <a:highlight>
                  <a:srgbClr val="FFFFFF"/>
                </a:highlight>
                <a:latin typeface="Cascadia Mono" panose="020B0609020000020004" pitchFamily="49" charset="0"/>
              </a:rPr>
              <a:t>&lt;&lt;</a:t>
            </a:r>
            <a:r>
              <a:rPr lang="fr-FR" sz="1050" dirty="0">
                <a:solidFill>
                  <a:srgbClr val="000000"/>
                </a:solidFill>
                <a:highlight>
                  <a:srgbClr val="FFFFFF"/>
                </a:highlight>
                <a:latin typeface="Cascadia Mono" panose="020B0609020000020004" pitchFamily="49" charset="0"/>
              </a:rPr>
              <a:t> p[i] </a:t>
            </a:r>
            <a:r>
              <a:rPr lang="fr-FR" sz="1050" dirty="0">
                <a:solidFill>
                  <a:srgbClr val="008080"/>
                </a:solidFill>
                <a:highlight>
                  <a:srgbClr val="FFFFFF"/>
                </a:highlight>
                <a:latin typeface="Cascadia Mono" panose="020B0609020000020004" pitchFamily="49" charset="0"/>
              </a:rPr>
              <a:t>&lt;&lt;</a:t>
            </a:r>
            <a:r>
              <a:rPr lang="fr-FR" sz="1050" dirty="0">
                <a:solidFill>
                  <a:srgbClr val="000000"/>
                </a:solidFill>
                <a:highlight>
                  <a:srgbClr val="FFFFFF"/>
                </a:highlight>
                <a:latin typeface="Cascadia Mono" panose="020B0609020000020004" pitchFamily="49" charset="0"/>
              </a:rPr>
              <a:t> </a:t>
            </a:r>
            <a:r>
              <a:rPr lang="fr-FR" sz="1050" dirty="0">
                <a:solidFill>
                  <a:srgbClr val="A31515"/>
                </a:solidFill>
                <a:highlight>
                  <a:srgbClr val="FFFFFF"/>
                </a:highlight>
                <a:latin typeface="Cascadia Mono" panose="020B0609020000020004" pitchFamily="49" charset="0"/>
              </a:rPr>
              <a:t>"\t"</a:t>
            </a:r>
            <a:r>
              <a:rPr lang="fr-FR"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cout</a:t>
            </a:r>
            <a:r>
              <a:rPr lang="de-CH" sz="1050" dirty="0">
                <a:solidFill>
                  <a:srgbClr val="000000"/>
                </a:solidFill>
                <a:highlight>
                  <a:srgbClr val="FFFFFF"/>
                </a:highlight>
                <a:latin typeface="Cascadia Mono" panose="020B0609020000020004" pitchFamily="49" charset="0"/>
              </a:rPr>
              <a:t>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endl</a:t>
            </a:r>
            <a:r>
              <a:rPr lang="de-CH" sz="1050" dirty="0">
                <a:solidFill>
                  <a:srgbClr val="000000"/>
                </a:solidFill>
                <a:highlight>
                  <a:srgbClr val="FFFFFF"/>
                </a:highlight>
                <a:latin typeface="Cascadia Mono" panose="020B0609020000020004" pitchFamily="49" charset="0"/>
              </a:rPr>
              <a:t>;</a:t>
            </a:r>
          </a:p>
          <a:p>
            <a:endParaRPr lang="ru-RU"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a:solidFill>
                  <a:srgbClr val="008000"/>
                </a:solidFill>
                <a:highlight>
                  <a:srgbClr val="FFFFFF"/>
                </a:highlight>
                <a:latin typeface="Cascadia Mono" panose="020B0609020000020004" pitchFamily="49" charset="0"/>
              </a:rPr>
              <a:t>// добавляем к адресу в указателе смещение</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for</a:t>
            </a:r>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unsigned</a:t>
            </a:r>
            <a:r>
              <a:rPr lang="de-CH" sz="1050" dirty="0">
                <a:solidFill>
                  <a:srgbClr val="000000"/>
                </a:solidFill>
                <a:highlight>
                  <a:srgbClr val="FFFFFF"/>
                </a:highlight>
                <a:latin typeface="Cascadia Mono" panose="020B0609020000020004" pitchFamily="49" charset="0"/>
              </a:rPr>
              <a:t> i{}; i &lt; n; i++)</a:t>
            </a:r>
          </a:p>
          <a:p>
            <a:r>
              <a:rPr lang="ru-RU" sz="1050" dirty="0">
                <a:solidFill>
                  <a:srgbClr val="000000"/>
                </a:solidFill>
                <a:highlight>
                  <a:srgbClr val="FFFFFF"/>
                </a:highlight>
                <a:latin typeface="Cascadia Mono" panose="020B0609020000020004" pitchFamily="49" charset="0"/>
              </a:rPr>
              <a:t>    {</a:t>
            </a:r>
          </a:p>
          <a:p>
            <a:r>
              <a:rPr lang="fr-FR" sz="1050" dirty="0">
                <a:solidFill>
                  <a:srgbClr val="000000"/>
                </a:solidFill>
                <a:highlight>
                  <a:srgbClr val="FFFFFF"/>
                </a:highlight>
                <a:latin typeface="Cascadia Mono" panose="020B0609020000020004" pitchFamily="49" charset="0"/>
              </a:rPr>
              <a:t>        std::cout </a:t>
            </a:r>
            <a:r>
              <a:rPr lang="fr-FR" sz="1050" dirty="0">
                <a:solidFill>
                  <a:srgbClr val="008080"/>
                </a:solidFill>
                <a:highlight>
                  <a:srgbClr val="FFFFFF"/>
                </a:highlight>
                <a:latin typeface="Cascadia Mono" panose="020B0609020000020004" pitchFamily="49" charset="0"/>
              </a:rPr>
              <a:t>&lt;&lt;</a:t>
            </a:r>
            <a:r>
              <a:rPr lang="fr-FR" sz="1050" dirty="0">
                <a:solidFill>
                  <a:srgbClr val="000000"/>
                </a:solidFill>
                <a:highlight>
                  <a:srgbClr val="FFFFFF"/>
                </a:highlight>
                <a:latin typeface="Cascadia Mono" panose="020B0609020000020004" pitchFamily="49" charset="0"/>
              </a:rPr>
              <a:t> *(p + i) </a:t>
            </a:r>
            <a:r>
              <a:rPr lang="fr-FR" sz="1050" dirty="0">
                <a:solidFill>
                  <a:srgbClr val="008080"/>
                </a:solidFill>
                <a:highlight>
                  <a:srgbClr val="FFFFFF"/>
                </a:highlight>
                <a:latin typeface="Cascadia Mono" panose="020B0609020000020004" pitchFamily="49" charset="0"/>
              </a:rPr>
              <a:t>&lt;&lt;</a:t>
            </a:r>
            <a:r>
              <a:rPr lang="fr-FR" sz="1050" dirty="0">
                <a:solidFill>
                  <a:srgbClr val="000000"/>
                </a:solidFill>
                <a:highlight>
                  <a:srgbClr val="FFFFFF"/>
                </a:highlight>
                <a:latin typeface="Cascadia Mono" panose="020B0609020000020004" pitchFamily="49" charset="0"/>
              </a:rPr>
              <a:t> </a:t>
            </a:r>
            <a:r>
              <a:rPr lang="fr-FR" sz="1050" dirty="0">
                <a:solidFill>
                  <a:srgbClr val="A31515"/>
                </a:solidFill>
                <a:highlight>
                  <a:srgbClr val="FFFFFF"/>
                </a:highlight>
                <a:latin typeface="Cascadia Mono" panose="020B0609020000020004" pitchFamily="49" charset="0"/>
              </a:rPr>
              <a:t>"\t"</a:t>
            </a:r>
            <a:r>
              <a:rPr lang="fr-FR"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cout</a:t>
            </a:r>
            <a:r>
              <a:rPr lang="de-CH" sz="1050" dirty="0">
                <a:solidFill>
                  <a:srgbClr val="000000"/>
                </a:solidFill>
                <a:highlight>
                  <a:srgbClr val="FFFFFF"/>
                </a:highlight>
                <a:latin typeface="Cascadia Mono" panose="020B0609020000020004" pitchFamily="49" charset="0"/>
              </a:rPr>
              <a:t>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endl</a:t>
            </a:r>
            <a:r>
              <a:rPr lang="de-CH" sz="1050" dirty="0">
                <a:solidFill>
                  <a:srgbClr val="000000"/>
                </a:solidFill>
                <a:highlight>
                  <a:srgbClr val="FFFFFF"/>
                </a:highlight>
                <a:latin typeface="Cascadia Mono" panose="020B0609020000020004" pitchFamily="49" charset="0"/>
              </a:rPr>
              <a:t>;</a:t>
            </a:r>
          </a:p>
          <a:p>
            <a:endParaRPr lang="ru-RU" sz="1050" dirty="0">
              <a:solidFill>
                <a:srgbClr val="000000"/>
              </a:solidFill>
              <a:highlight>
                <a:srgbClr val="FFFFFF"/>
              </a:highlight>
              <a:latin typeface="Cascadia Mono" panose="020B0609020000020004" pitchFamily="49" charset="0"/>
            </a:endParaRPr>
          </a:p>
          <a:p>
            <a:r>
              <a:rPr lang="ru-RU" sz="1050" dirty="0">
                <a:solidFill>
                  <a:srgbClr val="000000"/>
                </a:solidFill>
                <a:highlight>
                  <a:srgbClr val="FFFFFF"/>
                </a:highlight>
                <a:latin typeface="Cascadia Mono" panose="020B0609020000020004" pitchFamily="49" charset="0"/>
              </a:rPr>
              <a:t>    </a:t>
            </a:r>
            <a:r>
              <a:rPr lang="ru-RU" sz="1050" dirty="0">
                <a:solidFill>
                  <a:srgbClr val="008000"/>
                </a:solidFill>
                <a:highlight>
                  <a:srgbClr val="FFFFFF"/>
                </a:highlight>
                <a:latin typeface="Cascadia Mono" panose="020B0609020000020004" pitchFamily="49" charset="0"/>
              </a:rPr>
              <a:t>// проходим по массиву с помощью вспомогательного указателя</a:t>
            </a:r>
            <a:endParaRPr lang="ru-RU" sz="1050" dirty="0">
              <a:solidFill>
                <a:srgbClr val="000000"/>
              </a:solidFill>
              <a:highlight>
                <a:srgbClr val="FFFFFF"/>
              </a:highlight>
              <a:latin typeface="Cascadia Mono" panose="020B0609020000020004" pitchFamily="49" charset="0"/>
            </a:endParaRPr>
          </a:p>
          <a:p>
            <a:r>
              <a:rPr lang="de-CH" sz="1050" dirty="0">
                <a:solidFill>
                  <a:srgbClr val="000000"/>
                </a:solidFill>
                <a:highlight>
                  <a:srgbClr val="FFFFFF"/>
                </a:highlight>
                <a:latin typeface="Cascadia Mono" panose="020B0609020000020004" pitchFamily="49" charset="0"/>
              </a:rPr>
              <a:t>    </a:t>
            </a:r>
            <a:r>
              <a:rPr lang="de-CH" sz="1050" dirty="0" err="1">
                <a:solidFill>
                  <a:srgbClr val="0000FF"/>
                </a:solidFill>
                <a:highlight>
                  <a:srgbClr val="FFFFFF"/>
                </a:highlight>
                <a:latin typeface="Cascadia Mono" panose="020B0609020000020004" pitchFamily="49" charset="0"/>
              </a:rPr>
              <a:t>for</a:t>
            </a:r>
            <a:r>
              <a:rPr lang="de-CH" sz="1050" dirty="0">
                <a:solidFill>
                  <a:srgbClr val="000000"/>
                </a:solidFill>
                <a:highlight>
                  <a:srgbClr val="FFFFFF"/>
                </a:highlight>
                <a:latin typeface="Cascadia Mono" panose="020B0609020000020004" pitchFamily="49" charset="0"/>
              </a:rPr>
              <a:t> (</a:t>
            </a:r>
            <a:r>
              <a:rPr lang="de-CH" sz="1050" dirty="0">
                <a:solidFill>
                  <a:srgbClr val="0000FF"/>
                </a:solidFill>
                <a:highlight>
                  <a:srgbClr val="FFFFFF"/>
                </a:highlight>
                <a:latin typeface="Cascadia Mono" panose="020B0609020000020004" pitchFamily="49" charset="0"/>
              </a:rPr>
              <a:t>int</a:t>
            </a:r>
            <a:r>
              <a:rPr lang="de-CH" sz="1050" dirty="0">
                <a:solidFill>
                  <a:srgbClr val="000000"/>
                </a:solidFill>
                <a:highlight>
                  <a:srgbClr val="FFFFFF"/>
                </a:highlight>
                <a:latin typeface="Cascadia Mono" panose="020B0609020000020004" pitchFamily="49" charset="0"/>
              </a:rPr>
              <a:t>* q{ p }; q != p + n; q++)</a:t>
            </a:r>
          </a:p>
          <a:p>
            <a:r>
              <a:rPr lang="ru-RU" sz="1050" dirty="0">
                <a:solidFill>
                  <a:srgbClr val="000000"/>
                </a:solidFill>
                <a:highlight>
                  <a:srgbClr val="FFFFFF"/>
                </a:highlight>
                <a:latin typeface="Cascadia Mono" panose="020B0609020000020004" pitchFamily="49" charset="0"/>
              </a:rPr>
              <a:t>    {</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cout</a:t>
            </a:r>
            <a:r>
              <a:rPr lang="de-CH" sz="1050" dirty="0">
                <a:solidFill>
                  <a:srgbClr val="000000"/>
                </a:solidFill>
                <a:highlight>
                  <a:srgbClr val="FFFFFF"/>
                </a:highlight>
                <a:latin typeface="Cascadia Mono" panose="020B0609020000020004" pitchFamily="49" charset="0"/>
              </a:rPr>
              <a:t>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*q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a:t>
            </a:r>
            <a:r>
              <a:rPr lang="de-CH" sz="1050" dirty="0">
                <a:solidFill>
                  <a:srgbClr val="A31515"/>
                </a:solidFill>
                <a:highlight>
                  <a:srgbClr val="FFFFFF"/>
                </a:highlight>
                <a:latin typeface="Cascadia Mono" panose="020B0609020000020004" pitchFamily="49" charset="0"/>
              </a:rPr>
              <a:t>"\t"</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    }</a:t>
            </a:r>
          </a:p>
          <a:p>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cout</a:t>
            </a:r>
            <a:r>
              <a:rPr lang="de-CH" sz="1050" dirty="0">
                <a:solidFill>
                  <a:srgbClr val="000000"/>
                </a:solidFill>
                <a:highlight>
                  <a:srgbClr val="FFFFFF"/>
                </a:highlight>
                <a:latin typeface="Cascadia Mono" panose="020B0609020000020004" pitchFamily="49" charset="0"/>
              </a:rPr>
              <a:t> </a:t>
            </a:r>
            <a:r>
              <a:rPr lang="de-CH" sz="1050" dirty="0">
                <a:solidFill>
                  <a:srgbClr val="008080"/>
                </a:solidFill>
                <a:highlight>
                  <a:srgbClr val="FFFFFF"/>
                </a:highlight>
                <a:latin typeface="Cascadia Mono" panose="020B0609020000020004" pitchFamily="49" charset="0"/>
              </a:rPr>
              <a:t>&lt;&lt;</a:t>
            </a:r>
            <a:r>
              <a:rPr lang="de-CH" sz="1050" dirty="0">
                <a:solidFill>
                  <a:srgbClr val="000000"/>
                </a:solidFill>
                <a:highlight>
                  <a:srgbClr val="FFFFFF"/>
                </a:highlight>
                <a:latin typeface="Cascadia Mono" panose="020B0609020000020004" pitchFamily="49" charset="0"/>
              </a:rPr>
              <a:t> </a:t>
            </a:r>
            <a:r>
              <a:rPr lang="de-CH" sz="1050" dirty="0" err="1">
                <a:solidFill>
                  <a:srgbClr val="000000"/>
                </a:solidFill>
                <a:highlight>
                  <a:srgbClr val="FFFFFF"/>
                </a:highlight>
                <a:latin typeface="Cascadia Mono" panose="020B0609020000020004" pitchFamily="49" charset="0"/>
              </a:rPr>
              <a:t>std</a:t>
            </a:r>
            <a:r>
              <a:rPr lang="de-CH" sz="1050" dirty="0">
                <a:solidFill>
                  <a:srgbClr val="000000"/>
                </a:solidFill>
                <a:highlight>
                  <a:srgbClr val="FFFFFF"/>
                </a:highlight>
                <a:latin typeface="Cascadia Mono" panose="020B0609020000020004" pitchFamily="49" charset="0"/>
              </a:rPr>
              <a:t>::</a:t>
            </a:r>
            <a:r>
              <a:rPr lang="de-CH" sz="1050" dirty="0" err="1">
                <a:solidFill>
                  <a:srgbClr val="000000"/>
                </a:solidFill>
                <a:highlight>
                  <a:srgbClr val="FFFFFF"/>
                </a:highlight>
                <a:latin typeface="Cascadia Mono" panose="020B0609020000020004" pitchFamily="49" charset="0"/>
              </a:rPr>
              <a:t>endl</a:t>
            </a:r>
            <a:r>
              <a:rPr lang="de-CH" sz="1050" dirty="0">
                <a:solidFill>
                  <a:srgbClr val="000000"/>
                </a:solidFill>
                <a:highlight>
                  <a:srgbClr val="FFFFFF"/>
                </a:highlight>
                <a:latin typeface="Cascadia Mono" panose="020B0609020000020004" pitchFamily="49" charset="0"/>
              </a:rPr>
              <a:t>;</a:t>
            </a:r>
          </a:p>
          <a:p>
            <a:r>
              <a:rPr lang="ru-RU" sz="1050" dirty="0">
                <a:solidFill>
                  <a:srgbClr val="000000"/>
                </a:solidFill>
                <a:highlight>
                  <a:srgbClr val="FFFFFF"/>
                </a:highlight>
                <a:latin typeface="Cascadia Mono" panose="020B0609020000020004" pitchFamily="49" charset="0"/>
              </a:rPr>
              <a:t>}</a:t>
            </a:r>
            <a:endParaRPr lang="ru-RU" sz="1050" dirty="0"/>
          </a:p>
        </p:txBody>
      </p:sp>
    </p:spTree>
    <p:extLst>
      <p:ext uri="{BB962C8B-B14F-4D97-AF65-F5344CB8AC3E}">
        <p14:creationId xmlns:p14="http://schemas.microsoft.com/office/powerpoint/2010/main" val="1267621721"/>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B9FC91-2C2D-3497-8C59-CC9DAD4322B4}"/>
              </a:ext>
            </a:extLst>
          </p:cNvPr>
          <p:cNvSpPr>
            <a:spLocks noGrp="1"/>
          </p:cNvSpPr>
          <p:nvPr>
            <p:ph type="title"/>
          </p:nvPr>
        </p:nvSpPr>
        <p:spPr/>
        <p:txBody>
          <a:bodyPr/>
          <a:lstStyle/>
          <a:p>
            <a:r>
              <a:rPr lang="ru-RU" b="1" dirty="0"/>
              <a:t>Многомерные динамические</a:t>
            </a:r>
            <a:r>
              <a:rPr lang="en-US" b="1" dirty="0"/>
              <a:t> </a:t>
            </a:r>
            <a:r>
              <a:rPr lang="ru-RU" b="1" dirty="0"/>
              <a:t>массивы</a:t>
            </a:r>
            <a:endParaRPr lang="ru-RU" dirty="0"/>
          </a:p>
        </p:txBody>
      </p:sp>
      <p:sp>
        <p:nvSpPr>
          <p:cNvPr id="3" name="Объект 2">
            <a:extLst>
              <a:ext uri="{FF2B5EF4-FFF2-40B4-BE49-F238E27FC236}">
                <a16:creationId xmlns:a16="http://schemas.microsoft.com/office/drawing/2014/main" id="{86B88AA3-B395-87B9-99F4-E3AF426B7DB0}"/>
              </a:ext>
            </a:extLst>
          </p:cNvPr>
          <p:cNvSpPr>
            <a:spLocks noGrp="1"/>
          </p:cNvSpPr>
          <p:nvPr>
            <p:ph idx="1"/>
          </p:nvPr>
        </p:nvSpPr>
        <p:spPr/>
        <p:txBody>
          <a:bodyPr/>
          <a:lstStyle/>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    </a:t>
            </a:r>
            <a:r>
              <a:rPr lang="ru-RU" sz="1400" dirty="0" err="1">
                <a:solidFill>
                  <a:srgbClr val="0000FF"/>
                </a:solidFill>
                <a:highlight>
                  <a:srgbClr val="FFFFFF"/>
                </a:highlight>
                <a:latin typeface="Cascadia Mono" panose="020B0609020000020004" pitchFamily="49" charset="0"/>
              </a:rPr>
              <a:t>unsigned</a:t>
            </a:r>
            <a:r>
              <a:rPr lang="ru-RU" sz="1400" dirty="0">
                <a:solidFill>
                  <a:srgbClr val="000000"/>
                </a:solidFill>
                <a:highlight>
                  <a:srgbClr val="FFFFFF"/>
                </a:highlight>
                <a:latin typeface="Cascadia Mono" panose="020B0609020000020004" pitchFamily="49" charset="0"/>
              </a:rPr>
              <a:t> </a:t>
            </a:r>
            <a:r>
              <a:rPr lang="ru-RU" sz="1400" dirty="0" err="1">
                <a:solidFill>
                  <a:srgbClr val="000000"/>
                </a:solidFill>
                <a:highlight>
                  <a:srgbClr val="FFFFFF"/>
                </a:highlight>
                <a:latin typeface="Cascadia Mono" panose="020B0609020000020004" pitchFamily="49" charset="0"/>
              </a:rPr>
              <a:t>rows</a:t>
            </a:r>
            <a:r>
              <a:rPr lang="ru-RU" sz="1400" dirty="0">
                <a:solidFill>
                  <a:srgbClr val="000000"/>
                </a:solidFill>
                <a:highlight>
                  <a:srgbClr val="FFFFFF"/>
                </a:highlight>
                <a:latin typeface="Cascadia Mono" panose="020B0609020000020004" pitchFamily="49" charset="0"/>
              </a:rPr>
              <a:t> = 3;       </a:t>
            </a:r>
            <a:r>
              <a:rPr lang="ru-RU" sz="1400" dirty="0">
                <a:solidFill>
                  <a:srgbClr val="008000"/>
                </a:solidFill>
                <a:highlight>
                  <a:srgbClr val="FFFFFF"/>
                </a:highlight>
                <a:latin typeface="Cascadia Mono" panose="020B0609020000020004" pitchFamily="49" charset="0"/>
              </a:rPr>
              <a:t>// количество строк</a:t>
            </a:r>
            <a:endParaRPr lang="ru-RU"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    </a:t>
            </a:r>
            <a:r>
              <a:rPr lang="ru-RU" sz="1400" dirty="0" err="1">
                <a:solidFill>
                  <a:srgbClr val="0000FF"/>
                </a:solidFill>
                <a:highlight>
                  <a:srgbClr val="FFFFFF"/>
                </a:highlight>
                <a:latin typeface="Cascadia Mono" panose="020B0609020000020004" pitchFamily="49" charset="0"/>
              </a:rPr>
              <a:t>unsigned</a:t>
            </a:r>
            <a:r>
              <a:rPr lang="ru-RU" sz="1400" dirty="0">
                <a:solidFill>
                  <a:srgbClr val="000000"/>
                </a:solidFill>
                <a:highlight>
                  <a:srgbClr val="FFFFFF"/>
                </a:highlight>
                <a:latin typeface="Cascadia Mono" panose="020B0609020000020004" pitchFamily="49" charset="0"/>
              </a:rPr>
              <a:t> </a:t>
            </a:r>
            <a:r>
              <a:rPr lang="ru-RU" sz="1400" dirty="0" err="1">
                <a:solidFill>
                  <a:srgbClr val="000000"/>
                </a:solidFill>
                <a:highlight>
                  <a:srgbClr val="FFFFFF"/>
                </a:highlight>
                <a:latin typeface="Cascadia Mono" panose="020B0609020000020004" pitchFamily="49" charset="0"/>
              </a:rPr>
              <a:t>columns</a:t>
            </a:r>
            <a:r>
              <a:rPr lang="ru-RU" sz="1400" dirty="0">
                <a:solidFill>
                  <a:srgbClr val="000000"/>
                </a:solidFill>
                <a:highlight>
                  <a:srgbClr val="FFFFFF"/>
                </a:highlight>
                <a:latin typeface="Cascadia Mono" panose="020B0609020000020004" pitchFamily="49" charset="0"/>
              </a:rPr>
              <a:t> = 2;    </a:t>
            </a:r>
            <a:r>
              <a:rPr lang="ru-RU" sz="1400" dirty="0">
                <a:solidFill>
                  <a:srgbClr val="008000"/>
                </a:solidFill>
                <a:highlight>
                  <a:srgbClr val="FFFFFF"/>
                </a:highlight>
                <a:latin typeface="Cascadia Mono" panose="020B0609020000020004" pitchFamily="49" charset="0"/>
              </a:rPr>
              <a:t>// количество столбцов</a:t>
            </a:r>
            <a:endParaRPr lang="ru-RU"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numbers</a:t>
            </a:r>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new</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rows</a:t>
            </a:r>
            <a:r>
              <a:rPr lang="de-CH" sz="1400" dirty="0">
                <a:solidFill>
                  <a:srgbClr val="000000"/>
                </a:solidFill>
                <a:highlight>
                  <a:srgbClr val="FFFFFF"/>
                </a:highlight>
                <a:latin typeface="Cascadia Mono" panose="020B0609020000020004" pitchFamily="49" charset="0"/>
              </a:rPr>
              <a:t>] {} };  </a:t>
            </a:r>
            <a:r>
              <a:rPr lang="de-CH" sz="1400" dirty="0">
                <a:solidFill>
                  <a:srgbClr val="008000"/>
                </a:solidFill>
                <a:highlight>
                  <a:srgbClr val="FFFFFF"/>
                </a:highlight>
                <a:latin typeface="Cascadia Mono" panose="020B0609020000020004" pitchFamily="49" charset="0"/>
              </a:rPr>
              <a:t>// </a:t>
            </a:r>
            <a:r>
              <a:rPr lang="ru-RU" sz="1400" dirty="0">
                <a:solidFill>
                  <a:srgbClr val="008000"/>
                </a:solidFill>
                <a:highlight>
                  <a:srgbClr val="FFFFFF"/>
                </a:highlight>
                <a:latin typeface="Cascadia Mono" panose="020B0609020000020004" pitchFamily="49" charset="0"/>
              </a:rPr>
              <a:t>выделяем память под двухмерный массив</a:t>
            </a:r>
            <a:endParaRPr lang="ru-RU"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    </a:t>
            </a:r>
            <a:r>
              <a:rPr lang="ru-RU" sz="1400" dirty="0">
                <a:solidFill>
                  <a:srgbClr val="008000"/>
                </a:solidFill>
                <a:highlight>
                  <a:srgbClr val="FFFFFF"/>
                </a:highlight>
                <a:latin typeface="Cascadia Mono" panose="020B0609020000020004" pitchFamily="49" charset="0"/>
              </a:rPr>
              <a:t>// выделяем память для вложенных массивов</a:t>
            </a:r>
            <a:endParaRPr lang="ru-RU"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for</a:t>
            </a:r>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unsigned</a:t>
            </a:r>
            <a:r>
              <a:rPr lang="de-CH" sz="1400" dirty="0">
                <a:solidFill>
                  <a:srgbClr val="000000"/>
                </a:solidFill>
                <a:highlight>
                  <a:srgbClr val="FFFFFF"/>
                </a:highlight>
                <a:latin typeface="Cascadia Mono" panose="020B0609020000020004" pitchFamily="49" charset="0"/>
              </a:rPr>
              <a:t> i{}; i &lt; </a:t>
            </a:r>
            <a:r>
              <a:rPr lang="de-CH" sz="1400" dirty="0" err="1">
                <a:solidFill>
                  <a:srgbClr val="000000"/>
                </a:solidFill>
                <a:highlight>
                  <a:srgbClr val="FFFFFF"/>
                </a:highlight>
                <a:latin typeface="Cascadia Mono" panose="020B0609020000020004" pitchFamily="49" charset="0"/>
              </a:rPr>
              <a:t>rows</a:t>
            </a:r>
            <a:r>
              <a:rPr lang="de-CH" sz="1400" dirty="0">
                <a:solidFill>
                  <a:srgbClr val="000000"/>
                </a:solidFill>
                <a:highlight>
                  <a:srgbClr val="FFFFFF"/>
                </a:highlight>
                <a:latin typeface="Cascadia Mono" panose="020B0609020000020004" pitchFamily="49" charset="0"/>
              </a:rPr>
              <a:t>; i++)</a:t>
            </a:r>
          </a:p>
          <a:p>
            <a:r>
              <a:rPr lang="ru-RU" sz="1400" dirty="0">
                <a:solidFill>
                  <a:srgbClr val="000000"/>
                </a:solidFill>
                <a:highlight>
                  <a:srgbClr val="FFFFFF"/>
                </a:highlight>
                <a:latin typeface="Cascadia Mono" panose="020B0609020000020004" pitchFamily="49" charset="0"/>
              </a:rPr>
              <a:t>    {</a:t>
            </a:r>
          </a:p>
          <a:p>
            <a:r>
              <a:rPr lang="en-US" sz="1400" dirty="0">
                <a:solidFill>
                  <a:srgbClr val="000000"/>
                </a:solidFill>
                <a:highlight>
                  <a:srgbClr val="FFFFFF"/>
                </a:highlight>
                <a:latin typeface="Cascadia Mono" panose="020B0609020000020004" pitchFamily="49" charset="0"/>
              </a:rPr>
              <a:t>        numbers[</a:t>
            </a:r>
            <a:r>
              <a:rPr lang="en-US" sz="1400" dirty="0" err="1">
                <a:solidFill>
                  <a:srgbClr val="000000"/>
                </a:solidFill>
                <a:highlight>
                  <a:srgbClr val="FFFFFF"/>
                </a:highlight>
                <a:latin typeface="Cascadia Mono" panose="020B0609020000020004" pitchFamily="49" charset="0"/>
              </a:rPr>
              <a:t>i</a:t>
            </a:r>
            <a:r>
              <a:rPr lang="en-US" sz="1400" dirty="0">
                <a:solidFill>
                  <a:srgbClr val="000000"/>
                </a:solidFill>
                <a:highlight>
                  <a:srgbClr val="FFFFFF"/>
                </a:highlight>
                <a:latin typeface="Cascadia Mono" panose="020B0609020000020004" pitchFamily="49" charset="0"/>
              </a:rPr>
              <a:t>] = </a:t>
            </a:r>
            <a:r>
              <a:rPr lang="en-US" sz="1400" dirty="0">
                <a:solidFill>
                  <a:srgbClr val="0000FF"/>
                </a:solidFill>
                <a:highlight>
                  <a:srgbClr val="FFFFFF"/>
                </a:highlight>
                <a:latin typeface="Cascadia Mono" panose="020B0609020000020004" pitchFamily="49" charset="0"/>
              </a:rPr>
              <a:t>new</a:t>
            </a:r>
            <a:r>
              <a:rPr lang="en-US" sz="1400" dirty="0">
                <a:solidFill>
                  <a:srgbClr val="000000"/>
                </a:solidFill>
                <a:highlight>
                  <a:srgbClr val="FFFFFF"/>
                </a:highlight>
                <a:latin typeface="Cascadia Mono" panose="020B0609020000020004" pitchFamily="49" charset="0"/>
              </a:rPr>
              <a:t> </a:t>
            </a:r>
            <a:r>
              <a:rPr lang="en-US" sz="1400" dirty="0">
                <a:solidFill>
                  <a:srgbClr val="0000FF"/>
                </a:solidFill>
                <a:highlight>
                  <a:srgbClr val="FFFFFF"/>
                </a:highlight>
                <a:latin typeface="Cascadia Mono" panose="020B0609020000020004" pitchFamily="49" charset="0"/>
              </a:rPr>
              <a:t>int</a:t>
            </a:r>
            <a:r>
              <a:rPr lang="en-US" sz="1400" dirty="0">
                <a:solidFill>
                  <a:srgbClr val="000000"/>
                </a:solidFill>
                <a:highlight>
                  <a:srgbClr val="FFFFFF"/>
                </a:highlight>
                <a:latin typeface="Cascadia Mono" panose="020B0609020000020004" pitchFamily="49" charset="0"/>
              </a:rPr>
              <a:t>[columns] {};</a:t>
            </a:r>
          </a:p>
          <a:p>
            <a:r>
              <a:rPr lang="ru-RU" sz="1400" dirty="0">
                <a:solidFill>
                  <a:srgbClr val="000000"/>
                </a:solidFill>
                <a:highlight>
                  <a:srgbClr val="FFFFFF"/>
                </a:highlight>
                <a:latin typeface="Cascadia Mono" panose="020B0609020000020004" pitchFamily="49" charset="0"/>
              </a:rPr>
              <a:t>    }</a:t>
            </a:r>
          </a:p>
          <a:p>
            <a:endParaRPr lang="ru-RU"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    </a:t>
            </a:r>
            <a:r>
              <a:rPr lang="ru-RU" sz="1400" dirty="0">
                <a:solidFill>
                  <a:srgbClr val="008000"/>
                </a:solidFill>
                <a:highlight>
                  <a:srgbClr val="FFFFFF"/>
                </a:highlight>
                <a:latin typeface="Cascadia Mono" panose="020B0609020000020004" pitchFamily="49" charset="0"/>
              </a:rPr>
              <a:t>// удаление массивов    </a:t>
            </a:r>
            <a:endParaRPr lang="ru-RU"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for</a:t>
            </a:r>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unsigned</a:t>
            </a:r>
            <a:r>
              <a:rPr lang="de-CH" sz="1400" dirty="0">
                <a:solidFill>
                  <a:srgbClr val="000000"/>
                </a:solidFill>
                <a:highlight>
                  <a:srgbClr val="FFFFFF"/>
                </a:highlight>
                <a:latin typeface="Cascadia Mono" panose="020B0609020000020004" pitchFamily="49" charset="0"/>
              </a:rPr>
              <a:t> i{}; i &lt; </a:t>
            </a:r>
            <a:r>
              <a:rPr lang="de-CH" sz="1400" dirty="0" err="1">
                <a:solidFill>
                  <a:srgbClr val="000000"/>
                </a:solidFill>
                <a:highlight>
                  <a:srgbClr val="FFFFFF"/>
                </a:highlight>
                <a:latin typeface="Cascadia Mono" panose="020B0609020000020004" pitchFamily="49" charset="0"/>
              </a:rPr>
              <a:t>rows</a:t>
            </a:r>
            <a:r>
              <a:rPr lang="de-CH" sz="1400" dirty="0">
                <a:solidFill>
                  <a:srgbClr val="000000"/>
                </a:solidFill>
                <a:highlight>
                  <a:srgbClr val="FFFFFF"/>
                </a:highlight>
                <a:latin typeface="Cascadia Mono" panose="020B0609020000020004" pitchFamily="49" charset="0"/>
              </a:rPr>
              <a:t>; i++)</a:t>
            </a:r>
          </a:p>
          <a:p>
            <a:r>
              <a:rPr lang="ru-RU" sz="1400" dirty="0">
                <a:solidFill>
                  <a:srgbClr val="000000"/>
                </a:solidFill>
                <a:highlight>
                  <a:srgbClr val="FFFFFF"/>
                </a:highlight>
                <a:latin typeface="Cascadia Mono" panose="020B0609020000020004" pitchFamily="49" charset="0"/>
              </a:rPr>
              <a:t>    {</a:t>
            </a:r>
          </a:p>
          <a:p>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delete</a:t>
            </a:r>
            <a:r>
              <a:rPr lang="de-CH" sz="1400" dirty="0">
                <a:solidFill>
                  <a:srgbClr val="0000FF"/>
                </a:solidFill>
                <a:highlight>
                  <a:srgbClr val="FFFFFF"/>
                </a:highlight>
                <a:latin typeface="Cascadia Mono" panose="020B0609020000020004" pitchFamily="49" charset="0"/>
              </a:rPr>
              <a: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numbers</a:t>
            </a:r>
            <a:r>
              <a:rPr lang="de-CH" sz="1400" dirty="0">
                <a:solidFill>
                  <a:srgbClr val="000000"/>
                </a:solidFill>
                <a:highlight>
                  <a:srgbClr val="FFFFFF"/>
                </a:highlight>
                <a:latin typeface="Cascadia Mono" panose="020B0609020000020004" pitchFamily="49" charset="0"/>
              </a:rPr>
              <a:t>[i];</a:t>
            </a:r>
          </a:p>
          <a:p>
            <a:r>
              <a:rPr lang="ru-RU" sz="1400" dirty="0">
                <a:solidFill>
                  <a:srgbClr val="000000"/>
                </a:solidFill>
                <a:highlight>
                  <a:srgbClr val="FFFFFF"/>
                </a:highlight>
                <a:latin typeface="Cascadia Mono" panose="020B0609020000020004" pitchFamily="49" charset="0"/>
              </a:rPr>
              <a:t>    }</a:t>
            </a:r>
          </a:p>
          <a:p>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delete</a:t>
            </a:r>
            <a:r>
              <a:rPr lang="de-CH" sz="1400" dirty="0">
                <a:solidFill>
                  <a:srgbClr val="0000FF"/>
                </a:solidFill>
                <a:highlight>
                  <a:srgbClr val="FFFFFF"/>
                </a:highlight>
                <a:latin typeface="Cascadia Mono" panose="020B0609020000020004" pitchFamily="49" charset="0"/>
              </a:rPr>
              <a: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numbers</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endParaRPr lang="ru-RU" sz="1400" dirty="0"/>
          </a:p>
        </p:txBody>
      </p:sp>
    </p:spTree>
    <p:extLst>
      <p:ext uri="{BB962C8B-B14F-4D97-AF65-F5344CB8AC3E}">
        <p14:creationId xmlns:p14="http://schemas.microsoft.com/office/powerpoint/2010/main" val="2484005096"/>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72D0D3-4DCD-E99A-7A64-89E3348BE1F5}"/>
              </a:ext>
            </a:extLst>
          </p:cNvPr>
          <p:cNvSpPr>
            <a:spLocks noGrp="1"/>
          </p:cNvSpPr>
          <p:nvPr>
            <p:ph type="title"/>
          </p:nvPr>
        </p:nvSpPr>
        <p:spPr/>
        <p:txBody>
          <a:bodyPr/>
          <a:lstStyle/>
          <a:p>
            <a:r>
              <a:rPr lang="ru-RU" b="1" dirty="0"/>
              <a:t>Многомерные динамические</a:t>
            </a:r>
            <a:r>
              <a:rPr lang="en-US" b="1" dirty="0"/>
              <a:t> </a:t>
            </a:r>
            <a:r>
              <a:rPr lang="ru-RU" b="1" dirty="0"/>
              <a:t>массивы</a:t>
            </a:r>
            <a:endParaRPr lang="ru-RU" dirty="0"/>
          </a:p>
        </p:txBody>
      </p:sp>
      <p:sp>
        <p:nvSpPr>
          <p:cNvPr id="3" name="Объект 2">
            <a:extLst>
              <a:ext uri="{FF2B5EF4-FFF2-40B4-BE49-F238E27FC236}">
                <a16:creationId xmlns:a16="http://schemas.microsoft.com/office/drawing/2014/main" id="{16B564EC-F269-3262-E624-1D0165C4219D}"/>
              </a:ext>
            </a:extLst>
          </p:cNvPr>
          <p:cNvSpPr>
            <a:spLocks noGrp="1"/>
          </p:cNvSpPr>
          <p:nvPr>
            <p:ph idx="1"/>
          </p:nvPr>
        </p:nvSpPr>
        <p:spPr/>
        <p:txBody>
          <a:bodyPr/>
          <a:lstStyle/>
          <a:p>
            <a:r>
              <a:rPr lang="de-CH" sz="800" dirty="0">
                <a:solidFill>
                  <a:srgbClr val="0000FF"/>
                </a:solidFill>
                <a:highlight>
                  <a:srgbClr val="FFFFFF"/>
                </a:highlight>
                <a:latin typeface="Cascadia Mono" panose="020B0609020000020004" pitchFamily="49" charset="0"/>
              </a:rPr>
              <a:t>int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main</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r>
              <a:rPr lang="ru-RU" sz="800" dirty="0" err="1">
                <a:solidFill>
                  <a:srgbClr val="0000FF"/>
                </a:solidFill>
                <a:highlight>
                  <a:srgbClr val="FFFFFF"/>
                </a:highlight>
                <a:latin typeface="Cascadia Mono" panose="020B0609020000020004" pitchFamily="49" charset="0"/>
              </a:rPr>
              <a:t>unsigned</a:t>
            </a:r>
            <a:r>
              <a:rPr lang="ru-RU" sz="800" dirty="0">
                <a:solidFill>
                  <a:srgbClr val="000000"/>
                </a:solidFill>
                <a:highlight>
                  <a:srgbClr val="FFFFFF"/>
                </a:highlight>
                <a:latin typeface="Cascadia Mono" panose="020B0609020000020004" pitchFamily="49" charset="0"/>
              </a:rPr>
              <a:t> </a:t>
            </a:r>
            <a:r>
              <a:rPr lang="ru-RU" sz="800" dirty="0" err="1">
                <a:solidFill>
                  <a:srgbClr val="000000"/>
                </a:solidFill>
                <a:highlight>
                  <a:srgbClr val="FFFFFF"/>
                </a:highlight>
                <a:latin typeface="Cascadia Mono" panose="020B0609020000020004" pitchFamily="49" charset="0"/>
              </a:rPr>
              <a:t>rows</a:t>
            </a:r>
            <a:r>
              <a:rPr lang="ru-RU" sz="800" dirty="0">
                <a:solidFill>
                  <a:srgbClr val="000000"/>
                </a:solidFill>
                <a:highlight>
                  <a:srgbClr val="FFFFFF"/>
                </a:highlight>
                <a:latin typeface="Cascadia Mono" panose="020B0609020000020004" pitchFamily="49" charset="0"/>
              </a:rPr>
              <a:t> = 3;       </a:t>
            </a:r>
            <a:r>
              <a:rPr lang="ru-RU" sz="800" dirty="0">
                <a:solidFill>
                  <a:srgbClr val="008000"/>
                </a:solidFill>
                <a:highlight>
                  <a:srgbClr val="FFFFFF"/>
                </a:highlight>
                <a:latin typeface="Cascadia Mono" panose="020B0609020000020004" pitchFamily="49" charset="0"/>
              </a:rPr>
              <a:t>// количество строк</a:t>
            </a:r>
            <a:endParaRPr lang="ru-RU" sz="800" dirty="0">
              <a:solidFill>
                <a:srgbClr val="000000"/>
              </a:solidFill>
              <a:highlight>
                <a:srgbClr val="FFFFFF"/>
              </a:highlight>
              <a:latin typeface="Cascadia Mono" panose="020B0609020000020004" pitchFamily="49" charset="0"/>
            </a:endParaRPr>
          </a:p>
          <a:p>
            <a:r>
              <a:rPr lang="ru-RU" sz="800" dirty="0">
                <a:solidFill>
                  <a:srgbClr val="000000"/>
                </a:solidFill>
                <a:highlight>
                  <a:srgbClr val="FFFFFF"/>
                </a:highlight>
                <a:latin typeface="Cascadia Mono" panose="020B0609020000020004" pitchFamily="49" charset="0"/>
              </a:rPr>
              <a:t>    </a:t>
            </a:r>
            <a:r>
              <a:rPr lang="ru-RU" sz="800" dirty="0" err="1">
                <a:solidFill>
                  <a:srgbClr val="0000FF"/>
                </a:solidFill>
                <a:highlight>
                  <a:srgbClr val="FFFFFF"/>
                </a:highlight>
                <a:latin typeface="Cascadia Mono" panose="020B0609020000020004" pitchFamily="49" charset="0"/>
              </a:rPr>
              <a:t>unsigned</a:t>
            </a:r>
            <a:r>
              <a:rPr lang="ru-RU" sz="800" dirty="0">
                <a:solidFill>
                  <a:srgbClr val="000000"/>
                </a:solidFill>
                <a:highlight>
                  <a:srgbClr val="FFFFFF"/>
                </a:highlight>
                <a:latin typeface="Cascadia Mono" panose="020B0609020000020004" pitchFamily="49" charset="0"/>
              </a:rPr>
              <a:t> </a:t>
            </a:r>
            <a:r>
              <a:rPr lang="ru-RU" sz="800" dirty="0" err="1">
                <a:solidFill>
                  <a:srgbClr val="000000"/>
                </a:solidFill>
                <a:highlight>
                  <a:srgbClr val="FFFFFF"/>
                </a:highlight>
                <a:latin typeface="Cascadia Mono" panose="020B0609020000020004" pitchFamily="49" charset="0"/>
              </a:rPr>
              <a:t>columns</a:t>
            </a:r>
            <a:r>
              <a:rPr lang="ru-RU" sz="800" dirty="0">
                <a:solidFill>
                  <a:srgbClr val="000000"/>
                </a:solidFill>
                <a:highlight>
                  <a:srgbClr val="FFFFFF"/>
                </a:highlight>
                <a:latin typeface="Cascadia Mono" panose="020B0609020000020004" pitchFamily="49" charset="0"/>
              </a:rPr>
              <a:t> = 2;    </a:t>
            </a:r>
            <a:r>
              <a:rPr lang="ru-RU" sz="800" dirty="0">
                <a:solidFill>
                  <a:srgbClr val="008000"/>
                </a:solidFill>
                <a:highlight>
                  <a:srgbClr val="FFFFFF"/>
                </a:highlight>
                <a:latin typeface="Cascadia Mono" panose="020B0609020000020004" pitchFamily="49" charset="0"/>
              </a:rPr>
              <a:t>// количество столбцов</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a:solidFill>
                  <a:srgbClr val="0000FF"/>
                </a:solidFill>
                <a:highlight>
                  <a:srgbClr val="FFFFFF"/>
                </a:highlight>
                <a:latin typeface="Cascadia Mono" panose="020B0609020000020004" pitchFamily="49" charset="0"/>
              </a:rPr>
              <a:t>int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numbers</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new</a:t>
            </a:r>
            <a:r>
              <a:rPr lang="de-CH" sz="800" dirty="0">
                <a:solidFill>
                  <a:srgbClr val="000000"/>
                </a:solidFill>
                <a:highlight>
                  <a:srgbClr val="FFFFFF"/>
                </a:highlight>
                <a:latin typeface="Cascadia Mono" panose="020B0609020000020004" pitchFamily="49" charset="0"/>
              </a:rPr>
              <a:t> </a:t>
            </a:r>
            <a:r>
              <a:rPr lang="de-CH" sz="800" dirty="0">
                <a:solidFill>
                  <a:srgbClr val="0000FF"/>
                </a:solidFill>
                <a:highlight>
                  <a:srgbClr val="FFFFFF"/>
                </a:highlight>
                <a:latin typeface="Cascadia Mono" panose="020B0609020000020004" pitchFamily="49" charset="0"/>
              </a:rPr>
              <a:t>int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 };  </a:t>
            </a:r>
            <a:r>
              <a:rPr lang="de-CH" sz="800" dirty="0">
                <a:solidFill>
                  <a:srgbClr val="008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выделяем память под двухмерный массив</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i{}; i &lt;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i++)</a:t>
            </a:r>
          </a:p>
          <a:p>
            <a:r>
              <a:rPr lang="ru-RU" sz="800" dirty="0">
                <a:solidFill>
                  <a:srgbClr val="000000"/>
                </a:solidFill>
                <a:highlight>
                  <a:srgbClr val="FFFFFF"/>
                </a:highlight>
                <a:latin typeface="Cascadia Mono" panose="020B0609020000020004" pitchFamily="49" charset="0"/>
              </a:rPr>
              <a:t>    {</a:t>
            </a:r>
          </a:p>
          <a:p>
            <a:r>
              <a:rPr lang="en-US" sz="800" dirty="0">
                <a:solidFill>
                  <a:srgbClr val="000000"/>
                </a:solidFill>
                <a:highlight>
                  <a:srgbClr val="FFFFFF"/>
                </a:highlight>
                <a:latin typeface="Cascadia Mono" panose="020B0609020000020004" pitchFamily="49" charset="0"/>
              </a:rPr>
              <a:t>        numbers[</a:t>
            </a:r>
            <a:r>
              <a:rPr lang="en-US" sz="800" dirty="0" err="1">
                <a:solidFill>
                  <a:srgbClr val="000000"/>
                </a:solidFill>
                <a:highlight>
                  <a:srgbClr val="FFFFFF"/>
                </a:highlight>
                <a:latin typeface="Cascadia Mono" panose="020B0609020000020004" pitchFamily="49" charset="0"/>
              </a:rPr>
              <a:t>i</a:t>
            </a:r>
            <a:r>
              <a:rPr lang="en-US" sz="800" dirty="0">
                <a:solidFill>
                  <a:srgbClr val="000000"/>
                </a:solidFill>
                <a:highlight>
                  <a:srgbClr val="FFFFFF"/>
                </a:highlight>
                <a:latin typeface="Cascadia Mono" panose="020B0609020000020004" pitchFamily="49" charset="0"/>
              </a:rPr>
              <a:t>] = </a:t>
            </a:r>
            <a:r>
              <a:rPr lang="en-US" sz="800" dirty="0">
                <a:solidFill>
                  <a:srgbClr val="0000FF"/>
                </a:solidFill>
                <a:highlight>
                  <a:srgbClr val="FFFFFF"/>
                </a:highlight>
                <a:latin typeface="Cascadia Mono" panose="020B0609020000020004" pitchFamily="49" charset="0"/>
              </a:rPr>
              <a:t>new</a:t>
            </a:r>
            <a:r>
              <a:rPr lang="en-US" sz="800" dirty="0">
                <a:solidFill>
                  <a:srgbClr val="000000"/>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int</a:t>
            </a:r>
            <a:r>
              <a:rPr lang="en-US" sz="800" dirty="0">
                <a:solidFill>
                  <a:srgbClr val="000000"/>
                </a:solidFill>
                <a:highlight>
                  <a:srgbClr val="FFFFFF"/>
                </a:highlight>
                <a:latin typeface="Cascadia Mono" panose="020B0609020000020004" pitchFamily="49" charset="0"/>
              </a:rPr>
              <a:t>[columns] {};</a:t>
            </a:r>
          </a:p>
          <a:p>
            <a:r>
              <a:rPr lang="ru-RU" sz="800" dirty="0">
                <a:solidFill>
                  <a:srgbClr val="000000"/>
                </a:solidFill>
                <a:highlight>
                  <a:srgbClr val="FFFFFF"/>
                </a:highlight>
                <a:latin typeface="Cascadia Mono" panose="020B0609020000020004" pitchFamily="49" charset="0"/>
              </a:rPr>
              <a:t>    }</a:t>
            </a:r>
          </a:p>
          <a:p>
            <a:endParaRPr lang="ru-RU" sz="800" dirty="0">
              <a:solidFill>
                <a:srgbClr val="000000"/>
              </a:solidFill>
              <a:highlight>
                <a:srgbClr val="FFFFFF"/>
              </a:highlight>
              <a:latin typeface="Cascadia Mono" panose="020B0609020000020004" pitchFamily="49" charset="0"/>
            </a:endParaRPr>
          </a:p>
          <a:p>
            <a:r>
              <a:rPr lang="ru-RU" sz="800" dirty="0">
                <a:solidFill>
                  <a:srgbClr val="000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 вводим данные для таблицы </a:t>
            </a:r>
            <a:r>
              <a:rPr lang="ru-RU" sz="800" dirty="0" err="1">
                <a:solidFill>
                  <a:srgbClr val="008000"/>
                </a:solidFill>
                <a:highlight>
                  <a:srgbClr val="FFFFFF"/>
                </a:highlight>
                <a:latin typeface="Cascadia Mono" panose="020B0609020000020004" pitchFamily="49" charset="0"/>
              </a:rPr>
              <a:t>rows</a:t>
            </a:r>
            <a:r>
              <a:rPr lang="ru-RU" sz="800" dirty="0">
                <a:solidFill>
                  <a:srgbClr val="008000"/>
                </a:solidFill>
                <a:highlight>
                  <a:srgbClr val="FFFFFF"/>
                </a:highlight>
                <a:latin typeface="Cascadia Mono" panose="020B0609020000020004" pitchFamily="49" charset="0"/>
              </a:rPr>
              <a:t> x </a:t>
            </a:r>
            <a:r>
              <a:rPr lang="ru-RU" sz="800" dirty="0" err="1">
                <a:solidFill>
                  <a:srgbClr val="008000"/>
                </a:solidFill>
                <a:highlight>
                  <a:srgbClr val="FFFFFF"/>
                </a:highlight>
                <a:latin typeface="Cascadia Mono" panose="020B0609020000020004" pitchFamily="49" charset="0"/>
              </a:rPr>
              <a:t>columns</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i{}; i &lt;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i++)</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cout</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a:solidFill>
                  <a:srgbClr val="A31515"/>
                </a:solidFill>
                <a:highlight>
                  <a:srgbClr val="FFFFFF"/>
                </a:highlight>
                <a:latin typeface="Cascadia Mono" panose="020B0609020000020004" pitchFamily="49" charset="0"/>
              </a:rPr>
              <a:t>"Enter </a:t>
            </a:r>
            <a:r>
              <a:rPr lang="de-CH" sz="800" dirty="0" err="1">
                <a:solidFill>
                  <a:srgbClr val="A31515"/>
                </a:solidFill>
                <a:highlight>
                  <a:srgbClr val="FFFFFF"/>
                </a:highlight>
                <a:latin typeface="Cascadia Mono" panose="020B0609020000020004" pitchFamily="49" charset="0"/>
              </a:rPr>
              <a:t>data</a:t>
            </a:r>
            <a:r>
              <a:rPr lang="de-CH" sz="800" dirty="0">
                <a:solidFill>
                  <a:srgbClr val="A31515"/>
                </a:solidFill>
                <a:highlight>
                  <a:srgbClr val="FFFFFF"/>
                </a:highlight>
                <a:latin typeface="Cascadia Mono" panose="020B0609020000020004" pitchFamily="49" charset="0"/>
              </a:rPr>
              <a:t> </a:t>
            </a:r>
            <a:r>
              <a:rPr lang="de-CH" sz="800" dirty="0" err="1">
                <a:solidFill>
                  <a:srgbClr val="A31515"/>
                </a:solidFill>
                <a:highlight>
                  <a:srgbClr val="FFFFFF"/>
                </a:highlight>
                <a:latin typeface="Cascadia Mono" panose="020B0609020000020004" pitchFamily="49" charset="0"/>
              </a:rPr>
              <a:t>for</a:t>
            </a:r>
            <a:r>
              <a:rPr lang="de-CH" sz="800" dirty="0">
                <a:solidFill>
                  <a:srgbClr val="A31515"/>
                </a:solidFill>
                <a:highlight>
                  <a:srgbClr val="FFFFFF"/>
                </a:highlight>
                <a:latin typeface="Cascadia Mono" panose="020B0609020000020004" pitchFamily="49" charset="0"/>
              </a:rPr>
              <a:t> "</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(i + 1)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a:solidFill>
                  <a:srgbClr val="A31515"/>
                </a:solidFill>
                <a:highlight>
                  <a:srgbClr val="FFFFFF"/>
                </a:highlight>
                <a:latin typeface="Cascadia Mono" panose="020B0609020000020004" pitchFamily="49" charset="0"/>
              </a:rPr>
              <a:t>" </a:t>
            </a:r>
            <a:r>
              <a:rPr lang="de-CH" sz="800" dirty="0" err="1">
                <a:solidFill>
                  <a:srgbClr val="A31515"/>
                </a:solidFill>
                <a:highlight>
                  <a:srgbClr val="FFFFFF"/>
                </a:highlight>
                <a:latin typeface="Cascadia Mono" panose="020B0609020000020004" pitchFamily="49" charset="0"/>
              </a:rPr>
              <a:t>row</a:t>
            </a:r>
            <a:r>
              <a:rPr lang="de-CH" sz="800" dirty="0">
                <a:solidFill>
                  <a:srgbClr val="A31515"/>
                </a:solidFill>
                <a:highlight>
                  <a:srgbClr val="FFFFFF"/>
                </a:highlight>
                <a:latin typeface="Cascadia Mono" panose="020B0609020000020004" pitchFamily="49" charset="0"/>
              </a:rPr>
              <a:t>"</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endl</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 вводим данные для столбцов i-й строки</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j{}; j &lt; </a:t>
            </a:r>
            <a:r>
              <a:rPr lang="de-CH" sz="800" dirty="0" err="1">
                <a:solidFill>
                  <a:srgbClr val="000000"/>
                </a:solidFill>
                <a:highlight>
                  <a:srgbClr val="FFFFFF"/>
                </a:highlight>
                <a:latin typeface="Cascadia Mono" panose="020B0609020000020004" pitchFamily="49" charset="0"/>
              </a:rPr>
              <a:t>columns</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j++</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en-US" sz="800" dirty="0">
                <a:solidFill>
                  <a:srgbClr val="000000"/>
                </a:solidFill>
                <a:highlight>
                  <a:srgbClr val="FFFFFF"/>
                </a:highlight>
                <a:latin typeface="Cascadia Mono" panose="020B0609020000020004" pitchFamily="49" charset="0"/>
              </a:rPr>
              <a:t>            std::</a:t>
            </a:r>
            <a:r>
              <a:rPr lang="en-US" sz="800" dirty="0" err="1">
                <a:solidFill>
                  <a:srgbClr val="000000"/>
                </a:solidFill>
                <a:highlight>
                  <a:srgbClr val="FFFFFF"/>
                </a:highlight>
                <a:latin typeface="Cascadia Mono" panose="020B0609020000020004" pitchFamily="49" charset="0"/>
              </a:rPr>
              <a:t>cout</a:t>
            </a:r>
            <a:r>
              <a:rPr lang="en-US" sz="800" dirty="0">
                <a:solidFill>
                  <a:srgbClr val="000000"/>
                </a:solidFill>
                <a:highlight>
                  <a:srgbClr val="FFFFFF"/>
                </a:highlight>
                <a:latin typeface="Cascadia Mono" panose="020B0609020000020004" pitchFamily="49" charset="0"/>
              </a:rPr>
              <a:t>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(j + 1)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a:t>
            </a:r>
            <a:r>
              <a:rPr lang="en-US" sz="800" dirty="0">
                <a:solidFill>
                  <a:srgbClr val="A31515"/>
                </a:solidFill>
                <a:highlight>
                  <a:srgbClr val="FFFFFF"/>
                </a:highlight>
                <a:latin typeface="Cascadia Mono" panose="020B0609020000020004" pitchFamily="49" charset="0"/>
              </a:rPr>
              <a:t>" column: "</a:t>
            </a:r>
            <a:r>
              <a:rPr lang="en-US" sz="800" dirty="0">
                <a:solidFill>
                  <a:srgbClr val="000000"/>
                </a:solidFill>
                <a:highlight>
                  <a:srgbClr val="FFFFFF"/>
                </a:highlight>
                <a:latin typeface="Cascadia Mono" panose="020B0609020000020004" pitchFamily="49" charset="0"/>
              </a:rPr>
              <a:t>;</a:t>
            </a:r>
          </a:p>
          <a:p>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cin</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&gt;&gt;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numbers</a:t>
            </a:r>
            <a:r>
              <a:rPr lang="de-CH" sz="800" dirty="0">
                <a:solidFill>
                  <a:srgbClr val="000000"/>
                </a:solidFill>
                <a:highlight>
                  <a:srgbClr val="FFFFFF"/>
                </a:highlight>
                <a:latin typeface="Cascadia Mono" panose="020B0609020000020004" pitchFamily="49" charset="0"/>
              </a:rPr>
              <a:t>[i][j];</a:t>
            </a:r>
          </a:p>
          <a:p>
            <a:r>
              <a:rPr lang="ru-RU" sz="800" dirty="0">
                <a:solidFill>
                  <a:srgbClr val="000000"/>
                </a:solidFill>
                <a:highlight>
                  <a:srgbClr val="FFFFFF"/>
                </a:highlight>
                <a:latin typeface="Cascadia Mono" panose="020B0609020000020004" pitchFamily="49" charset="0"/>
              </a:rPr>
              <a:t>        }</a:t>
            </a:r>
          </a:p>
          <a:p>
            <a:r>
              <a:rPr lang="ru-RU" sz="800" dirty="0">
                <a:solidFill>
                  <a:srgbClr val="000000"/>
                </a:solidFill>
                <a:highlight>
                  <a:srgbClr val="FFFFFF"/>
                </a:highlight>
                <a:latin typeface="Cascadia Mono" panose="020B0609020000020004" pitchFamily="49" charset="0"/>
              </a:rPr>
              <a:t>    }</a:t>
            </a:r>
          </a:p>
          <a:p>
            <a:r>
              <a:rPr lang="ru-RU" sz="800" dirty="0">
                <a:solidFill>
                  <a:srgbClr val="000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 вывод данных</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i{}; i &lt;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i++)</a:t>
            </a:r>
          </a:p>
          <a:p>
            <a:r>
              <a:rPr lang="ru-RU" sz="800" dirty="0">
                <a:solidFill>
                  <a:srgbClr val="000000"/>
                </a:solidFill>
                <a:highlight>
                  <a:srgbClr val="FFFFFF"/>
                </a:highlight>
                <a:latin typeface="Cascadia Mono" panose="020B0609020000020004" pitchFamily="49" charset="0"/>
              </a:rPr>
              <a:t>    {</a:t>
            </a:r>
          </a:p>
          <a:p>
            <a:r>
              <a:rPr lang="ru-RU" sz="800" dirty="0">
                <a:solidFill>
                  <a:srgbClr val="000000"/>
                </a:solidFill>
                <a:highlight>
                  <a:srgbClr val="FFFFFF"/>
                </a:highlight>
                <a:latin typeface="Cascadia Mono" panose="020B0609020000020004" pitchFamily="49" charset="0"/>
              </a:rPr>
              <a:t>        </a:t>
            </a:r>
            <a:r>
              <a:rPr lang="ru-RU" sz="800" dirty="0">
                <a:solidFill>
                  <a:srgbClr val="008000"/>
                </a:solidFill>
                <a:highlight>
                  <a:srgbClr val="FFFFFF"/>
                </a:highlight>
                <a:latin typeface="Cascadia Mono" panose="020B0609020000020004" pitchFamily="49" charset="0"/>
              </a:rPr>
              <a:t>// выводим данные столбцов i-й строки</a:t>
            </a:r>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j{}; j &lt; </a:t>
            </a:r>
            <a:r>
              <a:rPr lang="de-CH" sz="800" dirty="0" err="1">
                <a:solidFill>
                  <a:srgbClr val="000000"/>
                </a:solidFill>
                <a:highlight>
                  <a:srgbClr val="FFFFFF"/>
                </a:highlight>
                <a:latin typeface="Cascadia Mono" panose="020B0609020000020004" pitchFamily="49" charset="0"/>
              </a:rPr>
              <a:t>columns</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j++</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en-US" sz="800" dirty="0">
                <a:solidFill>
                  <a:srgbClr val="000000"/>
                </a:solidFill>
                <a:highlight>
                  <a:srgbClr val="FFFFFF"/>
                </a:highlight>
                <a:latin typeface="Cascadia Mono" panose="020B0609020000020004" pitchFamily="49" charset="0"/>
              </a:rPr>
              <a:t>            std::</a:t>
            </a:r>
            <a:r>
              <a:rPr lang="en-US" sz="800" dirty="0" err="1">
                <a:solidFill>
                  <a:srgbClr val="000000"/>
                </a:solidFill>
                <a:highlight>
                  <a:srgbClr val="FFFFFF"/>
                </a:highlight>
                <a:latin typeface="Cascadia Mono" panose="020B0609020000020004" pitchFamily="49" charset="0"/>
              </a:rPr>
              <a:t>cout</a:t>
            </a:r>
            <a:r>
              <a:rPr lang="en-US" sz="800" dirty="0">
                <a:solidFill>
                  <a:srgbClr val="000000"/>
                </a:solidFill>
                <a:highlight>
                  <a:srgbClr val="FFFFFF"/>
                </a:highlight>
                <a:latin typeface="Cascadia Mono" panose="020B0609020000020004" pitchFamily="49" charset="0"/>
              </a:rPr>
              <a:t>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numbers[</a:t>
            </a:r>
            <a:r>
              <a:rPr lang="en-US" sz="800" dirty="0" err="1">
                <a:solidFill>
                  <a:srgbClr val="000000"/>
                </a:solidFill>
                <a:highlight>
                  <a:srgbClr val="FFFFFF"/>
                </a:highlight>
                <a:latin typeface="Cascadia Mono" panose="020B0609020000020004" pitchFamily="49" charset="0"/>
              </a:rPr>
              <a:t>i</a:t>
            </a:r>
            <a:r>
              <a:rPr lang="en-US" sz="800" dirty="0">
                <a:solidFill>
                  <a:srgbClr val="000000"/>
                </a:solidFill>
                <a:highlight>
                  <a:srgbClr val="FFFFFF"/>
                </a:highlight>
                <a:latin typeface="Cascadia Mono" panose="020B0609020000020004" pitchFamily="49" charset="0"/>
              </a:rPr>
              <a:t>][j]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a:t>
            </a:r>
            <a:r>
              <a:rPr lang="en-US" sz="800" dirty="0">
                <a:solidFill>
                  <a:srgbClr val="A31515"/>
                </a:solidFill>
                <a:highlight>
                  <a:srgbClr val="FFFFFF"/>
                </a:highlight>
                <a:latin typeface="Cascadia Mono" panose="020B0609020000020004" pitchFamily="49" charset="0"/>
              </a:rPr>
              <a:t>"\t"</a:t>
            </a:r>
            <a:r>
              <a:rPr lang="en-US"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cout</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endl</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endParaRPr lang="ru-RU" sz="800" dirty="0">
              <a:solidFill>
                <a:srgbClr val="000000"/>
              </a:solidFill>
              <a:highlight>
                <a:srgbClr val="FFFFFF"/>
              </a:highlight>
              <a:latin typeface="Cascadia Mono" panose="020B0609020000020004" pitchFamily="49" charset="0"/>
            </a:endParaRP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for</a:t>
            </a:r>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unsigned</a:t>
            </a:r>
            <a:r>
              <a:rPr lang="de-CH" sz="800" dirty="0">
                <a:solidFill>
                  <a:srgbClr val="000000"/>
                </a:solidFill>
                <a:highlight>
                  <a:srgbClr val="FFFFFF"/>
                </a:highlight>
                <a:latin typeface="Cascadia Mono" panose="020B0609020000020004" pitchFamily="49" charset="0"/>
              </a:rPr>
              <a:t> i{}; i &lt; </a:t>
            </a:r>
            <a:r>
              <a:rPr lang="de-CH" sz="800" dirty="0" err="1">
                <a:solidFill>
                  <a:srgbClr val="000000"/>
                </a:solidFill>
                <a:highlight>
                  <a:srgbClr val="FFFFFF"/>
                </a:highlight>
                <a:latin typeface="Cascadia Mono" panose="020B0609020000020004" pitchFamily="49" charset="0"/>
              </a:rPr>
              <a:t>rows</a:t>
            </a:r>
            <a:r>
              <a:rPr lang="de-CH" sz="800" dirty="0">
                <a:solidFill>
                  <a:srgbClr val="000000"/>
                </a:solidFill>
                <a:highlight>
                  <a:srgbClr val="FFFFFF"/>
                </a:highlight>
                <a:latin typeface="Cascadia Mono" panose="020B0609020000020004" pitchFamily="49" charset="0"/>
              </a:rPr>
              <a:t>; i++)</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delete</a:t>
            </a:r>
            <a:r>
              <a:rPr lang="de-CH" sz="800" dirty="0">
                <a:solidFill>
                  <a:srgbClr val="0000FF"/>
                </a:solidFill>
                <a:highlight>
                  <a:srgbClr val="FFFFFF"/>
                </a:highlight>
                <a:latin typeface="Cascadia Mono" panose="020B0609020000020004" pitchFamily="49" charset="0"/>
              </a:rPr>
              <a: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numbers</a:t>
            </a:r>
            <a:r>
              <a:rPr lang="de-CH" sz="800" dirty="0">
                <a:solidFill>
                  <a:srgbClr val="000000"/>
                </a:solidFill>
                <a:highlight>
                  <a:srgbClr val="FFFFFF"/>
                </a:highlight>
                <a:latin typeface="Cascadia Mono" panose="020B0609020000020004" pitchFamily="49" charset="0"/>
              </a:rPr>
              <a:t>[i];</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delete</a:t>
            </a:r>
            <a:r>
              <a:rPr lang="de-CH" sz="800" dirty="0">
                <a:solidFill>
                  <a:srgbClr val="0000FF"/>
                </a:solidFill>
                <a:highlight>
                  <a:srgbClr val="FFFFFF"/>
                </a:highlight>
                <a:latin typeface="Cascadia Mono" panose="020B0609020000020004" pitchFamily="49" charset="0"/>
              </a:rPr>
              <a: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numbers</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1530963254"/>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84BD97-BFBA-B585-099E-CEF555EFCA45}"/>
              </a:ext>
            </a:extLst>
          </p:cNvPr>
          <p:cNvSpPr>
            <a:spLocks noGrp="1"/>
          </p:cNvSpPr>
          <p:nvPr>
            <p:ph type="title"/>
          </p:nvPr>
        </p:nvSpPr>
        <p:spPr/>
        <p:txBody>
          <a:bodyPr/>
          <a:lstStyle/>
          <a:p>
            <a:r>
              <a:rPr lang="ru-RU" b="1" dirty="0"/>
              <a:t>Указатель на массив</a:t>
            </a:r>
            <a:endParaRPr lang="ru-RU" dirty="0"/>
          </a:p>
        </p:txBody>
      </p:sp>
      <p:sp>
        <p:nvSpPr>
          <p:cNvPr id="3" name="Объект 2">
            <a:extLst>
              <a:ext uri="{FF2B5EF4-FFF2-40B4-BE49-F238E27FC236}">
                <a16:creationId xmlns:a16="http://schemas.microsoft.com/office/drawing/2014/main" id="{EBD02244-DFE5-444D-A6BE-703942F1B0AA}"/>
              </a:ext>
            </a:extLst>
          </p:cNvPr>
          <p:cNvSpPr>
            <a:spLocks noGrp="1"/>
          </p:cNvSpPr>
          <p:nvPr>
            <p:ph idx="1"/>
          </p:nvPr>
        </p:nvSpPr>
        <p:spPr/>
        <p:txBody>
          <a:bodyPr/>
          <a:lstStyle/>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main</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r>
              <a:rPr lang="ru-RU" sz="900" dirty="0" err="1">
                <a:solidFill>
                  <a:srgbClr val="0000FF"/>
                </a:solidFill>
                <a:highlight>
                  <a:srgbClr val="FFFFFF"/>
                </a:highlight>
                <a:latin typeface="Cascadia Mono" panose="020B0609020000020004" pitchFamily="49" charset="0"/>
              </a:rPr>
              <a:t>unsigned</a:t>
            </a:r>
            <a:r>
              <a:rPr lang="ru-RU" sz="900" dirty="0">
                <a:solidFill>
                  <a:srgbClr val="000000"/>
                </a:solidFill>
                <a:highlight>
                  <a:srgbClr val="FFFFFF"/>
                </a:highlight>
                <a:latin typeface="Cascadia Mono" panose="020B0609020000020004" pitchFamily="49" charset="0"/>
              </a:rPr>
              <a:t> n{ 3 };       </a:t>
            </a:r>
            <a:r>
              <a:rPr lang="ru-RU" sz="900" dirty="0">
                <a:solidFill>
                  <a:srgbClr val="008000"/>
                </a:solidFill>
                <a:highlight>
                  <a:srgbClr val="FFFFFF"/>
                </a:highlight>
                <a:latin typeface="Cascadia Mono" panose="020B0609020000020004" pitchFamily="49" charset="0"/>
              </a:rPr>
              <a:t>// количество строк</a:t>
            </a:r>
            <a:endParaRPr lang="ru-RU" sz="900" dirty="0">
              <a:solidFill>
                <a:srgbClr val="000000"/>
              </a:solidFill>
              <a:highlight>
                <a:srgbClr val="FFFFFF"/>
              </a:highlight>
              <a:latin typeface="Cascadia Mono" panose="020B0609020000020004" pitchFamily="49" charset="0"/>
            </a:endParaRPr>
          </a:p>
          <a:p>
            <a:endParaRPr lang="ru-RU"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(*a)[2] = </a:t>
            </a:r>
            <a:r>
              <a:rPr lang="en-US" sz="900" dirty="0">
                <a:solidFill>
                  <a:srgbClr val="0000FF"/>
                </a:solidFill>
                <a:highlight>
                  <a:srgbClr val="FFFFFF"/>
                </a:highlight>
                <a:latin typeface="Cascadia Mono" panose="020B0609020000020004" pitchFamily="49" charset="0"/>
              </a:rPr>
              <a:t>new</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[n][2];</a:t>
            </a:r>
          </a:p>
          <a:p>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k{};</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устанавливаем значения</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for</a:t>
            </a:r>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unsigned</a:t>
            </a:r>
            <a:r>
              <a:rPr lang="de-CH" sz="900" dirty="0">
                <a:solidFill>
                  <a:srgbClr val="000000"/>
                </a:solidFill>
                <a:highlight>
                  <a:srgbClr val="FFFFFF"/>
                </a:highlight>
                <a:latin typeface="Cascadia Mono" panose="020B0609020000020004" pitchFamily="49" charset="0"/>
              </a:rPr>
              <a:t> i{}; i &lt; n; i++)</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устанавливаем данные для столбцов i-й строки</a:t>
            </a:r>
            <a:endParaRPr lang="ru-RU" sz="900" dirty="0">
              <a:solidFill>
                <a:srgbClr val="000000"/>
              </a:solidFill>
              <a:highlight>
                <a:srgbClr val="FFFFFF"/>
              </a:highlight>
              <a:latin typeface="Cascadia Mono" panose="020B0609020000020004" pitchFamily="49" charset="0"/>
            </a:endParaRPr>
          </a:p>
          <a:p>
            <a:r>
              <a:rPr lang="da-DK" sz="900" dirty="0">
                <a:solidFill>
                  <a:srgbClr val="000000"/>
                </a:solidFill>
                <a:highlight>
                  <a:srgbClr val="FFFFFF"/>
                </a:highlight>
                <a:latin typeface="Cascadia Mono" panose="020B0609020000020004" pitchFamily="49" charset="0"/>
              </a:rPr>
              <a:t>        </a:t>
            </a:r>
            <a:r>
              <a:rPr lang="da-DK" sz="900" dirty="0">
                <a:solidFill>
                  <a:srgbClr val="0000FF"/>
                </a:solidFill>
                <a:highlight>
                  <a:srgbClr val="FFFFFF"/>
                </a:highlight>
                <a:latin typeface="Cascadia Mono" panose="020B0609020000020004" pitchFamily="49" charset="0"/>
              </a:rPr>
              <a:t>for</a:t>
            </a:r>
            <a:r>
              <a:rPr lang="da-DK" sz="900" dirty="0">
                <a:solidFill>
                  <a:srgbClr val="000000"/>
                </a:solidFill>
                <a:highlight>
                  <a:srgbClr val="FFFFFF"/>
                </a:highlight>
                <a:latin typeface="Cascadia Mono" panose="020B0609020000020004" pitchFamily="49" charset="0"/>
              </a:rPr>
              <a:t> (</a:t>
            </a:r>
            <a:r>
              <a:rPr lang="da-DK" sz="900" dirty="0">
                <a:solidFill>
                  <a:srgbClr val="0000FF"/>
                </a:solidFill>
                <a:highlight>
                  <a:srgbClr val="FFFFFF"/>
                </a:highlight>
                <a:latin typeface="Cascadia Mono" panose="020B0609020000020004" pitchFamily="49" charset="0"/>
              </a:rPr>
              <a:t>unsigned</a:t>
            </a:r>
            <a:r>
              <a:rPr lang="da-DK" sz="900" dirty="0">
                <a:solidFill>
                  <a:srgbClr val="000000"/>
                </a:solidFill>
                <a:highlight>
                  <a:srgbClr val="FFFFFF"/>
                </a:highlight>
                <a:latin typeface="Cascadia Mono" panose="020B0609020000020004" pitchFamily="49" charset="0"/>
              </a:rPr>
              <a:t> j{}; j &lt; 2; j++)</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a[i][j] = ++k;</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p>
          <a:p>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вывод данных</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for</a:t>
            </a:r>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unsigned</a:t>
            </a:r>
            <a:r>
              <a:rPr lang="de-CH" sz="900" dirty="0">
                <a:solidFill>
                  <a:srgbClr val="000000"/>
                </a:solidFill>
                <a:highlight>
                  <a:srgbClr val="FFFFFF"/>
                </a:highlight>
                <a:latin typeface="Cascadia Mono" panose="020B0609020000020004" pitchFamily="49" charset="0"/>
              </a:rPr>
              <a:t> i{}; i &lt; n; i++)</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выводим данные столбцов i-й строки</a:t>
            </a:r>
            <a:endParaRPr lang="ru-RU" sz="900" dirty="0">
              <a:solidFill>
                <a:srgbClr val="000000"/>
              </a:solidFill>
              <a:highlight>
                <a:srgbClr val="FFFFFF"/>
              </a:highlight>
              <a:latin typeface="Cascadia Mono" panose="020B0609020000020004" pitchFamily="49" charset="0"/>
            </a:endParaRPr>
          </a:p>
          <a:p>
            <a:r>
              <a:rPr lang="da-DK" sz="900" dirty="0">
                <a:solidFill>
                  <a:srgbClr val="000000"/>
                </a:solidFill>
                <a:highlight>
                  <a:srgbClr val="FFFFFF"/>
                </a:highlight>
                <a:latin typeface="Cascadia Mono" panose="020B0609020000020004" pitchFamily="49" charset="0"/>
              </a:rPr>
              <a:t>        </a:t>
            </a:r>
            <a:r>
              <a:rPr lang="da-DK" sz="900" dirty="0">
                <a:solidFill>
                  <a:srgbClr val="0000FF"/>
                </a:solidFill>
                <a:highlight>
                  <a:srgbClr val="FFFFFF"/>
                </a:highlight>
                <a:latin typeface="Cascadia Mono" panose="020B0609020000020004" pitchFamily="49" charset="0"/>
              </a:rPr>
              <a:t>for</a:t>
            </a:r>
            <a:r>
              <a:rPr lang="da-DK" sz="900" dirty="0">
                <a:solidFill>
                  <a:srgbClr val="000000"/>
                </a:solidFill>
                <a:highlight>
                  <a:srgbClr val="FFFFFF"/>
                </a:highlight>
                <a:latin typeface="Cascadia Mono" panose="020B0609020000020004" pitchFamily="49" charset="0"/>
              </a:rPr>
              <a:t> (</a:t>
            </a:r>
            <a:r>
              <a:rPr lang="da-DK" sz="900" dirty="0">
                <a:solidFill>
                  <a:srgbClr val="0000FF"/>
                </a:solidFill>
                <a:highlight>
                  <a:srgbClr val="FFFFFF"/>
                </a:highlight>
                <a:latin typeface="Cascadia Mono" panose="020B0609020000020004" pitchFamily="49" charset="0"/>
              </a:rPr>
              <a:t>unsigned</a:t>
            </a:r>
            <a:r>
              <a:rPr lang="da-DK" sz="900" dirty="0">
                <a:solidFill>
                  <a:srgbClr val="000000"/>
                </a:solidFill>
                <a:highlight>
                  <a:srgbClr val="FFFFFF"/>
                </a:highlight>
                <a:latin typeface="Cascadia Mono" panose="020B0609020000020004" pitchFamily="49" charset="0"/>
              </a:rPr>
              <a:t> j{}; j &lt; 2; j++)</a:t>
            </a:r>
          </a:p>
          <a:p>
            <a:r>
              <a:rPr lang="ru-RU" sz="900" dirty="0">
                <a:solidFill>
                  <a:srgbClr val="000000"/>
                </a:solidFill>
                <a:highlight>
                  <a:srgbClr val="FFFFFF"/>
                </a:highlight>
                <a:latin typeface="Cascadia Mono" panose="020B0609020000020004" pitchFamily="49" charset="0"/>
              </a:rPr>
              <a:t>        {</a:t>
            </a:r>
          </a:p>
          <a:p>
            <a:r>
              <a:rPr lang="fr-FR" sz="900" dirty="0">
                <a:solidFill>
                  <a:srgbClr val="000000"/>
                </a:solidFill>
                <a:highlight>
                  <a:srgbClr val="FFFFFF"/>
                </a:highlight>
                <a:latin typeface="Cascadia Mono" panose="020B0609020000020004" pitchFamily="49" charset="0"/>
              </a:rPr>
              <a:t>            std::cout </a:t>
            </a:r>
            <a:r>
              <a:rPr lang="fr-FR" sz="900" dirty="0">
                <a:solidFill>
                  <a:srgbClr val="008080"/>
                </a:solidFill>
                <a:highlight>
                  <a:srgbClr val="FFFFFF"/>
                </a:highlight>
                <a:latin typeface="Cascadia Mono" panose="020B0609020000020004" pitchFamily="49" charset="0"/>
              </a:rPr>
              <a:t>&lt;&lt;</a:t>
            </a:r>
            <a:r>
              <a:rPr lang="fr-FR" sz="900" dirty="0">
                <a:solidFill>
                  <a:srgbClr val="000000"/>
                </a:solidFill>
                <a:highlight>
                  <a:srgbClr val="FFFFFF"/>
                </a:highlight>
                <a:latin typeface="Cascadia Mono" panose="020B0609020000020004" pitchFamily="49" charset="0"/>
              </a:rPr>
              <a:t> a[i][j] </a:t>
            </a:r>
            <a:r>
              <a:rPr lang="fr-FR" sz="900" dirty="0">
                <a:solidFill>
                  <a:srgbClr val="008080"/>
                </a:solidFill>
                <a:highlight>
                  <a:srgbClr val="FFFFFF"/>
                </a:highlight>
                <a:latin typeface="Cascadia Mono" panose="020B0609020000020004" pitchFamily="49" charset="0"/>
              </a:rPr>
              <a:t>&lt;&lt;</a:t>
            </a:r>
            <a:r>
              <a:rPr lang="fr-FR" sz="900" dirty="0">
                <a:solidFill>
                  <a:srgbClr val="000000"/>
                </a:solidFill>
                <a:highlight>
                  <a:srgbClr val="FFFFFF"/>
                </a:highlight>
                <a:latin typeface="Cascadia Mono" panose="020B0609020000020004" pitchFamily="49" charset="0"/>
              </a:rPr>
              <a:t> </a:t>
            </a:r>
            <a:r>
              <a:rPr lang="fr-FR" sz="900" dirty="0">
                <a:solidFill>
                  <a:srgbClr val="A31515"/>
                </a:solidFill>
                <a:highlight>
                  <a:srgbClr val="FFFFFF"/>
                </a:highlight>
                <a:latin typeface="Cascadia Mono" panose="020B0609020000020004" pitchFamily="49" charset="0"/>
              </a:rPr>
              <a:t>"\t"</a:t>
            </a:r>
            <a:r>
              <a:rPr lang="fr-FR"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cout</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endl</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удаляем данные</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delete</a:t>
            </a:r>
            <a:r>
              <a:rPr lang="de-CH" sz="900" dirty="0">
                <a:solidFill>
                  <a:srgbClr val="0000FF"/>
                </a:solidFill>
                <a:highlight>
                  <a:srgbClr val="FFFFFF"/>
                </a:highlight>
                <a:latin typeface="Cascadia Mono" panose="020B0609020000020004" pitchFamily="49" charset="0"/>
              </a:rPr>
              <a:t>[]</a:t>
            </a:r>
            <a:r>
              <a:rPr lang="de-CH" sz="900" dirty="0">
                <a:solidFill>
                  <a:srgbClr val="000000"/>
                </a:solidFill>
                <a:highlight>
                  <a:srgbClr val="FFFFFF"/>
                </a:highlight>
                <a:latin typeface="Cascadia Mono" panose="020B0609020000020004" pitchFamily="49" charset="0"/>
              </a:rPr>
              <a:t> a;</a:t>
            </a:r>
          </a:p>
          <a:p>
            <a:r>
              <a:rPr lang="de-CH" sz="900" dirty="0">
                <a:solidFill>
                  <a:srgbClr val="000000"/>
                </a:solidFill>
                <a:highlight>
                  <a:srgbClr val="FFFFFF"/>
                </a:highlight>
                <a:latin typeface="Cascadia Mono" panose="020B0609020000020004" pitchFamily="49" charset="0"/>
              </a:rPr>
              <a:t>    a = </a:t>
            </a:r>
            <a:r>
              <a:rPr lang="de-CH" sz="900" dirty="0" err="1">
                <a:solidFill>
                  <a:srgbClr val="0000FF"/>
                </a:solidFill>
                <a:highlight>
                  <a:srgbClr val="FFFFFF"/>
                </a:highlight>
                <a:latin typeface="Cascadia Mono" panose="020B0609020000020004" pitchFamily="49" charset="0"/>
              </a:rPr>
              <a:t>nullptr</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endParaRPr lang="ru-RU" sz="900" dirty="0"/>
          </a:p>
        </p:txBody>
      </p:sp>
    </p:spTree>
    <p:extLst>
      <p:ext uri="{BB962C8B-B14F-4D97-AF65-F5344CB8AC3E}">
        <p14:creationId xmlns:p14="http://schemas.microsoft.com/office/powerpoint/2010/main" val="1825221770"/>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A07219-D209-8875-544B-6C36018AAF7B}"/>
              </a:ext>
            </a:extLst>
          </p:cNvPr>
          <p:cNvSpPr>
            <a:spLocks noGrp="1"/>
          </p:cNvSpPr>
          <p:nvPr>
            <p:ph type="title"/>
          </p:nvPr>
        </p:nvSpPr>
        <p:spPr/>
        <p:txBody>
          <a:bodyPr/>
          <a:lstStyle/>
          <a:p>
            <a:r>
              <a:rPr lang="de-CH" sz="2800" b="1" dirty="0"/>
              <a:t>Smart-</a:t>
            </a:r>
            <a:r>
              <a:rPr lang="ru-RU" sz="2800" b="1" dirty="0"/>
              <a:t>указатели. </a:t>
            </a:r>
            <a:r>
              <a:rPr lang="de-CH" sz="2800" b="1" dirty="0" err="1"/>
              <a:t>unique_ptr</a:t>
            </a:r>
            <a:r>
              <a:rPr lang="de-CH" sz="2800" b="1" dirty="0"/>
              <a:t>&lt;T&gt;</a:t>
            </a:r>
            <a:endParaRPr lang="ru-RU" sz="2800" dirty="0"/>
          </a:p>
        </p:txBody>
      </p:sp>
      <p:sp>
        <p:nvSpPr>
          <p:cNvPr id="3" name="Объект 2">
            <a:extLst>
              <a:ext uri="{FF2B5EF4-FFF2-40B4-BE49-F238E27FC236}">
                <a16:creationId xmlns:a16="http://schemas.microsoft.com/office/drawing/2014/main" id="{A8D425FD-B8E4-5291-43E3-9FBF53B8E5FA}"/>
              </a:ext>
            </a:extLst>
          </p:cNvPr>
          <p:cNvSpPr>
            <a:spLocks noGrp="1"/>
          </p:cNvSpPr>
          <p:nvPr>
            <p:ph idx="1"/>
          </p:nvPr>
        </p:nvSpPr>
        <p:spPr/>
        <p:txBody>
          <a:bodyPr/>
          <a:lstStyle/>
          <a:p>
            <a:pPr algn="just"/>
            <a:r>
              <a:rPr lang="ru-RU" b="1" dirty="0"/>
              <a:t>Smart </a:t>
            </a:r>
            <a:r>
              <a:rPr lang="ru-RU" b="1" dirty="0" err="1"/>
              <a:t>pointers</a:t>
            </a:r>
            <a:r>
              <a:rPr lang="ru-RU" dirty="0"/>
              <a:t> или "интеллектуальные указатели" — это объекты, которые имитируют стандартные указатели: они также содержат адрес (как правило, адрес выделенной динамической памяти), и их можно также использовать для обращения к объектам по этому адресу. Но главное их отличие от стандартных указателей состоит в том, что нам не надо беспокоиться об освобождении памяти с помощью операторов </a:t>
            </a:r>
            <a:r>
              <a:rPr lang="ru-RU" dirty="0" err="1"/>
              <a:t>delete</a:t>
            </a:r>
            <a:r>
              <a:rPr lang="ru-RU" dirty="0"/>
              <a:t> или </a:t>
            </a:r>
            <a:r>
              <a:rPr lang="ru-RU" dirty="0" err="1"/>
              <a:t>delete</a:t>
            </a:r>
            <a:r>
              <a:rPr lang="ru-RU" dirty="0"/>
              <a:t>[]. Вся выделенная память, используемая интеллектуальными указателями, будет освобождаться автоматически, когда она станет не нужна. Соответственно это означает, что мы не столкнемся с утечками памяти, не соответствием между выделениями и освобождениями памяти и болтающимися указателями. Таким образом, </a:t>
            </a:r>
            <a:r>
              <a:rPr lang="ru-RU" dirty="0" err="1"/>
              <a:t>smart</a:t>
            </a:r>
            <a:r>
              <a:rPr lang="ru-RU" dirty="0"/>
              <a:t>-указатели позволяют упростить и обезопасить управление памятью. Типы интеллектуальных указателей определены в модуле </a:t>
            </a:r>
            <a:r>
              <a:rPr lang="ru-RU" b="1" dirty="0" err="1"/>
              <a:t>memory</a:t>
            </a:r>
            <a:r>
              <a:rPr lang="ru-RU" dirty="0"/>
              <a:t> стандартной библиотеки языка С++ и доступны в пространстве имен </a:t>
            </a:r>
            <a:r>
              <a:rPr lang="ru-RU" b="1" dirty="0" err="1"/>
              <a:t>std</a:t>
            </a:r>
            <a:r>
              <a:rPr lang="ru-RU" dirty="0"/>
              <a:t>.</a:t>
            </a:r>
          </a:p>
        </p:txBody>
      </p:sp>
    </p:spTree>
    <p:extLst>
      <p:ext uri="{BB962C8B-B14F-4D97-AF65-F5344CB8AC3E}">
        <p14:creationId xmlns:p14="http://schemas.microsoft.com/office/powerpoint/2010/main" val="1876208687"/>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DC36FD-19DC-D637-8A0A-BD4590BEA875}"/>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CADD5F67-F11D-98C6-11B4-A71369746FE2}"/>
              </a:ext>
            </a:extLst>
          </p:cNvPr>
          <p:cNvSpPr>
            <a:spLocks noGrp="1"/>
          </p:cNvSpPr>
          <p:nvPr>
            <p:ph idx="1"/>
          </p:nvPr>
        </p:nvSpPr>
        <p:spPr/>
        <p:txBody>
          <a:bodyPr/>
          <a:lstStyle/>
          <a:p>
            <a:pPr algn="just"/>
            <a:r>
              <a:rPr lang="ru-RU" dirty="0"/>
              <a:t>Указатель </a:t>
            </a:r>
            <a:r>
              <a:rPr lang="ru-RU" b="1" dirty="0" err="1"/>
              <a:t>unique_ptr</a:t>
            </a:r>
            <a:r>
              <a:rPr lang="ru-RU" b="1" dirty="0"/>
              <a:t>&lt;T&gt;</a:t>
            </a:r>
            <a:r>
              <a:rPr lang="ru-RU" dirty="0"/>
              <a:t> представляет указатель на тип T, который является "уникальным" в том смысле, что что может быть только один объект </a:t>
            </a:r>
            <a:r>
              <a:rPr lang="ru-RU" dirty="0" err="1"/>
              <a:t>unique_ptr</a:t>
            </a:r>
            <a:r>
              <a:rPr lang="ru-RU" dirty="0"/>
              <a:t>, который содержит один и тот же адрес. То есть не может одновременно быть двух или более объектов </a:t>
            </a:r>
            <a:r>
              <a:rPr lang="ru-RU" dirty="0" err="1"/>
              <a:t>unique_ptr</a:t>
            </a:r>
            <a:r>
              <a:rPr lang="ru-RU" dirty="0"/>
              <a:t>&lt;T&gt;, которые указывают один и тот же адрес памяти. Если же мы попробуем определить два одновременно существующих указателя, которые указывают на один и тот же адрес, компилятор не скопирует код.</a:t>
            </a:r>
          </a:p>
          <a:p>
            <a:pPr algn="just"/>
            <a:r>
              <a:rPr lang="ru-RU" dirty="0"/>
              <a:t>И когда </a:t>
            </a:r>
            <a:r>
              <a:rPr lang="ru-RU" dirty="0" err="1"/>
              <a:t>unique_ptr</a:t>
            </a:r>
            <a:r>
              <a:rPr lang="ru-RU" dirty="0"/>
              <a:t> уничтожается, уничтожается и значение, на которое он указывает. Соответственно данный тип указателей полезен, когда нужен указатель на объект, на который НЕ будет других указателей и который будет удален после удаления </a:t>
            </a:r>
            <a:r>
              <a:rPr lang="ru-RU" i="1" dirty="0"/>
              <a:t>указателя.</a:t>
            </a:r>
          </a:p>
          <a:p>
            <a:endParaRPr lang="ru-RU" dirty="0"/>
          </a:p>
        </p:txBody>
      </p:sp>
    </p:spTree>
    <p:extLst>
      <p:ext uri="{BB962C8B-B14F-4D97-AF65-F5344CB8AC3E}">
        <p14:creationId xmlns:p14="http://schemas.microsoft.com/office/powerpoint/2010/main" val="3154721571"/>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8C8453-BB85-AF04-8863-B2A3AD00E43E}"/>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1D26EA59-6DCF-AFE9-6C10-44818A535575}"/>
              </a:ext>
            </a:extLst>
          </p:cNvPr>
          <p:cNvSpPr>
            <a:spLocks noGrp="1"/>
          </p:cNvSpPr>
          <p:nvPr>
            <p:ph idx="1"/>
          </p:nvPr>
        </p:nvSpPr>
        <p:spPr/>
        <p:txBody>
          <a:bodyPr/>
          <a:lstStyle/>
          <a:p>
            <a:r>
              <a:rPr lang="ru-RU" dirty="0"/>
              <a:t>По умолчанию </a:t>
            </a:r>
            <a:r>
              <a:rPr lang="ru-RU" dirty="0" err="1"/>
              <a:t>unique_ptr</a:t>
            </a:r>
            <a:r>
              <a:rPr lang="ru-RU" dirty="0"/>
              <a:t>&lt;T&gt; инициализируется значением </a:t>
            </a:r>
            <a:r>
              <a:rPr lang="ru-RU" b="1" dirty="0" err="1"/>
              <a:t>nullptr</a:t>
            </a:r>
            <a:endParaRPr lang="ru-RU" b="1" dirty="0"/>
          </a:p>
          <a:p>
            <a:endParaRPr lang="ru-RU" dirty="0"/>
          </a:p>
          <a:p>
            <a:r>
              <a:rPr lang="de-CH" dirty="0" err="1"/>
              <a:t>std</a:t>
            </a:r>
            <a:r>
              <a:rPr lang="de-CH" dirty="0"/>
              <a:t>::</a:t>
            </a:r>
            <a:r>
              <a:rPr lang="de-CH" dirty="0" err="1"/>
              <a:t>unique_ptr</a:t>
            </a:r>
            <a:r>
              <a:rPr lang="de-CH" dirty="0"/>
              <a:t>&lt;int&gt; </a:t>
            </a:r>
            <a:r>
              <a:rPr lang="de-CH" dirty="0" err="1"/>
              <a:t>ptr</a:t>
            </a:r>
            <a:r>
              <a:rPr lang="de-CH" dirty="0"/>
              <a:t>; </a:t>
            </a:r>
            <a:r>
              <a:rPr lang="de-CH" dirty="0">
                <a:solidFill>
                  <a:srgbClr val="00B050"/>
                </a:solidFill>
              </a:rPr>
              <a:t>// </a:t>
            </a:r>
            <a:r>
              <a:rPr lang="de-CH" dirty="0" err="1">
                <a:solidFill>
                  <a:srgbClr val="00B050"/>
                </a:solidFill>
              </a:rPr>
              <a:t>ptr</a:t>
            </a:r>
            <a:r>
              <a:rPr lang="de-CH" dirty="0">
                <a:solidFill>
                  <a:srgbClr val="00B050"/>
                </a:solidFill>
              </a:rPr>
              <a:t> = </a:t>
            </a:r>
            <a:r>
              <a:rPr lang="de-CH" dirty="0" err="1">
                <a:solidFill>
                  <a:srgbClr val="00B050"/>
                </a:solidFill>
              </a:rPr>
              <a:t>nullptr</a:t>
            </a:r>
            <a:endParaRPr lang="de-CH" dirty="0">
              <a:solidFill>
                <a:srgbClr val="00B050"/>
              </a:solidFill>
            </a:endParaRPr>
          </a:p>
          <a:p>
            <a:r>
              <a:rPr lang="de-CH" dirty="0">
                <a:solidFill>
                  <a:srgbClr val="00B050"/>
                </a:solidFill>
              </a:rPr>
              <a:t>// </a:t>
            </a:r>
            <a:r>
              <a:rPr lang="ru-RU" dirty="0">
                <a:solidFill>
                  <a:srgbClr val="00B050"/>
                </a:solidFill>
              </a:rPr>
              <a:t>аналогично</a:t>
            </a:r>
          </a:p>
          <a:p>
            <a:r>
              <a:rPr lang="de-CH" dirty="0" err="1"/>
              <a:t>std</a:t>
            </a:r>
            <a:r>
              <a:rPr lang="de-CH" dirty="0"/>
              <a:t>::</a:t>
            </a:r>
            <a:r>
              <a:rPr lang="de-CH" dirty="0" err="1"/>
              <a:t>unique_ptr</a:t>
            </a:r>
            <a:r>
              <a:rPr lang="de-CH" dirty="0"/>
              <a:t>&lt;int&gt; </a:t>
            </a:r>
            <a:r>
              <a:rPr lang="de-CH" dirty="0" err="1"/>
              <a:t>ptr</a:t>
            </a:r>
            <a:r>
              <a:rPr lang="de-CH" dirty="0"/>
              <a:t>{};</a:t>
            </a:r>
          </a:p>
          <a:p>
            <a:r>
              <a:rPr lang="de-CH" dirty="0" err="1"/>
              <a:t>std</a:t>
            </a:r>
            <a:r>
              <a:rPr lang="de-CH" dirty="0"/>
              <a:t>::</a:t>
            </a:r>
            <a:r>
              <a:rPr lang="de-CH" dirty="0" err="1"/>
              <a:t>unique_ptr</a:t>
            </a:r>
            <a:r>
              <a:rPr lang="de-CH" dirty="0"/>
              <a:t>&lt;int&gt; </a:t>
            </a:r>
            <a:r>
              <a:rPr lang="de-CH" dirty="0" err="1"/>
              <a:t>ptr</a:t>
            </a:r>
            <a:r>
              <a:rPr lang="de-CH" dirty="0"/>
              <a:t>{</a:t>
            </a:r>
            <a:r>
              <a:rPr lang="de-CH" dirty="0" err="1"/>
              <a:t>nullptr</a:t>
            </a:r>
            <a:r>
              <a:rPr lang="de-CH" dirty="0"/>
              <a:t>};</a:t>
            </a:r>
            <a:endParaRPr lang="ru-RU" dirty="0"/>
          </a:p>
          <a:p>
            <a:endParaRPr lang="ru-RU" dirty="0"/>
          </a:p>
          <a:p>
            <a:r>
              <a:rPr lang="ru-RU" dirty="0"/>
              <a:t>Чтобы выделить память и создать в ней объект, на который будет указывать указатель, применяется функция </a:t>
            </a:r>
            <a:r>
              <a:rPr lang="ru-RU" b="1" dirty="0" err="1"/>
              <a:t>std</a:t>
            </a:r>
            <a:r>
              <a:rPr lang="ru-RU" b="1" dirty="0"/>
              <a:t>::</a:t>
            </a:r>
            <a:r>
              <a:rPr lang="ru-RU" b="1" dirty="0" err="1"/>
              <a:t>make_unique</a:t>
            </a:r>
            <a:r>
              <a:rPr lang="ru-RU" b="1" dirty="0"/>
              <a:t>&lt;T&gt;</a:t>
            </a:r>
            <a:r>
              <a:rPr lang="ru-RU" dirty="0"/>
              <a:t>. В качестве параметра в нее передается объект, на который будет указывать указатель:</a:t>
            </a:r>
          </a:p>
          <a:p>
            <a:endParaRPr lang="ru-RU" dirty="0"/>
          </a:p>
          <a:p>
            <a:r>
              <a:rPr lang="de-CH" dirty="0"/>
              <a:t>	</a:t>
            </a:r>
          </a:p>
          <a:p>
            <a:r>
              <a:rPr lang="de-CH" dirty="0" err="1"/>
              <a:t>std</a:t>
            </a:r>
            <a:r>
              <a:rPr lang="de-CH" dirty="0"/>
              <a:t>::</a:t>
            </a:r>
            <a:r>
              <a:rPr lang="de-CH" dirty="0" err="1"/>
              <a:t>unique_ptr</a:t>
            </a:r>
            <a:r>
              <a:rPr lang="de-CH" dirty="0"/>
              <a:t>&lt;int&gt; </a:t>
            </a:r>
            <a:r>
              <a:rPr lang="de-CH" dirty="0" err="1"/>
              <a:t>ptr</a:t>
            </a:r>
            <a:r>
              <a:rPr lang="de-CH" dirty="0"/>
              <a:t> { </a:t>
            </a:r>
            <a:r>
              <a:rPr lang="de-CH" dirty="0" err="1"/>
              <a:t>std</a:t>
            </a:r>
            <a:r>
              <a:rPr lang="de-CH" dirty="0"/>
              <a:t>::</a:t>
            </a:r>
            <a:r>
              <a:rPr lang="de-CH" dirty="0" err="1"/>
              <a:t>make_unique</a:t>
            </a:r>
            <a:r>
              <a:rPr lang="de-CH" dirty="0"/>
              <a:t>&lt;int&gt;(125) };</a:t>
            </a:r>
            <a:endParaRPr lang="ru-RU" dirty="0"/>
          </a:p>
        </p:txBody>
      </p:sp>
    </p:spTree>
    <p:extLst>
      <p:ext uri="{BB962C8B-B14F-4D97-AF65-F5344CB8AC3E}">
        <p14:creationId xmlns:p14="http://schemas.microsoft.com/office/powerpoint/2010/main" val="3800755767"/>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2278D5-008E-CDEE-3411-F89A2D2F51CD}"/>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E4DBBA7A-AD9D-701F-87E4-593A31E4F2C9}"/>
              </a:ext>
            </a:extLst>
          </p:cNvPr>
          <p:cNvSpPr>
            <a:spLocks noGrp="1"/>
          </p:cNvSpPr>
          <p:nvPr>
            <p:ph idx="1"/>
          </p:nvPr>
        </p:nvSpPr>
        <p:spPr/>
        <p:txBody>
          <a:bodyPr/>
          <a:lstStyle/>
          <a:p>
            <a:r>
              <a:rPr lang="ru-RU" dirty="0"/>
              <a:t>Стоит отметить, что до принятия стандарта C++14 применялась другая форма создания указателя:</a:t>
            </a:r>
          </a:p>
          <a:p>
            <a:r>
              <a:rPr lang="de-CH" dirty="0"/>
              <a:t>	</a:t>
            </a:r>
          </a:p>
          <a:p>
            <a:r>
              <a:rPr lang="de-CH" dirty="0" err="1"/>
              <a:t>std</a:t>
            </a:r>
            <a:r>
              <a:rPr lang="de-CH" dirty="0"/>
              <a:t>::</a:t>
            </a:r>
            <a:r>
              <a:rPr lang="de-CH" dirty="0" err="1"/>
              <a:t>unique_ptr</a:t>
            </a:r>
            <a:r>
              <a:rPr lang="de-CH" dirty="0"/>
              <a:t>&lt;int&gt; </a:t>
            </a:r>
            <a:r>
              <a:rPr lang="de-CH" dirty="0" err="1"/>
              <a:t>ptr</a:t>
            </a:r>
            <a:r>
              <a:rPr lang="de-CH" dirty="0"/>
              <a:t> { </a:t>
            </a:r>
            <a:r>
              <a:rPr lang="de-CH" dirty="0" err="1"/>
              <a:t>new</a:t>
            </a:r>
            <a:r>
              <a:rPr lang="de-CH" dirty="0"/>
              <a:t> int(125) };</a:t>
            </a:r>
            <a:endParaRPr lang="ru-RU" dirty="0"/>
          </a:p>
          <a:p>
            <a:endParaRPr lang="ru-RU" dirty="0"/>
          </a:p>
          <a:p>
            <a:r>
              <a:rPr lang="ru-RU" dirty="0"/>
              <a:t>Для получения стандартного указателя из </a:t>
            </a:r>
            <a:r>
              <a:rPr lang="ru-RU" dirty="0" err="1"/>
              <a:t>std</a:t>
            </a:r>
            <a:r>
              <a:rPr lang="ru-RU" dirty="0"/>
              <a:t>::</a:t>
            </a:r>
            <a:r>
              <a:rPr lang="ru-RU" dirty="0" err="1"/>
              <a:t>unique_ptr</a:t>
            </a:r>
            <a:r>
              <a:rPr lang="ru-RU" dirty="0"/>
              <a:t> применяется функция </a:t>
            </a:r>
            <a:r>
              <a:rPr lang="ru-RU" b="1" dirty="0" err="1"/>
              <a:t>get</a:t>
            </a:r>
            <a:r>
              <a:rPr lang="ru-RU" b="1" dirty="0"/>
              <a:t>()</a:t>
            </a:r>
            <a:r>
              <a:rPr lang="ru-RU" dirty="0"/>
              <a:t>:</a:t>
            </a:r>
          </a:p>
          <a:p>
            <a:endParaRPr lang="ru-RU" dirty="0"/>
          </a:p>
          <a:p>
            <a:r>
              <a:rPr lang="de-CH" dirty="0" err="1"/>
              <a:t>std</a:t>
            </a:r>
            <a:r>
              <a:rPr lang="de-CH" dirty="0"/>
              <a:t>::</a:t>
            </a:r>
            <a:r>
              <a:rPr lang="de-CH" dirty="0" err="1"/>
              <a:t>unique_ptr</a:t>
            </a:r>
            <a:r>
              <a:rPr lang="de-CH" dirty="0"/>
              <a:t>&lt;int&gt; </a:t>
            </a:r>
            <a:r>
              <a:rPr lang="de-CH" dirty="0" err="1"/>
              <a:t>ptr</a:t>
            </a:r>
            <a:r>
              <a:rPr lang="de-CH" dirty="0"/>
              <a:t> { </a:t>
            </a:r>
            <a:r>
              <a:rPr lang="de-CH" dirty="0" err="1"/>
              <a:t>std</a:t>
            </a:r>
            <a:r>
              <a:rPr lang="de-CH" dirty="0"/>
              <a:t>::</a:t>
            </a:r>
            <a:r>
              <a:rPr lang="de-CH" dirty="0" err="1"/>
              <a:t>make_unique</a:t>
            </a:r>
            <a:r>
              <a:rPr lang="de-CH" dirty="0"/>
              <a:t>&lt;int&gt;(125) };</a:t>
            </a:r>
          </a:p>
          <a:p>
            <a:r>
              <a:rPr lang="de-CH" dirty="0"/>
              <a:t>int* </a:t>
            </a:r>
            <a:r>
              <a:rPr lang="de-CH" dirty="0" err="1"/>
              <a:t>pointer</a:t>
            </a:r>
            <a:r>
              <a:rPr lang="de-CH" dirty="0"/>
              <a:t> = </a:t>
            </a:r>
            <a:r>
              <a:rPr lang="de-CH" dirty="0" err="1"/>
              <a:t>ptr.get</a:t>
            </a:r>
            <a:r>
              <a:rPr lang="de-CH" dirty="0"/>
              <a:t>();</a:t>
            </a:r>
            <a:endParaRPr lang="ru-RU" dirty="0"/>
          </a:p>
        </p:txBody>
      </p:sp>
    </p:spTree>
    <p:extLst>
      <p:ext uri="{BB962C8B-B14F-4D97-AF65-F5344CB8AC3E}">
        <p14:creationId xmlns:p14="http://schemas.microsoft.com/office/powerpoint/2010/main" val="1504363441"/>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B1F29A-B618-24FF-FDF7-E6ED51ABB637}"/>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F7F19CA2-DAA6-0EAD-5815-E8D01DECA0AA}"/>
              </a:ext>
            </a:extLst>
          </p:cNvPr>
          <p:cNvSpPr>
            <a:spLocks noGrp="1"/>
          </p:cNvSpPr>
          <p:nvPr>
            <p:ph idx="1"/>
          </p:nvPr>
        </p:nvSpPr>
        <p:spPr/>
        <p:txBody>
          <a:bodyPr/>
          <a:lstStyle/>
          <a:p>
            <a:r>
              <a:rPr lang="ru-RU" dirty="0"/>
              <a:t>После определения интеллектуального указателя мы можем получать и изменять значение, на которое он указывает, так же, как и при работе с обычными указателями:</a:t>
            </a:r>
          </a:p>
          <a:p>
            <a:endParaRPr lang="ru-RU" sz="2000" dirty="0">
              <a:solidFill>
                <a:srgbClr val="000000"/>
              </a:solidFill>
              <a:highlight>
                <a:srgbClr val="FFFFFF"/>
              </a:highlight>
              <a:latin typeface="Cascadia Mono" panose="020B0609020000020004" pitchFamily="49" charset="0"/>
            </a:endParaRPr>
          </a:p>
          <a:p>
            <a:r>
              <a:rPr lang="de-CH" sz="1100" dirty="0">
                <a:solidFill>
                  <a:srgbClr val="808080"/>
                </a:solidFill>
                <a:highlight>
                  <a:srgbClr val="FFFFFF"/>
                </a:highlight>
                <a:latin typeface="Cascadia Mono" panose="020B0609020000020004" pitchFamily="49" charset="0"/>
              </a:rPr>
              <a:t>#include</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&lt;</a:t>
            </a:r>
            <a:r>
              <a:rPr lang="de-CH" sz="1100" dirty="0" err="1">
                <a:solidFill>
                  <a:srgbClr val="A31515"/>
                </a:solidFill>
                <a:highlight>
                  <a:srgbClr val="FFFFFF"/>
                </a:highlight>
                <a:latin typeface="Cascadia Mono" panose="020B0609020000020004" pitchFamily="49" charset="0"/>
              </a:rPr>
              <a:t>iostream</a:t>
            </a:r>
            <a:r>
              <a:rPr lang="de-CH" sz="1100" dirty="0">
                <a:solidFill>
                  <a:srgbClr val="A31515"/>
                </a:solidFill>
                <a:highlight>
                  <a:srgbClr val="FFFFFF"/>
                </a:highlight>
                <a:latin typeface="Cascadia Mono" panose="020B0609020000020004" pitchFamily="49" charset="0"/>
              </a:rPr>
              <a:t>&gt;</a:t>
            </a:r>
            <a:endParaRPr lang="de-CH" sz="1100" dirty="0">
              <a:solidFill>
                <a:srgbClr val="000000"/>
              </a:solidFill>
              <a:highlight>
                <a:srgbClr val="FFFFFF"/>
              </a:highlight>
              <a:latin typeface="Cascadia Mono" panose="020B0609020000020004" pitchFamily="49" charset="0"/>
            </a:endParaRPr>
          </a:p>
          <a:p>
            <a:r>
              <a:rPr lang="de-CH" sz="1100" dirty="0">
                <a:solidFill>
                  <a:srgbClr val="808080"/>
                </a:solidFill>
                <a:highlight>
                  <a:srgbClr val="FFFFFF"/>
                </a:highlight>
                <a:latin typeface="Cascadia Mono" panose="020B0609020000020004" pitchFamily="49" charset="0"/>
              </a:rPr>
              <a:t>#include</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&lt;</a:t>
            </a:r>
            <a:r>
              <a:rPr lang="de-CH" sz="1100" dirty="0" err="1">
                <a:solidFill>
                  <a:srgbClr val="A31515"/>
                </a:solidFill>
                <a:highlight>
                  <a:srgbClr val="FFFFFF"/>
                </a:highlight>
                <a:latin typeface="Cascadia Mono" panose="020B0609020000020004" pitchFamily="49" charset="0"/>
              </a:rPr>
              <a:t>memory</a:t>
            </a:r>
            <a:r>
              <a:rPr lang="de-CH" sz="1100" dirty="0">
                <a:solidFill>
                  <a:srgbClr val="A31515"/>
                </a:solidFill>
                <a:highlight>
                  <a:srgbClr val="FFFFFF"/>
                </a:highlight>
                <a:latin typeface="Cascadia Mono" panose="020B0609020000020004" pitchFamily="49" charset="0"/>
              </a:rPr>
              <a:t>&gt;</a:t>
            </a:r>
            <a:endParaRPr lang="de-CH" sz="1100" dirty="0">
              <a:solidFill>
                <a:srgbClr val="000000"/>
              </a:solidFill>
              <a:highlight>
                <a:srgbClr val="FFFFFF"/>
              </a:highlight>
              <a:latin typeface="Cascadia Mono" panose="020B0609020000020004" pitchFamily="49" charset="0"/>
            </a:endParaRPr>
          </a:p>
          <a:p>
            <a:endParaRPr lang="ru-RU" sz="1100" dirty="0">
              <a:solidFill>
                <a:srgbClr val="000000"/>
              </a:solidFill>
              <a:highlight>
                <a:srgbClr val="FFFFFF"/>
              </a:highlight>
              <a:latin typeface="Cascadia Mono" panose="020B0609020000020004" pitchFamily="49" charset="0"/>
            </a:endParaRPr>
          </a:p>
          <a:p>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main</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 указатель </a:t>
            </a:r>
            <a:r>
              <a:rPr lang="ru-RU" sz="1100" dirty="0" err="1">
                <a:solidFill>
                  <a:srgbClr val="008000"/>
                </a:solidFill>
                <a:highlight>
                  <a:srgbClr val="FFFFFF"/>
                </a:highlight>
                <a:latin typeface="Cascadia Mono" panose="020B0609020000020004" pitchFamily="49" charset="0"/>
              </a:rPr>
              <a:t>ptr</a:t>
            </a:r>
            <a:r>
              <a:rPr lang="ru-RU" sz="1100" dirty="0">
                <a:solidFill>
                  <a:srgbClr val="008000"/>
                </a:solidFill>
                <a:highlight>
                  <a:srgbClr val="FFFFFF"/>
                </a:highlight>
                <a:latin typeface="Cascadia Mono" panose="020B0609020000020004" pitchFamily="49" charset="0"/>
              </a:rPr>
              <a:t> указывает на объект 125</a:t>
            </a:r>
            <a:endParaRPr lang="ru-RU" sz="1100" dirty="0">
              <a:solidFill>
                <a:srgbClr val="000000"/>
              </a:solidFill>
              <a:highlight>
                <a:srgbClr val="FFFFFF"/>
              </a:highlight>
              <a:latin typeface="Cascadia Mono" panose="020B0609020000020004" pitchFamily="49" charset="0"/>
            </a:endParaRP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2B91AF"/>
                </a:solidFill>
                <a:highlight>
                  <a:srgbClr val="FFFFFF"/>
                </a:highlight>
                <a:latin typeface="Cascadia Mono" panose="020B0609020000020004" pitchFamily="49" charset="0"/>
              </a:rPr>
              <a:t>unique_ptr</a:t>
            </a:r>
            <a:r>
              <a:rPr lang="de-CH" sz="1100" dirty="0">
                <a:solidFill>
                  <a:srgbClr val="000000"/>
                </a:solidFill>
                <a:highlight>
                  <a:srgbClr val="FFFFFF"/>
                </a:highlight>
                <a:latin typeface="Cascadia Mono" panose="020B0609020000020004" pitchFamily="49" charset="0"/>
              </a:rPr>
              <a:t>&lt;</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&gt; </a:t>
            </a:r>
            <a:r>
              <a:rPr lang="de-CH" sz="1100" dirty="0" err="1">
                <a:solidFill>
                  <a:srgbClr val="000000"/>
                </a:solidFill>
                <a:highlight>
                  <a:srgbClr val="FFFFFF"/>
                </a:highlight>
                <a:latin typeface="Cascadia Mono" panose="020B0609020000020004" pitchFamily="49" charset="0"/>
              </a:rPr>
              <a:t>ptr</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make_unique</a:t>
            </a:r>
            <a:r>
              <a:rPr lang="de-CH" sz="1100" dirty="0">
                <a:solidFill>
                  <a:srgbClr val="000000"/>
                </a:solidFill>
                <a:highlight>
                  <a:srgbClr val="FFFFFF"/>
                </a:highlight>
                <a:latin typeface="Cascadia Mono" panose="020B0609020000020004" pitchFamily="49" charset="0"/>
              </a:rPr>
              <a:t>&lt;</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&gt;(125) };</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a:t>
            </a:r>
            <a:r>
              <a:rPr lang="de-CH" sz="1100" dirty="0" err="1">
                <a:solidFill>
                  <a:srgbClr val="A31515"/>
                </a:solidFill>
                <a:highlight>
                  <a:srgbClr val="FFFFFF"/>
                </a:highlight>
                <a:latin typeface="Cascadia Mono" panose="020B0609020000020004" pitchFamily="49" charset="0"/>
              </a:rPr>
              <a:t>Address</a:t>
            </a:r>
            <a:r>
              <a:rPr lang="de-CH" sz="1100" dirty="0">
                <a:solidFill>
                  <a:srgbClr val="A31515"/>
                </a:solidFill>
                <a:highlight>
                  <a:srgbClr val="FFFFFF"/>
                </a:highlight>
                <a:latin typeface="Cascadia Mono" panose="020B0609020000020004" pitchFamily="49" charset="0"/>
              </a:rPr>
              <a:t>: "</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ptr.get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endl</a:t>
            </a:r>
            <a:r>
              <a:rPr lang="de-CH" sz="1100" dirty="0">
                <a:solidFill>
                  <a:srgbClr val="000000"/>
                </a:solidFill>
                <a:highlight>
                  <a:srgbClr val="FFFFFF"/>
                </a:highlight>
                <a:latin typeface="Cascadia Mono" panose="020B0609020000020004" pitchFamily="49" charset="0"/>
              </a:rPr>
              <a:t>;   </a:t>
            </a:r>
            <a:r>
              <a:rPr lang="de-CH" sz="1100" dirty="0">
                <a:solidFill>
                  <a:srgbClr val="008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получим адрес объекта</a:t>
            </a:r>
            <a:endParaRPr lang="ru-RU" sz="1100" dirty="0">
              <a:solidFill>
                <a:srgbClr val="000000"/>
              </a:solidFill>
              <a:highlight>
                <a:srgbClr val="FFFFFF"/>
              </a:highlight>
              <a:latin typeface="Cascadia Mono" panose="020B0609020000020004" pitchFamily="49" charset="0"/>
            </a:endParaRP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"Initial </a:t>
            </a:r>
            <a:r>
              <a:rPr lang="de-CH" sz="1100" dirty="0" err="1">
                <a:solidFill>
                  <a:srgbClr val="A31515"/>
                </a:solidFill>
                <a:highlight>
                  <a:srgbClr val="FFFFFF"/>
                </a:highlight>
                <a:latin typeface="Cascadia Mono" panose="020B0609020000020004" pitchFamily="49" charset="0"/>
              </a:rPr>
              <a:t>value</a:t>
            </a:r>
            <a:r>
              <a:rPr lang="de-CH" sz="1100" dirty="0">
                <a:solidFill>
                  <a:srgbClr val="A31515"/>
                </a:solidFill>
                <a:highlight>
                  <a:srgbClr val="FFFFFF"/>
                </a:highlight>
                <a:latin typeface="Cascadia Mono" panose="020B0609020000020004" pitchFamily="49" charset="0"/>
              </a:rPr>
              <a:t>: "</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ptr</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endl</a:t>
            </a:r>
            <a:r>
              <a:rPr lang="de-CH" sz="1100" dirty="0">
                <a:solidFill>
                  <a:srgbClr val="000000"/>
                </a:solidFill>
                <a:highlight>
                  <a:srgbClr val="FFFFFF"/>
                </a:highlight>
                <a:latin typeface="Cascadia Mono" panose="020B0609020000020004" pitchFamily="49" charset="0"/>
              </a:rPr>
              <a:t>;     </a:t>
            </a:r>
            <a:r>
              <a:rPr lang="de-CH" sz="1100" dirty="0">
                <a:solidFill>
                  <a:srgbClr val="008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получим значение объекта</a:t>
            </a:r>
            <a:endParaRPr lang="ru-RU" sz="1100" dirty="0">
              <a:solidFill>
                <a:srgbClr val="000000"/>
              </a:solidFill>
              <a:highlight>
                <a:srgbClr val="FFFFFF"/>
              </a:highlight>
              <a:latin typeface="Cascadia Mono" panose="020B0609020000020004" pitchFamily="49" charset="0"/>
            </a:endParaRPr>
          </a:p>
          <a:p>
            <a:endParaRPr lang="ru-RU" sz="1100" dirty="0">
              <a:solidFill>
                <a:srgbClr val="000000"/>
              </a:solidFill>
              <a:highlight>
                <a:srgbClr val="FFFFFF"/>
              </a:highlight>
              <a:latin typeface="Cascadia Mono" panose="020B0609020000020004" pitchFamily="49" charset="0"/>
            </a:endParaRPr>
          </a:p>
          <a:p>
            <a:r>
              <a:rPr lang="ru-RU" sz="1100" dirty="0">
                <a:solidFill>
                  <a:srgbClr val="000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 изменяем значение</a:t>
            </a:r>
            <a:endParaRPr lang="ru-RU" sz="1100" dirty="0">
              <a:solidFill>
                <a:srgbClr val="000000"/>
              </a:solidFill>
              <a:highlight>
                <a:srgbClr val="FFFFFF"/>
              </a:highlight>
              <a:latin typeface="Cascadia Mono" panose="020B0609020000020004" pitchFamily="49" charset="0"/>
            </a:endParaRPr>
          </a:p>
          <a:p>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ptr</a:t>
            </a:r>
            <a:r>
              <a:rPr lang="de-CH" sz="1100" dirty="0">
                <a:solidFill>
                  <a:srgbClr val="000000"/>
                </a:solidFill>
                <a:highlight>
                  <a:srgbClr val="FFFFFF"/>
                </a:highlight>
                <a:latin typeface="Cascadia Mono" panose="020B0609020000020004" pitchFamily="49" charset="0"/>
              </a:rPr>
              <a:t> = 254;</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"New </a:t>
            </a:r>
            <a:r>
              <a:rPr lang="de-CH" sz="1100" dirty="0" err="1">
                <a:solidFill>
                  <a:srgbClr val="A31515"/>
                </a:solidFill>
                <a:highlight>
                  <a:srgbClr val="FFFFFF"/>
                </a:highlight>
                <a:latin typeface="Cascadia Mono" panose="020B0609020000020004" pitchFamily="49" charset="0"/>
              </a:rPr>
              <a:t>value</a:t>
            </a:r>
            <a:r>
              <a:rPr lang="de-CH" sz="1100" dirty="0">
                <a:solidFill>
                  <a:srgbClr val="A31515"/>
                </a:solidFill>
                <a:highlight>
                  <a:srgbClr val="FFFFFF"/>
                </a:highlight>
                <a:latin typeface="Cascadia Mono" panose="020B0609020000020004" pitchFamily="49" charset="0"/>
              </a:rPr>
              <a:t>: "</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ptr</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endl</a:t>
            </a:r>
            <a:r>
              <a:rPr lang="de-CH" sz="1100" dirty="0">
                <a:solidFill>
                  <a:srgbClr val="000000"/>
                </a:solidFill>
                <a:highlight>
                  <a:srgbClr val="FFFFFF"/>
                </a:highlight>
                <a:latin typeface="Cascadia Mono" panose="020B0609020000020004" pitchFamily="49" charset="0"/>
              </a:rPr>
              <a:t>;     </a:t>
            </a:r>
            <a:r>
              <a:rPr lang="de-CH" sz="1100" dirty="0">
                <a:solidFill>
                  <a:srgbClr val="008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получим значение объекта</a:t>
            </a:r>
            <a:endParaRPr lang="ru-RU" sz="1100" dirty="0">
              <a:solidFill>
                <a:srgbClr val="000000"/>
              </a:solidFill>
              <a:highlight>
                <a:srgbClr val="FFFFFF"/>
              </a:highlight>
              <a:latin typeface="Cascadia Mono" panose="020B0609020000020004" pitchFamily="49" charset="0"/>
            </a:endParaRPr>
          </a:p>
          <a:p>
            <a:r>
              <a:rPr lang="ru-RU" sz="1100" dirty="0">
                <a:solidFill>
                  <a:srgbClr val="000000"/>
                </a:solidFill>
                <a:highlight>
                  <a:srgbClr val="FFFFFF"/>
                </a:highlight>
                <a:latin typeface="Cascadia Mono" panose="020B0609020000020004" pitchFamily="49" charset="0"/>
              </a:rPr>
              <a:t>}</a:t>
            </a:r>
            <a:endParaRPr lang="ru-RU" sz="1100" dirty="0"/>
          </a:p>
        </p:txBody>
      </p:sp>
    </p:spTree>
    <p:extLst>
      <p:ext uri="{BB962C8B-B14F-4D97-AF65-F5344CB8AC3E}">
        <p14:creationId xmlns:p14="http://schemas.microsoft.com/office/powerpoint/2010/main" val="50666200"/>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B0D9F8-BE01-F6DD-F831-B8655933E9F9}"/>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AE286126-E15D-562D-EB0C-ED5E6864CB37}"/>
              </a:ext>
            </a:extLst>
          </p:cNvPr>
          <p:cNvSpPr>
            <a:spLocks noGrp="1"/>
          </p:cNvSpPr>
          <p:nvPr>
            <p:ph idx="1"/>
          </p:nvPr>
        </p:nvSpPr>
        <p:spPr/>
        <p:txBody>
          <a:bodyPr/>
          <a:lstStyle/>
          <a:p>
            <a:endParaRPr lang="ru-RU" sz="1600" dirty="0">
              <a:solidFill>
                <a:srgbClr val="80808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memory</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r>
              <a:rPr lang="ru-RU" sz="1600" dirty="0" err="1">
                <a:solidFill>
                  <a:srgbClr val="0000FF"/>
                </a:solidFill>
                <a:highlight>
                  <a:srgbClr val="FFFFFF"/>
                </a:highlight>
                <a:latin typeface="Cascadia Mono" panose="020B0609020000020004" pitchFamily="49" charset="0"/>
              </a:rPr>
              <a:t>unsigned</a:t>
            </a:r>
            <a:r>
              <a:rPr lang="ru-RU" sz="1600" dirty="0">
                <a:solidFill>
                  <a:srgbClr val="000000"/>
                </a:solidFill>
                <a:highlight>
                  <a:srgbClr val="FFFFFF"/>
                </a:highlight>
                <a:latin typeface="Cascadia Mono" panose="020B0609020000020004" pitchFamily="49" charset="0"/>
              </a:rPr>
              <a:t> n{ 5 };   </a:t>
            </a:r>
            <a:r>
              <a:rPr lang="ru-RU" sz="1600" dirty="0">
                <a:solidFill>
                  <a:srgbClr val="008000"/>
                </a:solidFill>
                <a:highlight>
                  <a:srgbClr val="FFFFFF"/>
                </a:highlight>
                <a:latin typeface="Cascadia Mono" panose="020B0609020000020004" pitchFamily="49" charset="0"/>
              </a:rPr>
              <a:t>// размер массива</a:t>
            </a:r>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auto</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pnumbers</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std</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make_unique</a:t>
            </a:r>
            <a:r>
              <a:rPr lang="de-CH" sz="1600" dirty="0">
                <a:solidFill>
                  <a:srgbClr val="000000"/>
                </a:solidFill>
                <a:highlight>
                  <a:srgbClr val="FFFFFF"/>
                </a:highlight>
                <a:latin typeface="Cascadia Mono" panose="020B0609020000020004" pitchFamily="49" charset="0"/>
              </a:rPr>
              <a:t>&lt;</a:t>
            </a:r>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[]&gt;(n) };    </a:t>
            </a:r>
            <a:r>
              <a:rPr lang="de-CH" sz="1600" dirty="0">
                <a:solidFill>
                  <a:srgbClr val="008000"/>
                </a:solidFill>
                <a:highlight>
                  <a:srgbClr val="FFFFFF"/>
                </a:highlight>
                <a:latin typeface="Cascadia Mono" panose="020B0609020000020004" pitchFamily="49" charset="0"/>
              </a:rPr>
              <a:t>// </a:t>
            </a:r>
            <a:r>
              <a:rPr lang="ru-RU" sz="1600" dirty="0">
                <a:solidFill>
                  <a:srgbClr val="008000"/>
                </a:solidFill>
                <a:highlight>
                  <a:srgbClr val="FFFFFF"/>
                </a:highlight>
                <a:latin typeface="Cascadia Mono" panose="020B0609020000020004" pitchFamily="49" charset="0"/>
              </a:rPr>
              <a:t>массив {0, 0, 0, 0, 0}</a:t>
            </a:r>
            <a:endParaRPr lang="ru-RU"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A31515"/>
                </a:solidFill>
                <a:highlight>
                  <a:srgbClr val="FFFFFF"/>
                </a:highlight>
                <a:latin typeface="Cascadia Mono" panose="020B0609020000020004" pitchFamily="49" charset="0"/>
              </a:rPr>
              <a:t>"</a:t>
            </a:r>
            <a:r>
              <a:rPr lang="en-US" sz="1600" dirty="0" err="1">
                <a:solidFill>
                  <a:srgbClr val="A31515"/>
                </a:solidFill>
                <a:highlight>
                  <a:srgbClr val="FFFFFF"/>
                </a:highlight>
                <a:latin typeface="Cascadia Mono" panose="020B0609020000020004" pitchFamily="49" charset="0"/>
              </a:rPr>
              <a:t>pnumbers</a:t>
            </a:r>
            <a:r>
              <a:rPr lang="en-US" sz="1600" dirty="0">
                <a:solidFill>
                  <a:srgbClr val="A31515"/>
                </a:solidFill>
                <a:highlight>
                  <a:srgbClr val="FFFFFF"/>
                </a:highlight>
                <a:latin typeface="Cascadia Mono" panose="020B0609020000020004" pitchFamily="49" charset="0"/>
              </a:rPr>
              <a:t>[1] initial value: "</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pnumbers</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1</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pnumbers</a:t>
            </a:r>
            <a:r>
              <a:rPr lang="en-US" sz="1600" dirty="0">
                <a:solidFill>
                  <a:srgbClr val="008000"/>
                </a:solidFill>
                <a:highlight>
                  <a:srgbClr val="FFFFFF"/>
                </a:highlight>
                <a:latin typeface="Cascadia Mono" panose="020B0609020000020004" pitchFamily="49" charset="0"/>
              </a:rPr>
              <a:t>[1] initial value: 0</a:t>
            </a:r>
            <a:endParaRPr lang="en-US" sz="1600" dirty="0">
              <a:solidFill>
                <a:srgbClr val="000000"/>
              </a:solidFill>
              <a:highlight>
                <a:srgbClr val="FFFFFF"/>
              </a:highlight>
              <a:latin typeface="Cascadia Mono" panose="020B0609020000020004" pitchFamily="49" charset="0"/>
            </a:endParaRPr>
          </a:p>
          <a:p>
            <a:r>
              <a:rPr lang="ru-RU" sz="1600" dirty="0">
                <a:solidFill>
                  <a:srgbClr val="000000"/>
                </a:solidFill>
                <a:highlight>
                  <a:srgbClr val="FFFFFF"/>
                </a:highlight>
                <a:latin typeface="Cascadia Mono" panose="020B0609020000020004" pitchFamily="49" charset="0"/>
              </a:rPr>
              <a:t>    </a:t>
            </a:r>
            <a:r>
              <a:rPr lang="ru-RU" sz="1600" dirty="0" err="1">
                <a:solidFill>
                  <a:srgbClr val="000000"/>
                </a:solidFill>
                <a:highlight>
                  <a:srgbClr val="FFFFFF"/>
                </a:highlight>
                <a:latin typeface="Cascadia Mono" panose="020B0609020000020004" pitchFamily="49" charset="0"/>
              </a:rPr>
              <a:t>pnumbers</a:t>
            </a:r>
            <a:r>
              <a:rPr lang="ru-RU" sz="1600" dirty="0">
                <a:solidFill>
                  <a:srgbClr val="008080"/>
                </a:solidFill>
                <a:highlight>
                  <a:srgbClr val="FFFFFF"/>
                </a:highlight>
                <a:latin typeface="Cascadia Mono" panose="020B0609020000020004" pitchFamily="49" charset="0"/>
              </a:rPr>
              <a:t>[</a:t>
            </a:r>
            <a:r>
              <a:rPr lang="ru-RU" sz="1600" dirty="0">
                <a:solidFill>
                  <a:srgbClr val="000000"/>
                </a:solidFill>
                <a:highlight>
                  <a:srgbClr val="FFFFFF"/>
                </a:highlight>
                <a:latin typeface="Cascadia Mono" panose="020B0609020000020004" pitchFamily="49" charset="0"/>
              </a:rPr>
              <a:t>1</a:t>
            </a:r>
            <a:r>
              <a:rPr lang="ru-RU" sz="1600" dirty="0">
                <a:solidFill>
                  <a:srgbClr val="008080"/>
                </a:solidFill>
                <a:highlight>
                  <a:srgbClr val="FFFFFF"/>
                </a:highlight>
                <a:latin typeface="Cascadia Mono" panose="020B0609020000020004" pitchFamily="49" charset="0"/>
              </a:rPr>
              <a:t>]</a:t>
            </a:r>
            <a:r>
              <a:rPr lang="ru-RU" sz="1600" dirty="0">
                <a:solidFill>
                  <a:srgbClr val="000000"/>
                </a:solidFill>
                <a:highlight>
                  <a:srgbClr val="FFFFFF"/>
                </a:highlight>
                <a:latin typeface="Cascadia Mono" panose="020B0609020000020004" pitchFamily="49" charset="0"/>
              </a:rPr>
              <a:t> = 121;  </a:t>
            </a:r>
            <a:r>
              <a:rPr lang="ru-RU" sz="1600" dirty="0">
                <a:solidFill>
                  <a:srgbClr val="008000"/>
                </a:solidFill>
                <a:highlight>
                  <a:srgbClr val="FFFFFF"/>
                </a:highlight>
                <a:latin typeface="Cascadia Mono" panose="020B0609020000020004" pitchFamily="49" charset="0"/>
              </a:rPr>
              <a:t>// изменяем значение</a:t>
            </a:r>
            <a:endParaRPr lang="ru-RU" sz="1600" dirty="0">
              <a:solidFill>
                <a:srgbClr val="000000"/>
              </a:solidFill>
              <a:highlight>
                <a:srgbClr val="FFFFFF"/>
              </a:highlight>
              <a:latin typeface="Cascadia Mono" panose="020B0609020000020004" pitchFamily="49" charset="0"/>
            </a:endParaRP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A31515"/>
                </a:solidFill>
                <a:highlight>
                  <a:srgbClr val="FFFFFF"/>
                </a:highlight>
                <a:latin typeface="Cascadia Mono" panose="020B0609020000020004" pitchFamily="49" charset="0"/>
              </a:rPr>
              <a:t>"</a:t>
            </a:r>
            <a:r>
              <a:rPr lang="en-US" sz="1600" dirty="0" err="1">
                <a:solidFill>
                  <a:srgbClr val="A31515"/>
                </a:solidFill>
                <a:highlight>
                  <a:srgbClr val="FFFFFF"/>
                </a:highlight>
                <a:latin typeface="Cascadia Mono" panose="020B0609020000020004" pitchFamily="49" charset="0"/>
              </a:rPr>
              <a:t>pnumbers</a:t>
            </a:r>
            <a:r>
              <a:rPr lang="en-US" sz="1600" dirty="0">
                <a:solidFill>
                  <a:srgbClr val="A31515"/>
                </a:solidFill>
                <a:highlight>
                  <a:srgbClr val="FFFFFF"/>
                </a:highlight>
                <a:latin typeface="Cascadia Mono" panose="020B0609020000020004" pitchFamily="49" charset="0"/>
              </a:rPr>
              <a:t>[1] new value: "</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pnumbers</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1</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pnumbers</a:t>
            </a:r>
            <a:r>
              <a:rPr lang="en-US" sz="1600" dirty="0">
                <a:solidFill>
                  <a:srgbClr val="008000"/>
                </a:solidFill>
                <a:highlight>
                  <a:srgbClr val="FFFFFF"/>
                </a:highlight>
                <a:latin typeface="Cascadia Mono" panose="020B0609020000020004" pitchFamily="49" charset="0"/>
              </a:rPr>
              <a:t>[1] new value: 121</a:t>
            </a:r>
            <a:endParaRPr lang="en-US" sz="1600" dirty="0">
              <a:solidFill>
                <a:srgbClr val="000000"/>
              </a:solidFill>
              <a:highlight>
                <a:srgbClr val="FFFFFF"/>
              </a:highlight>
              <a:latin typeface="Cascadia Mono" panose="020B0609020000020004" pitchFamily="49" charset="0"/>
            </a:endParaRP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2863392231"/>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3172CF-A13A-EA06-AA84-B9E21ACCBEDD}"/>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B768DFF7-B4D0-0C53-12D5-6C757B4BAC32}"/>
              </a:ext>
            </a:extLst>
          </p:cNvPr>
          <p:cNvSpPr>
            <a:spLocks noGrp="1"/>
          </p:cNvSpPr>
          <p:nvPr>
            <p:ph idx="1"/>
          </p:nvPr>
        </p:nvSpPr>
        <p:spPr/>
        <p:txBody>
          <a:bodyPr/>
          <a:lstStyle/>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memory</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r>
              <a:rPr lang="ru-RU" sz="1600" dirty="0" err="1">
                <a:solidFill>
                  <a:srgbClr val="0000FF"/>
                </a:solidFill>
                <a:highlight>
                  <a:srgbClr val="FFFFFF"/>
                </a:highlight>
                <a:latin typeface="Cascadia Mono" panose="020B0609020000020004" pitchFamily="49" charset="0"/>
              </a:rPr>
              <a:t>unsigned</a:t>
            </a:r>
            <a:r>
              <a:rPr lang="ru-RU" sz="1600" dirty="0">
                <a:solidFill>
                  <a:srgbClr val="000000"/>
                </a:solidFill>
                <a:highlight>
                  <a:srgbClr val="FFFFFF"/>
                </a:highlight>
                <a:latin typeface="Cascadia Mono" panose="020B0609020000020004" pitchFamily="49" charset="0"/>
              </a:rPr>
              <a:t> n{ 5 };   </a:t>
            </a:r>
            <a:r>
              <a:rPr lang="ru-RU" sz="1600" dirty="0">
                <a:solidFill>
                  <a:srgbClr val="008000"/>
                </a:solidFill>
                <a:highlight>
                  <a:srgbClr val="FFFFFF"/>
                </a:highlight>
                <a:latin typeface="Cascadia Mono" panose="020B0609020000020004" pitchFamily="49" charset="0"/>
              </a:rPr>
              <a:t>// размер массива</a:t>
            </a:r>
            <a:endParaRPr lang="ru-RU" sz="1600" dirty="0">
              <a:solidFill>
                <a:srgbClr val="000000"/>
              </a:solidFill>
              <a:highlight>
                <a:srgbClr val="FFFFFF"/>
              </a:highlight>
              <a:latin typeface="Cascadia Mono" panose="020B0609020000020004" pitchFamily="49" charset="0"/>
            </a:endParaRPr>
          </a:p>
          <a:p>
            <a:r>
              <a:rPr lang="en-US" sz="1600" dirty="0">
                <a:solidFill>
                  <a:srgbClr val="000000"/>
                </a:solidFill>
                <a:highlight>
                  <a:srgbClr val="FFFFFF"/>
                </a:highlight>
                <a:latin typeface="Cascadia Mono" panose="020B0609020000020004" pitchFamily="49" charset="0"/>
              </a:rPr>
              <a:t>    </a:t>
            </a:r>
            <a:r>
              <a:rPr lang="en-US" sz="1600" dirty="0">
                <a:solidFill>
                  <a:srgbClr val="0000FF"/>
                </a:solidFill>
                <a:highlight>
                  <a:srgbClr val="FFFFFF"/>
                </a:highlight>
                <a:latin typeface="Cascadia Mono" panose="020B0609020000020004" pitchFamily="49" charset="0"/>
              </a:rPr>
              <a:t>auto</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pnumbers</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make_unique</a:t>
            </a:r>
            <a:r>
              <a:rPr lang="en-US" sz="1600" dirty="0">
                <a:solidFill>
                  <a:srgbClr val="000000"/>
                </a:solidFill>
                <a:highlight>
                  <a:srgbClr val="FFFFFF"/>
                </a:highlight>
                <a:latin typeface="Cascadia Mono" panose="020B0609020000020004" pitchFamily="49" charset="0"/>
              </a:rPr>
              <a:t>&lt;</a:t>
            </a:r>
            <a:r>
              <a:rPr lang="en-US" sz="1600" dirty="0">
                <a:solidFill>
                  <a:srgbClr val="0000FF"/>
                </a:solidFill>
                <a:highlight>
                  <a:srgbClr val="FFFFFF"/>
                </a:highlight>
                <a:latin typeface="Cascadia Mono" panose="020B0609020000020004" pitchFamily="49" charset="0"/>
              </a:rPr>
              <a:t>int</a:t>
            </a:r>
            <a:r>
              <a:rPr lang="en-US" sz="1600" dirty="0">
                <a:solidFill>
                  <a:srgbClr val="000000"/>
                </a:solidFill>
                <a:highlight>
                  <a:srgbClr val="FFFFFF"/>
                </a:highlight>
                <a:latin typeface="Cascadia Mono" panose="020B0609020000020004" pitchFamily="49" charset="0"/>
              </a:rPr>
              <a:t>[]&gt;(n) };    </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массив</a:t>
            </a:r>
            <a:r>
              <a:rPr lang="en-US" sz="1600" dirty="0">
                <a:solidFill>
                  <a:srgbClr val="008000"/>
                </a:solidFill>
                <a:highlight>
                  <a:srgbClr val="FFFFFF"/>
                </a:highlight>
                <a:latin typeface="Cascadia Mono" panose="020B0609020000020004" pitchFamily="49" charset="0"/>
              </a:rPr>
              <a:t> </a:t>
            </a:r>
            <a:r>
              <a:rPr lang="en-US" sz="1600" dirty="0" err="1">
                <a:solidFill>
                  <a:srgbClr val="008000"/>
                </a:solidFill>
                <a:highlight>
                  <a:srgbClr val="FFFFFF"/>
                </a:highlight>
                <a:latin typeface="Cascadia Mono" panose="020B0609020000020004" pitchFamily="49" charset="0"/>
              </a:rPr>
              <a:t>из</a:t>
            </a:r>
            <a:r>
              <a:rPr lang="en-US" sz="1600" dirty="0">
                <a:solidFill>
                  <a:srgbClr val="008000"/>
                </a:solidFill>
                <a:highlight>
                  <a:srgbClr val="FFFFFF"/>
                </a:highlight>
                <a:latin typeface="Cascadia Mono" panose="020B0609020000020004" pitchFamily="49" charset="0"/>
              </a:rPr>
              <a:t> n </a:t>
            </a:r>
            <a:r>
              <a:rPr lang="en-US" sz="1600" dirty="0" err="1">
                <a:solidFill>
                  <a:srgbClr val="008000"/>
                </a:solidFill>
                <a:highlight>
                  <a:srgbClr val="FFFFFF"/>
                </a:highlight>
                <a:latin typeface="Cascadia Mono" panose="020B0609020000020004" pitchFamily="49" charset="0"/>
              </a:rPr>
              <a:t>элементов</a:t>
            </a:r>
            <a:endParaRPr lang="en-US"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ru-RU" sz="1600" dirty="0">
                <a:solidFill>
                  <a:srgbClr val="000000"/>
                </a:solidFill>
                <a:highlight>
                  <a:srgbClr val="FFFFFF"/>
                </a:highlight>
                <a:latin typeface="Cascadia Mono" panose="020B0609020000020004" pitchFamily="49" charset="0"/>
              </a:rPr>
              <a:t>    </a:t>
            </a:r>
            <a:r>
              <a:rPr lang="ru-RU" sz="1600" dirty="0">
                <a:solidFill>
                  <a:srgbClr val="008000"/>
                </a:solidFill>
                <a:highlight>
                  <a:srgbClr val="FFFFFF"/>
                </a:highlight>
                <a:latin typeface="Cascadia Mono" panose="020B0609020000020004" pitchFamily="49" charset="0"/>
              </a:rPr>
              <a:t>// изменим и выведем все элементы на консоль</a:t>
            </a:r>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for</a:t>
            </a:r>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unsigned</a:t>
            </a:r>
            <a:r>
              <a:rPr lang="de-CH" sz="1600" dirty="0">
                <a:solidFill>
                  <a:srgbClr val="000000"/>
                </a:solidFill>
                <a:highlight>
                  <a:srgbClr val="FFFFFF"/>
                </a:highlight>
                <a:latin typeface="Cascadia Mono" panose="020B0609020000020004" pitchFamily="49" charset="0"/>
              </a:rPr>
              <a:t> i{}; i &lt; n; i++)</a:t>
            </a:r>
          </a:p>
          <a:p>
            <a:r>
              <a:rPr lang="ru-RU" sz="1600" dirty="0">
                <a:solidFill>
                  <a:srgbClr val="000000"/>
                </a:solidFill>
                <a:highlight>
                  <a:srgbClr val="FFFFFF"/>
                </a:highlight>
                <a:latin typeface="Cascadia Mono" panose="020B0609020000020004" pitchFamily="49" charset="0"/>
              </a:rPr>
              <a:t>    {</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pnumbers</a:t>
            </a:r>
            <a:r>
              <a:rPr lang="de-CH" sz="1600" dirty="0">
                <a:solidFill>
                  <a:srgbClr val="008080"/>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i</a:t>
            </a:r>
            <a:r>
              <a:rPr lang="de-CH" sz="1600" dirty="0">
                <a:solidFill>
                  <a:srgbClr val="008080"/>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 = i + 1;</a:t>
            </a: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A31515"/>
                </a:solidFill>
                <a:highlight>
                  <a:srgbClr val="FFFFFF"/>
                </a:highlight>
                <a:latin typeface="Cascadia Mono" panose="020B0609020000020004" pitchFamily="49" charset="0"/>
              </a:rPr>
              <a:t>"</a:t>
            </a:r>
            <a:r>
              <a:rPr lang="en-US" sz="1600" dirty="0" err="1">
                <a:solidFill>
                  <a:srgbClr val="A31515"/>
                </a:solidFill>
                <a:highlight>
                  <a:srgbClr val="FFFFFF"/>
                </a:highlight>
                <a:latin typeface="Cascadia Mono" panose="020B0609020000020004" pitchFamily="49" charset="0"/>
              </a:rPr>
              <a:t>pnumbers</a:t>
            </a:r>
            <a:r>
              <a:rPr lang="en-US" sz="1600" dirty="0">
                <a:solidFill>
                  <a:srgbClr val="A31515"/>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i</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A31515"/>
                </a:solidFill>
                <a:highlight>
                  <a:srgbClr val="FFFFFF"/>
                </a:highlight>
                <a:latin typeface="Cascadia Mono" panose="020B0609020000020004" pitchFamily="49" charset="0"/>
              </a:rPr>
              <a:t>"] = "</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pnumbers</a:t>
            </a:r>
            <a:r>
              <a:rPr lang="en-US" sz="1600" dirty="0">
                <a:solidFill>
                  <a:srgbClr val="008080"/>
                </a:solidFill>
                <a:highlight>
                  <a:srgbClr val="FFFFFF"/>
                </a:highlight>
                <a:latin typeface="Cascadia Mono" panose="020B0609020000020004" pitchFamily="49" charset="0"/>
              </a:rPr>
              <a:t>[</a:t>
            </a:r>
            <a:r>
              <a:rPr lang="en-US" sz="1600" dirty="0" err="1">
                <a:solidFill>
                  <a:srgbClr val="000000"/>
                </a:solidFill>
                <a:highlight>
                  <a:srgbClr val="FFFFFF"/>
                </a:highlight>
                <a:latin typeface="Cascadia Mono" panose="020B0609020000020004" pitchFamily="49" charset="0"/>
              </a:rPr>
              <a:t>i</a:t>
            </a:r>
            <a:r>
              <a:rPr lang="en-US" sz="1600" dirty="0">
                <a:solidFill>
                  <a:srgbClr val="008080"/>
                </a:solidFill>
                <a:highlight>
                  <a:srgbClr val="FFFFFF"/>
                </a:highlight>
                <a:latin typeface="Cascadia Mono" panose="020B0609020000020004" pitchFamily="49" charset="0"/>
              </a:rPr>
              <a: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2782900602"/>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3DE529-D19F-0800-F662-E47A415D8A6D}"/>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05225EF1-D91E-7324-4C36-F5C9C7BCDFFE}"/>
              </a:ext>
            </a:extLst>
          </p:cNvPr>
          <p:cNvSpPr>
            <a:spLocks noGrp="1"/>
          </p:cNvSpPr>
          <p:nvPr>
            <p:ph idx="1"/>
          </p:nvPr>
        </p:nvSpPr>
        <p:spPr/>
        <p:txBody>
          <a:bodyPr>
            <a:normAutofit fontScale="92500" lnSpcReduction="20000"/>
          </a:bodyPr>
          <a:lstStyle/>
          <a:p>
            <a:r>
              <a:rPr lang="ru-RU" dirty="0"/>
              <a:t>Если потребуется освободить память, на которую указывает указатель, то можно применить функцию </a:t>
            </a:r>
            <a:r>
              <a:rPr lang="ru-RU" b="1" dirty="0" err="1"/>
              <a:t>reset</a:t>
            </a:r>
            <a:r>
              <a:rPr lang="ru-RU" b="1" dirty="0"/>
              <a:t>()</a:t>
            </a:r>
            <a:r>
              <a:rPr lang="ru-RU" dirty="0"/>
              <a:t>:</a:t>
            </a:r>
          </a:p>
          <a:p>
            <a:endParaRPr lang="ru-RU" dirty="0"/>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auto</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make_unique</a:t>
            </a:r>
            <a:r>
              <a:rPr lang="de-CH" sz="2000" dirty="0">
                <a:solidFill>
                  <a:srgbClr val="000000"/>
                </a:solidFill>
                <a:highlight>
                  <a:srgbClr val="FFFFFF"/>
                </a:highlight>
                <a:latin typeface="Cascadia Mono" panose="020B0609020000020004" pitchFamily="49" charset="0"/>
              </a:rPr>
              <a:t>&lt;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&gt;(123) };</a:t>
            </a:r>
          </a:p>
          <a:p>
            <a:endParaRPr lang="ru-RU"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 освобождаем память и удаляем объект 123</a:t>
            </a:r>
            <a:endParaRPr lang="ru-RU"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ptr.reset</a:t>
            </a:r>
            <a:r>
              <a:rPr lang="de-CH"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if</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если </a:t>
            </a:r>
            <a:r>
              <a:rPr lang="de-CH" sz="2000" dirty="0" err="1">
                <a:solidFill>
                  <a:srgbClr val="008000"/>
                </a:solidFill>
                <a:highlight>
                  <a:srgbClr val="FFFFFF"/>
                </a:highlight>
                <a:latin typeface="Cascadia Mono" panose="020B0609020000020004" pitchFamily="49" charset="0"/>
              </a:rPr>
              <a:t>ptr</a:t>
            </a:r>
            <a:endParaRPr lang="de-CH"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p>
          <a:p>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"Memory is free"</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else</a:t>
            </a:r>
            <a:endParaRPr lang="de-CH"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cout</a:t>
            </a:r>
            <a:r>
              <a:rPr lang="de-CH" sz="2000" dirty="0">
                <a:solidFill>
                  <a:srgbClr val="000000"/>
                </a:solidFill>
                <a:highlight>
                  <a:srgbClr val="FFFFFF"/>
                </a:highlight>
                <a:latin typeface="Cascadia Mono" panose="020B0609020000020004" pitchFamily="49" charset="0"/>
              </a:rPr>
              <a:t> </a:t>
            </a:r>
            <a:r>
              <a:rPr lang="de-CH" sz="2000" dirty="0">
                <a:solidFill>
                  <a:srgbClr val="008080"/>
                </a:solidFill>
                <a:highlight>
                  <a:srgbClr val="FFFFFF"/>
                </a:highlight>
                <a:latin typeface="Cascadia Mono" panose="020B0609020000020004" pitchFamily="49" charset="0"/>
              </a:rPr>
              <a:t>&lt;&lt;</a:t>
            </a:r>
            <a:r>
              <a:rPr lang="de-CH" sz="2000" dirty="0">
                <a:solidFill>
                  <a:srgbClr val="000000"/>
                </a:solidFill>
                <a:highlight>
                  <a:srgbClr val="FFFFFF"/>
                </a:highlight>
                <a:latin typeface="Cascadia Mono" panose="020B0609020000020004" pitchFamily="49" charset="0"/>
              </a:rPr>
              <a:t> </a:t>
            </a:r>
            <a:r>
              <a:rPr lang="de-CH" sz="2000" dirty="0">
                <a:solidFill>
                  <a:srgbClr val="00808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a:t>
            </a:r>
            <a:r>
              <a:rPr lang="de-CH" sz="2000" dirty="0">
                <a:solidFill>
                  <a:srgbClr val="008080"/>
                </a:solidFill>
                <a:highlight>
                  <a:srgbClr val="FFFFFF"/>
                </a:highlight>
                <a:latin typeface="Cascadia Mono" panose="020B0609020000020004" pitchFamily="49" charset="0"/>
              </a:rPr>
              <a:t>&lt;&lt;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endl</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p>
          <a:p>
            <a:r>
              <a:rPr lang="ru-RU" sz="20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511224306"/>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B1E375-6366-FBD5-DAF3-394D12ECAC11}"/>
              </a:ext>
            </a:extLst>
          </p:cNvPr>
          <p:cNvSpPr>
            <a:spLocks noGrp="1"/>
          </p:cNvSpPr>
          <p:nvPr>
            <p:ph type="title"/>
          </p:nvPr>
        </p:nvSpPr>
        <p:spPr/>
        <p:txBody>
          <a:bodyPr/>
          <a:lstStyle/>
          <a:p>
            <a:r>
              <a:rPr lang="de-CH" b="1" dirty="0" err="1"/>
              <a:t>unique_ptr</a:t>
            </a:r>
            <a:r>
              <a:rPr lang="de-CH" b="1" dirty="0"/>
              <a:t>&lt;T&gt;</a:t>
            </a:r>
            <a:endParaRPr lang="ru-RU" dirty="0"/>
          </a:p>
        </p:txBody>
      </p:sp>
      <p:sp>
        <p:nvSpPr>
          <p:cNvPr id="3" name="Объект 2">
            <a:extLst>
              <a:ext uri="{FF2B5EF4-FFF2-40B4-BE49-F238E27FC236}">
                <a16:creationId xmlns:a16="http://schemas.microsoft.com/office/drawing/2014/main" id="{93E671C8-0002-8DA0-D10C-6D8E39338407}"/>
              </a:ext>
            </a:extLst>
          </p:cNvPr>
          <p:cNvSpPr>
            <a:spLocks noGrp="1"/>
          </p:cNvSpPr>
          <p:nvPr>
            <p:ph idx="1"/>
          </p:nvPr>
        </p:nvSpPr>
        <p:spPr/>
        <p:txBody>
          <a:bodyPr/>
          <a:lstStyle/>
          <a:p>
            <a:r>
              <a:rPr lang="ru-RU" dirty="0"/>
              <a:t>Также можно передать в функцию </a:t>
            </a:r>
            <a:r>
              <a:rPr lang="ru-RU" dirty="0" err="1"/>
              <a:t>reset</a:t>
            </a:r>
            <a:r>
              <a:rPr lang="ru-RU" dirty="0"/>
              <a:t>() новый объект, для которого будет выделяться память и на который будет указывать указатель.</a:t>
            </a:r>
          </a:p>
          <a:p>
            <a:endParaRPr lang="ru-RU" dirty="0"/>
          </a:p>
          <a:p>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main</a:t>
            </a:r>
            <a:r>
              <a:rPr lang="de-CH"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a:t>
            </a:r>
          </a:p>
          <a:p>
            <a:r>
              <a:rPr lang="de-CH" sz="1800" dirty="0">
                <a:solidFill>
                  <a:srgbClr val="000000"/>
                </a:solidFill>
                <a:highlight>
                  <a:srgbClr val="FFFFFF"/>
                </a:highlight>
                <a:latin typeface="Cascadia Mono" panose="020B0609020000020004" pitchFamily="49" charset="0"/>
              </a:rPr>
              <a:t>    </a:t>
            </a:r>
            <a:r>
              <a:rPr lang="de-CH" sz="1800" dirty="0" err="1">
                <a:solidFill>
                  <a:srgbClr val="0000FF"/>
                </a:solidFill>
                <a:highlight>
                  <a:srgbClr val="FFFFFF"/>
                </a:highlight>
                <a:latin typeface="Cascadia Mono" panose="020B0609020000020004" pitchFamily="49" charset="0"/>
              </a:rPr>
              <a:t>auto</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ptr</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std</a:t>
            </a:r>
            <a:r>
              <a:rPr lang="de-CH" sz="1800" dirty="0">
                <a:solidFill>
                  <a:srgbClr val="000000"/>
                </a:solidFill>
                <a:highlight>
                  <a:srgbClr val="FFFFFF"/>
                </a:highlight>
                <a:latin typeface="Cascadia Mono" panose="020B0609020000020004" pitchFamily="49" charset="0"/>
              </a:rPr>
              <a:t>::</a:t>
            </a:r>
            <a:r>
              <a:rPr lang="de-CH" sz="1800" dirty="0" err="1">
                <a:solidFill>
                  <a:srgbClr val="000000"/>
                </a:solidFill>
                <a:highlight>
                  <a:srgbClr val="FFFFFF"/>
                </a:highlight>
                <a:latin typeface="Cascadia Mono" panose="020B0609020000020004" pitchFamily="49" charset="0"/>
              </a:rPr>
              <a:t>make_unique</a:t>
            </a:r>
            <a:r>
              <a:rPr lang="de-CH" sz="1800" dirty="0">
                <a:solidFill>
                  <a:srgbClr val="000000"/>
                </a:solidFill>
                <a:highlight>
                  <a:srgbClr val="FFFFFF"/>
                </a:highlight>
                <a:latin typeface="Cascadia Mono" panose="020B0609020000020004" pitchFamily="49" charset="0"/>
              </a:rPr>
              <a:t>&lt;</a:t>
            </a:r>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&gt;(123) };</a:t>
            </a:r>
          </a:p>
          <a:p>
            <a:endParaRPr lang="ru-RU" sz="1800" dirty="0">
              <a:solidFill>
                <a:srgbClr val="000000"/>
              </a:solidFill>
              <a:highlight>
                <a:srgbClr val="FFFFFF"/>
              </a:highlight>
              <a:latin typeface="Cascadia Mono" panose="020B0609020000020004" pitchFamily="49" charset="0"/>
            </a:endParaRP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"Old address: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ptr.get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"Old value: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ptr</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 освобождаем память и удаляем массив</a:t>
            </a:r>
            <a:endParaRPr lang="ru-RU" sz="1800" dirty="0">
              <a:solidFill>
                <a:srgbClr val="000000"/>
              </a:solidFill>
              <a:highlight>
                <a:srgbClr val="FFFFFF"/>
              </a:highlight>
              <a:latin typeface="Cascadia Mono" panose="020B0609020000020004" pitchFamily="49" charset="0"/>
            </a:endParaRPr>
          </a:p>
          <a:p>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ptr.reset</a:t>
            </a:r>
            <a:r>
              <a:rPr lang="de-CH" sz="1800" dirty="0">
                <a:solidFill>
                  <a:srgbClr val="000000"/>
                </a:solidFill>
                <a:highlight>
                  <a:srgbClr val="FFFFFF"/>
                </a:highlight>
                <a:latin typeface="Cascadia Mono" panose="020B0609020000020004" pitchFamily="49" charset="0"/>
              </a:rPr>
              <a:t>(</a:t>
            </a:r>
            <a:r>
              <a:rPr lang="de-CH" sz="1800" dirty="0" err="1">
                <a:solidFill>
                  <a:srgbClr val="0000FF"/>
                </a:solidFill>
                <a:highlight>
                  <a:srgbClr val="FFFFFF"/>
                </a:highlight>
                <a:latin typeface="Cascadia Mono" panose="020B0609020000020004" pitchFamily="49" charset="0"/>
              </a:rPr>
              <a:t>new</a:t>
            </a:r>
            <a:r>
              <a:rPr lang="de-CH" sz="1800" dirty="0">
                <a:solidFill>
                  <a:srgbClr val="000000"/>
                </a:solidFill>
                <a:highlight>
                  <a:srgbClr val="FFFFFF"/>
                </a:highlight>
                <a:latin typeface="Cascadia Mono" panose="020B0609020000020004" pitchFamily="49" charset="0"/>
              </a:rPr>
              <a:t> </a:t>
            </a:r>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 254 });</a:t>
            </a:r>
          </a:p>
          <a:p>
            <a:endParaRPr lang="ru-RU" sz="1800" dirty="0">
              <a:solidFill>
                <a:srgbClr val="000000"/>
              </a:solidFill>
              <a:highlight>
                <a:srgbClr val="FFFFFF"/>
              </a:highlight>
              <a:latin typeface="Cascadia Mono" panose="020B0609020000020004" pitchFamily="49" charset="0"/>
            </a:endParaRP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"New address: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err="1">
                <a:solidFill>
                  <a:srgbClr val="000000"/>
                </a:solidFill>
                <a:highlight>
                  <a:srgbClr val="FFFFFF"/>
                </a:highlight>
                <a:latin typeface="Cascadia Mono" panose="020B0609020000020004" pitchFamily="49" charset="0"/>
              </a:rPr>
              <a:t>ptr.get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a:t>
            </a: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"New value: "</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a:t>
            </a:r>
            <a:r>
              <a:rPr lang="en-US" sz="1800" dirty="0" err="1">
                <a:solidFill>
                  <a:srgbClr val="000000"/>
                </a:solidFill>
                <a:highlight>
                  <a:srgbClr val="FFFFFF"/>
                </a:highlight>
                <a:latin typeface="Cascadia Mono" panose="020B0609020000020004" pitchFamily="49" charset="0"/>
              </a:rPr>
              <a:t>ptr</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179282223"/>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097BB3-8B2F-C613-AF1C-79DAB06FAA72}"/>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E2BB4244-8160-0DBD-56F8-E32DBDAE3BDB}"/>
              </a:ext>
            </a:extLst>
          </p:cNvPr>
          <p:cNvSpPr>
            <a:spLocks noGrp="1"/>
          </p:cNvSpPr>
          <p:nvPr>
            <p:ph idx="1"/>
          </p:nvPr>
        </p:nvSpPr>
        <p:spPr/>
        <p:txBody>
          <a:bodyPr/>
          <a:lstStyle/>
          <a:p>
            <a:pPr algn="just"/>
            <a:r>
              <a:rPr lang="ru-RU" dirty="0"/>
              <a:t>Тип </a:t>
            </a:r>
            <a:r>
              <a:rPr lang="ru-RU" b="1" dirty="0" err="1"/>
              <a:t>shared_ptr</a:t>
            </a:r>
            <a:r>
              <a:rPr lang="ru-RU" b="1" dirty="0"/>
              <a:t>&lt;T&gt;</a:t>
            </a:r>
            <a:r>
              <a:rPr lang="ru-RU" dirty="0"/>
              <a:t> применяется для создания указателей на объекты, на которые может указывать несколько указателей. </a:t>
            </a:r>
            <a:r>
              <a:rPr lang="ru-RU" b="1" dirty="0" err="1"/>
              <a:t>shared_ptr</a:t>
            </a:r>
            <a:r>
              <a:rPr lang="ru-RU" b="1" dirty="0"/>
              <a:t>&lt;T&gt;</a:t>
            </a:r>
            <a:r>
              <a:rPr lang="ru-RU" dirty="0"/>
              <a:t> позволяет создавать множество объектов </a:t>
            </a:r>
            <a:r>
              <a:rPr lang="ru-RU" dirty="0" err="1"/>
              <a:t>shared_ptr</a:t>
            </a:r>
            <a:r>
              <a:rPr lang="ru-RU" dirty="0"/>
              <a:t>&lt;T&gt;, которые содержат один и тот же адрес.</a:t>
            </a:r>
          </a:p>
          <a:p>
            <a:pPr algn="just"/>
            <a:r>
              <a:rPr lang="ru-RU" dirty="0"/>
              <a:t>Для данных указателей применяется механизм подсчета ссылок (</a:t>
            </a:r>
            <a:r>
              <a:rPr lang="ru-RU" dirty="0" err="1"/>
              <a:t>reference</a:t>
            </a:r>
            <a:r>
              <a:rPr lang="ru-RU" dirty="0"/>
              <a:t> </a:t>
            </a:r>
            <a:r>
              <a:rPr lang="ru-RU" dirty="0" err="1"/>
              <a:t>counting</a:t>
            </a:r>
            <a:r>
              <a:rPr lang="ru-RU" dirty="0"/>
              <a:t>). Каждый раз, когда создается объект </a:t>
            </a:r>
            <a:r>
              <a:rPr lang="ru-RU" dirty="0" err="1"/>
              <a:t>shared_ptr</a:t>
            </a:r>
            <a:r>
              <a:rPr lang="ru-RU" dirty="0"/>
              <a:t>&lt;T&gt;, увеличивается счетчик объектов </a:t>
            </a:r>
            <a:r>
              <a:rPr lang="ru-RU" dirty="0" err="1"/>
              <a:t>shared_ptr</a:t>
            </a:r>
            <a:r>
              <a:rPr lang="ru-RU" dirty="0"/>
              <a:t>&lt;T&gt;, которые содержат определенный адрес. Когда объект </a:t>
            </a:r>
            <a:r>
              <a:rPr lang="ru-RU" dirty="0" err="1"/>
              <a:t>shared_ptr</a:t>
            </a:r>
            <a:r>
              <a:rPr lang="ru-RU" dirty="0"/>
              <a:t>&lt;T&gt; удаляется или ему присваивается другой адрес, счетчик ссылок уменьшается на единицу. Когда больше нет объектов </a:t>
            </a:r>
            <a:r>
              <a:rPr lang="ru-RU" dirty="0" err="1"/>
              <a:t>shared_ptr</a:t>
            </a:r>
            <a:r>
              <a:rPr lang="ru-RU" dirty="0"/>
              <a:t>&lt;T&gt;, которые ссылаются на определенный адрес, счетчик ссылок сбрасывается в ноль.</a:t>
            </a:r>
          </a:p>
          <a:p>
            <a:pPr algn="just"/>
            <a:r>
              <a:rPr lang="ru-RU" dirty="0"/>
              <a:t>При определении указателя без явной инициализации по умолчанию он инициализируется значением </a:t>
            </a:r>
            <a:r>
              <a:rPr lang="ru-RU" dirty="0" err="1"/>
              <a:t>nullptr</a:t>
            </a:r>
            <a:endParaRPr lang="ru-RU" dirty="0"/>
          </a:p>
          <a:p>
            <a:endParaRPr lang="ru-RU" dirty="0"/>
          </a:p>
        </p:txBody>
      </p:sp>
    </p:spTree>
    <p:extLst>
      <p:ext uri="{BB962C8B-B14F-4D97-AF65-F5344CB8AC3E}">
        <p14:creationId xmlns:p14="http://schemas.microsoft.com/office/powerpoint/2010/main" val="104215975"/>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D67620-57A3-726B-FD8D-95A03B62D355}"/>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2254256A-5DDA-1246-B4D6-9CF980F83824}"/>
              </a:ext>
            </a:extLst>
          </p:cNvPr>
          <p:cNvSpPr>
            <a:spLocks noGrp="1"/>
          </p:cNvSpPr>
          <p:nvPr>
            <p:ph idx="1"/>
          </p:nvPr>
        </p:nvSpPr>
        <p:spPr/>
        <p:txBody>
          <a:bodyPr/>
          <a:lstStyle/>
          <a:p>
            <a:r>
              <a:rPr lang="ru-RU" dirty="0"/>
              <a:t>При определении указателя без явной инициализации по умолчанию он инициализируется значением </a:t>
            </a:r>
            <a:r>
              <a:rPr lang="ru-RU" dirty="0" err="1"/>
              <a:t>nullptr</a:t>
            </a:r>
            <a:endParaRPr lang="ru-RU" dirty="0"/>
          </a:p>
          <a:p>
            <a:endParaRPr lang="ru-RU" dirty="0"/>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2B91AF"/>
                </a:solidFill>
                <a:highlight>
                  <a:srgbClr val="FFFFFF"/>
                </a:highlight>
                <a:latin typeface="Cascadia Mono" panose="020B0609020000020004" pitchFamily="49" charset="0"/>
              </a:rPr>
              <a:t>shared_ptr</a:t>
            </a:r>
            <a:r>
              <a:rPr lang="de-CH" sz="2000" dirty="0">
                <a:solidFill>
                  <a:srgbClr val="000000"/>
                </a:solidFill>
                <a:highlight>
                  <a:srgbClr val="FFFFFF"/>
                </a:highlight>
                <a:latin typeface="Cascadia Mono" panose="020B0609020000020004" pitchFamily="49" charset="0"/>
              </a:rPr>
              <a:t>&lt;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&gt; </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a:t>
            </a:r>
            <a:r>
              <a:rPr lang="de-CH" sz="2000" dirty="0">
                <a:solidFill>
                  <a:srgbClr val="008000"/>
                </a:solidFill>
                <a:highlight>
                  <a:srgbClr val="FFFFFF"/>
                </a:highlight>
                <a:latin typeface="Cascadia Mono" panose="020B0609020000020004" pitchFamily="49" charset="0"/>
              </a:rPr>
              <a:t>// </a:t>
            </a:r>
            <a:r>
              <a:rPr lang="de-CH" sz="2000" dirty="0" err="1">
                <a:solidFill>
                  <a:srgbClr val="008000"/>
                </a:solidFill>
                <a:highlight>
                  <a:srgbClr val="FFFFFF"/>
                </a:highlight>
                <a:latin typeface="Cascadia Mono" panose="020B0609020000020004" pitchFamily="49" charset="0"/>
              </a:rPr>
              <a:t>ptr</a:t>
            </a:r>
            <a:r>
              <a:rPr lang="de-CH" sz="2000" dirty="0">
                <a:solidFill>
                  <a:srgbClr val="008000"/>
                </a:solidFill>
                <a:highlight>
                  <a:srgbClr val="FFFFFF"/>
                </a:highlight>
                <a:latin typeface="Cascadia Mono" panose="020B0609020000020004" pitchFamily="49" charset="0"/>
              </a:rPr>
              <a:t> = </a:t>
            </a:r>
            <a:r>
              <a:rPr lang="de-CH" sz="2000" dirty="0" err="1">
                <a:solidFill>
                  <a:srgbClr val="008000"/>
                </a:solidFill>
                <a:highlight>
                  <a:srgbClr val="FFFFFF"/>
                </a:highlight>
                <a:latin typeface="Cascadia Mono" panose="020B0609020000020004" pitchFamily="49" charset="0"/>
              </a:rPr>
              <a:t>nullptr</a:t>
            </a:r>
            <a:endParaRPr lang="ru-RU" dirty="0"/>
          </a:p>
          <a:p>
            <a:endParaRPr lang="ru-RU" dirty="0"/>
          </a:p>
          <a:p>
            <a:r>
              <a:rPr lang="ru-RU" dirty="0"/>
              <a:t>Для инициализации конкретным значением можно применять функцию </a:t>
            </a:r>
            <a:r>
              <a:rPr lang="ru-RU" b="1" dirty="0" err="1"/>
              <a:t>std</a:t>
            </a:r>
            <a:r>
              <a:rPr lang="ru-RU" b="1" dirty="0"/>
              <a:t>::</a:t>
            </a:r>
            <a:r>
              <a:rPr lang="ru-RU" b="1" dirty="0" err="1"/>
              <a:t>make_shared</a:t>
            </a:r>
            <a:r>
              <a:rPr lang="ru-RU" b="1" dirty="0"/>
              <a:t>&lt;T&gt;</a:t>
            </a:r>
          </a:p>
          <a:p>
            <a:endParaRPr lang="ru-RU" b="1" dirty="0"/>
          </a:p>
          <a:p>
            <a:r>
              <a:rPr lang="en-US" dirty="0"/>
              <a:t>	</a:t>
            </a:r>
          </a:p>
          <a:p>
            <a:r>
              <a:rPr lang="en-US" sz="1800" dirty="0">
                <a:solidFill>
                  <a:srgbClr val="0000FF"/>
                </a:solidFill>
                <a:highlight>
                  <a:srgbClr val="FFFFFF"/>
                </a:highlight>
                <a:latin typeface="Cascadia Mono" panose="020B0609020000020004" pitchFamily="49" charset="0"/>
              </a:rPr>
              <a:t>std</a:t>
            </a:r>
            <a:r>
              <a:rPr lang="en-US" sz="1800" dirty="0">
                <a:solidFill>
                  <a:srgbClr val="000000"/>
                </a:solidFill>
                <a:highlight>
                  <a:srgbClr val="FFFFFF"/>
                </a:highlight>
                <a:latin typeface="Cascadia Mono" panose="020B0609020000020004" pitchFamily="49" charset="0"/>
              </a:rPr>
              <a:t>::</a:t>
            </a:r>
            <a:r>
              <a:rPr lang="en-US" sz="1800" dirty="0" err="1">
                <a:solidFill>
                  <a:srgbClr val="2B91AF"/>
                </a:solidFill>
                <a:highlight>
                  <a:srgbClr val="FFFFFF"/>
                </a:highlight>
                <a:latin typeface="Cascadia Mono" panose="020B0609020000020004" pitchFamily="49" charset="0"/>
              </a:rPr>
              <a:t>shared_ptr</a:t>
            </a:r>
            <a:r>
              <a:rPr lang="en-US" sz="1800" dirty="0">
                <a:solidFill>
                  <a:srgbClr val="000000"/>
                </a:solidFill>
                <a:highlight>
                  <a:srgbClr val="FFFFFF"/>
                </a:highlight>
                <a:latin typeface="Cascadia Mono" panose="020B0609020000020004" pitchFamily="49" charset="0"/>
              </a:rPr>
              <a:t>&lt;</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&gt; </a:t>
            </a:r>
            <a:r>
              <a:rPr lang="en-US" sz="1800" dirty="0" err="1">
                <a:solidFill>
                  <a:srgbClr val="000000"/>
                </a:solidFill>
                <a:highlight>
                  <a:srgbClr val="FFFFFF"/>
                </a:highlight>
                <a:latin typeface="Cascadia Mono" panose="020B0609020000020004" pitchFamily="49" charset="0"/>
              </a:rPr>
              <a:t>ptr</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make_shared</a:t>
            </a:r>
            <a:r>
              <a:rPr lang="en-US" sz="1800" dirty="0">
                <a:solidFill>
                  <a:srgbClr val="000000"/>
                </a:solidFill>
                <a:highlight>
                  <a:srgbClr val="FFFFFF"/>
                </a:highlight>
                <a:latin typeface="Cascadia Mono" panose="020B0609020000020004" pitchFamily="49" charset="0"/>
              </a:rPr>
              <a:t>&lt;</a:t>
            </a:r>
            <a:r>
              <a:rPr lang="en-US" sz="1800" dirty="0">
                <a:solidFill>
                  <a:srgbClr val="0000FF"/>
                </a:solidFill>
                <a:highlight>
                  <a:srgbClr val="FFFFFF"/>
                </a:highlight>
                <a:latin typeface="Cascadia Mono" panose="020B0609020000020004" pitchFamily="49" charset="0"/>
              </a:rPr>
              <a:t>int</a:t>
            </a:r>
            <a:r>
              <a:rPr lang="en-US" sz="1800" dirty="0">
                <a:solidFill>
                  <a:srgbClr val="000000"/>
                </a:solidFill>
                <a:highlight>
                  <a:srgbClr val="FFFFFF"/>
                </a:highlight>
                <a:latin typeface="Cascadia Mono" panose="020B0609020000020004" pitchFamily="49" charset="0"/>
              </a:rPr>
              <a:t>&gt;(22) };</a:t>
            </a:r>
            <a:endParaRPr lang="ru-RU" sz="1800" dirty="0"/>
          </a:p>
        </p:txBody>
      </p:sp>
    </p:spTree>
    <p:extLst>
      <p:ext uri="{BB962C8B-B14F-4D97-AF65-F5344CB8AC3E}">
        <p14:creationId xmlns:p14="http://schemas.microsoft.com/office/powerpoint/2010/main" val="4093596082"/>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999D8F-9540-CEEC-C483-3C516806913B}"/>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5788EA8D-D9BD-EBC1-ACEC-63B31EB01FE5}"/>
              </a:ext>
            </a:extLst>
          </p:cNvPr>
          <p:cNvSpPr>
            <a:spLocks noGrp="1"/>
          </p:cNvSpPr>
          <p:nvPr>
            <p:ph idx="1"/>
          </p:nvPr>
        </p:nvSpPr>
        <p:spPr/>
        <p:txBody>
          <a:bodyPr>
            <a:normAutofit fontScale="92500" lnSpcReduction="10000"/>
          </a:bodyPr>
          <a:lstStyle/>
          <a:p>
            <a:r>
              <a:rPr lang="ru-RU" dirty="0"/>
              <a:t>Далее через указатель </a:t>
            </a:r>
            <a:r>
              <a:rPr lang="ru-RU" dirty="0" err="1"/>
              <a:t>shared_ptr</a:t>
            </a:r>
            <a:r>
              <a:rPr lang="ru-RU" dirty="0"/>
              <a:t> можно также, как и через обычный указатель, получать и изменять динамический объект:</a:t>
            </a:r>
          </a:p>
          <a:p>
            <a:pPr algn="l" fontAlgn="base">
              <a:lnSpc>
                <a:spcPts val="1575"/>
              </a:lnSpc>
              <a:buNone/>
            </a:pPr>
            <a:br>
              <a:rPr lang="ru-RU" dirty="0"/>
            </a:br>
            <a:r>
              <a:rPr lang="de-CH" b="0" i="0" dirty="0">
                <a:solidFill>
                  <a:srgbClr val="808080"/>
                </a:solidFill>
                <a:effectLst/>
                <a:latin typeface="SFMono-Regular"/>
              </a:rPr>
              <a:t>#include &lt;</a:t>
            </a:r>
            <a:r>
              <a:rPr lang="de-CH" b="0" i="0" dirty="0" err="1">
                <a:solidFill>
                  <a:srgbClr val="808080"/>
                </a:solidFill>
                <a:effectLst/>
                <a:latin typeface="SFMono-Regular"/>
              </a:rPr>
              <a:t>iostream</a:t>
            </a:r>
            <a:r>
              <a:rPr lang="de-CH" b="0" i="0" dirty="0">
                <a:solidFill>
                  <a:srgbClr val="808080"/>
                </a:solidFill>
                <a:effectLst/>
                <a:latin typeface="SFMono-Regular"/>
              </a:rPr>
              <a:t>&gt;</a:t>
            </a:r>
            <a:endParaRPr lang="de-CH" b="0" i="0" dirty="0">
              <a:solidFill>
                <a:srgbClr val="000000"/>
              </a:solidFill>
              <a:effectLst/>
              <a:latin typeface="SFMono-Regular"/>
            </a:endParaRPr>
          </a:p>
          <a:p>
            <a:pPr algn="l" fontAlgn="base">
              <a:lnSpc>
                <a:spcPts val="1575"/>
              </a:lnSpc>
              <a:buNone/>
            </a:pPr>
            <a:r>
              <a:rPr lang="de-CH" b="0" i="0" dirty="0">
                <a:solidFill>
                  <a:srgbClr val="808080"/>
                </a:solidFill>
                <a:effectLst/>
                <a:latin typeface="SFMono-Regular"/>
              </a:rPr>
              <a:t>#include &lt;</a:t>
            </a:r>
            <a:r>
              <a:rPr lang="de-CH" b="0" i="0" dirty="0" err="1">
                <a:solidFill>
                  <a:srgbClr val="808080"/>
                </a:solidFill>
                <a:effectLst/>
                <a:latin typeface="SFMono-Regular"/>
              </a:rPr>
              <a:t>memory</a:t>
            </a:r>
            <a:r>
              <a:rPr lang="de-CH" b="0" i="0" dirty="0">
                <a:solidFill>
                  <a:srgbClr val="808080"/>
                </a:solidFill>
                <a:effectLst/>
                <a:latin typeface="SFMono-Regular"/>
              </a:rPr>
              <a:t>&gt;</a:t>
            </a:r>
            <a:endParaRPr lang="de-CH" b="0" i="0" dirty="0">
              <a:solidFill>
                <a:srgbClr val="000000"/>
              </a:solidFill>
              <a:effectLst/>
              <a:latin typeface="SFMono-Regular"/>
            </a:endParaRPr>
          </a:p>
          <a:p>
            <a:pPr algn="l" fontAlgn="base">
              <a:lnSpc>
                <a:spcPts val="1575"/>
              </a:lnSpc>
              <a:buNone/>
            </a:pPr>
            <a:r>
              <a:rPr lang="de-CH" b="0" i="0" dirty="0">
                <a:solidFill>
                  <a:srgbClr val="000000"/>
                </a:solidFill>
                <a:effectLst/>
                <a:latin typeface="SFMono-Regular"/>
              </a:rPr>
              <a:t> </a:t>
            </a: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en-US" sz="2000" dirty="0">
                <a:solidFill>
                  <a:srgbClr val="000000"/>
                </a:solidFill>
                <a:highlight>
                  <a:srgbClr val="FFFFFF"/>
                </a:highlight>
                <a:latin typeface="Cascadia Mono" panose="020B0609020000020004" pitchFamily="49" charset="0"/>
              </a:rPr>
              <a:t>std::</a:t>
            </a:r>
            <a:r>
              <a:rPr lang="en-US" sz="2000" dirty="0" err="1">
                <a:solidFill>
                  <a:srgbClr val="2B91AF"/>
                </a:solidFill>
                <a:highlight>
                  <a:srgbClr val="FFFFFF"/>
                </a:highlight>
                <a:latin typeface="Cascadia Mono" panose="020B0609020000020004" pitchFamily="49" charset="0"/>
              </a:rPr>
              <a:t>shared_ptr</a:t>
            </a:r>
            <a:r>
              <a:rPr lang="en-US" sz="2000" dirty="0">
                <a:solidFill>
                  <a:srgbClr val="000000"/>
                </a:solidFill>
                <a:highlight>
                  <a:srgbClr val="FFFFFF"/>
                </a:highlight>
                <a:latin typeface="Cascadia Mono" panose="020B0609020000020004" pitchFamily="49" charset="0"/>
              </a:rPr>
              <a:t>&lt;</a:t>
            </a:r>
            <a:r>
              <a:rPr lang="en-US" sz="2000" dirty="0">
                <a:solidFill>
                  <a:srgbClr val="0000FF"/>
                </a:solidFill>
                <a:highlight>
                  <a:srgbClr val="FFFFFF"/>
                </a:highlight>
                <a:latin typeface="Cascadia Mono" panose="020B0609020000020004" pitchFamily="49" charset="0"/>
              </a:rPr>
              <a:t>int</a:t>
            </a:r>
            <a:r>
              <a:rPr lang="en-US" sz="2000" dirty="0">
                <a:solidFill>
                  <a:srgbClr val="000000"/>
                </a:solidFill>
                <a:highlight>
                  <a:srgbClr val="FFFFFF"/>
                </a:highlight>
                <a:latin typeface="Cascadia Mono" panose="020B0609020000020004" pitchFamily="49" charset="0"/>
              </a:rPr>
              <a:t>&gt; </a:t>
            </a:r>
            <a:r>
              <a:rPr lang="en-US" sz="2000" dirty="0" err="1">
                <a:solidFill>
                  <a:srgbClr val="000000"/>
                </a:solidFill>
                <a:highlight>
                  <a:srgbClr val="FFFFFF"/>
                </a:highlight>
                <a:latin typeface="Cascadia Mono" panose="020B0609020000020004" pitchFamily="49" charset="0"/>
              </a:rPr>
              <a:t>ptr</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make_shared</a:t>
            </a:r>
            <a:r>
              <a:rPr lang="en-US" sz="2000" dirty="0">
                <a:solidFill>
                  <a:srgbClr val="000000"/>
                </a:solidFill>
                <a:highlight>
                  <a:srgbClr val="FFFFFF"/>
                </a:highlight>
                <a:latin typeface="Cascadia Mono" panose="020B0609020000020004" pitchFamily="49" charset="0"/>
              </a:rPr>
              <a:t>&lt;</a:t>
            </a:r>
            <a:r>
              <a:rPr lang="en-US" sz="2000" dirty="0">
                <a:solidFill>
                  <a:srgbClr val="0000FF"/>
                </a:solidFill>
                <a:highlight>
                  <a:srgbClr val="FFFFFF"/>
                </a:highlight>
                <a:latin typeface="Cascadia Mono" panose="020B0609020000020004" pitchFamily="49" charset="0"/>
              </a:rPr>
              <a:t>int</a:t>
            </a:r>
            <a:r>
              <a:rPr lang="en-US" sz="2000" dirty="0">
                <a:solidFill>
                  <a:srgbClr val="000000"/>
                </a:solidFill>
                <a:highlight>
                  <a:srgbClr val="FFFFFF"/>
                </a:highlight>
                <a:latin typeface="Cascadia Mono" panose="020B0609020000020004" pitchFamily="49" charset="0"/>
              </a:rPr>
              <a:t>&gt;(22) };</a:t>
            </a:r>
          </a:p>
          <a:p>
            <a:endParaRPr lang="ru-RU"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"address: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ptr</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r>
              <a:rPr lang="en-US" sz="2000" dirty="0">
                <a:solidFill>
                  <a:srgbClr val="008000"/>
                </a:solidFill>
                <a:highlight>
                  <a:srgbClr val="FFFFFF"/>
                </a:highlight>
                <a:latin typeface="Cascadia Mono" panose="020B0609020000020004" pitchFamily="49" charset="0"/>
              </a:rPr>
              <a:t>// address: 0x1e004671260</a:t>
            </a:r>
            <a:endParaRPr lang="en-US"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"old value: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a:t>
            </a:r>
            <a:r>
              <a:rPr lang="en-US" sz="2000" dirty="0" err="1">
                <a:solidFill>
                  <a:srgbClr val="000000"/>
                </a:solidFill>
                <a:highlight>
                  <a:srgbClr val="FFFFFF"/>
                </a:highlight>
                <a:latin typeface="Cascadia Mono" panose="020B0609020000020004" pitchFamily="49" charset="0"/>
              </a:rPr>
              <a:t>ptr</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r>
              <a:rPr lang="en-US" sz="2000" dirty="0">
                <a:solidFill>
                  <a:srgbClr val="008000"/>
                </a:solidFill>
                <a:highlight>
                  <a:srgbClr val="FFFFFF"/>
                </a:highlight>
                <a:latin typeface="Cascadia Mono" panose="020B0609020000020004" pitchFamily="49" charset="0"/>
              </a:rPr>
              <a:t>// old value: 22</a:t>
            </a:r>
            <a:endParaRPr lang="en-US" sz="2000" dirty="0">
              <a:solidFill>
                <a:srgbClr val="000000"/>
              </a:solidFill>
              <a:highlight>
                <a:srgbClr val="FFFFFF"/>
              </a:highlight>
              <a:latin typeface="Cascadia Mono" panose="020B0609020000020004" pitchFamily="49" charset="0"/>
            </a:endParaRPr>
          </a:p>
          <a:p>
            <a:r>
              <a:rPr lang="de-CH" sz="2000" dirty="0">
                <a:solidFill>
                  <a:srgbClr val="00808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ptr</a:t>
            </a:r>
            <a:r>
              <a:rPr lang="de-CH" sz="2000" dirty="0">
                <a:solidFill>
                  <a:srgbClr val="000000"/>
                </a:solidFill>
                <a:highlight>
                  <a:srgbClr val="FFFFFF"/>
                </a:highlight>
                <a:latin typeface="Cascadia Mono" panose="020B0609020000020004" pitchFamily="49" charset="0"/>
              </a:rPr>
              <a:t> = 33;</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меняем значение </a:t>
            </a:r>
            <a:endParaRPr lang="ru-RU"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"new value: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a:t>
            </a:r>
            <a:r>
              <a:rPr lang="en-US" sz="2000" dirty="0" err="1">
                <a:solidFill>
                  <a:srgbClr val="000000"/>
                </a:solidFill>
                <a:highlight>
                  <a:srgbClr val="FFFFFF"/>
                </a:highlight>
                <a:latin typeface="Cascadia Mono" panose="020B0609020000020004" pitchFamily="49" charset="0"/>
              </a:rPr>
              <a:t>ptr</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r>
              <a:rPr lang="en-US" sz="2000" dirty="0">
                <a:solidFill>
                  <a:srgbClr val="008000"/>
                </a:solidFill>
                <a:highlight>
                  <a:srgbClr val="FFFFFF"/>
                </a:highlight>
                <a:latin typeface="Cascadia Mono" panose="020B0609020000020004" pitchFamily="49" charset="0"/>
              </a:rPr>
              <a:t>// new value: 33</a:t>
            </a:r>
            <a:endParaRPr lang="en-US"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4156682960"/>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779D9F-A22B-3D6C-7DE1-4D3096B92E17}"/>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2D3181AA-51B7-EBE9-30B9-29E18B49A64C}"/>
              </a:ext>
            </a:extLst>
          </p:cNvPr>
          <p:cNvSpPr>
            <a:spLocks noGrp="1"/>
          </p:cNvSpPr>
          <p:nvPr>
            <p:ph idx="1"/>
          </p:nvPr>
        </p:nvSpPr>
        <p:spPr/>
        <p:txBody>
          <a:bodyPr/>
          <a:lstStyle/>
          <a:p>
            <a:r>
              <a:rPr lang="ru-RU" dirty="0"/>
              <a:t>Начиная со стандарта C++20 указатель </a:t>
            </a:r>
            <a:r>
              <a:rPr lang="ru-RU" dirty="0" err="1"/>
              <a:t>shared_ptr</a:t>
            </a:r>
            <a:r>
              <a:rPr lang="ru-RU" dirty="0"/>
              <a:t> может указывать на массив:</a:t>
            </a:r>
          </a:p>
          <a:p>
            <a:endParaRPr lang="ru-RU" dirty="0"/>
          </a:p>
          <a:p>
            <a:r>
              <a:rPr lang="ru-RU" sz="2000" dirty="0" err="1">
                <a:solidFill>
                  <a:srgbClr val="0000FF"/>
                </a:solidFill>
                <a:highlight>
                  <a:srgbClr val="FFFFFF"/>
                </a:highlight>
                <a:latin typeface="Cascadia Mono" panose="020B0609020000020004" pitchFamily="49" charset="0"/>
              </a:rPr>
              <a:t>unsigned</a:t>
            </a:r>
            <a:r>
              <a:rPr lang="ru-RU" sz="2000" dirty="0">
                <a:solidFill>
                  <a:srgbClr val="000000"/>
                </a:solidFill>
                <a:highlight>
                  <a:srgbClr val="FFFFFF"/>
                </a:highlight>
                <a:latin typeface="Cascadia Mono" panose="020B0609020000020004" pitchFamily="49" charset="0"/>
              </a:rPr>
              <a:t> n{ 5 };   </a:t>
            </a:r>
            <a:r>
              <a:rPr lang="ru-RU" sz="2000" dirty="0">
                <a:solidFill>
                  <a:srgbClr val="008000"/>
                </a:solidFill>
                <a:highlight>
                  <a:srgbClr val="FFFFFF"/>
                </a:highlight>
                <a:latin typeface="Cascadia Mono" panose="020B0609020000020004" pitchFamily="49" charset="0"/>
              </a:rPr>
              <a:t>// размер массива</a:t>
            </a:r>
          </a:p>
          <a:p>
            <a:r>
              <a:rPr lang="de-CH" sz="2000" dirty="0" err="1">
                <a:solidFill>
                  <a:srgbClr val="0000FF"/>
                </a:solidFill>
                <a:highlight>
                  <a:srgbClr val="FFFFFF"/>
                </a:highlight>
                <a:latin typeface="Cascadia Mono" panose="020B0609020000020004" pitchFamily="49" charset="0"/>
              </a:rPr>
              <a:t>auto</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pnumbers</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make_shared</a:t>
            </a:r>
            <a:r>
              <a:rPr lang="de-CH" sz="2000" dirty="0">
                <a:solidFill>
                  <a:srgbClr val="000000"/>
                </a:solidFill>
                <a:highlight>
                  <a:srgbClr val="FFFFFF"/>
                </a:highlight>
                <a:latin typeface="Cascadia Mono" panose="020B0609020000020004" pitchFamily="49" charset="0"/>
              </a:rPr>
              <a:t>&lt;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[]&gt;(n) };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массив из </a:t>
            </a:r>
            <a:r>
              <a:rPr lang="de-CH" sz="2000" dirty="0">
                <a:solidFill>
                  <a:srgbClr val="008000"/>
                </a:solidFill>
                <a:highlight>
                  <a:srgbClr val="FFFFFF"/>
                </a:highlight>
                <a:latin typeface="Cascadia Mono" panose="020B0609020000020004" pitchFamily="49" charset="0"/>
              </a:rPr>
              <a:t>n </a:t>
            </a:r>
            <a:r>
              <a:rPr lang="ru-RU" sz="2000" dirty="0">
                <a:solidFill>
                  <a:srgbClr val="008000"/>
                </a:solidFill>
                <a:highlight>
                  <a:srgbClr val="FFFFFF"/>
                </a:highlight>
                <a:latin typeface="Cascadia Mono" panose="020B0609020000020004" pitchFamily="49" charset="0"/>
              </a:rPr>
              <a:t>элементов, равных 0</a:t>
            </a:r>
            <a:endParaRPr lang="ru-RU" dirty="0"/>
          </a:p>
        </p:txBody>
      </p:sp>
    </p:spTree>
    <p:extLst>
      <p:ext uri="{BB962C8B-B14F-4D97-AF65-F5344CB8AC3E}">
        <p14:creationId xmlns:p14="http://schemas.microsoft.com/office/powerpoint/2010/main" val="304772797"/>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92DDB7-8D0C-C7DB-C20D-BA71A79BB738}"/>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5C8ABB56-2120-B1F2-7719-E353168C56D2}"/>
              </a:ext>
            </a:extLst>
          </p:cNvPr>
          <p:cNvSpPr>
            <a:spLocks noGrp="1"/>
          </p:cNvSpPr>
          <p:nvPr>
            <p:ph idx="1"/>
          </p:nvPr>
        </p:nvSpPr>
        <p:spPr/>
        <p:txBody>
          <a:bodyPr>
            <a:normAutofit fontScale="92500" lnSpcReduction="10000"/>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&lt;</a:t>
            </a:r>
            <a:r>
              <a:rPr lang="de-CH" sz="2000" dirty="0" err="1">
                <a:solidFill>
                  <a:srgbClr val="0000FF"/>
                </a:solidFill>
                <a:highlight>
                  <a:srgbClr val="FFFFFF"/>
                </a:highlight>
                <a:latin typeface="Cascadia Mono" panose="020B0609020000020004" pitchFamily="49" charset="0"/>
              </a:rPr>
              <a:t>iostream</a:t>
            </a:r>
            <a:r>
              <a:rPr lang="de-CH" sz="2000" dirty="0">
                <a:solidFill>
                  <a:srgbClr val="0000FF"/>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memory</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r>
              <a:rPr lang="ru-RU" sz="2000" dirty="0" err="1">
                <a:solidFill>
                  <a:srgbClr val="0000FF"/>
                </a:solidFill>
                <a:highlight>
                  <a:srgbClr val="FFFFFF"/>
                </a:highlight>
                <a:latin typeface="Cascadia Mono" panose="020B0609020000020004" pitchFamily="49" charset="0"/>
              </a:rPr>
              <a:t>unsigned</a:t>
            </a:r>
            <a:r>
              <a:rPr lang="ru-RU" sz="2000" dirty="0">
                <a:solidFill>
                  <a:srgbClr val="000000"/>
                </a:solidFill>
                <a:highlight>
                  <a:srgbClr val="FFFFFF"/>
                </a:highlight>
                <a:latin typeface="Cascadia Mono" panose="020B0609020000020004" pitchFamily="49" charset="0"/>
              </a:rPr>
              <a:t> n{ 5 };   </a:t>
            </a:r>
            <a:r>
              <a:rPr lang="ru-RU" sz="2000" dirty="0">
                <a:solidFill>
                  <a:srgbClr val="008000"/>
                </a:solidFill>
                <a:highlight>
                  <a:srgbClr val="FFFFFF"/>
                </a:highlight>
                <a:latin typeface="Cascadia Mono" panose="020B0609020000020004" pitchFamily="49" charset="0"/>
              </a:rPr>
              <a:t>// размер массива</a:t>
            </a:r>
            <a:endParaRPr lang="ru-RU"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    </a:t>
            </a:r>
            <a:r>
              <a:rPr lang="en-US" sz="2000" dirty="0">
                <a:solidFill>
                  <a:srgbClr val="0000FF"/>
                </a:solidFill>
                <a:highlight>
                  <a:srgbClr val="FFFFFF"/>
                </a:highlight>
                <a:latin typeface="Cascadia Mono" panose="020B0609020000020004" pitchFamily="49" charset="0"/>
              </a:rPr>
              <a:t>auto</a:t>
            </a:r>
            <a:r>
              <a:rPr lang="en-US"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pnumbers</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make_shared</a:t>
            </a:r>
            <a:r>
              <a:rPr lang="en-US" sz="2000" dirty="0">
                <a:solidFill>
                  <a:srgbClr val="000000"/>
                </a:solidFill>
                <a:highlight>
                  <a:srgbClr val="FFFFFF"/>
                </a:highlight>
                <a:latin typeface="Cascadia Mono" panose="020B0609020000020004" pitchFamily="49" charset="0"/>
              </a:rPr>
              <a:t>&lt;</a:t>
            </a:r>
            <a:r>
              <a:rPr lang="en-US" sz="2000" dirty="0">
                <a:solidFill>
                  <a:srgbClr val="0000FF"/>
                </a:solidFill>
                <a:highlight>
                  <a:srgbClr val="FFFFFF"/>
                </a:highlight>
                <a:latin typeface="Cascadia Mono" panose="020B0609020000020004" pitchFamily="49" charset="0"/>
              </a:rPr>
              <a:t>int</a:t>
            </a:r>
            <a:r>
              <a:rPr lang="en-US" sz="2000" dirty="0">
                <a:solidFill>
                  <a:srgbClr val="000000"/>
                </a:solidFill>
                <a:highlight>
                  <a:srgbClr val="FFFFFF"/>
                </a:highlight>
                <a:latin typeface="Cascadia Mono" panose="020B0609020000020004" pitchFamily="49" charset="0"/>
              </a:rPr>
              <a:t>[]&gt;(n) };    </a:t>
            </a:r>
            <a:r>
              <a:rPr lang="en-US"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	</a:t>
            </a:r>
            <a:r>
              <a:rPr lang="en-US" sz="2000" dirty="0" err="1">
                <a:solidFill>
                  <a:srgbClr val="008000"/>
                </a:solidFill>
                <a:highlight>
                  <a:srgbClr val="FFFFFF"/>
                </a:highlight>
                <a:latin typeface="Cascadia Mono" panose="020B0609020000020004" pitchFamily="49" charset="0"/>
              </a:rPr>
              <a:t>массив</a:t>
            </a:r>
            <a:r>
              <a:rPr lang="en-US" sz="2000" dirty="0">
                <a:solidFill>
                  <a:srgbClr val="008000"/>
                </a:solidFill>
                <a:highlight>
                  <a:srgbClr val="FFFFFF"/>
                </a:highlight>
                <a:latin typeface="Cascadia Mono" panose="020B0609020000020004" pitchFamily="49" charset="0"/>
              </a:rPr>
              <a:t> {0, 0, 0, 0, 0}</a:t>
            </a:r>
            <a:endParaRPr lang="en-US"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pPr marL="541338"/>
            <a:r>
              <a:rPr lang="en-US" sz="2000" dirty="0">
                <a:solidFill>
                  <a:srgbClr val="000000"/>
                </a:solidFill>
                <a:highlight>
                  <a:srgbClr val="FFFFFF"/>
                </a:highlight>
                <a:latin typeface="Cascadia Mono" panose="020B0609020000020004" pitchFamily="49" charset="0"/>
              </a:rPr>
              <a:t>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a:t>
            </a:r>
            <a:r>
              <a:rPr lang="en-US" sz="2000" dirty="0" err="1">
                <a:solidFill>
                  <a:srgbClr val="A31515"/>
                </a:solidFill>
                <a:highlight>
                  <a:srgbClr val="FFFFFF"/>
                </a:highlight>
                <a:latin typeface="Cascadia Mono" panose="020B0609020000020004" pitchFamily="49" charset="0"/>
              </a:rPr>
              <a:t>pnumbers</a:t>
            </a:r>
            <a:r>
              <a:rPr lang="en-US" sz="2000" dirty="0">
                <a:solidFill>
                  <a:srgbClr val="A31515"/>
                </a:solidFill>
                <a:highlight>
                  <a:srgbClr val="FFFFFF"/>
                </a:highlight>
                <a:latin typeface="Cascadia Mono" panose="020B0609020000020004" pitchFamily="49" charset="0"/>
              </a:rPr>
              <a:t>[1] initial value: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ru-RU"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pnumbers</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1</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 </a:t>
            </a:r>
            <a:r>
              <a:rPr lang="en-US" sz="2000" dirty="0">
                <a:solidFill>
                  <a:srgbClr val="008000"/>
                </a:solidFill>
                <a:highlight>
                  <a:srgbClr val="FFFFFF"/>
                </a:highlight>
                <a:latin typeface="Cascadia Mono" panose="020B0609020000020004" pitchFamily="49" charset="0"/>
              </a:rPr>
              <a:t>// </a:t>
            </a:r>
            <a:r>
              <a:rPr lang="en-US" sz="2000" dirty="0" err="1">
                <a:solidFill>
                  <a:srgbClr val="008000"/>
                </a:solidFill>
                <a:highlight>
                  <a:srgbClr val="FFFFFF"/>
                </a:highlight>
                <a:latin typeface="Cascadia Mono" panose="020B0609020000020004" pitchFamily="49" charset="0"/>
              </a:rPr>
              <a:t>pnumbers</a:t>
            </a:r>
            <a:r>
              <a:rPr lang="en-US" sz="2000" dirty="0">
                <a:solidFill>
                  <a:srgbClr val="008000"/>
                </a:solidFill>
                <a:highlight>
                  <a:srgbClr val="FFFFFF"/>
                </a:highlight>
                <a:latin typeface="Cascadia Mono" panose="020B0609020000020004" pitchFamily="49" charset="0"/>
              </a:rPr>
              <a:t>[1] initial value: 0</a:t>
            </a:r>
            <a:endParaRPr lang="en-US"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r>
              <a:rPr lang="ru-RU" sz="2000" dirty="0" err="1">
                <a:solidFill>
                  <a:srgbClr val="000000"/>
                </a:solidFill>
                <a:highlight>
                  <a:srgbClr val="FFFFFF"/>
                </a:highlight>
                <a:latin typeface="Cascadia Mono" panose="020B0609020000020004" pitchFamily="49" charset="0"/>
              </a:rPr>
              <a:t>pnumbers</a:t>
            </a:r>
            <a:r>
              <a:rPr lang="ru-RU" sz="2000" dirty="0">
                <a:solidFill>
                  <a:srgbClr val="008080"/>
                </a:solidFill>
                <a:highlight>
                  <a:srgbClr val="FFFFFF"/>
                </a:highlight>
                <a:latin typeface="Cascadia Mono" panose="020B0609020000020004" pitchFamily="49" charset="0"/>
              </a:rPr>
              <a:t>[</a:t>
            </a:r>
            <a:r>
              <a:rPr lang="ru-RU" sz="2000" dirty="0">
                <a:solidFill>
                  <a:srgbClr val="000000"/>
                </a:solidFill>
                <a:highlight>
                  <a:srgbClr val="FFFFFF"/>
                </a:highlight>
                <a:latin typeface="Cascadia Mono" panose="020B0609020000020004" pitchFamily="49" charset="0"/>
              </a:rPr>
              <a:t>1</a:t>
            </a:r>
            <a:r>
              <a:rPr lang="ru-RU" sz="2000" dirty="0">
                <a:solidFill>
                  <a:srgbClr val="008080"/>
                </a:solidFill>
                <a:highlight>
                  <a:srgbClr val="FFFFFF"/>
                </a:highlight>
                <a:latin typeface="Cascadia Mono" panose="020B0609020000020004" pitchFamily="49" charset="0"/>
              </a:rPr>
              <a:t>]</a:t>
            </a:r>
            <a:r>
              <a:rPr lang="ru-RU" sz="2000" dirty="0">
                <a:solidFill>
                  <a:srgbClr val="000000"/>
                </a:solidFill>
                <a:highlight>
                  <a:srgbClr val="FFFFFF"/>
                </a:highlight>
                <a:latin typeface="Cascadia Mono" panose="020B0609020000020004" pitchFamily="49" charset="0"/>
              </a:rPr>
              <a:t> = 121;  </a:t>
            </a:r>
            <a:r>
              <a:rPr lang="ru-RU" sz="2000" dirty="0">
                <a:solidFill>
                  <a:srgbClr val="008000"/>
                </a:solidFill>
                <a:highlight>
                  <a:srgbClr val="FFFFFF"/>
                </a:highlight>
                <a:latin typeface="Cascadia Mono" panose="020B0609020000020004" pitchFamily="49" charset="0"/>
              </a:rPr>
              <a:t>// изменяем значение</a:t>
            </a:r>
            <a:endParaRPr lang="ru-RU" sz="2000" dirty="0">
              <a:solidFill>
                <a:srgbClr val="000000"/>
              </a:solidFill>
              <a:highlight>
                <a:srgbClr val="FFFFFF"/>
              </a:highlight>
              <a:latin typeface="Cascadia Mono" panose="020B0609020000020004" pitchFamily="49" charset="0"/>
            </a:endParaRPr>
          </a:p>
          <a:p>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a:t>
            </a:r>
            <a:r>
              <a:rPr lang="en-US" sz="2000" dirty="0" err="1">
                <a:solidFill>
                  <a:srgbClr val="A31515"/>
                </a:solidFill>
                <a:highlight>
                  <a:srgbClr val="FFFFFF"/>
                </a:highlight>
                <a:latin typeface="Cascadia Mono" panose="020B0609020000020004" pitchFamily="49" charset="0"/>
              </a:rPr>
              <a:t>pnumbers</a:t>
            </a:r>
            <a:r>
              <a:rPr lang="en-US" sz="2000" dirty="0">
                <a:solidFill>
                  <a:srgbClr val="A31515"/>
                </a:solidFill>
                <a:highlight>
                  <a:srgbClr val="FFFFFF"/>
                </a:highlight>
                <a:latin typeface="Cascadia Mono" panose="020B0609020000020004" pitchFamily="49" charset="0"/>
              </a:rPr>
              <a:t>[1] new value: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ru-RU"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pnumbers</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1</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     </a:t>
            </a:r>
            <a:r>
              <a:rPr lang="en-US" sz="2000" dirty="0">
                <a:solidFill>
                  <a:srgbClr val="008000"/>
                </a:solidFill>
                <a:highlight>
                  <a:srgbClr val="FFFFFF"/>
                </a:highlight>
                <a:latin typeface="Cascadia Mono" panose="020B0609020000020004" pitchFamily="49" charset="0"/>
              </a:rPr>
              <a:t>// </a:t>
            </a:r>
            <a:r>
              <a:rPr lang="en-US" sz="2000" dirty="0" err="1">
                <a:solidFill>
                  <a:srgbClr val="008000"/>
                </a:solidFill>
                <a:highlight>
                  <a:srgbClr val="FFFFFF"/>
                </a:highlight>
                <a:latin typeface="Cascadia Mono" panose="020B0609020000020004" pitchFamily="49" charset="0"/>
              </a:rPr>
              <a:t>pnumbers</a:t>
            </a:r>
            <a:r>
              <a:rPr lang="en-US" sz="2000" dirty="0">
                <a:solidFill>
                  <a:srgbClr val="008000"/>
                </a:solidFill>
                <a:highlight>
                  <a:srgbClr val="FFFFFF"/>
                </a:highlight>
                <a:latin typeface="Cascadia Mono" panose="020B0609020000020004" pitchFamily="49" charset="0"/>
              </a:rPr>
              <a:t>[1] new </a:t>
            </a:r>
            <a:r>
              <a:rPr lang="ru-RU" sz="2000" dirty="0">
                <a:solidFill>
                  <a:srgbClr val="008000"/>
                </a:solidFill>
                <a:highlight>
                  <a:srgbClr val="FFFFFF"/>
                </a:highlight>
                <a:latin typeface="Cascadia Mono" panose="020B0609020000020004" pitchFamily="49" charset="0"/>
              </a:rPr>
              <a:t>	</a:t>
            </a:r>
            <a:r>
              <a:rPr lang="en-US" sz="2000" dirty="0">
                <a:solidFill>
                  <a:srgbClr val="008000"/>
                </a:solidFill>
                <a:highlight>
                  <a:srgbClr val="FFFFFF"/>
                </a:highlight>
                <a:latin typeface="Cascadia Mono" panose="020B0609020000020004" pitchFamily="49" charset="0"/>
              </a:rPr>
              <a:t>value: 121</a:t>
            </a:r>
            <a:endParaRPr lang="en-US"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531054953"/>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343C81-F4E7-9801-1061-98FF2DCF2FDF}"/>
              </a:ext>
            </a:extLst>
          </p:cNvPr>
          <p:cNvSpPr>
            <a:spLocks noGrp="1"/>
          </p:cNvSpPr>
          <p:nvPr>
            <p:ph type="title"/>
          </p:nvPr>
        </p:nvSpPr>
        <p:spPr/>
        <p:txBody>
          <a:bodyPr/>
          <a:lstStyle/>
          <a:p>
            <a:r>
              <a:rPr lang="de-CH" b="1" dirty="0" err="1"/>
              <a:t>shared_ptr</a:t>
            </a:r>
            <a:r>
              <a:rPr lang="de-CH" b="1" dirty="0"/>
              <a:t>&lt;T&gt;</a:t>
            </a:r>
            <a:endParaRPr lang="ru-RU" dirty="0"/>
          </a:p>
        </p:txBody>
      </p:sp>
      <p:sp>
        <p:nvSpPr>
          <p:cNvPr id="3" name="Объект 2">
            <a:extLst>
              <a:ext uri="{FF2B5EF4-FFF2-40B4-BE49-F238E27FC236}">
                <a16:creationId xmlns:a16="http://schemas.microsoft.com/office/drawing/2014/main" id="{697AD659-8340-D8D5-3B2E-C01050C875EC}"/>
              </a:ext>
            </a:extLst>
          </p:cNvPr>
          <p:cNvSpPr>
            <a:spLocks noGrp="1"/>
          </p:cNvSpPr>
          <p:nvPr>
            <p:ph idx="1"/>
          </p:nvPr>
        </p:nvSpPr>
        <p:spPr/>
        <p:txBody>
          <a:bodyPr>
            <a:normAutofit fontScale="92500" lnSpcReduction="20000"/>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iostream</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memory</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r>
              <a:rPr lang="ru-RU" sz="2000" dirty="0" err="1">
                <a:solidFill>
                  <a:srgbClr val="0000FF"/>
                </a:solidFill>
                <a:highlight>
                  <a:srgbClr val="FFFFFF"/>
                </a:highlight>
                <a:latin typeface="Cascadia Mono" panose="020B0609020000020004" pitchFamily="49" charset="0"/>
              </a:rPr>
              <a:t>unsigned</a:t>
            </a:r>
            <a:r>
              <a:rPr lang="ru-RU" sz="2000" dirty="0">
                <a:solidFill>
                  <a:srgbClr val="000000"/>
                </a:solidFill>
                <a:highlight>
                  <a:srgbClr val="FFFFFF"/>
                </a:highlight>
                <a:latin typeface="Cascadia Mono" panose="020B0609020000020004" pitchFamily="49" charset="0"/>
              </a:rPr>
              <a:t> n{ 5 };   </a:t>
            </a:r>
            <a:r>
              <a:rPr lang="ru-RU" sz="2000" dirty="0">
                <a:solidFill>
                  <a:srgbClr val="008000"/>
                </a:solidFill>
                <a:highlight>
                  <a:srgbClr val="FFFFFF"/>
                </a:highlight>
                <a:latin typeface="Cascadia Mono" panose="020B0609020000020004" pitchFamily="49" charset="0"/>
              </a:rPr>
              <a:t>// размер массива</a:t>
            </a:r>
            <a:endParaRPr lang="ru-RU"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auto</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pnumbers</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std</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make_shared</a:t>
            </a:r>
            <a:r>
              <a:rPr lang="de-CH" sz="2000" dirty="0">
                <a:solidFill>
                  <a:srgbClr val="000000"/>
                </a:solidFill>
                <a:highlight>
                  <a:srgbClr val="FFFFFF"/>
                </a:highlight>
                <a:latin typeface="Cascadia Mono" panose="020B0609020000020004" pitchFamily="49" charset="0"/>
              </a:rPr>
              <a:t>&lt;</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[]&gt;(n) };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массив из </a:t>
            </a:r>
            <a:r>
              <a:rPr lang="de-CH" sz="2000" dirty="0">
                <a:solidFill>
                  <a:srgbClr val="008000"/>
                </a:solidFill>
                <a:highlight>
                  <a:srgbClr val="FFFFFF"/>
                </a:highlight>
                <a:latin typeface="Cascadia Mono" panose="020B0609020000020004" pitchFamily="49" charset="0"/>
              </a:rPr>
              <a:t>n </a:t>
            </a:r>
            <a:r>
              <a:rPr lang="ru-RU" sz="2000" dirty="0">
                <a:solidFill>
                  <a:srgbClr val="008000"/>
                </a:solidFill>
                <a:highlight>
                  <a:srgbClr val="FFFFFF"/>
                </a:highlight>
                <a:latin typeface="Cascadia Mono" panose="020B0609020000020004" pitchFamily="49" charset="0"/>
              </a:rPr>
              <a:t>элементов</a:t>
            </a:r>
            <a:endParaRPr lang="ru-RU"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 изменим и выведем все элементы на консоль</a:t>
            </a:r>
            <a:endParaRPr lang="ru-RU"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for</a:t>
            </a:r>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unsigned</a:t>
            </a:r>
            <a:r>
              <a:rPr lang="de-CH" sz="2000" dirty="0">
                <a:solidFill>
                  <a:srgbClr val="000000"/>
                </a:solidFill>
                <a:highlight>
                  <a:srgbClr val="FFFFFF"/>
                </a:highlight>
                <a:latin typeface="Cascadia Mono" panose="020B0609020000020004" pitchFamily="49" charset="0"/>
              </a:rPr>
              <a:t> i{}; i &lt; n; i++)</a:t>
            </a:r>
          </a:p>
          <a:p>
            <a:r>
              <a:rPr lang="ru-RU" sz="2000" dirty="0">
                <a:solidFill>
                  <a:srgbClr val="000000"/>
                </a:solidFill>
                <a:highlight>
                  <a:srgbClr val="FFFFFF"/>
                </a:highlight>
                <a:latin typeface="Cascadia Mono" panose="020B0609020000020004" pitchFamily="49" charset="0"/>
              </a:rPr>
              <a:t>    {</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pnumbers</a:t>
            </a:r>
            <a:r>
              <a:rPr lang="de-CH" sz="2000" dirty="0">
                <a:solidFill>
                  <a:srgbClr val="008080"/>
                </a:solidFill>
                <a:highlight>
                  <a:srgbClr val="FFFFFF"/>
                </a:highlight>
                <a:latin typeface="Cascadia Mono" panose="020B0609020000020004" pitchFamily="49" charset="0"/>
              </a:rPr>
              <a:t>[</a:t>
            </a:r>
            <a:r>
              <a:rPr lang="de-CH" sz="2000" dirty="0">
                <a:solidFill>
                  <a:srgbClr val="000000"/>
                </a:solidFill>
                <a:highlight>
                  <a:srgbClr val="FFFFFF"/>
                </a:highlight>
                <a:latin typeface="Cascadia Mono" panose="020B0609020000020004" pitchFamily="49" charset="0"/>
              </a:rPr>
              <a:t>i</a:t>
            </a:r>
            <a:r>
              <a:rPr lang="de-CH" sz="2000" dirty="0">
                <a:solidFill>
                  <a:srgbClr val="008080"/>
                </a:solidFill>
                <a:highlight>
                  <a:srgbClr val="FFFFFF"/>
                </a:highlight>
                <a:latin typeface="Cascadia Mono" panose="020B0609020000020004" pitchFamily="49" charset="0"/>
              </a:rPr>
              <a:t>]</a:t>
            </a:r>
            <a:r>
              <a:rPr lang="de-CH" sz="2000" dirty="0">
                <a:solidFill>
                  <a:srgbClr val="000000"/>
                </a:solidFill>
                <a:highlight>
                  <a:srgbClr val="FFFFFF"/>
                </a:highlight>
                <a:latin typeface="Cascadia Mono" panose="020B0609020000020004" pitchFamily="49" charset="0"/>
              </a:rPr>
              <a:t> = i + 1;</a:t>
            </a:r>
          </a:p>
          <a:p>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cout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a:t>
            </a:r>
            <a:r>
              <a:rPr lang="en-US" sz="2000" dirty="0" err="1">
                <a:solidFill>
                  <a:srgbClr val="A31515"/>
                </a:solidFill>
                <a:highlight>
                  <a:srgbClr val="FFFFFF"/>
                </a:highlight>
                <a:latin typeface="Cascadia Mono" panose="020B0609020000020004" pitchFamily="49" charset="0"/>
              </a:rPr>
              <a:t>pnumbers</a:t>
            </a:r>
            <a:r>
              <a:rPr lang="en-US" sz="2000" dirty="0">
                <a:solidFill>
                  <a:srgbClr val="A31515"/>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i</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 = "</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a:t>
            </a:r>
            <a:r>
              <a:rPr lang="en-US" sz="2000" dirty="0" err="1">
                <a:solidFill>
                  <a:srgbClr val="000000"/>
                </a:solidFill>
                <a:highlight>
                  <a:srgbClr val="FFFFFF"/>
                </a:highlight>
                <a:latin typeface="Cascadia Mono" panose="020B0609020000020004" pitchFamily="49" charset="0"/>
              </a:rPr>
              <a:t>pnumbers</a:t>
            </a:r>
            <a:r>
              <a:rPr lang="en-US" sz="2000" dirty="0">
                <a:solidFill>
                  <a:srgbClr val="008080"/>
                </a:solidFill>
                <a:highlight>
                  <a:srgbClr val="FFFFFF"/>
                </a:highlight>
                <a:latin typeface="Cascadia Mono" panose="020B0609020000020004" pitchFamily="49" charset="0"/>
              </a:rPr>
              <a:t>[</a:t>
            </a:r>
            <a:r>
              <a:rPr lang="en-US" sz="2000" dirty="0" err="1">
                <a:solidFill>
                  <a:srgbClr val="000000"/>
                </a:solidFill>
                <a:highlight>
                  <a:srgbClr val="FFFFFF"/>
                </a:highlight>
                <a:latin typeface="Cascadia Mono" panose="020B0609020000020004" pitchFamily="49" charset="0"/>
              </a:rPr>
              <a:t>i</a:t>
            </a:r>
            <a:r>
              <a:rPr lang="en-US" sz="2000" dirty="0">
                <a:solidFill>
                  <a:srgbClr val="008080"/>
                </a:solidFill>
                <a:highlight>
                  <a:srgbClr val="FFFFFF"/>
                </a:highlight>
                <a:latin typeface="Cascadia Mono" panose="020B0609020000020004" pitchFamily="49" charset="0"/>
              </a:rPr>
              <a:t>]</a:t>
            </a:r>
            <a:r>
              <a:rPr lang="en-US" sz="2000" dirty="0">
                <a:solidFill>
                  <a:srgbClr val="000000"/>
                </a:solidFill>
                <a:highlight>
                  <a:srgbClr val="FFFFFF"/>
                </a:highlight>
                <a:latin typeface="Cascadia Mono" panose="020B0609020000020004" pitchFamily="49" charset="0"/>
              </a:rPr>
              <a:t> </a:t>
            </a:r>
            <a:r>
              <a:rPr lang="en-US" sz="2000" dirty="0">
                <a:solidFill>
                  <a:srgbClr val="008080"/>
                </a:solidFill>
                <a:highlight>
                  <a:srgbClr val="FFFFFF"/>
                </a:highlight>
                <a:latin typeface="Cascadia Mono" panose="020B0609020000020004" pitchFamily="49" charset="0"/>
              </a:rPr>
              <a:t>&lt;&lt;</a:t>
            </a:r>
            <a:r>
              <a:rPr lang="en-US" sz="2000" dirty="0">
                <a:solidFill>
                  <a:srgbClr val="000000"/>
                </a:solidFill>
                <a:highlight>
                  <a:srgbClr val="FFFFFF"/>
                </a:highlight>
                <a:latin typeface="Cascadia Mono" panose="020B0609020000020004" pitchFamily="49" charset="0"/>
              </a:rPr>
              <a:t> std::</a:t>
            </a:r>
            <a:r>
              <a:rPr lang="en-US" sz="2000" dirty="0" err="1">
                <a:solidFill>
                  <a:srgbClr val="000000"/>
                </a:solidFill>
                <a:highlight>
                  <a:srgbClr val="FFFFFF"/>
                </a:highlight>
                <a:latin typeface="Cascadia Mono" panose="020B0609020000020004" pitchFamily="49" charset="0"/>
              </a:rPr>
              <a:t>endl</a:t>
            </a:r>
            <a:r>
              <a:rPr lang="en-US"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    }</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23344597"/>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580156-F8E2-A87F-ECC0-839AE4F12DBC}"/>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6F7F2CDE-3124-B855-E1EA-9D42D7BAC0B9}"/>
              </a:ext>
            </a:extLst>
          </p:cNvPr>
          <p:cNvSpPr>
            <a:spLocks noGrp="1"/>
          </p:cNvSpPr>
          <p:nvPr>
            <p:ph idx="1"/>
          </p:nvPr>
        </p:nvSpPr>
        <p:spPr/>
        <p:txBody>
          <a:bodyPr/>
          <a:lstStyle/>
          <a:p>
            <a:r>
              <a:rPr lang="ru-RU" dirty="0"/>
              <a:t>В языке C++ для работы со строками определен специальный тип </a:t>
            </a:r>
            <a:r>
              <a:rPr lang="ru-RU" b="1" dirty="0" err="1"/>
              <a:t>std</a:t>
            </a:r>
            <a:r>
              <a:rPr lang="ru-RU" b="1" dirty="0"/>
              <a:t>::</a:t>
            </a:r>
            <a:r>
              <a:rPr lang="ru-RU" b="1" dirty="0" err="1"/>
              <a:t>string</a:t>
            </a:r>
            <a:r>
              <a:rPr lang="ru-RU" dirty="0"/>
              <a:t>, определенный в модуле &lt;</a:t>
            </a:r>
            <a:r>
              <a:rPr lang="ru-RU" dirty="0" err="1"/>
              <a:t>string</a:t>
            </a:r>
            <a:r>
              <a:rPr lang="ru-RU" dirty="0"/>
              <a:t>&gt;. </a:t>
            </a:r>
          </a:p>
          <a:p>
            <a:endParaRPr lang="ru-RU" dirty="0"/>
          </a:p>
          <a:p>
            <a:r>
              <a:rPr lang="ru-RU" dirty="0"/>
              <a:t>Объект типа </a:t>
            </a:r>
            <a:r>
              <a:rPr lang="ru-RU" dirty="0" err="1"/>
              <a:t>string</a:t>
            </a:r>
            <a:r>
              <a:rPr lang="ru-RU" dirty="0"/>
              <a:t> содержит последовательность символов типа </a:t>
            </a:r>
            <a:r>
              <a:rPr lang="ru-RU" dirty="0" err="1"/>
              <a:t>char</a:t>
            </a:r>
            <a:r>
              <a:rPr lang="ru-RU" dirty="0"/>
              <a:t>, которая может быть пустой.</a:t>
            </a:r>
          </a:p>
          <a:p>
            <a:endParaRPr lang="ru-RU" dirty="0"/>
          </a:p>
          <a:p>
            <a:r>
              <a:rPr lang="de-CH" dirty="0" err="1"/>
              <a:t>std</a:t>
            </a:r>
            <a:r>
              <a:rPr lang="de-CH" dirty="0"/>
              <a:t>::</a:t>
            </a:r>
            <a:r>
              <a:rPr lang="de-CH" dirty="0" err="1"/>
              <a:t>string</a:t>
            </a:r>
            <a:r>
              <a:rPr lang="de-CH" dirty="0"/>
              <a:t> </a:t>
            </a:r>
            <a:r>
              <a:rPr lang="de-CH" dirty="0" err="1"/>
              <a:t>message</a:t>
            </a:r>
            <a:r>
              <a:rPr lang="de-CH" dirty="0"/>
              <a:t>;</a:t>
            </a:r>
            <a:endParaRPr lang="ru-RU" dirty="0"/>
          </a:p>
          <a:p>
            <a:endParaRPr lang="ru-RU" dirty="0"/>
          </a:p>
          <a:p>
            <a:r>
              <a:rPr lang="de-CH" dirty="0" err="1"/>
              <a:t>std</a:t>
            </a:r>
            <a:r>
              <a:rPr lang="de-CH" dirty="0"/>
              <a:t>::</a:t>
            </a:r>
            <a:r>
              <a:rPr lang="de-CH" dirty="0" err="1"/>
              <a:t>string</a:t>
            </a:r>
            <a:r>
              <a:rPr lang="de-CH" dirty="0"/>
              <a:t> </a:t>
            </a:r>
            <a:r>
              <a:rPr lang="de-CH" dirty="0" err="1"/>
              <a:t>message</a:t>
            </a:r>
            <a:r>
              <a:rPr lang="de-CH" dirty="0"/>
              <a:t> {"Hello METANIT.COM!"};</a:t>
            </a:r>
          </a:p>
          <a:p>
            <a:r>
              <a:rPr lang="de-CH" dirty="0"/>
              <a:t>// </a:t>
            </a:r>
            <a:r>
              <a:rPr lang="ru-RU" dirty="0"/>
              <a:t>или так</a:t>
            </a:r>
          </a:p>
          <a:p>
            <a:r>
              <a:rPr lang="de-CH" dirty="0" err="1"/>
              <a:t>std</a:t>
            </a:r>
            <a:r>
              <a:rPr lang="de-CH" dirty="0"/>
              <a:t>::</a:t>
            </a:r>
            <a:r>
              <a:rPr lang="de-CH" dirty="0" err="1"/>
              <a:t>string</a:t>
            </a:r>
            <a:r>
              <a:rPr lang="de-CH" dirty="0"/>
              <a:t> message2 = "Hello METANIT.COM!";</a:t>
            </a:r>
          </a:p>
          <a:p>
            <a:r>
              <a:rPr lang="de-CH" dirty="0" err="1"/>
              <a:t>std</a:t>
            </a:r>
            <a:r>
              <a:rPr lang="de-CH" dirty="0"/>
              <a:t>::</a:t>
            </a:r>
            <a:r>
              <a:rPr lang="de-CH" dirty="0" err="1"/>
              <a:t>string</a:t>
            </a:r>
            <a:r>
              <a:rPr lang="de-CH" dirty="0"/>
              <a:t> message3("Hello METANIT.COM!");</a:t>
            </a:r>
          </a:p>
          <a:p>
            <a:endParaRPr lang="ru-RU" dirty="0"/>
          </a:p>
        </p:txBody>
      </p:sp>
    </p:spTree>
    <p:extLst>
      <p:ext uri="{BB962C8B-B14F-4D97-AF65-F5344CB8AC3E}">
        <p14:creationId xmlns:p14="http://schemas.microsoft.com/office/powerpoint/2010/main" val="321465686"/>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3283AC-D1E1-8D28-DD72-4E942627EE33}"/>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D9E7F93F-A8B2-EEC6-C2D5-61770A598F78}"/>
              </a:ext>
            </a:extLst>
          </p:cNvPr>
          <p:cNvSpPr>
            <a:spLocks noGrp="1"/>
          </p:cNvSpPr>
          <p:nvPr>
            <p:ph idx="1"/>
          </p:nvPr>
        </p:nvSpPr>
        <p:spPr/>
        <p:txBody>
          <a:bodyPr/>
          <a:lstStyle/>
          <a:p>
            <a:r>
              <a:rPr lang="ru-RU" dirty="0"/>
              <a:t>Есть ряд других способов инициализации. Так, можно инициализировать строку повторяющимся набором символов:</a:t>
            </a:r>
          </a:p>
          <a:p>
            <a:endParaRPr lang="ru-RU" dirty="0"/>
          </a:p>
          <a:p>
            <a:r>
              <a:rPr lang="de-CH" dirty="0" err="1"/>
              <a:t>std</a:t>
            </a:r>
            <a:r>
              <a:rPr lang="de-CH" dirty="0"/>
              <a:t>::</a:t>
            </a:r>
            <a:r>
              <a:rPr lang="de-CH" dirty="0" err="1"/>
              <a:t>string</a:t>
            </a:r>
            <a:r>
              <a:rPr lang="de-CH" dirty="0"/>
              <a:t> </a:t>
            </a:r>
            <a:r>
              <a:rPr lang="de-CH" dirty="0" err="1"/>
              <a:t>message</a:t>
            </a:r>
            <a:r>
              <a:rPr lang="de-CH" dirty="0"/>
              <a:t> (4, 'd'); // </a:t>
            </a:r>
            <a:r>
              <a:rPr lang="ru-RU" dirty="0"/>
              <a:t>повторяем </a:t>
            </a:r>
            <a:r>
              <a:rPr lang="de-CH" dirty="0"/>
              <a:t>d 4 </a:t>
            </a:r>
            <a:r>
              <a:rPr lang="ru-RU" dirty="0"/>
              <a:t>раза - </a:t>
            </a:r>
            <a:r>
              <a:rPr lang="de-CH" dirty="0" err="1"/>
              <a:t>message</a:t>
            </a:r>
            <a:r>
              <a:rPr lang="de-CH" dirty="0"/>
              <a:t> = </a:t>
            </a:r>
            <a:r>
              <a:rPr lang="de-CH" dirty="0" err="1"/>
              <a:t>dddd</a:t>
            </a:r>
            <a:endParaRPr lang="ru-RU" dirty="0"/>
          </a:p>
          <a:p>
            <a:endParaRPr lang="ru-RU" dirty="0"/>
          </a:p>
          <a:p>
            <a:r>
              <a:rPr lang="ru-RU" dirty="0"/>
              <a:t>И можно инициализировать объект </a:t>
            </a:r>
            <a:r>
              <a:rPr lang="ru-RU" dirty="0" err="1"/>
              <a:t>string</a:t>
            </a:r>
            <a:r>
              <a:rPr lang="ru-RU" dirty="0"/>
              <a:t> </a:t>
            </a:r>
            <a:r>
              <a:rPr lang="ru-RU" dirty="0" err="1"/>
              <a:t>дргим</a:t>
            </a:r>
            <a:r>
              <a:rPr lang="ru-RU" dirty="0"/>
              <a:t> объектом </a:t>
            </a:r>
            <a:r>
              <a:rPr lang="ru-RU" dirty="0" err="1"/>
              <a:t>string</a:t>
            </a:r>
            <a:r>
              <a:rPr lang="ru-RU" dirty="0"/>
              <a:t>:</a:t>
            </a:r>
          </a:p>
          <a:p>
            <a:endParaRPr lang="ru-RU" dirty="0"/>
          </a:p>
          <a:p>
            <a:r>
              <a:rPr lang="de-CH" dirty="0" err="1"/>
              <a:t>std</a:t>
            </a:r>
            <a:r>
              <a:rPr lang="de-CH" dirty="0"/>
              <a:t>::</a:t>
            </a:r>
            <a:r>
              <a:rPr lang="de-CH" dirty="0" err="1"/>
              <a:t>string</a:t>
            </a:r>
            <a:r>
              <a:rPr lang="de-CH" dirty="0"/>
              <a:t> </a:t>
            </a:r>
            <a:r>
              <a:rPr lang="de-CH" dirty="0" err="1"/>
              <a:t>hello</a:t>
            </a:r>
            <a:r>
              <a:rPr lang="de-CH" dirty="0"/>
              <a:t>{"</a:t>
            </a:r>
            <a:r>
              <a:rPr lang="de-CH" dirty="0" err="1"/>
              <a:t>hello</a:t>
            </a:r>
            <a:r>
              <a:rPr lang="de-CH" dirty="0"/>
              <a:t> </a:t>
            </a:r>
            <a:r>
              <a:rPr lang="de-CH" dirty="0" err="1"/>
              <a:t>world</a:t>
            </a:r>
            <a:r>
              <a:rPr lang="de-CH" dirty="0"/>
              <a:t>"};</a:t>
            </a:r>
          </a:p>
          <a:p>
            <a:r>
              <a:rPr lang="de-CH" dirty="0" err="1"/>
              <a:t>std</a:t>
            </a:r>
            <a:r>
              <a:rPr lang="de-CH" dirty="0"/>
              <a:t>::</a:t>
            </a:r>
            <a:r>
              <a:rPr lang="de-CH" dirty="0" err="1"/>
              <a:t>string</a:t>
            </a:r>
            <a:r>
              <a:rPr lang="de-CH" dirty="0"/>
              <a:t> </a:t>
            </a:r>
            <a:r>
              <a:rPr lang="de-CH" dirty="0" err="1"/>
              <a:t>message</a:t>
            </a:r>
            <a:r>
              <a:rPr lang="de-CH" dirty="0"/>
              <a:t> {</a:t>
            </a:r>
            <a:r>
              <a:rPr lang="de-CH" dirty="0" err="1"/>
              <a:t>hello</a:t>
            </a:r>
            <a:r>
              <a:rPr lang="de-CH" dirty="0"/>
              <a:t>}; // </a:t>
            </a:r>
            <a:r>
              <a:rPr lang="de-CH" dirty="0" err="1"/>
              <a:t>message</a:t>
            </a:r>
            <a:r>
              <a:rPr lang="de-CH" dirty="0"/>
              <a:t> = "</a:t>
            </a:r>
            <a:r>
              <a:rPr lang="de-CH" dirty="0" err="1"/>
              <a:t>hello</a:t>
            </a:r>
            <a:r>
              <a:rPr lang="de-CH" dirty="0"/>
              <a:t> </a:t>
            </a:r>
            <a:r>
              <a:rPr lang="de-CH" dirty="0" err="1"/>
              <a:t>world</a:t>
            </a:r>
            <a:r>
              <a:rPr lang="de-CH" dirty="0"/>
              <a:t>"</a:t>
            </a:r>
          </a:p>
          <a:p>
            <a:r>
              <a:rPr lang="de-CH" dirty="0"/>
              <a:t>// </a:t>
            </a:r>
            <a:r>
              <a:rPr lang="ru-RU" dirty="0"/>
              <a:t>или так</a:t>
            </a:r>
          </a:p>
          <a:p>
            <a:r>
              <a:rPr lang="ru-RU" dirty="0"/>
              <a:t>// </a:t>
            </a:r>
            <a:r>
              <a:rPr lang="de-CH" dirty="0" err="1"/>
              <a:t>std</a:t>
            </a:r>
            <a:r>
              <a:rPr lang="de-CH" dirty="0"/>
              <a:t>::</a:t>
            </a:r>
            <a:r>
              <a:rPr lang="de-CH" dirty="0" err="1"/>
              <a:t>string</a:t>
            </a:r>
            <a:r>
              <a:rPr lang="de-CH" dirty="0"/>
              <a:t> </a:t>
            </a:r>
            <a:r>
              <a:rPr lang="de-CH" dirty="0" err="1"/>
              <a:t>message</a:t>
            </a:r>
            <a:r>
              <a:rPr lang="de-CH" dirty="0"/>
              <a:t> (</a:t>
            </a:r>
            <a:r>
              <a:rPr lang="de-CH" dirty="0" err="1"/>
              <a:t>hello</a:t>
            </a:r>
            <a:r>
              <a:rPr lang="de-CH" dirty="0"/>
              <a:t>);</a:t>
            </a:r>
          </a:p>
          <a:p>
            <a:r>
              <a:rPr lang="de-CH" dirty="0"/>
              <a:t>// </a:t>
            </a:r>
            <a:r>
              <a:rPr lang="de-CH" dirty="0" err="1"/>
              <a:t>std</a:t>
            </a:r>
            <a:r>
              <a:rPr lang="de-CH" dirty="0"/>
              <a:t>::</a:t>
            </a:r>
            <a:r>
              <a:rPr lang="de-CH" dirty="0" err="1"/>
              <a:t>string</a:t>
            </a:r>
            <a:r>
              <a:rPr lang="de-CH" dirty="0"/>
              <a:t> </a:t>
            </a:r>
            <a:r>
              <a:rPr lang="de-CH" dirty="0" err="1"/>
              <a:t>message</a:t>
            </a:r>
            <a:r>
              <a:rPr lang="de-CH" dirty="0"/>
              <a:t> = </a:t>
            </a:r>
            <a:r>
              <a:rPr lang="de-CH" dirty="0" err="1"/>
              <a:t>hello</a:t>
            </a:r>
            <a:r>
              <a:rPr lang="de-CH" dirty="0"/>
              <a:t>;</a:t>
            </a:r>
          </a:p>
          <a:p>
            <a:endParaRPr lang="ru-RU" dirty="0"/>
          </a:p>
        </p:txBody>
      </p:sp>
    </p:spTree>
    <p:extLst>
      <p:ext uri="{BB962C8B-B14F-4D97-AF65-F5344CB8AC3E}">
        <p14:creationId xmlns:p14="http://schemas.microsoft.com/office/powerpoint/2010/main" val="3400485164"/>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F9EE7B-E803-B09E-2C7E-4DE18319371D}"/>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03010CE3-C017-4147-CDF9-816C9DD1F6D3}"/>
              </a:ext>
            </a:extLst>
          </p:cNvPr>
          <p:cNvSpPr>
            <a:spLocks noGrp="1"/>
          </p:cNvSpPr>
          <p:nvPr>
            <p:ph idx="1"/>
          </p:nvPr>
        </p:nvSpPr>
        <p:spPr/>
        <p:txBody>
          <a:bodyPr/>
          <a:lstStyle/>
          <a:p>
            <a:r>
              <a:rPr lang="ru-RU" dirty="0"/>
              <a:t>Можно инициализировать только часть строки</a:t>
            </a:r>
          </a:p>
          <a:p>
            <a:endParaRPr lang="ru-RU" dirty="0"/>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r>
              <a:rPr lang="da-DK" sz="1400" dirty="0">
                <a:solidFill>
                  <a:srgbClr val="000000"/>
                </a:solidFill>
                <a:highlight>
                  <a:srgbClr val="FFFFFF"/>
                </a:highlight>
                <a:latin typeface="Cascadia Mono" panose="020B0609020000020004" pitchFamily="49" charset="0"/>
              </a:rPr>
              <a:t>    std::</a:t>
            </a:r>
            <a:r>
              <a:rPr lang="da-DK" sz="1400" dirty="0">
                <a:solidFill>
                  <a:srgbClr val="2B91AF"/>
                </a:solidFill>
                <a:highlight>
                  <a:srgbClr val="FFFFFF"/>
                </a:highlight>
                <a:latin typeface="Cascadia Mono" panose="020B0609020000020004" pitchFamily="49" charset="0"/>
              </a:rPr>
              <a:t>string</a:t>
            </a:r>
            <a:r>
              <a:rPr lang="da-DK" sz="1400" dirty="0">
                <a:solidFill>
                  <a:srgbClr val="000000"/>
                </a:solidFill>
                <a:highlight>
                  <a:srgbClr val="FFFFFF"/>
                </a:highlight>
                <a:latin typeface="Cascadia Mono" panose="020B0609020000020004" pitchFamily="49" charset="0"/>
              </a:rPr>
              <a:t> message1{ </a:t>
            </a:r>
            <a:r>
              <a:rPr lang="da-DK" sz="1400" dirty="0">
                <a:solidFill>
                  <a:srgbClr val="A31515"/>
                </a:solidFill>
                <a:highlight>
                  <a:srgbClr val="FFFFFF"/>
                </a:highlight>
                <a:latin typeface="Cascadia Mono" panose="020B0609020000020004" pitchFamily="49" charset="0"/>
              </a:rPr>
              <a:t>"hello world"</a:t>
            </a:r>
            <a:r>
              <a:rPr lang="da-DK" sz="1400" dirty="0">
                <a:solidFill>
                  <a:srgbClr val="000000"/>
                </a:solidFill>
                <a:highlight>
                  <a:srgbClr val="FFFFFF"/>
                </a:highlight>
                <a:latin typeface="Cascadia Mono" panose="020B0609020000020004" pitchFamily="49" charset="0"/>
              </a:rPr>
              <a:t>, 4 }; </a:t>
            </a:r>
            <a:r>
              <a:rPr lang="da-DK" sz="1400" dirty="0">
                <a:solidFill>
                  <a:srgbClr val="008000"/>
                </a:solidFill>
                <a:highlight>
                  <a:srgbClr val="FFFFFF"/>
                </a:highlight>
                <a:latin typeface="Cascadia Mono" panose="020B0609020000020004" pitchFamily="49" charset="0"/>
              </a:rPr>
              <a:t>// берем первые 4 символа - message1 = hell</a:t>
            </a:r>
            <a:endParaRPr lang="da-DK"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2B91AF"/>
                </a:solidFill>
                <a:highlight>
                  <a:srgbClr val="FFFFFF"/>
                </a:highlight>
                <a:latin typeface="Cascadia Mono" panose="020B0609020000020004" pitchFamily="49" charset="0"/>
              </a:rPr>
              <a:t>string</a:t>
            </a:r>
            <a:r>
              <a:rPr lang="de-CH" sz="1400" dirty="0">
                <a:solidFill>
                  <a:srgbClr val="000000"/>
                </a:solidFill>
                <a:highlight>
                  <a:srgbClr val="FFFFFF"/>
                </a:highlight>
                <a:latin typeface="Cascadia Mono" panose="020B0609020000020004" pitchFamily="49" charset="0"/>
              </a:rPr>
              <a:t> message2{ </a:t>
            </a:r>
            <a:r>
              <a:rPr lang="de-CH" sz="1400" dirty="0">
                <a:solidFill>
                  <a:srgbClr val="A31515"/>
                </a:solidFill>
                <a:highlight>
                  <a:srgbClr val="FFFFFF"/>
                </a:highlight>
                <a:latin typeface="Cascadia Mono" panose="020B0609020000020004" pitchFamily="49" charset="0"/>
              </a:rPr>
              <a:t>"</a:t>
            </a:r>
            <a:r>
              <a:rPr lang="de-CH" sz="1400" dirty="0" err="1">
                <a:solidFill>
                  <a:srgbClr val="A31515"/>
                </a:solidFill>
                <a:highlight>
                  <a:srgbClr val="FFFFFF"/>
                </a:highlight>
                <a:latin typeface="Cascadia Mono" panose="020B0609020000020004" pitchFamily="49" charset="0"/>
              </a:rPr>
              <a:t>hello</a:t>
            </a:r>
            <a:r>
              <a:rPr lang="de-CH" sz="1400" dirty="0">
                <a:solidFill>
                  <a:srgbClr val="A31515"/>
                </a:solidFill>
                <a:highlight>
                  <a:srgbClr val="FFFFFF"/>
                </a:highlight>
                <a:latin typeface="Cascadia Mono" panose="020B0609020000020004" pitchFamily="49" charset="0"/>
              </a:rPr>
              <a:t> </a:t>
            </a:r>
            <a:r>
              <a:rPr lang="de-CH" sz="1400" dirty="0" err="1">
                <a:solidFill>
                  <a:srgbClr val="A31515"/>
                </a:solidFill>
                <a:highlight>
                  <a:srgbClr val="FFFFFF"/>
                </a:highlight>
                <a:latin typeface="Cascadia Mono" panose="020B0609020000020004" pitchFamily="49" charset="0"/>
              </a:rPr>
              <a:t>world</a:t>
            </a:r>
            <a:r>
              <a:rPr lang="de-CH" sz="1400" dirty="0">
                <a:solidFill>
                  <a:srgbClr val="A31515"/>
                </a:solidFill>
                <a:highlight>
                  <a:srgbClr val="FFFFFF"/>
                </a:highlight>
                <a:latin typeface="Cascadia Mono" panose="020B0609020000020004" pitchFamily="49" charset="0"/>
              </a:rPr>
              <a:t>"</a:t>
            </a:r>
            <a:r>
              <a:rPr lang="de-CH" sz="1400" dirty="0">
                <a:solidFill>
                  <a:srgbClr val="000000"/>
                </a:solidFill>
                <a:highlight>
                  <a:srgbClr val="FFFFFF"/>
                </a:highlight>
                <a:latin typeface="Cascadia Mono" panose="020B0609020000020004" pitchFamily="49" charset="0"/>
              </a:rPr>
              <a:t>, 6, 5 }; </a:t>
            </a:r>
            <a:r>
              <a:rPr lang="de-CH" sz="1400" dirty="0">
                <a:solidFill>
                  <a:srgbClr val="008000"/>
                </a:solidFill>
                <a:highlight>
                  <a:srgbClr val="FFFFFF"/>
                </a:highlight>
                <a:latin typeface="Cascadia Mono" panose="020B0609020000020004" pitchFamily="49" charset="0"/>
              </a:rPr>
              <a:t>// 5 </a:t>
            </a:r>
            <a:r>
              <a:rPr lang="ru-RU" sz="1400" dirty="0">
                <a:solidFill>
                  <a:srgbClr val="008000"/>
                </a:solidFill>
                <a:highlight>
                  <a:srgbClr val="FFFFFF"/>
                </a:highlight>
                <a:latin typeface="Cascadia Mono" panose="020B0609020000020004" pitchFamily="49" charset="0"/>
              </a:rPr>
              <a:t>символов начиная с 6 символа - </a:t>
            </a:r>
            <a:r>
              <a:rPr lang="de-CH" sz="1400" dirty="0">
                <a:solidFill>
                  <a:srgbClr val="008000"/>
                </a:solidFill>
                <a:highlight>
                  <a:srgbClr val="FFFFFF"/>
                </a:highlight>
                <a:latin typeface="Cascadia Mono" panose="020B0609020000020004" pitchFamily="49" charset="0"/>
              </a:rPr>
              <a:t>message2 = </a:t>
            </a:r>
            <a:r>
              <a:rPr lang="de-CH" sz="1400" dirty="0" err="1">
                <a:solidFill>
                  <a:srgbClr val="008000"/>
                </a:solidFill>
                <a:highlight>
                  <a:srgbClr val="FFFFFF"/>
                </a:highlight>
                <a:latin typeface="Cascadia Mono" panose="020B0609020000020004" pitchFamily="49" charset="0"/>
              </a:rPr>
              <a:t>world</a:t>
            </a:r>
            <a:endParaRPr lang="de-CH" sz="1400" dirty="0">
              <a:solidFill>
                <a:srgbClr val="000000"/>
              </a:solidFill>
              <a:highlight>
                <a:srgbClr val="FFFFFF"/>
              </a:highlight>
              <a:latin typeface="Cascadia Mono" panose="020B0609020000020004" pitchFamily="49" charset="0"/>
            </a:endParaRPr>
          </a:p>
          <a:p>
            <a:endParaRPr lang="ru-RU"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2B91AF"/>
                </a:solidFill>
                <a:highlight>
                  <a:srgbClr val="FFFFFF"/>
                </a:highlight>
                <a:latin typeface="Cascadia Mono" panose="020B0609020000020004" pitchFamily="49" charset="0"/>
              </a:rPr>
              <a:t>string</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hello</a:t>
            </a:r>
            <a:r>
              <a:rPr lang="de-CH" sz="1400" dirty="0">
                <a:solidFill>
                  <a:srgbClr val="000000"/>
                </a:solidFill>
                <a:highlight>
                  <a:srgbClr val="FFFFFF"/>
                </a:highlight>
                <a:latin typeface="Cascadia Mono" panose="020B0609020000020004" pitchFamily="49" charset="0"/>
              </a:rPr>
              <a:t>{ </a:t>
            </a:r>
            <a:r>
              <a:rPr lang="de-CH" sz="1400" dirty="0">
                <a:solidFill>
                  <a:srgbClr val="A31515"/>
                </a:solidFill>
                <a:highlight>
                  <a:srgbClr val="FFFFFF"/>
                </a:highlight>
                <a:latin typeface="Cascadia Mono" panose="020B0609020000020004" pitchFamily="49" charset="0"/>
              </a:rPr>
              <a:t>"</a:t>
            </a:r>
            <a:r>
              <a:rPr lang="de-CH" sz="1400" dirty="0" err="1">
                <a:solidFill>
                  <a:srgbClr val="A31515"/>
                </a:solidFill>
                <a:highlight>
                  <a:srgbClr val="FFFFFF"/>
                </a:highlight>
                <a:latin typeface="Cascadia Mono" panose="020B0609020000020004" pitchFamily="49" charset="0"/>
              </a:rPr>
              <a:t>hello</a:t>
            </a:r>
            <a:r>
              <a:rPr lang="de-CH" sz="1400" dirty="0">
                <a:solidFill>
                  <a:srgbClr val="A31515"/>
                </a:solidFill>
                <a:highlight>
                  <a:srgbClr val="FFFFFF"/>
                </a:highlight>
                <a:latin typeface="Cascadia Mono" panose="020B0609020000020004" pitchFamily="49" charset="0"/>
              </a:rPr>
              <a:t> </a:t>
            </a:r>
            <a:r>
              <a:rPr lang="de-CH" sz="1400" dirty="0" err="1">
                <a:solidFill>
                  <a:srgbClr val="A31515"/>
                </a:solidFill>
                <a:highlight>
                  <a:srgbClr val="FFFFFF"/>
                </a:highlight>
                <a:latin typeface="Cascadia Mono" panose="020B0609020000020004" pitchFamily="49" charset="0"/>
              </a:rPr>
              <a:t>world</a:t>
            </a:r>
            <a:r>
              <a:rPr lang="de-CH" sz="1400" dirty="0">
                <a:solidFill>
                  <a:srgbClr val="A31515"/>
                </a:solidFill>
                <a:highlight>
                  <a:srgbClr val="FFFFFF"/>
                </a:highlight>
                <a:latin typeface="Cascadia Mono" panose="020B0609020000020004" pitchFamily="49" charset="0"/>
              </a:rPr>
              <a:t>"</a:t>
            </a:r>
            <a:r>
              <a:rPr lang="de-CH" sz="1400" dirty="0">
                <a:solidFill>
                  <a:srgbClr val="000000"/>
                </a:solidFill>
                <a:highlight>
                  <a:srgbClr val="FFFFFF"/>
                </a:highlight>
                <a:latin typeface="Cascadia Mono" panose="020B0609020000020004" pitchFamily="49" charset="0"/>
              </a:rPr>
              <a:t> };</a:t>
            </a:r>
          </a:p>
          <a:p>
            <a:r>
              <a:rPr lang="da-DK" sz="1400" dirty="0">
                <a:solidFill>
                  <a:srgbClr val="000000"/>
                </a:solidFill>
                <a:highlight>
                  <a:srgbClr val="FFFFFF"/>
                </a:highlight>
                <a:latin typeface="Cascadia Mono" panose="020B0609020000020004" pitchFamily="49" charset="0"/>
              </a:rPr>
              <a:t>    std::</a:t>
            </a:r>
            <a:r>
              <a:rPr lang="da-DK" sz="1400" dirty="0">
                <a:solidFill>
                  <a:srgbClr val="2B91AF"/>
                </a:solidFill>
                <a:highlight>
                  <a:srgbClr val="FFFFFF"/>
                </a:highlight>
                <a:latin typeface="Cascadia Mono" panose="020B0609020000020004" pitchFamily="49" charset="0"/>
              </a:rPr>
              <a:t>string</a:t>
            </a:r>
            <a:r>
              <a:rPr lang="da-DK" sz="1400" dirty="0">
                <a:solidFill>
                  <a:srgbClr val="000000"/>
                </a:solidFill>
                <a:highlight>
                  <a:srgbClr val="FFFFFF"/>
                </a:highlight>
                <a:latin typeface="Cascadia Mono" panose="020B0609020000020004" pitchFamily="49" charset="0"/>
              </a:rPr>
              <a:t> message3{ hello, 4 };            </a:t>
            </a:r>
            <a:r>
              <a:rPr lang="da-DK" sz="1400" dirty="0">
                <a:solidFill>
                  <a:srgbClr val="008000"/>
                </a:solidFill>
                <a:highlight>
                  <a:srgbClr val="FFFFFF"/>
                </a:highlight>
                <a:latin typeface="Cascadia Mono" panose="020B0609020000020004" pitchFamily="49" charset="0"/>
              </a:rPr>
              <a:t>// message3 = hell</a:t>
            </a:r>
            <a:endParaRPr lang="da-DK" sz="1400" dirty="0">
              <a:solidFill>
                <a:srgbClr val="000000"/>
              </a:solidFill>
              <a:highlight>
                <a:srgbClr val="FFFFFF"/>
              </a:highlight>
              <a:latin typeface="Cascadia Mono" panose="020B0609020000020004" pitchFamily="49" charset="0"/>
            </a:endParaRPr>
          </a:p>
          <a:p>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std</a:t>
            </a:r>
            <a:r>
              <a:rPr lang="de-CH" sz="1400" dirty="0">
                <a:solidFill>
                  <a:srgbClr val="000000"/>
                </a:solidFill>
                <a:highlight>
                  <a:srgbClr val="FFFFFF"/>
                </a:highlight>
                <a:latin typeface="Cascadia Mono" panose="020B0609020000020004" pitchFamily="49" charset="0"/>
              </a:rPr>
              <a:t>::</a:t>
            </a:r>
            <a:r>
              <a:rPr lang="de-CH" sz="1400" dirty="0" err="1">
                <a:solidFill>
                  <a:srgbClr val="2B91AF"/>
                </a:solidFill>
                <a:highlight>
                  <a:srgbClr val="FFFFFF"/>
                </a:highlight>
                <a:latin typeface="Cascadia Mono" panose="020B0609020000020004" pitchFamily="49" charset="0"/>
              </a:rPr>
              <a:t>string</a:t>
            </a:r>
            <a:r>
              <a:rPr lang="de-CH" sz="1400" dirty="0">
                <a:solidFill>
                  <a:srgbClr val="000000"/>
                </a:solidFill>
                <a:highlight>
                  <a:srgbClr val="FFFFFF"/>
                </a:highlight>
                <a:latin typeface="Cascadia Mono" panose="020B0609020000020004" pitchFamily="49" charset="0"/>
              </a:rPr>
              <a:t> message4{ </a:t>
            </a:r>
            <a:r>
              <a:rPr lang="de-CH" sz="1400" dirty="0" err="1">
                <a:solidFill>
                  <a:srgbClr val="000000"/>
                </a:solidFill>
                <a:highlight>
                  <a:srgbClr val="FFFFFF"/>
                </a:highlight>
                <a:latin typeface="Cascadia Mono" panose="020B0609020000020004" pitchFamily="49" charset="0"/>
              </a:rPr>
              <a:t>hello</a:t>
            </a:r>
            <a:r>
              <a:rPr lang="de-CH" sz="1400" dirty="0">
                <a:solidFill>
                  <a:srgbClr val="000000"/>
                </a:solidFill>
                <a:highlight>
                  <a:srgbClr val="FFFFFF"/>
                </a:highlight>
                <a:latin typeface="Cascadia Mono" panose="020B0609020000020004" pitchFamily="49" charset="0"/>
              </a:rPr>
              <a:t>, 6, 5 };         </a:t>
            </a:r>
            <a:r>
              <a:rPr lang="de-CH" sz="1400" dirty="0">
                <a:solidFill>
                  <a:srgbClr val="008000"/>
                </a:solidFill>
                <a:highlight>
                  <a:srgbClr val="FFFFFF"/>
                </a:highlight>
                <a:latin typeface="Cascadia Mono" panose="020B0609020000020004" pitchFamily="49" charset="0"/>
              </a:rPr>
              <a:t>// message4 = </a:t>
            </a:r>
            <a:r>
              <a:rPr lang="de-CH" sz="1400" dirty="0" err="1">
                <a:solidFill>
                  <a:srgbClr val="008000"/>
                </a:solidFill>
                <a:highlight>
                  <a:srgbClr val="FFFFFF"/>
                </a:highlight>
                <a:latin typeface="Cascadia Mono" panose="020B0609020000020004" pitchFamily="49" charset="0"/>
              </a:rPr>
              <a:t>world</a:t>
            </a:r>
            <a:endParaRPr lang="de-CH" sz="1400" dirty="0">
              <a:solidFill>
                <a:srgbClr val="000000"/>
              </a:solidFill>
              <a:highlight>
                <a:srgbClr val="FFFFFF"/>
              </a:highlight>
              <a:latin typeface="Cascadia Mono" panose="020B0609020000020004" pitchFamily="49" charset="0"/>
            </a:endParaRPr>
          </a:p>
          <a:p>
            <a:endParaRPr lang="ru-RU"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a:t>
            </a:r>
            <a:endParaRPr lang="ru-RU" sz="1400" dirty="0"/>
          </a:p>
        </p:txBody>
      </p:sp>
    </p:spTree>
    <p:extLst>
      <p:ext uri="{BB962C8B-B14F-4D97-AF65-F5344CB8AC3E}">
        <p14:creationId xmlns:p14="http://schemas.microsoft.com/office/powerpoint/2010/main" val="1552867086"/>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24D878-4495-2830-A6FF-DF920E7FEB40}"/>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8F378413-CCCA-BEE6-A4DE-05FFC6013B9F}"/>
              </a:ext>
            </a:extLst>
          </p:cNvPr>
          <p:cNvSpPr>
            <a:spLocks noGrp="1"/>
          </p:cNvSpPr>
          <p:nvPr>
            <p:ph idx="1"/>
          </p:nvPr>
        </p:nvSpPr>
        <p:spPr/>
        <p:txBody>
          <a:bodyPr/>
          <a:lstStyle/>
          <a:p>
            <a:r>
              <a:rPr lang="ru-RU" dirty="0"/>
              <a:t>С помощью стандартных потоков ввода и вывода </a:t>
            </a:r>
            <a:r>
              <a:rPr lang="ru-RU" dirty="0" err="1"/>
              <a:t>cin</a:t>
            </a:r>
            <a:r>
              <a:rPr lang="ru-RU" dirty="0"/>
              <a:t> и </a:t>
            </a:r>
            <a:r>
              <a:rPr lang="ru-RU" dirty="0" err="1"/>
              <a:t>cout</a:t>
            </a:r>
            <a:r>
              <a:rPr lang="ru-RU" dirty="0"/>
              <a:t> можно ввести данные в строку и вывести на консоль:</a:t>
            </a:r>
            <a:endParaRPr lang="en-US" dirty="0"/>
          </a:p>
          <a:p>
            <a:endParaRPr lang="en-US" dirty="0"/>
          </a:p>
          <a:p>
            <a:pPr lvl="1"/>
            <a:r>
              <a:rPr lang="de-CH" dirty="0" err="1">
                <a:solidFill>
                  <a:srgbClr val="0000FF"/>
                </a:solidFill>
                <a:highlight>
                  <a:srgbClr val="FFFFFF"/>
                </a:highlight>
                <a:latin typeface="Cascadia Mono" panose="020B0609020000020004" pitchFamily="49" charset="0"/>
              </a:rPr>
              <a:t>using</a:t>
            </a:r>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namespace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name</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"Input your name: "</a:t>
            </a:r>
            <a:r>
              <a:rPr lang="en-US"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cin</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&gt;&gt;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name</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"Your name: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name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667101174"/>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EE45F4-5A68-B556-4543-3D0212D8A294}"/>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421650B7-77D2-525C-1B4A-288E47C0B410}"/>
              </a:ext>
            </a:extLst>
          </p:cNvPr>
          <p:cNvSpPr>
            <a:spLocks noGrp="1"/>
          </p:cNvSpPr>
          <p:nvPr>
            <p:ph idx="1"/>
          </p:nvPr>
        </p:nvSpPr>
        <p:spPr/>
        <p:txBody>
          <a:bodyPr/>
          <a:lstStyle/>
          <a:p>
            <a:r>
              <a:rPr lang="ru-RU" dirty="0"/>
              <a:t>Чтобы считать всю строку вне зависимости от наличия пробелов, можно применять метод </a:t>
            </a:r>
            <a:r>
              <a:rPr lang="ru-RU" b="1" dirty="0" err="1"/>
              <a:t>getline</a:t>
            </a:r>
            <a:r>
              <a:rPr lang="ru-RU" b="1" dirty="0"/>
              <a:t>()</a:t>
            </a:r>
            <a:r>
              <a:rPr lang="ru-RU" dirty="0"/>
              <a:t>:</a:t>
            </a:r>
          </a:p>
          <a:p>
            <a:pPr lvl="1"/>
            <a:br>
              <a:rPr lang="ru-RU" dirty="0"/>
            </a:br>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name</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"Input your name: "</a:t>
            </a:r>
            <a:r>
              <a:rPr lang="en-US"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getline</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cin</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name</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"Your name: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name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389057593"/>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A58F69-521F-AE23-BE70-61D21C57BA14}"/>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364390E5-1295-A37B-6F0C-D4E3BF8062F0}"/>
              </a:ext>
            </a:extLst>
          </p:cNvPr>
          <p:cNvSpPr>
            <a:spLocks noGrp="1"/>
          </p:cNvSpPr>
          <p:nvPr>
            <p:ph idx="1"/>
          </p:nvPr>
        </p:nvSpPr>
        <p:spPr/>
        <p:txBody>
          <a:bodyPr/>
          <a:lstStyle/>
          <a:p>
            <a:r>
              <a:rPr lang="ru-RU" b="1" dirty="0"/>
              <a:t>Размер строки</a:t>
            </a:r>
          </a:p>
          <a:p>
            <a:r>
              <a:rPr lang="ru-RU" dirty="0"/>
              <a:t>С помощью методов </a:t>
            </a:r>
            <a:r>
              <a:rPr lang="ru-RU" b="1" dirty="0" err="1"/>
              <a:t>length</a:t>
            </a:r>
            <a:r>
              <a:rPr lang="ru-RU" b="1" dirty="0"/>
              <a:t>()</a:t>
            </a:r>
            <a:r>
              <a:rPr lang="ru-RU" dirty="0"/>
              <a:t> и </a:t>
            </a:r>
            <a:r>
              <a:rPr lang="ru-RU" b="1" dirty="0" err="1"/>
              <a:t>size</a:t>
            </a:r>
            <a:r>
              <a:rPr lang="ru-RU" b="1" dirty="0"/>
              <a:t>()</a:t>
            </a:r>
            <a:r>
              <a:rPr lang="ru-RU" dirty="0"/>
              <a:t> можно узнать размер строки, то есть из скольких символов она состоит (нулевой байт при этом не учитывается):</a:t>
            </a:r>
          </a:p>
          <a:p>
            <a:endParaRPr lang="ru-RU"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"Hello"</a:t>
            </a:r>
            <a:r>
              <a:rPr lang="de-CH"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"Length: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message.length</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Length: 5</a:t>
            </a:r>
            <a:endParaRPr lang="en-US"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"Size: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err="1">
                <a:solidFill>
                  <a:srgbClr val="000000"/>
                </a:solidFill>
                <a:highlight>
                  <a:srgbClr val="FFFFFF"/>
                </a:highlight>
                <a:latin typeface="Cascadia Mono" panose="020B0609020000020004" pitchFamily="49" charset="0"/>
              </a:rPr>
              <a:t>message.size</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Size: 5</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518911137"/>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427A3C-2469-D13A-FEBA-161F041A99A3}"/>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0CC5197F-B5D2-41CD-D6F8-71F41A5C32AB}"/>
              </a:ext>
            </a:extLst>
          </p:cNvPr>
          <p:cNvSpPr>
            <a:spLocks noGrp="1"/>
          </p:cNvSpPr>
          <p:nvPr>
            <p:ph idx="1"/>
          </p:nvPr>
        </p:nvSpPr>
        <p:spPr/>
        <p:txBody>
          <a:bodyPr/>
          <a:lstStyle/>
          <a:p>
            <a:r>
              <a:rPr lang="ru-RU" dirty="0"/>
              <a:t>Если строка пустая, то она содержит 0 символов. В этом случае мы можем применить метод </a:t>
            </a:r>
            <a:r>
              <a:rPr lang="ru-RU" b="1" dirty="0" err="1"/>
              <a:t>empty</a:t>
            </a:r>
            <a:r>
              <a:rPr lang="ru-RU" b="1" dirty="0"/>
              <a:t>()</a:t>
            </a:r>
            <a:r>
              <a:rPr lang="ru-RU" dirty="0"/>
              <a:t> - он возвращает </a:t>
            </a:r>
            <a:r>
              <a:rPr lang="ru-RU" dirty="0" err="1"/>
              <a:t>true</a:t>
            </a:r>
            <a:r>
              <a:rPr lang="ru-RU" dirty="0"/>
              <a:t>, если строка пустая:</a:t>
            </a: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if</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message.empty</a:t>
            </a:r>
            <a:r>
              <a:rPr lang="de-CH"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"string is empty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else</a:t>
            </a:r>
            <a:endParaRPr lang="de-CH"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"string is not empty"</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2035683379"/>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933A6C-B4BD-6450-409E-44C5443F7946}"/>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F12A3AC8-F6BE-6349-8B9C-A159F6B0BA53}"/>
              </a:ext>
            </a:extLst>
          </p:cNvPr>
          <p:cNvSpPr>
            <a:spLocks noGrp="1"/>
          </p:cNvSpPr>
          <p:nvPr>
            <p:ph idx="1"/>
          </p:nvPr>
        </p:nvSpPr>
        <p:spPr/>
        <p:txBody>
          <a:bodyPr/>
          <a:lstStyle/>
          <a:p>
            <a:r>
              <a:rPr lang="ru-RU" b="1" dirty="0"/>
              <a:t>Объединение строк</a:t>
            </a:r>
          </a:p>
          <a:p>
            <a:r>
              <a:rPr lang="ru-RU" dirty="0"/>
              <a:t>Для объединения строк применяется операция сложения:</a:t>
            </a:r>
          </a:p>
          <a:p>
            <a:endParaRPr lang="ru-RU" b="1"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hello</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hello</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world</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world</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hello</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 "</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world</a:t>
            </a:r>
            <a:r>
              <a:rPr lang="de-CH"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message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hello world</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b="1" dirty="0"/>
          </a:p>
          <a:p>
            <a:endParaRPr lang="ru-RU" dirty="0"/>
          </a:p>
        </p:txBody>
      </p:sp>
    </p:spTree>
    <p:extLst>
      <p:ext uri="{BB962C8B-B14F-4D97-AF65-F5344CB8AC3E}">
        <p14:creationId xmlns:p14="http://schemas.microsoft.com/office/powerpoint/2010/main" val="3396899527"/>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F84FDD-2F50-EF32-E76F-05ED6F51B920}"/>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FC931F2E-D31E-A49E-3700-4A29AA8F6341}"/>
              </a:ext>
            </a:extLst>
          </p:cNvPr>
          <p:cNvSpPr>
            <a:spLocks noGrp="1"/>
          </p:cNvSpPr>
          <p:nvPr>
            <p:ph idx="1"/>
          </p:nvPr>
        </p:nvSpPr>
        <p:spPr/>
        <p:txBody>
          <a:bodyPr/>
          <a:lstStyle/>
          <a:p>
            <a:r>
              <a:rPr lang="ru-RU" dirty="0"/>
              <a:t>Стоит отметить, что при операции сложения оба операнда </a:t>
            </a:r>
            <a:r>
              <a:rPr lang="ru-RU" dirty="0">
                <a:solidFill>
                  <a:srgbClr val="FF0000"/>
                </a:solidFill>
              </a:rPr>
              <a:t>НЕ должны</a:t>
            </a:r>
            <a:r>
              <a:rPr lang="ru-RU" dirty="0"/>
              <a:t> одновременно представлять строковые литералы. Например, в следующем случае мы получим ошибку</a:t>
            </a:r>
          </a:p>
          <a:p>
            <a:endParaRPr lang="ru-RU" dirty="0"/>
          </a:p>
          <a:p>
            <a:pPr lvl="1"/>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hello</a:t>
            </a:r>
            <a:r>
              <a:rPr lang="de-CH" dirty="0">
                <a:solidFill>
                  <a:srgbClr val="A31515"/>
                </a:solidFill>
                <a:highlight>
                  <a:srgbClr val="FFFFFF"/>
                </a:highlight>
                <a:latin typeface="Cascadia Mono" panose="020B0609020000020004" pitchFamily="49" charset="0"/>
              </a:rPr>
              <a:t> "</a:t>
            </a:r>
            <a:r>
              <a:rPr lang="de-CH" dirty="0">
                <a:solidFill>
                  <a:srgbClr val="000000"/>
                </a:solidFill>
                <a:highlight>
                  <a:srgbClr val="FFFFFF"/>
                </a:highlight>
                <a:latin typeface="Cascadia Mono" panose="020B0609020000020004" pitchFamily="49" charset="0"/>
              </a:rPr>
              <a:t> +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world</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 </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   </a:t>
            </a:r>
            <a:r>
              <a:rPr lang="de-CH" dirty="0">
                <a:solidFill>
                  <a:srgbClr val="008000"/>
                </a:solidFill>
                <a:highlight>
                  <a:srgbClr val="FFFFFF"/>
                </a:highlight>
                <a:latin typeface="Cascadia Mono" panose="020B0609020000020004" pitchFamily="49" charset="0"/>
              </a:rPr>
              <a:t>// ! </a:t>
            </a:r>
            <a:r>
              <a:rPr lang="ru-RU" dirty="0">
                <a:solidFill>
                  <a:srgbClr val="008000"/>
                </a:solidFill>
                <a:highlight>
                  <a:srgbClr val="FFFFFF"/>
                </a:highlight>
                <a:latin typeface="Cascadia Mono" panose="020B0609020000020004" pitchFamily="49" charset="0"/>
              </a:rPr>
              <a:t>Ошибка</a:t>
            </a:r>
          </a:p>
          <a:p>
            <a:pPr lvl="1"/>
            <a:endParaRPr lang="ru-RU" dirty="0">
              <a:solidFill>
                <a:srgbClr val="008000"/>
              </a:solidFill>
              <a:highlight>
                <a:srgbClr val="FFFFFF"/>
              </a:highlight>
              <a:latin typeface="Cascadia Mono" panose="020B0609020000020004" pitchFamily="49" charset="0"/>
            </a:endParaRPr>
          </a:p>
          <a:p>
            <a:pPr lvl="1"/>
            <a:endParaRPr lang="ru-RU" dirty="0">
              <a:solidFill>
                <a:srgbClr val="008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hello</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hello</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a:solidFill>
                  <a:srgbClr val="2B91AF"/>
                </a:solidFill>
                <a:highlight>
                  <a:srgbClr val="FFFFFF"/>
                </a:highlight>
                <a:latin typeface="Cascadia Mono" panose="020B0609020000020004" pitchFamily="49" charset="0"/>
              </a:rPr>
              <a:t>string</a:t>
            </a:r>
            <a:r>
              <a:rPr lang="en-US" dirty="0">
                <a:solidFill>
                  <a:srgbClr val="000000"/>
                </a:solidFill>
                <a:highlight>
                  <a:srgbClr val="FFFFFF"/>
                </a:highlight>
                <a:latin typeface="Cascadia Mono" panose="020B0609020000020004" pitchFamily="49" charset="0"/>
              </a:rPr>
              <a:t> message{ hello </a:t>
            </a:r>
            <a:r>
              <a:rPr lang="en-US" dirty="0">
                <a:solidFill>
                  <a:srgbClr val="008080"/>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 world"</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   </a:t>
            </a:r>
            <a:r>
              <a:rPr lang="en-US" dirty="0">
                <a:solidFill>
                  <a:srgbClr val="008000"/>
                </a:solidFill>
                <a:highlight>
                  <a:srgbClr val="FFFFFF"/>
                </a:highlight>
                <a:latin typeface="Cascadia Mono" panose="020B0609020000020004" pitchFamily="49" charset="0"/>
              </a:rPr>
              <a:t>// hello world!</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pPr lvl="1"/>
            <a:endParaRPr lang="ru-RU" dirty="0"/>
          </a:p>
        </p:txBody>
      </p:sp>
    </p:spTree>
    <p:extLst>
      <p:ext uri="{BB962C8B-B14F-4D97-AF65-F5344CB8AC3E}">
        <p14:creationId xmlns:p14="http://schemas.microsoft.com/office/powerpoint/2010/main" val="3945131407"/>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11A455-E986-D8AF-7811-AF778D7FF557}"/>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5142E2D6-D1E9-E6BD-83D3-419B9A6C6E5F}"/>
              </a:ext>
            </a:extLst>
          </p:cNvPr>
          <p:cNvSpPr>
            <a:spLocks noGrp="1"/>
          </p:cNvSpPr>
          <p:nvPr>
            <p:ph idx="1"/>
          </p:nvPr>
        </p:nvSpPr>
        <p:spPr/>
        <p:txBody>
          <a:bodyPr/>
          <a:lstStyle/>
          <a:p>
            <a:r>
              <a:rPr lang="ru-RU" dirty="0"/>
              <a:t>В качестве альтернативы можно неявно преобразовать строковый литерал в объект </a:t>
            </a:r>
            <a:r>
              <a:rPr lang="ru-RU" dirty="0" err="1"/>
              <a:t>string</a:t>
            </a:r>
            <a:r>
              <a:rPr lang="ru-RU" dirty="0"/>
              <a:t>. Для этого импортируется пространство имен </a:t>
            </a:r>
            <a:r>
              <a:rPr lang="ru-RU" dirty="0" err="1"/>
              <a:t>std</a:t>
            </a:r>
            <a:r>
              <a:rPr lang="ru-RU" dirty="0"/>
              <a:t>::</a:t>
            </a:r>
            <a:r>
              <a:rPr lang="ru-RU" dirty="0" err="1"/>
              <a:t>string_literals</a:t>
            </a:r>
            <a:r>
              <a:rPr lang="ru-RU" dirty="0"/>
              <a:t> и к строковым литералам добавляется суффикс </a:t>
            </a:r>
            <a:r>
              <a:rPr lang="ru-RU" b="1" dirty="0"/>
              <a:t>s</a:t>
            </a:r>
          </a:p>
          <a:p>
            <a:endParaRPr lang="ru-RU" b="1"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en-US" dirty="0">
                <a:solidFill>
                  <a:srgbClr val="0000FF"/>
                </a:solidFill>
                <a:highlight>
                  <a:srgbClr val="FFFFFF"/>
                </a:highlight>
                <a:latin typeface="Cascadia Mono" panose="020B0609020000020004" pitchFamily="49" charset="0"/>
              </a:rPr>
              <a:t>using</a:t>
            </a:r>
            <a:r>
              <a:rPr lang="en-US" dirty="0">
                <a:solidFill>
                  <a:srgbClr val="000000"/>
                </a:solidFill>
                <a:highlight>
                  <a:srgbClr val="FFFFFF"/>
                </a:highlight>
                <a:latin typeface="Cascadia Mono" panose="020B0609020000020004" pitchFamily="49" charset="0"/>
              </a:rPr>
              <a:t> </a:t>
            </a:r>
            <a:r>
              <a:rPr lang="en-US" dirty="0">
                <a:solidFill>
                  <a:srgbClr val="0000FF"/>
                </a:solidFill>
                <a:highlight>
                  <a:srgbClr val="FFFFFF"/>
                </a:highlight>
                <a:latin typeface="Cascadia Mono" panose="020B0609020000020004" pitchFamily="49" charset="0"/>
              </a:rPr>
              <a:t>namespace</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string_literals</a:t>
            </a:r>
            <a:r>
              <a:rPr lang="en-US" dirty="0">
                <a:solidFill>
                  <a:srgbClr val="000000"/>
                </a:solidFill>
                <a:highlight>
                  <a:srgbClr val="FFFFFF"/>
                </a:highlight>
                <a:latin typeface="Cascadia Mono" panose="020B0609020000020004" pitchFamily="49" charset="0"/>
              </a:rPr>
              <a:t>;</a:t>
            </a: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a:solidFill>
                  <a:srgbClr val="2B91AF"/>
                </a:solidFill>
                <a:highlight>
                  <a:srgbClr val="FFFFFF"/>
                </a:highlight>
                <a:latin typeface="Cascadia Mono" panose="020B0609020000020004" pitchFamily="49" charset="0"/>
              </a:rPr>
              <a:t>string</a:t>
            </a:r>
            <a:r>
              <a:rPr lang="en-US" dirty="0">
                <a:solidFill>
                  <a:srgbClr val="000000"/>
                </a:solidFill>
                <a:highlight>
                  <a:srgbClr val="FFFFFF"/>
                </a:highlight>
                <a:latin typeface="Cascadia Mono" panose="020B0609020000020004" pitchFamily="49" charset="0"/>
              </a:rPr>
              <a:t> message{ </a:t>
            </a:r>
            <a:r>
              <a:rPr lang="en-US" dirty="0">
                <a:solidFill>
                  <a:srgbClr val="A31515"/>
                </a:solidFill>
                <a:highlight>
                  <a:srgbClr val="FFFFFF"/>
                </a:highlight>
                <a:latin typeface="Cascadia Mono" panose="020B0609020000020004" pitchFamily="49" charset="0"/>
              </a:rPr>
              <a:t>"hello "s</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a:t>
            </a:r>
            <a:r>
              <a:rPr lang="en-US" dirty="0" err="1">
                <a:solidFill>
                  <a:srgbClr val="A31515"/>
                </a:solidFill>
                <a:highlight>
                  <a:srgbClr val="FFFFFF"/>
                </a:highlight>
                <a:latin typeface="Cascadia Mono" panose="020B0609020000020004" pitchFamily="49" charset="0"/>
              </a:rPr>
              <a:t>world"s</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a:t>
            </a:r>
            <a:r>
              <a:rPr lang="en-US" dirty="0">
                <a:solidFill>
                  <a:srgbClr val="A31515"/>
                </a:solidFill>
                <a:highlight>
                  <a:srgbClr val="FFFFFF"/>
                </a:highlight>
                <a:latin typeface="Cascadia Mono" panose="020B0609020000020004" pitchFamily="49" charset="0"/>
              </a:rPr>
              <a:t>"!"s</a:t>
            </a:r>
            <a:r>
              <a:rPr lang="en-US"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de-CH" dirty="0" err="1">
                <a:solidFill>
                  <a:srgbClr val="008000"/>
                </a:solidFill>
                <a:highlight>
                  <a:srgbClr val="FFFFFF"/>
                </a:highlight>
                <a:latin typeface="Cascadia Mono" panose="020B0609020000020004" pitchFamily="49" charset="0"/>
              </a:rPr>
              <a:t>hello</a:t>
            </a:r>
            <a:r>
              <a:rPr lang="de-CH" dirty="0">
                <a:solidFill>
                  <a:srgbClr val="008000"/>
                </a:solidFill>
                <a:highlight>
                  <a:srgbClr val="FFFFFF"/>
                </a:highlight>
                <a:latin typeface="Cascadia Mono" panose="020B0609020000020004" pitchFamily="49" charset="0"/>
              </a:rPr>
              <a:t> metanit.com</a:t>
            </a:r>
            <a:endParaRPr lang="de-CH"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pPr lvl="1"/>
            <a:endParaRPr lang="ru-RU" dirty="0">
              <a:solidFill>
                <a:srgbClr val="000000"/>
              </a:solidFill>
              <a:highlight>
                <a:srgbClr val="FFFFFF"/>
              </a:highlight>
              <a:latin typeface="Cascadia Mono" panose="020B0609020000020004" pitchFamily="49" charset="0"/>
            </a:endParaRPr>
          </a:p>
          <a:p>
            <a:pPr lvl="1"/>
            <a:r>
              <a:rPr lang="ru-RU" dirty="0"/>
              <a:t>В данном случае строки в суффиксом </a:t>
            </a:r>
            <a:r>
              <a:rPr lang="ru-RU" b="1" dirty="0"/>
              <a:t>s</a:t>
            </a:r>
            <a:r>
              <a:rPr lang="ru-RU" dirty="0"/>
              <a:t>, например, "</a:t>
            </a:r>
            <a:r>
              <a:rPr lang="ru-RU" dirty="0" err="1"/>
              <a:t>hello</a:t>
            </a:r>
            <a:r>
              <a:rPr lang="ru-RU" dirty="0"/>
              <a:t> "s, будут представлять объекты </a:t>
            </a:r>
            <a:r>
              <a:rPr lang="ru-RU" dirty="0" err="1"/>
              <a:t>string</a:t>
            </a:r>
            <a:r>
              <a:rPr lang="ru-RU" dirty="0"/>
              <a:t>.</a:t>
            </a:r>
          </a:p>
        </p:txBody>
      </p:sp>
    </p:spTree>
    <p:extLst>
      <p:ext uri="{BB962C8B-B14F-4D97-AF65-F5344CB8AC3E}">
        <p14:creationId xmlns:p14="http://schemas.microsoft.com/office/powerpoint/2010/main" val="83423795"/>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A0905F-CAB1-49F3-D1EA-902B49E09535}"/>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7CDBAAEA-5C56-B663-824E-368F14F2E8E3}"/>
              </a:ext>
            </a:extLst>
          </p:cNvPr>
          <p:cNvSpPr>
            <a:spLocks noGrp="1"/>
          </p:cNvSpPr>
          <p:nvPr>
            <p:ph idx="1"/>
          </p:nvPr>
        </p:nvSpPr>
        <p:spPr/>
        <p:txBody>
          <a:bodyPr/>
          <a:lstStyle/>
          <a:p>
            <a:r>
              <a:rPr lang="de-CH" b="1" dirty="0" err="1"/>
              <a:t>raw</a:t>
            </a:r>
            <a:r>
              <a:rPr lang="de-CH" b="1" dirty="0"/>
              <a:t>-</a:t>
            </a:r>
            <a:r>
              <a:rPr lang="ru-RU" b="1" dirty="0"/>
              <a:t>литералы</a:t>
            </a:r>
          </a:p>
          <a:p>
            <a:pPr lvl="1"/>
            <a:r>
              <a:rPr lang="ru-RU" dirty="0"/>
              <a:t>В строках можно использовать различные специальные символы, которые имеют специальное назначение, например, символ "\t" представляет табуляцию, а "\n" - перевод текста на новую строчку. Но поскольку слеш \ применяется для индикации подобных последовательностей, то чтобы вывести в строке один слеш нам надо предварять его другим слешем: "\\". Кроме того, если мы захотим вывести двойную кавычку внутри строки, то ее тоже надо предварять слешем - "\"". Например:</a:t>
            </a:r>
          </a:p>
          <a:p>
            <a:pPr lvl="1"/>
            <a:endParaRPr lang="ru-RU" dirty="0">
              <a:solidFill>
                <a:srgbClr val="80808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text</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"Name: \t\"Tom\"\</a:t>
            </a:r>
            <a:r>
              <a:rPr lang="de-CH" dirty="0" err="1">
                <a:solidFill>
                  <a:srgbClr val="A31515"/>
                </a:solidFill>
                <a:highlight>
                  <a:srgbClr val="FFFFFF"/>
                </a:highlight>
                <a:latin typeface="Cascadia Mono" panose="020B0609020000020004" pitchFamily="49" charset="0"/>
              </a:rPr>
              <a:t>nAge</a:t>
            </a:r>
            <a:r>
              <a:rPr lang="de-CH" dirty="0">
                <a:solidFill>
                  <a:srgbClr val="A31515"/>
                </a:solidFill>
                <a:highlight>
                  <a:srgbClr val="FFFFFF"/>
                </a:highlight>
                <a:latin typeface="Cascadia Mono" panose="020B0609020000020004" pitchFamily="49" charset="0"/>
              </a:rPr>
              <a:t>:\t38"</a:t>
            </a:r>
            <a:r>
              <a:rPr lang="de-CH"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text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17713897"/>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52C11E-5209-17B5-F9B9-B336715DAC12}"/>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755126FE-18BF-C23E-9E44-46ABC5E51C12}"/>
              </a:ext>
            </a:extLst>
          </p:cNvPr>
          <p:cNvSpPr>
            <a:spLocks noGrp="1"/>
          </p:cNvSpPr>
          <p:nvPr>
            <p:ph idx="1"/>
          </p:nvPr>
        </p:nvSpPr>
        <p:spPr/>
        <p:txBody>
          <a:bodyPr/>
          <a:lstStyle/>
          <a:p>
            <a:r>
              <a:rPr lang="ru-RU" dirty="0" err="1"/>
              <a:t>raw</a:t>
            </a:r>
            <a:r>
              <a:rPr lang="ru-RU" dirty="0"/>
              <a:t>-литералы позволяют упростить определение подобных строк. Такие литералы предваряются префиксом </a:t>
            </a:r>
            <a:r>
              <a:rPr lang="ru-RU" b="1" dirty="0"/>
              <a:t>R</a:t>
            </a:r>
            <a:r>
              <a:rPr lang="ru-RU" dirty="0"/>
              <a:t>, а сам текст заключается в двойные кавычки и круглые скобки:</a:t>
            </a:r>
          </a:p>
          <a:p>
            <a:endParaRPr lang="ru-RU" dirty="0"/>
          </a:p>
          <a:p>
            <a:pPr lvl="1">
              <a:lnSpc>
                <a:spcPts val="1575"/>
              </a:lnSpc>
            </a:pPr>
            <a:r>
              <a:rPr lang="en-US" b="0" i="0" dirty="0">
                <a:solidFill>
                  <a:srgbClr val="808080"/>
                </a:solidFill>
                <a:effectLst/>
                <a:latin typeface="SFMono-Regular"/>
              </a:rPr>
              <a:t>#include &lt;iostream&gt;</a:t>
            </a:r>
            <a:endParaRPr lang="en-US" b="0" i="0" dirty="0">
              <a:solidFill>
                <a:srgbClr val="000000"/>
              </a:solidFill>
              <a:effectLst/>
              <a:latin typeface="SFMono-Regular"/>
            </a:endParaRPr>
          </a:p>
          <a:p>
            <a:pPr lvl="1">
              <a:lnSpc>
                <a:spcPts val="1575"/>
              </a:lnSpc>
            </a:pPr>
            <a:r>
              <a:rPr lang="en-US" b="0" i="0" dirty="0">
                <a:solidFill>
                  <a:srgbClr val="808080"/>
                </a:solidFill>
                <a:effectLst/>
                <a:latin typeface="SFMono-Regular"/>
              </a:rPr>
              <a:t>#include &lt;string&gt;</a:t>
            </a:r>
            <a:endParaRPr lang="en-US" b="0" i="0" dirty="0">
              <a:solidFill>
                <a:srgbClr val="000000"/>
              </a:solidFill>
              <a:effectLst/>
              <a:latin typeface="SFMono-Regular"/>
            </a:endParaRPr>
          </a:p>
          <a:p>
            <a:pPr lvl="1">
              <a:lnSpc>
                <a:spcPts val="1575"/>
              </a:lnSpc>
            </a:pPr>
            <a:r>
              <a:rPr lang="en-US" b="0" i="0" dirty="0">
                <a:solidFill>
                  <a:srgbClr val="000000"/>
                </a:solidFill>
                <a:effectLst/>
                <a:latin typeface="SFMono-Regular"/>
              </a:rPr>
              <a:t> </a:t>
            </a:r>
          </a:p>
          <a:p>
            <a:pPr lvl="1">
              <a:lnSpc>
                <a:spcPts val="1575"/>
              </a:lnSpc>
            </a:pPr>
            <a:r>
              <a:rPr lang="en-US" b="1" i="0" dirty="0">
                <a:solidFill>
                  <a:srgbClr val="808080"/>
                </a:solidFill>
                <a:effectLst/>
                <a:latin typeface="SFMono-Regular"/>
              </a:rPr>
              <a:t>int</a:t>
            </a:r>
            <a:r>
              <a:rPr lang="en-US" b="0" i="0" dirty="0">
                <a:solidFill>
                  <a:srgbClr val="000000"/>
                </a:solidFill>
                <a:effectLst/>
                <a:latin typeface="SFMono-Regular"/>
              </a:rPr>
              <a:t> main()</a:t>
            </a:r>
          </a:p>
          <a:p>
            <a:pPr lvl="1">
              <a:lnSpc>
                <a:spcPts val="1575"/>
              </a:lnSpc>
            </a:pPr>
            <a:r>
              <a:rPr lang="en-US" b="0" i="0" dirty="0">
                <a:solidFill>
                  <a:srgbClr val="000000"/>
                </a:solidFill>
                <a:effectLst/>
                <a:latin typeface="SFMono-Regular"/>
              </a:rPr>
              <a:t>{</a:t>
            </a:r>
          </a:p>
          <a:p>
            <a:pPr lvl="1">
              <a:lnSpc>
                <a:spcPts val="1575"/>
              </a:lnSpc>
            </a:pPr>
            <a:r>
              <a:rPr lang="en-US" b="0" i="0" dirty="0">
                <a:solidFill>
                  <a:srgbClr val="000000"/>
                </a:solidFill>
                <a:effectLst/>
                <a:latin typeface="SFMono-Regular"/>
              </a:rPr>
              <a:t>    std::string text </a:t>
            </a:r>
          </a:p>
          <a:p>
            <a:pPr lvl="1">
              <a:lnSpc>
                <a:spcPts val="1575"/>
              </a:lnSpc>
            </a:pPr>
            <a:r>
              <a:rPr lang="en-US" b="0" i="0" dirty="0">
                <a:solidFill>
                  <a:srgbClr val="000000"/>
                </a:solidFill>
                <a:effectLst/>
                <a:latin typeface="SFMono-Regular"/>
              </a:rPr>
              <a:t>{R</a:t>
            </a:r>
            <a:r>
              <a:rPr lang="en-US" b="0" i="0" dirty="0">
                <a:solidFill>
                  <a:srgbClr val="DB003E"/>
                </a:solidFill>
                <a:effectLst/>
                <a:latin typeface="SFMono-Regular"/>
              </a:rPr>
              <a:t>"(Name:   "</a:t>
            </a:r>
            <a:r>
              <a:rPr lang="en-US" b="0" i="0" dirty="0">
                <a:solidFill>
                  <a:srgbClr val="000000"/>
                </a:solidFill>
                <a:effectLst/>
                <a:latin typeface="SFMono-Regular"/>
              </a:rPr>
              <a:t>Tom"</a:t>
            </a:r>
          </a:p>
          <a:p>
            <a:pPr lvl="1">
              <a:lnSpc>
                <a:spcPts val="1575"/>
              </a:lnSpc>
            </a:pPr>
            <a:r>
              <a:rPr lang="en-US" b="0" i="0" dirty="0">
                <a:solidFill>
                  <a:srgbClr val="000000"/>
                </a:solidFill>
                <a:effectLst/>
                <a:latin typeface="SFMono-Regular"/>
              </a:rPr>
              <a:t>Age:    38)"};</a:t>
            </a:r>
          </a:p>
          <a:p>
            <a:pPr lvl="1">
              <a:lnSpc>
                <a:spcPts val="1575"/>
              </a:lnSpc>
            </a:pPr>
            <a:r>
              <a:rPr lang="en-US" b="0" i="0" dirty="0">
                <a:solidFill>
                  <a:srgbClr val="000000"/>
                </a:solidFill>
                <a:effectLst/>
                <a:latin typeface="SFMono-Regular"/>
              </a:rPr>
              <a:t>    std::</a:t>
            </a:r>
            <a:r>
              <a:rPr lang="en-US" b="0" i="0" dirty="0" err="1">
                <a:solidFill>
                  <a:srgbClr val="000000"/>
                </a:solidFill>
                <a:effectLst/>
                <a:latin typeface="SFMono-Regular"/>
              </a:rPr>
              <a:t>cout</a:t>
            </a:r>
            <a:r>
              <a:rPr lang="en-US" b="0" i="0" dirty="0">
                <a:solidFill>
                  <a:srgbClr val="000000"/>
                </a:solidFill>
                <a:effectLst/>
                <a:latin typeface="SFMono-Regular"/>
              </a:rPr>
              <a:t> &lt;&lt; text &lt;&lt; std::</a:t>
            </a:r>
            <a:r>
              <a:rPr lang="en-US" b="0" i="0" dirty="0" err="1">
                <a:solidFill>
                  <a:srgbClr val="000000"/>
                </a:solidFill>
                <a:effectLst/>
                <a:latin typeface="SFMono-Regular"/>
              </a:rPr>
              <a:t>endl</a:t>
            </a:r>
            <a:r>
              <a:rPr lang="en-US" b="0" i="0" dirty="0">
                <a:solidFill>
                  <a:srgbClr val="000000"/>
                </a:solidFill>
                <a:effectLst/>
                <a:latin typeface="SFMono-Regular"/>
              </a:rPr>
              <a:t>;</a:t>
            </a:r>
          </a:p>
          <a:p>
            <a:pPr lvl="1">
              <a:lnSpc>
                <a:spcPts val="1575"/>
              </a:lnSpc>
            </a:pPr>
            <a:r>
              <a:rPr lang="en-US" b="0" i="0" dirty="0">
                <a:solidFill>
                  <a:srgbClr val="000000"/>
                </a:solidFill>
                <a:effectLst/>
                <a:latin typeface="SFMono-Regular"/>
              </a:rPr>
              <a:t>}</a:t>
            </a:r>
          </a:p>
          <a:p>
            <a:r>
              <a:rPr lang="ru-RU" dirty="0"/>
              <a:t>Здесь все отступы табуляции, переводы на новую строку, кавычки внутри строки будут интерпретироваться так, как они определены в строке. В итоге результат будет аналогичен предыдущему.</a:t>
            </a:r>
          </a:p>
        </p:txBody>
      </p:sp>
    </p:spTree>
    <p:extLst>
      <p:ext uri="{BB962C8B-B14F-4D97-AF65-F5344CB8AC3E}">
        <p14:creationId xmlns:p14="http://schemas.microsoft.com/office/powerpoint/2010/main" val="1841574879"/>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36C242-D767-41E3-8765-70E95F2C7D26}"/>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AA8F3704-AB3E-159A-4EDD-183D21B97D8B}"/>
              </a:ext>
            </a:extLst>
          </p:cNvPr>
          <p:cNvSpPr>
            <a:spLocks noGrp="1"/>
          </p:cNvSpPr>
          <p:nvPr>
            <p:ph idx="1"/>
          </p:nvPr>
        </p:nvSpPr>
        <p:spPr/>
        <p:txBody>
          <a:bodyPr/>
          <a:lstStyle/>
          <a:p>
            <a:r>
              <a:rPr lang="ru-RU" b="1" dirty="0"/>
              <a:t>Строки с поддержкой </a:t>
            </a:r>
            <a:r>
              <a:rPr lang="de-CH" b="1" dirty="0"/>
              <a:t>Unicode</a:t>
            </a:r>
          </a:p>
          <a:p>
            <a:pPr lvl="1"/>
            <a:endParaRPr lang="ru-RU" dirty="0"/>
          </a:p>
          <a:p>
            <a:pPr lvl="1"/>
            <a:r>
              <a:rPr lang="ru-RU" dirty="0"/>
              <a:t>Для поддержки строк с символами кодировок </a:t>
            </a:r>
            <a:r>
              <a:rPr lang="de-CH" dirty="0"/>
              <a:t>Unicode </a:t>
            </a:r>
            <a:r>
              <a:rPr lang="ru-RU" dirty="0"/>
              <a:t>в С++ в модуле &lt;</a:t>
            </a:r>
            <a:r>
              <a:rPr lang="de-CH" dirty="0" err="1"/>
              <a:t>string</a:t>
            </a:r>
            <a:r>
              <a:rPr lang="de-CH" dirty="0"/>
              <a:t>&gt; </a:t>
            </a:r>
            <a:r>
              <a:rPr lang="ru-RU" dirty="0"/>
              <a:t>также есть еще ряд дополнительных типов строк.</a:t>
            </a:r>
          </a:p>
          <a:p>
            <a:pPr lvl="1"/>
            <a:r>
              <a:rPr lang="de-CH" b="1" dirty="0" err="1"/>
              <a:t>std</a:t>
            </a:r>
            <a:r>
              <a:rPr lang="de-CH" b="1" dirty="0"/>
              <a:t>::</a:t>
            </a:r>
            <a:r>
              <a:rPr lang="de-CH" b="1" dirty="0" err="1"/>
              <a:t>wstring</a:t>
            </a:r>
            <a:r>
              <a:rPr lang="de-CH" dirty="0"/>
              <a:t> </a:t>
            </a:r>
            <a:r>
              <a:rPr lang="ru-RU" dirty="0"/>
              <a:t>содержит строку символов типа </a:t>
            </a:r>
            <a:r>
              <a:rPr lang="de-CH" b="1" dirty="0" err="1"/>
              <a:t>wchar_t</a:t>
            </a:r>
            <a:endParaRPr lang="de-CH" dirty="0"/>
          </a:p>
          <a:p>
            <a:pPr lvl="1"/>
            <a:r>
              <a:rPr lang="de-CH" b="1" dirty="0" err="1"/>
              <a:t>std</a:t>
            </a:r>
            <a:r>
              <a:rPr lang="de-CH" b="1" dirty="0"/>
              <a:t>::u8string</a:t>
            </a:r>
            <a:r>
              <a:rPr lang="de-CH" dirty="0"/>
              <a:t> </a:t>
            </a:r>
            <a:r>
              <a:rPr lang="ru-RU" dirty="0"/>
              <a:t>содержит строку символов типа </a:t>
            </a:r>
            <a:r>
              <a:rPr lang="de-CH" b="1" dirty="0"/>
              <a:t>char8_t</a:t>
            </a:r>
            <a:r>
              <a:rPr lang="de-CH" dirty="0"/>
              <a:t> (</a:t>
            </a:r>
            <a:r>
              <a:rPr lang="ru-RU" dirty="0"/>
              <a:t>добавлена в </a:t>
            </a:r>
            <a:r>
              <a:rPr lang="de-CH" dirty="0"/>
              <a:t>C++20)</a:t>
            </a:r>
          </a:p>
          <a:p>
            <a:pPr lvl="1"/>
            <a:r>
              <a:rPr lang="de-CH" b="1" dirty="0" err="1"/>
              <a:t>std</a:t>
            </a:r>
            <a:r>
              <a:rPr lang="de-CH" b="1" dirty="0"/>
              <a:t>::u16string</a:t>
            </a:r>
            <a:r>
              <a:rPr lang="de-CH" dirty="0"/>
              <a:t> </a:t>
            </a:r>
            <a:r>
              <a:rPr lang="ru-RU" dirty="0"/>
              <a:t>содержит строку символов типа </a:t>
            </a:r>
            <a:r>
              <a:rPr lang="de-CH" b="1" dirty="0"/>
              <a:t>char16_t</a:t>
            </a:r>
            <a:endParaRPr lang="de-CH" dirty="0"/>
          </a:p>
          <a:p>
            <a:pPr lvl="1"/>
            <a:r>
              <a:rPr lang="de-CH" b="1" dirty="0" err="1"/>
              <a:t>std</a:t>
            </a:r>
            <a:r>
              <a:rPr lang="de-CH" b="1" dirty="0"/>
              <a:t>::u32string</a:t>
            </a:r>
            <a:r>
              <a:rPr lang="de-CH" dirty="0"/>
              <a:t> </a:t>
            </a:r>
            <a:r>
              <a:rPr lang="ru-RU" dirty="0"/>
              <a:t>содержит строку символов типа </a:t>
            </a:r>
            <a:r>
              <a:rPr lang="de-CH" b="1" dirty="0"/>
              <a:t>char32_t</a:t>
            </a:r>
            <a:endParaRPr lang="de-CH" dirty="0"/>
          </a:p>
          <a:p>
            <a:endParaRPr lang="ru-RU" dirty="0"/>
          </a:p>
        </p:txBody>
      </p:sp>
    </p:spTree>
    <p:extLst>
      <p:ext uri="{BB962C8B-B14F-4D97-AF65-F5344CB8AC3E}">
        <p14:creationId xmlns:p14="http://schemas.microsoft.com/office/powerpoint/2010/main" val="1709854021"/>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42109F-3334-2F44-3C56-8ACD5DB176DC}"/>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C7E8C9D3-CF11-5136-4F76-DFE24D58504A}"/>
              </a:ext>
            </a:extLst>
          </p:cNvPr>
          <p:cNvSpPr>
            <a:spLocks noGrp="1"/>
          </p:cNvSpPr>
          <p:nvPr>
            <p:ph idx="1"/>
          </p:nvPr>
        </p:nvSpPr>
        <p:spPr/>
        <p:txBody>
          <a:bodyPr/>
          <a:lstStyle/>
          <a:p>
            <a:r>
              <a:rPr lang="ru-RU" dirty="0"/>
              <a:t>Ее также можно инициализировать конкретной строкой. При присвоении переменной </a:t>
            </a:r>
            <a:r>
              <a:rPr lang="ru-RU" dirty="0" err="1"/>
              <a:t>wstring</a:t>
            </a:r>
            <a:r>
              <a:rPr lang="ru-RU" dirty="0"/>
              <a:t> перед строкой указывается префикс </a:t>
            </a:r>
            <a:r>
              <a:rPr lang="ru-RU" b="1" dirty="0"/>
              <a:t>L</a:t>
            </a:r>
            <a:r>
              <a:rPr lang="ru-RU" dirty="0"/>
              <a:t>. Для определения строк других типов также применяются определенные суффиксы: </a:t>
            </a:r>
            <a:r>
              <a:rPr lang="ru-RU" b="1" dirty="0"/>
              <a:t>u8</a:t>
            </a:r>
            <a:r>
              <a:rPr lang="ru-RU" dirty="0"/>
              <a:t> для u8string, </a:t>
            </a:r>
            <a:r>
              <a:rPr lang="ru-RU" b="1" dirty="0"/>
              <a:t>u</a:t>
            </a:r>
            <a:r>
              <a:rPr lang="ru-RU" dirty="0"/>
              <a:t> для u16string и </a:t>
            </a:r>
            <a:r>
              <a:rPr lang="ru-RU" b="1" dirty="0"/>
              <a:t>U</a:t>
            </a:r>
            <a:r>
              <a:rPr lang="ru-RU" dirty="0"/>
              <a:t> для u32string. Например, определим переменные этих типов</a:t>
            </a:r>
          </a:p>
          <a:p>
            <a:endParaRPr lang="ru-RU"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&lt;</a:t>
            </a:r>
            <a:r>
              <a:rPr lang="de-CH" dirty="0" err="1">
                <a:solidFill>
                  <a:srgbClr val="0000FF"/>
                </a:solidFill>
                <a:highlight>
                  <a:srgbClr val="FFFFFF"/>
                </a:highlight>
                <a:latin typeface="Cascadia Mono" panose="020B0609020000020004" pitchFamily="49" charset="0"/>
              </a:rPr>
              <a:t>iostream</a:t>
            </a:r>
            <a:r>
              <a:rPr lang="de-CH" dirty="0">
                <a:solidFill>
                  <a:srgbClr val="0000FF"/>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en-US" dirty="0">
                <a:solidFill>
                  <a:srgbClr val="000000"/>
                </a:solidFill>
                <a:highlight>
                  <a:srgbClr val="FFFFFF"/>
                </a:highlight>
                <a:latin typeface="Cascadia Mono" panose="020B0609020000020004" pitchFamily="49" charset="0"/>
              </a:rPr>
              <a:t>    std::</a:t>
            </a:r>
            <a:r>
              <a:rPr lang="en-US" dirty="0" err="1">
                <a:solidFill>
                  <a:srgbClr val="2B91AF"/>
                </a:solidFill>
                <a:highlight>
                  <a:srgbClr val="FFFFFF"/>
                </a:highlight>
                <a:latin typeface="Cascadia Mono" panose="020B0609020000020004" pitchFamily="49" charset="0"/>
              </a:rPr>
              <a:t>wstring</a:t>
            </a:r>
            <a:r>
              <a:rPr lang="en-US" dirty="0">
                <a:solidFill>
                  <a:srgbClr val="000000"/>
                </a:solidFill>
                <a:highlight>
                  <a:srgbClr val="FFFFFF"/>
                </a:highlight>
                <a:latin typeface="Cascadia Mono" panose="020B0609020000020004" pitchFamily="49" charset="0"/>
              </a:rPr>
              <a:t> text{ </a:t>
            </a:r>
            <a:r>
              <a:rPr lang="en-US" dirty="0" err="1">
                <a:solidFill>
                  <a:srgbClr val="A31515"/>
                </a:solidFill>
                <a:highlight>
                  <a:srgbClr val="FFFFFF"/>
                </a:highlight>
                <a:latin typeface="Cascadia Mono" panose="020B0609020000020004" pitchFamily="49" charset="0"/>
              </a:rPr>
              <a:t>L"Hello</a:t>
            </a:r>
            <a:r>
              <a:rPr lang="en-US" dirty="0">
                <a:solidFill>
                  <a:srgbClr val="A31515"/>
                </a:solidFill>
                <a:highlight>
                  <a:srgbClr val="FFFFFF"/>
                </a:highlight>
                <a:latin typeface="Cascadia Mono" panose="020B0609020000020004" pitchFamily="49" charset="0"/>
              </a:rPr>
              <a:t> World!"</a:t>
            </a:r>
            <a:r>
              <a:rPr lang="en-US" dirty="0">
                <a:solidFill>
                  <a:srgbClr val="000000"/>
                </a:solidFill>
                <a:highlight>
                  <a:srgbClr val="FFFFFF"/>
                </a:highlight>
                <a:latin typeface="Cascadia Mono" panose="020B0609020000020004" pitchFamily="49" charset="0"/>
              </a:rPr>
              <a:t>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wcout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text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Hello! Good bye...</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323256985"/>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3FB065-07A2-55C6-B8F7-6570E9589E7E}"/>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D92A55CB-A76F-41E4-6CD7-E5493C9821F0}"/>
              </a:ext>
            </a:extLst>
          </p:cNvPr>
          <p:cNvSpPr>
            <a:spLocks noGrp="1"/>
          </p:cNvSpPr>
          <p:nvPr>
            <p:ph idx="1"/>
          </p:nvPr>
        </p:nvSpPr>
        <p:spPr/>
        <p:txBody>
          <a:bodyPr/>
          <a:lstStyle/>
          <a:p>
            <a:r>
              <a:rPr lang="ru-RU" dirty="0"/>
              <a:t>Для вывода строк остальных типов в С++ пока не определено своих типов потоков.</a:t>
            </a:r>
          </a:p>
          <a:p>
            <a:r>
              <a:rPr lang="ru-RU" dirty="0"/>
              <a:t>В остальном работа со строками этих типов аналогична работе с типом </a:t>
            </a:r>
            <a:r>
              <a:rPr lang="ru-RU" dirty="0" err="1"/>
              <a:t>string</a:t>
            </a:r>
            <a:r>
              <a:rPr lang="ru-RU" dirty="0"/>
              <a:t>, они могут использовать те же функции, что и тип </a:t>
            </a:r>
            <a:r>
              <a:rPr lang="ru-RU" dirty="0" err="1"/>
              <a:t>string</a:t>
            </a:r>
            <a:r>
              <a:rPr lang="ru-RU" dirty="0"/>
              <a:t>.</a:t>
            </a:r>
          </a:p>
          <a:p>
            <a:r>
              <a:rPr lang="ru-RU" dirty="0"/>
              <a:t>Однако стоит учитывать, что поскольку </a:t>
            </a:r>
            <a:r>
              <a:rPr lang="ru-RU" dirty="0" err="1"/>
              <a:t>wstring</a:t>
            </a:r>
            <a:r>
              <a:rPr lang="ru-RU" dirty="0"/>
              <a:t> использует тип символов </a:t>
            </a:r>
            <a:r>
              <a:rPr lang="ru-RU" dirty="0" err="1"/>
              <a:t>wchar_t</a:t>
            </a:r>
            <a:r>
              <a:rPr lang="ru-RU" dirty="0"/>
              <a:t>, то кодировка символов таких строк зависит от </a:t>
            </a:r>
            <a:r>
              <a:rPr lang="ru-RU" dirty="0" err="1"/>
              <a:t>компилятом</a:t>
            </a:r>
            <a:r>
              <a:rPr lang="ru-RU" dirty="0"/>
              <a:t>. На Windows обычно применяется UTF-16, соответственно строка будет состоять из 2-байтовых символов UTF-16. Но в большинстве других систем применяются 4-байтные символы UTF-32 </a:t>
            </a:r>
            <a:r>
              <a:rPr lang="ru-RU" dirty="0" err="1"/>
              <a:t>wchar_t</a:t>
            </a:r>
            <a:r>
              <a:rPr lang="ru-RU" dirty="0"/>
              <a:t>. На этом фоне типы u8string, u16string и u32string выглядят более предпочтительно, однако на данный момент в C++ имеется довольно ограниченная поддержка по работе с символами </a:t>
            </a:r>
            <a:r>
              <a:rPr lang="ru-RU" dirty="0" err="1"/>
              <a:t>Unicode</a:t>
            </a:r>
            <a:r>
              <a:rPr lang="ru-RU" dirty="0"/>
              <a:t>.</a:t>
            </a:r>
          </a:p>
          <a:p>
            <a:endParaRPr lang="ru-RU" dirty="0"/>
          </a:p>
        </p:txBody>
      </p:sp>
    </p:spTree>
    <p:extLst>
      <p:ext uri="{BB962C8B-B14F-4D97-AF65-F5344CB8AC3E}">
        <p14:creationId xmlns:p14="http://schemas.microsoft.com/office/powerpoint/2010/main" val="843658790"/>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3F1FD7-B48A-3BF1-5EC6-55CA0A91F357}"/>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7C491D7B-F826-6188-6813-EC90C1B8587A}"/>
              </a:ext>
            </a:extLst>
          </p:cNvPr>
          <p:cNvSpPr>
            <a:spLocks noGrp="1"/>
          </p:cNvSpPr>
          <p:nvPr>
            <p:ph idx="1"/>
          </p:nvPr>
        </p:nvSpPr>
        <p:spPr/>
        <p:txBody>
          <a:bodyPr/>
          <a:lstStyle/>
          <a:p>
            <a:r>
              <a:rPr lang="ru-RU" b="1" dirty="0"/>
              <a:t>Преобразование в строку</a:t>
            </a:r>
          </a:p>
          <a:p>
            <a:r>
              <a:rPr lang="ru-RU" dirty="0"/>
              <a:t>Для преобразования в строку применяется функция </a:t>
            </a:r>
            <a:r>
              <a:rPr lang="ru-RU" b="1" dirty="0" err="1"/>
              <a:t>std:to_string</a:t>
            </a:r>
            <a:r>
              <a:rPr lang="ru-RU" b="1" dirty="0"/>
              <a:t>()</a:t>
            </a:r>
            <a:r>
              <a:rPr lang="ru-RU" dirty="0"/>
              <a:t>, в которую передается преобразуемое значение:</a:t>
            </a:r>
          </a:p>
          <a:p>
            <a:endParaRPr lang="ru-RU"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unsigned</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age</a:t>
            </a:r>
            <a:r>
              <a:rPr lang="de-CH" dirty="0">
                <a:solidFill>
                  <a:srgbClr val="000000"/>
                </a:solidFill>
                <a:highlight>
                  <a:srgbClr val="FFFFFF"/>
                </a:highlight>
                <a:latin typeface="Cascadia Mono" panose="020B0609020000020004" pitchFamily="49" charset="0"/>
              </a:rPr>
              <a:t>{ 38 };</a:t>
            </a:r>
          </a:p>
          <a:p>
            <a:pPr lvl="1"/>
            <a:r>
              <a:rPr lang="en-US" dirty="0">
                <a:solidFill>
                  <a:srgbClr val="000000"/>
                </a:solidFill>
                <a:highlight>
                  <a:srgbClr val="FFFFFF"/>
                </a:highlight>
                <a:latin typeface="Cascadia Mono" panose="020B0609020000020004" pitchFamily="49" charset="0"/>
              </a:rPr>
              <a:t>    std::</a:t>
            </a:r>
            <a:r>
              <a:rPr lang="en-US" dirty="0">
                <a:solidFill>
                  <a:srgbClr val="2B91AF"/>
                </a:solidFill>
                <a:highlight>
                  <a:srgbClr val="FFFFFF"/>
                </a:highlight>
                <a:latin typeface="Cascadia Mono" panose="020B0609020000020004" pitchFamily="49" charset="0"/>
              </a:rPr>
              <a:t>string</a:t>
            </a:r>
            <a:r>
              <a:rPr lang="en-US" dirty="0">
                <a:solidFill>
                  <a:srgbClr val="000000"/>
                </a:solidFill>
                <a:highlight>
                  <a:srgbClr val="FFFFFF"/>
                </a:highlight>
                <a:latin typeface="Cascadia Mono" panose="020B0609020000020004" pitchFamily="49" charset="0"/>
              </a:rPr>
              <a:t> message{ </a:t>
            </a:r>
            <a:r>
              <a:rPr lang="en-US" dirty="0">
                <a:solidFill>
                  <a:srgbClr val="A31515"/>
                </a:solidFill>
                <a:highlight>
                  <a:srgbClr val="FFFFFF"/>
                </a:highlight>
                <a:latin typeface="Cascadia Mono" panose="020B0609020000020004" pitchFamily="49" charset="0"/>
              </a:rPr>
              <a:t>"Age: "</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to_string</a:t>
            </a:r>
            <a:r>
              <a:rPr lang="en-US" dirty="0">
                <a:solidFill>
                  <a:srgbClr val="000000"/>
                </a:solidFill>
                <a:highlight>
                  <a:srgbClr val="FFFFFF"/>
                </a:highlight>
                <a:latin typeface="Cascadia Mono" panose="020B0609020000020004" pitchFamily="49" charset="0"/>
              </a:rPr>
              <a:t>(age) };</a:t>
            </a: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message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Age: 38</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407613858"/>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7007AF-ABC2-DFF5-9DA9-E2E513176D02}"/>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62B075C7-56B0-4F57-B624-1A79A3B211EB}"/>
              </a:ext>
            </a:extLst>
          </p:cNvPr>
          <p:cNvSpPr>
            <a:spLocks noGrp="1"/>
          </p:cNvSpPr>
          <p:nvPr>
            <p:ph idx="1"/>
          </p:nvPr>
        </p:nvSpPr>
        <p:spPr/>
        <p:txBody>
          <a:bodyPr/>
          <a:lstStyle/>
          <a:p>
            <a:r>
              <a:rPr lang="ru-RU" b="1" dirty="0"/>
              <a:t>Функции преобразования из строки в число</a:t>
            </a:r>
          </a:p>
          <a:p>
            <a:r>
              <a:rPr lang="ru-RU" dirty="0"/>
              <a:t>Ряд функций, которые преобразуют строку в число определенного типа:</a:t>
            </a:r>
          </a:p>
          <a:p>
            <a:endParaRPr lang="ru-RU" dirty="0"/>
          </a:p>
          <a:p>
            <a:pPr marL="342900" indent="-342900">
              <a:buFont typeface="Arial" panose="020B0604020202020204" pitchFamily="34" charset="0"/>
              <a:buChar char="•"/>
            </a:pPr>
            <a:r>
              <a:rPr lang="de-CH" dirty="0"/>
              <a:t>stoi(): </a:t>
            </a:r>
            <a:r>
              <a:rPr lang="ru-RU" dirty="0"/>
              <a:t>преобразует в тип </a:t>
            </a:r>
            <a:r>
              <a:rPr lang="de-CH" dirty="0"/>
              <a:t>int</a:t>
            </a:r>
          </a:p>
          <a:p>
            <a:pPr marL="342900" indent="-342900">
              <a:buFont typeface="Arial" panose="020B0604020202020204" pitchFamily="34" charset="0"/>
              <a:buChar char="•"/>
            </a:pPr>
            <a:r>
              <a:rPr lang="de-CH" dirty="0" err="1"/>
              <a:t>stol</a:t>
            </a:r>
            <a:r>
              <a:rPr lang="de-CH" dirty="0"/>
              <a:t>(): </a:t>
            </a:r>
            <a:r>
              <a:rPr lang="ru-RU" dirty="0"/>
              <a:t>в </a:t>
            </a:r>
            <a:r>
              <a:rPr lang="de-CH" dirty="0" err="1"/>
              <a:t>long</a:t>
            </a:r>
            <a:endParaRPr lang="de-CH" dirty="0"/>
          </a:p>
          <a:p>
            <a:pPr marL="342900" indent="-342900">
              <a:buFont typeface="Arial" panose="020B0604020202020204" pitchFamily="34" charset="0"/>
              <a:buChar char="•"/>
            </a:pPr>
            <a:r>
              <a:rPr lang="de-CH" dirty="0" err="1"/>
              <a:t>stoll</a:t>
            </a:r>
            <a:r>
              <a:rPr lang="de-CH" dirty="0"/>
              <a:t>(): </a:t>
            </a:r>
            <a:r>
              <a:rPr lang="ru-RU" dirty="0"/>
              <a:t>в </a:t>
            </a:r>
            <a:r>
              <a:rPr lang="de-CH" dirty="0" err="1"/>
              <a:t>long</a:t>
            </a:r>
            <a:r>
              <a:rPr lang="de-CH" dirty="0"/>
              <a:t> </a:t>
            </a:r>
            <a:r>
              <a:rPr lang="de-CH" dirty="0" err="1"/>
              <a:t>long</a:t>
            </a:r>
            <a:endParaRPr lang="de-CH" dirty="0"/>
          </a:p>
          <a:p>
            <a:pPr marL="342900" indent="-342900">
              <a:buFont typeface="Arial" panose="020B0604020202020204" pitchFamily="34" charset="0"/>
              <a:buChar char="•"/>
            </a:pPr>
            <a:r>
              <a:rPr lang="de-CH" dirty="0" err="1"/>
              <a:t>stoul</a:t>
            </a:r>
            <a:r>
              <a:rPr lang="de-CH" dirty="0"/>
              <a:t>(): </a:t>
            </a:r>
            <a:r>
              <a:rPr lang="ru-RU" dirty="0"/>
              <a:t>в </a:t>
            </a:r>
            <a:r>
              <a:rPr lang="de-CH" dirty="0" err="1"/>
              <a:t>unsigned</a:t>
            </a:r>
            <a:r>
              <a:rPr lang="de-CH" dirty="0"/>
              <a:t> </a:t>
            </a:r>
            <a:r>
              <a:rPr lang="de-CH" dirty="0" err="1"/>
              <a:t>long</a:t>
            </a:r>
            <a:endParaRPr lang="de-CH" dirty="0"/>
          </a:p>
          <a:p>
            <a:pPr marL="342900" indent="-342900">
              <a:buFont typeface="Arial" panose="020B0604020202020204" pitchFamily="34" charset="0"/>
              <a:buChar char="•"/>
            </a:pPr>
            <a:r>
              <a:rPr lang="de-CH" dirty="0" err="1"/>
              <a:t>stoull</a:t>
            </a:r>
            <a:r>
              <a:rPr lang="de-CH" dirty="0"/>
              <a:t>(): </a:t>
            </a:r>
            <a:r>
              <a:rPr lang="ru-RU" dirty="0"/>
              <a:t>в </a:t>
            </a:r>
            <a:r>
              <a:rPr lang="de-CH" dirty="0" err="1"/>
              <a:t>unsigned</a:t>
            </a:r>
            <a:r>
              <a:rPr lang="de-CH" dirty="0"/>
              <a:t> </a:t>
            </a:r>
            <a:r>
              <a:rPr lang="de-CH" dirty="0" err="1"/>
              <a:t>long</a:t>
            </a:r>
            <a:r>
              <a:rPr lang="de-CH" dirty="0"/>
              <a:t> </a:t>
            </a:r>
            <a:r>
              <a:rPr lang="de-CH" dirty="0" err="1"/>
              <a:t>long</a:t>
            </a:r>
            <a:endParaRPr lang="de-CH" dirty="0"/>
          </a:p>
          <a:p>
            <a:pPr marL="342900" indent="-342900">
              <a:buFont typeface="Arial" panose="020B0604020202020204" pitchFamily="34" charset="0"/>
              <a:buChar char="•"/>
            </a:pPr>
            <a:r>
              <a:rPr lang="de-CH" dirty="0" err="1"/>
              <a:t>stof</a:t>
            </a:r>
            <a:r>
              <a:rPr lang="de-CH" dirty="0"/>
              <a:t>(): </a:t>
            </a:r>
            <a:r>
              <a:rPr lang="ru-RU" dirty="0"/>
              <a:t>в </a:t>
            </a:r>
            <a:r>
              <a:rPr lang="de-CH" dirty="0" err="1"/>
              <a:t>float</a:t>
            </a:r>
            <a:endParaRPr lang="de-CH" dirty="0"/>
          </a:p>
          <a:p>
            <a:pPr marL="342900" indent="-342900">
              <a:buFont typeface="Arial" panose="020B0604020202020204" pitchFamily="34" charset="0"/>
              <a:buChar char="•"/>
            </a:pPr>
            <a:r>
              <a:rPr lang="de-CH" dirty="0" err="1"/>
              <a:t>stod</a:t>
            </a:r>
            <a:r>
              <a:rPr lang="de-CH" dirty="0"/>
              <a:t>(): </a:t>
            </a:r>
            <a:r>
              <a:rPr lang="ru-RU" dirty="0"/>
              <a:t>в </a:t>
            </a:r>
            <a:r>
              <a:rPr lang="de-CH" dirty="0"/>
              <a:t>double</a:t>
            </a:r>
          </a:p>
          <a:p>
            <a:pPr marL="342900" indent="-342900">
              <a:buFont typeface="Arial" panose="020B0604020202020204" pitchFamily="34" charset="0"/>
              <a:buChar char="•"/>
            </a:pPr>
            <a:r>
              <a:rPr lang="de-CH" dirty="0" err="1"/>
              <a:t>stold</a:t>
            </a:r>
            <a:r>
              <a:rPr lang="de-CH" dirty="0"/>
              <a:t>(): </a:t>
            </a:r>
            <a:r>
              <a:rPr lang="ru-RU" dirty="0"/>
              <a:t>в </a:t>
            </a:r>
            <a:r>
              <a:rPr lang="de-CH" dirty="0" err="1"/>
              <a:t>long</a:t>
            </a:r>
            <a:r>
              <a:rPr lang="de-CH" dirty="0"/>
              <a:t> double</a:t>
            </a:r>
          </a:p>
          <a:p>
            <a:r>
              <a:rPr lang="ru-RU" dirty="0"/>
              <a:t>Все они определены в модуле &lt;</a:t>
            </a:r>
            <a:r>
              <a:rPr lang="ru-RU" dirty="0" err="1"/>
              <a:t>string</a:t>
            </a:r>
            <a:r>
              <a:rPr lang="ru-RU" dirty="0"/>
              <a:t>&gt;, работают однотипно и в качестве параметра принимают преобразуемую строку:</a:t>
            </a:r>
          </a:p>
        </p:txBody>
      </p:sp>
    </p:spTree>
    <p:extLst>
      <p:ext uri="{BB962C8B-B14F-4D97-AF65-F5344CB8AC3E}">
        <p14:creationId xmlns:p14="http://schemas.microsoft.com/office/powerpoint/2010/main" val="2688444869"/>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AB8365-9B58-3717-97DA-4AE1EE4BD30D}"/>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2B5E9B10-BA38-1F1B-72D6-C46BE3A47117}"/>
              </a:ext>
            </a:extLst>
          </p:cNvPr>
          <p:cNvSpPr>
            <a:spLocks noGrp="1"/>
          </p:cNvSpPr>
          <p:nvPr>
            <p:ph idx="1"/>
          </p:nvPr>
        </p:nvSpPr>
        <p:spPr/>
        <p:txBody>
          <a:bodyPr/>
          <a:lstStyle/>
          <a:p>
            <a:pPr lvl="1"/>
            <a:endParaRPr lang="ru-RU" dirty="0">
              <a:solidFill>
                <a:srgbClr val="80808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str</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"123"</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n{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::stoi(</a:t>
            </a:r>
            <a:r>
              <a:rPr lang="de-CH" dirty="0" err="1">
                <a:solidFill>
                  <a:srgbClr val="000000"/>
                </a:solidFill>
                <a:highlight>
                  <a:srgbClr val="FFFFFF"/>
                </a:highlight>
                <a:latin typeface="Cascadia Mono" panose="020B0609020000020004" pitchFamily="49" charset="0"/>
              </a:rPr>
              <a:t>str</a:t>
            </a:r>
            <a:r>
              <a:rPr lang="de-CH" dirty="0">
                <a:solidFill>
                  <a:srgbClr val="000000"/>
                </a:solidFill>
                <a:highlight>
                  <a:srgbClr val="FFFFFF"/>
                </a:highlight>
                <a:latin typeface="Cascadia Mono" panose="020B0609020000020004" pitchFamily="49" charset="0"/>
              </a:rPr>
              <a:t>) }; </a:t>
            </a:r>
            <a:r>
              <a:rPr lang="de-CH" dirty="0">
                <a:solidFill>
                  <a:srgbClr val="008000"/>
                </a:solidFill>
                <a:highlight>
                  <a:srgbClr val="FFFFFF"/>
                </a:highlight>
                <a:latin typeface="Cascadia Mono" panose="020B0609020000020004" pitchFamily="49" charset="0"/>
              </a:rPr>
              <a:t>// n == 123</a:t>
            </a:r>
            <a:endParaRPr lang="de-CH"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968774472"/>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A6C43-A467-2DA1-BC3F-E9D458BE375C}"/>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EE7407F3-0F19-4D77-5D12-D5ECEE159A8D}"/>
              </a:ext>
            </a:extLst>
          </p:cNvPr>
          <p:cNvSpPr>
            <a:spLocks noGrp="1"/>
          </p:cNvSpPr>
          <p:nvPr>
            <p:ph idx="1"/>
          </p:nvPr>
        </p:nvSpPr>
        <p:spPr/>
        <p:txBody>
          <a:bodyPr/>
          <a:lstStyle/>
          <a:p>
            <a:r>
              <a:rPr lang="ru-RU" b="1" dirty="0"/>
              <a:t>Преобразование строки в указатель на символы</a:t>
            </a:r>
          </a:p>
          <a:p>
            <a:endParaRPr lang="ru-RU" dirty="0"/>
          </a:p>
          <a:p>
            <a:pPr lvl="1"/>
            <a:r>
              <a:rPr lang="ru-RU" dirty="0"/>
              <a:t>При необходимости можно преобразовать значение типа </a:t>
            </a:r>
            <a:r>
              <a:rPr lang="ru-RU" dirty="0" err="1"/>
              <a:t>string</a:t>
            </a:r>
            <a:r>
              <a:rPr lang="ru-RU" dirty="0"/>
              <a:t> в указатель на символы. Для преобразования в указатель на константную строку применяется метод </a:t>
            </a:r>
            <a:r>
              <a:rPr lang="ru-RU" b="1" dirty="0" err="1"/>
              <a:t>c_str</a:t>
            </a:r>
            <a:r>
              <a:rPr lang="ru-RU" b="1" dirty="0"/>
              <a:t>()</a:t>
            </a:r>
            <a:r>
              <a:rPr lang="ru-RU" dirty="0"/>
              <a:t>:</a:t>
            </a:r>
          </a:p>
          <a:p>
            <a:pPr lvl="1"/>
            <a:endParaRPr lang="ru-RU" dirty="0"/>
          </a:p>
          <a:p>
            <a:pPr lvl="1"/>
            <a:r>
              <a:rPr lang="de-CH" sz="1200" dirty="0">
                <a:solidFill>
                  <a:srgbClr val="808080"/>
                </a:solidFill>
                <a:highlight>
                  <a:srgbClr val="FFFFFF"/>
                </a:highlight>
                <a:latin typeface="Cascadia Mono" panose="020B0609020000020004" pitchFamily="49" charset="0"/>
              </a:rPr>
              <a:t>#include</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&lt;</a:t>
            </a:r>
            <a:r>
              <a:rPr lang="de-CH" sz="1200" dirty="0" err="1">
                <a:solidFill>
                  <a:srgbClr val="A31515"/>
                </a:solidFill>
                <a:highlight>
                  <a:srgbClr val="FFFFFF"/>
                </a:highlight>
                <a:latin typeface="Cascadia Mono" panose="020B0609020000020004" pitchFamily="49" charset="0"/>
              </a:rPr>
              <a:t>iostream</a:t>
            </a:r>
            <a:r>
              <a:rPr lang="de-CH" sz="1200" dirty="0">
                <a:solidFill>
                  <a:srgbClr val="A31515"/>
                </a:solidFill>
                <a:highlight>
                  <a:srgbClr val="FFFFFF"/>
                </a:highlight>
                <a:latin typeface="Cascadia Mono" panose="020B0609020000020004" pitchFamily="49" charset="0"/>
              </a:rPr>
              <a:t>&gt;</a:t>
            </a:r>
            <a:endParaRPr lang="de-CH" sz="1200" dirty="0">
              <a:solidFill>
                <a:srgbClr val="000000"/>
              </a:solidFill>
              <a:highlight>
                <a:srgbClr val="FFFFFF"/>
              </a:highlight>
              <a:latin typeface="Cascadia Mono" panose="020B0609020000020004" pitchFamily="49" charset="0"/>
            </a:endParaRPr>
          </a:p>
          <a:p>
            <a:pPr lvl="1"/>
            <a:r>
              <a:rPr lang="de-CH" sz="1200" dirty="0">
                <a:solidFill>
                  <a:srgbClr val="808080"/>
                </a:solidFill>
                <a:highlight>
                  <a:srgbClr val="FFFFFF"/>
                </a:highlight>
                <a:latin typeface="Cascadia Mono" panose="020B0609020000020004" pitchFamily="49" charset="0"/>
              </a:rPr>
              <a:t>#include</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&lt;</a:t>
            </a:r>
            <a:r>
              <a:rPr lang="de-CH" sz="1200" dirty="0" err="1">
                <a:solidFill>
                  <a:srgbClr val="A31515"/>
                </a:solidFill>
                <a:highlight>
                  <a:srgbClr val="FFFFFF"/>
                </a:highlight>
                <a:latin typeface="Cascadia Mono" panose="020B0609020000020004" pitchFamily="49" charset="0"/>
              </a:rPr>
              <a:t>string</a:t>
            </a:r>
            <a:r>
              <a:rPr lang="de-CH" sz="1200" dirty="0">
                <a:solidFill>
                  <a:srgbClr val="A31515"/>
                </a:solidFill>
                <a:highlight>
                  <a:srgbClr val="FFFFFF"/>
                </a:highlight>
                <a:latin typeface="Cascadia Mono" panose="020B0609020000020004" pitchFamily="49" charset="0"/>
              </a:rPr>
              <a:t>&gt;</a:t>
            </a:r>
            <a:endParaRPr lang="de-CH" sz="1200" dirty="0">
              <a:solidFill>
                <a:srgbClr val="000000"/>
              </a:solidFill>
              <a:highlight>
                <a:srgbClr val="FFFFFF"/>
              </a:highlight>
              <a:latin typeface="Cascadia Mono" panose="020B0609020000020004" pitchFamily="49" charset="0"/>
            </a:endParaRPr>
          </a:p>
          <a:p>
            <a:pPr lvl="1"/>
            <a:endParaRPr lang="ru-RU" sz="1200" dirty="0">
              <a:solidFill>
                <a:srgbClr val="000000"/>
              </a:solidFill>
              <a:highlight>
                <a:srgbClr val="FFFFFF"/>
              </a:highlight>
              <a:latin typeface="Cascadia Mono" panose="020B0609020000020004" pitchFamily="49" charset="0"/>
            </a:endParaRPr>
          </a:p>
          <a:p>
            <a:pPr lvl="1"/>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main</a:t>
            </a:r>
            <a:r>
              <a:rPr lang="de-CH" sz="1200" dirty="0">
                <a:solidFill>
                  <a:srgbClr val="000000"/>
                </a:solidFill>
                <a:highlight>
                  <a:srgbClr val="FFFFFF"/>
                </a:highlight>
                <a:latin typeface="Cascadia Mono" panose="020B0609020000020004" pitchFamily="49" charset="0"/>
              </a:rPr>
              <a:t>()</a:t>
            </a:r>
          </a:p>
          <a:p>
            <a:pPr lvl="1"/>
            <a:r>
              <a:rPr lang="ru-RU" sz="1200" dirty="0">
                <a:solidFill>
                  <a:srgbClr val="000000"/>
                </a:solidFill>
                <a:highlight>
                  <a:srgbClr val="FFFFFF"/>
                </a:highlight>
                <a:latin typeface="Cascadia Mono" panose="020B0609020000020004" pitchFamily="49" charset="0"/>
              </a:rPr>
              <a:t>{</a:t>
            </a:r>
          </a:p>
          <a:p>
            <a:pPr lvl="1"/>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2B91AF"/>
                </a:solidFill>
                <a:highlight>
                  <a:srgbClr val="FFFFFF"/>
                </a:highlight>
                <a:latin typeface="Cascadia Mono" panose="020B0609020000020004" pitchFamily="49" charset="0"/>
              </a:rPr>
              <a:t>string</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message</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a:t>
            </a:r>
            <a:r>
              <a:rPr lang="de-CH" sz="1200" dirty="0" err="1">
                <a:solidFill>
                  <a:srgbClr val="A31515"/>
                </a:solidFill>
                <a:highlight>
                  <a:srgbClr val="FFFFFF"/>
                </a:highlight>
                <a:latin typeface="Cascadia Mono" panose="020B0609020000020004" pitchFamily="49" charset="0"/>
              </a:rPr>
              <a:t>hello</a:t>
            </a:r>
            <a:r>
              <a:rPr lang="de-CH" sz="1200" dirty="0">
                <a:solidFill>
                  <a:srgbClr val="A31515"/>
                </a:solidFill>
                <a:highlight>
                  <a:srgbClr val="FFFFFF"/>
                </a:highlight>
                <a:latin typeface="Cascadia Mono" panose="020B0609020000020004" pitchFamily="49" charset="0"/>
              </a:rPr>
              <a:t>"</a:t>
            </a:r>
            <a:r>
              <a:rPr lang="de-CH" sz="1200" dirty="0">
                <a:solidFill>
                  <a:srgbClr val="000000"/>
                </a:solidFill>
                <a:highlight>
                  <a:srgbClr val="FFFFFF"/>
                </a:highlight>
                <a:latin typeface="Cascadia Mono" panose="020B0609020000020004" pitchFamily="49" charset="0"/>
              </a:rPr>
              <a:t> };</a:t>
            </a:r>
          </a:p>
          <a:p>
            <a:pPr lvl="1"/>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const</a:t>
            </a:r>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char</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message_ptr</a:t>
            </a:r>
            <a:r>
              <a:rPr lang="de-CH" sz="1200" dirty="0">
                <a:solidFill>
                  <a:srgbClr val="000000"/>
                </a:solidFill>
                <a:highlight>
                  <a:srgbClr val="FFFFFF"/>
                </a:highlight>
                <a:latin typeface="Cascadia Mono" panose="020B0609020000020004" pitchFamily="49" charset="0"/>
              </a:rPr>
              <a:t> = </a:t>
            </a:r>
            <a:r>
              <a:rPr lang="de-CH" sz="1200" dirty="0" err="1">
                <a:solidFill>
                  <a:srgbClr val="000000"/>
                </a:solidFill>
                <a:highlight>
                  <a:srgbClr val="FFFFFF"/>
                </a:highlight>
                <a:latin typeface="Cascadia Mono" panose="020B0609020000020004" pitchFamily="49" charset="0"/>
              </a:rPr>
              <a:t>message.c_str</a:t>
            </a:r>
            <a:r>
              <a:rPr lang="de-CH" sz="1200" dirty="0">
                <a:solidFill>
                  <a:srgbClr val="000000"/>
                </a:solidFill>
                <a:highlight>
                  <a:srgbClr val="FFFFFF"/>
                </a:highlight>
                <a:latin typeface="Cascadia Mono" panose="020B0609020000020004" pitchFamily="49" charset="0"/>
              </a:rPr>
              <a:t>();  </a:t>
            </a:r>
            <a:r>
              <a:rPr lang="de-CH" sz="1200" dirty="0">
                <a:solidFill>
                  <a:srgbClr val="008000"/>
                </a:solidFill>
                <a:highlight>
                  <a:srgbClr val="FFFFFF"/>
                </a:highlight>
                <a:latin typeface="Cascadia Mono" panose="020B0609020000020004" pitchFamily="49" charset="0"/>
              </a:rPr>
              <a:t>// </a:t>
            </a:r>
            <a:r>
              <a:rPr lang="ru-RU" sz="1200" dirty="0">
                <a:solidFill>
                  <a:srgbClr val="008000"/>
                </a:solidFill>
                <a:highlight>
                  <a:srgbClr val="FFFFFF"/>
                </a:highlight>
                <a:latin typeface="Cascadia Mono" panose="020B0609020000020004" pitchFamily="49" charset="0"/>
              </a:rPr>
              <a:t>преобразуем в указатель</a:t>
            </a:r>
            <a:endParaRPr lang="ru-RU" sz="1200" dirty="0">
              <a:solidFill>
                <a:srgbClr val="000000"/>
              </a:solidFill>
              <a:highlight>
                <a:srgbClr val="FFFFFF"/>
              </a:highlight>
              <a:latin typeface="Cascadia Mono" panose="020B0609020000020004" pitchFamily="49" charset="0"/>
            </a:endParaRPr>
          </a:p>
          <a:p>
            <a:pPr lvl="1"/>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message_ptr</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std</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endl</a:t>
            </a:r>
            <a:r>
              <a:rPr lang="de-CH" sz="1200" dirty="0">
                <a:solidFill>
                  <a:srgbClr val="000000"/>
                </a:solidFill>
                <a:highlight>
                  <a:srgbClr val="FFFFFF"/>
                </a:highlight>
                <a:latin typeface="Cascadia Mono" panose="020B0609020000020004" pitchFamily="49" charset="0"/>
              </a:rPr>
              <a:t>;</a:t>
            </a:r>
          </a:p>
          <a:p>
            <a:pPr lvl="1"/>
            <a:r>
              <a:rPr lang="ru-RU" sz="1200" dirty="0">
                <a:solidFill>
                  <a:srgbClr val="000000"/>
                </a:solidFill>
                <a:highlight>
                  <a:srgbClr val="FFFFFF"/>
                </a:highlight>
                <a:latin typeface="Cascadia Mono" panose="020B0609020000020004" pitchFamily="49" charset="0"/>
              </a:rPr>
              <a:t>}</a:t>
            </a:r>
          </a:p>
          <a:p>
            <a:pPr lvl="1"/>
            <a:endParaRPr lang="ru-RU" dirty="0"/>
          </a:p>
        </p:txBody>
      </p:sp>
    </p:spTree>
    <p:extLst>
      <p:ext uri="{BB962C8B-B14F-4D97-AF65-F5344CB8AC3E}">
        <p14:creationId xmlns:p14="http://schemas.microsoft.com/office/powerpoint/2010/main" val="79416203"/>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EF637F-7034-1988-DE82-394E3F2E6B0E}"/>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F9645FEB-DDF0-B32D-EA39-165AB5DD4E52}"/>
              </a:ext>
            </a:extLst>
          </p:cNvPr>
          <p:cNvSpPr>
            <a:spLocks noGrp="1"/>
          </p:cNvSpPr>
          <p:nvPr>
            <p:ph idx="1"/>
          </p:nvPr>
        </p:nvSpPr>
        <p:spPr>
          <a:xfrm>
            <a:off x="457200" y="1268760"/>
            <a:ext cx="8229600" cy="5248275"/>
          </a:xfrm>
        </p:spPr>
        <p:txBody>
          <a:bodyPr/>
          <a:lstStyle/>
          <a:p>
            <a:r>
              <a:rPr lang="ru-RU" dirty="0"/>
              <a:t>Для получения указателя также можно применять метод </a:t>
            </a:r>
            <a:r>
              <a:rPr lang="ru-RU" b="1" dirty="0" err="1"/>
              <a:t>data</a:t>
            </a:r>
            <a:r>
              <a:rPr lang="ru-RU" b="1" dirty="0"/>
              <a:t>()</a:t>
            </a:r>
            <a:r>
              <a:rPr lang="ru-RU" dirty="0"/>
              <a:t>.</a:t>
            </a:r>
            <a:endParaRPr lang="en-US" dirty="0"/>
          </a:p>
          <a:p>
            <a:endParaRPr lang="en-US" dirty="0"/>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&lt;</a:t>
            </a:r>
            <a:r>
              <a:rPr lang="de-CH" dirty="0" err="1">
                <a:solidFill>
                  <a:srgbClr val="0000FF"/>
                </a:solidFill>
                <a:highlight>
                  <a:srgbClr val="FFFFFF"/>
                </a:highlight>
                <a:latin typeface="Cascadia Mono" panose="020B0609020000020004" pitchFamily="49" charset="0"/>
              </a:rPr>
              <a:t>iostream</a:t>
            </a:r>
            <a:r>
              <a:rPr lang="de-CH" dirty="0">
                <a:solidFill>
                  <a:srgbClr val="0000FF"/>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a:t>
            </a:r>
            <a:r>
              <a:rPr lang="de-CH" dirty="0" err="1">
                <a:solidFill>
                  <a:srgbClr val="A31515"/>
                </a:solidFill>
                <a:highlight>
                  <a:srgbClr val="FFFFFF"/>
                </a:highlight>
                <a:latin typeface="Cascadia Mono" panose="020B0609020000020004" pitchFamily="49" charset="0"/>
              </a:rPr>
              <a:t>hello</a:t>
            </a:r>
            <a:r>
              <a:rPr lang="de-CH" dirty="0">
                <a:solidFill>
                  <a:srgbClr val="A31515"/>
                </a:solidFill>
                <a:highlight>
                  <a:srgbClr val="FFFFFF"/>
                </a:highlight>
                <a:latin typeface="Cascadia Mono" panose="020B0609020000020004" pitchFamily="49" charset="0"/>
              </a:rPr>
              <a:t>"</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const</a:t>
            </a:r>
            <a:r>
              <a:rPr lang="de-CH" dirty="0">
                <a:solidFill>
                  <a:srgbClr val="000000"/>
                </a:solidFill>
                <a:highlight>
                  <a:srgbClr val="FFFFFF"/>
                </a:highlight>
                <a:latin typeface="Cascadia Mono" panose="020B0609020000020004" pitchFamily="49" charset="0"/>
              </a:rPr>
              <a:t> </a:t>
            </a:r>
            <a:r>
              <a:rPr lang="de-CH" dirty="0" err="1">
                <a:solidFill>
                  <a:srgbClr val="0000FF"/>
                </a:solidFill>
                <a:highlight>
                  <a:srgbClr val="FFFFFF"/>
                </a:highlight>
                <a:latin typeface="Cascadia Mono" panose="020B0609020000020004" pitchFamily="49" charset="0"/>
              </a:rPr>
              <a:t>char</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message_ptr</a:t>
            </a:r>
            <a:r>
              <a:rPr lang="de-CH" dirty="0">
                <a:solidFill>
                  <a:srgbClr val="000000"/>
                </a:solidFill>
                <a:highlight>
                  <a:srgbClr val="FFFFFF"/>
                </a:highlight>
                <a:latin typeface="Cascadia Mono" panose="020B0609020000020004" pitchFamily="49" charset="0"/>
              </a:rPr>
              <a:t> = </a:t>
            </a:r>
            <a:r>
              <a:rPr lang="de-CH" dirty="0" err="1">
                <a:solidFill>
                  <a:srgbClr val="000000"/>
                </a:solidFill>
                <a:highlight>
                  <a:srgbClr val="FFFFFF"/>
                </a:highlight>
                <a:latin typeface="Cascadia Mono" panose="020B0609020000020004" pitchFamily="49" charset="0"/>
              </a:rPr>
              <a:t>message.data</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преобразуем в указатель</a:t>
            </a:r>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cout</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message_ptr</a:t>
            </a:r>
            <a:r>
              <a:rPr lang="de-CH" dirty="0">
                <a:solidFill>
                  <a:srgbClr val="000000"/>
                </a:solidFill>
                <a:highlight>
                  <a:srgbClr val="FFFFFF"/>
                </a:highlight>
                <a:latin typeface="Cascadia Mono" panose="020B0609020000020004" pitchFamily="49" charset="0"/>
              </a:rPr>
              <a:t> </a:t>
            </a:r>
            <a:r>
              <a:rPr lang="de-CH" dirty="0">
                <a:solidFill>
                  <a:srgbClr val="008080"/>
                </a:solidFill>
                <a:highlight>
                  <a:srgbClr val="FFFFFF"/>
                </a:highlight>
                <a:latin typeface="Cascadia Mono" panose="020B0609020000020004" pitchFamily="49" charset="0"/>
              </a:rPr>
              <a:t>&lt;&lt;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endl</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904468532"/>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EBF56A-D5AC-8FA3-4BC1-946D88D63C3F}"/>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124D86C2-0225-FC85-A2DE-452A71C74A18}"/>
              </a:ext>
            </a:extLst>
          </p:cNvPr>
          <p:cNvSpPr>
            <a:spLocks noGrp="1"/>
          </p:cNvSpPr>
          <p:nvPr>
            <p:ph idx="1"/>
          </p:nvPr>
        </p:nvSpPr>
        <p:spPr/>
        <p:txBody>
          <a:bodyPr/>
          <a:lstStyle/>
          <a:p>
            <a:r>
              <a:rPr lang="ru-RU" b="1" dirty="0"/>
              <a:t>Сравнение строк</a:t>
            </a:r>
          </a:p>
          <a:p>
            <a:endParaRPr lang="en-US" dirty="0"/>
          </a:p>
          <a:p>
            <a:pPr lvl="1"/>
            <a:r>
              <a:rPr lang="ru-RU" dirty="0"/>
              <a:t>К строкам в языке С++ можно применять операции сравнения.</a:t>
            </a:r>
            <a:endParaRPr lang="en-US" dirty="0"/>
          </a:p>
          <a:p>
            <a:r>
              <a:rPr lang="en-US" dirty="0"/>
              <a:t>	</a:t>
            </a:r>
            <a:r>
              <a:rPr lang="ru-RU" dirty="0">
                <a:solidFill>
                  <a:srgbClr val="FF0000"/>
                </a:solidFill>
              </a:rPr>
              <a:t>&gt;= &lt; &lt;= == != &lt;=&gt;</a:t>
            </a:r>
            <a:endParaRPr lang="en-US" dirty="0">
              <a:solidFill>
                <a:srgbClr val="FF0000"/>
              </a:solidFill>
            </a:endParaRPr>
          </a:p>
          <a:p>
            <a:pPr lvl="1" algn="just"/>
            <a:r>
              <a:rPr lang="ru-RU" dirty="0"/>
              <a:t>Эти операции сравнивают два объекта </a:t>
            </a:r>
            <a:r>
              <a:rPr lang="ru-RU" dirty="0" err="1"/>
              <a:t>string</a:t>
            </a:r>
            <a:r>
              <a:rPr lang="ru-RU" dirty="0"/>
              <a:t>, либо объект </a:t>
            </a:r>
            <a:r>
              <a:rPr lang="ru-RU" dirty="0" err="1"/>
              <a:t>string</a:t>
            </a:r>
            <a:r>
              <a:rPr lang="ru-RU" dirty="0"/>
              <a:t> со строковым литералом. Во всех операциях операнды сравниваются посимвольно до тех пор, пока не будет найдена пара соответствующих символов, которые содержат разные символы, или пока не будет достигнут конец одного или обоих операндов. Когда пара символов различается, с помощью сравнение числовых кодов символов определяется, какая строка условно "меньше" или "больше". Если разные пары символов не найдены, но строки имеют разную длину, более короткая строка «меньше» более длинной строки. Две строки равны, если они содержат одинаковое количество символы и все соответствующие коды символов равны. Подобный способ сравнения еще называется лексикографическим сравнением или сравнением в лексикографическом порядке. При этом стоит отметить, что поскольку сравниваются числовые коды символов, результат сравнения также зависит от регистра символов.</a:t>
            </a:r>
          </a:p>
        </p:txBody>
      </p:sp>
    </p:spTree>
    <p:extLst>
      <p:ext uri="{BB962C8B-B14F-4D97-AF65-F5344CB8AC3E}">
        <p14:creationId xmlns:p14="http://schemas.microsoft.com/office/powerpoint/2010/main" val="1279025479"/>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E2465E-98C9-CDB8-3B50-D1ABAAB4F177}"/>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4678AB38-64B7-18F2-3960-2961183B7F32}"/>
              </a:ext>
            </a:extLst>
          </p:cNvPr>
          <p:cNvSpPr>
            <a:spLocks noGrp="1"/>
          </p:cNvSpPr>
          <p:nvPr>
            <p:ph idx="1"/>
          </p:nvPr>
        </p:nvSpPr>
        <p:spPr/>
        <p:txBody>
          <a:bodyPr/>
          <a:lstStyle/>
          <a:p>
            <a:r>
              <a:rPr lang="de-CH" sz="900" dirty="0">
                <a:solidFill>
                  <a:srgbClr val="808080"/>
                </a:solidFill>
                <a:highlight>
                  <a:srgbClr val="FFFFFF"/>
                </a:highlight>
                <a:latin typeface="Cascadia Mono" panose="020B0609020000020004" pitchFamily="49" charset="0"/>
              </a:rPr>
              <a:t>#include</a:t>
            </a:r>
            <a:r>
              <a:rPr lang="de-CH" sz="900" dirty="0">
                <a:solidFill>
                  <a:srgbClr val="000000"/>
                </a:solidFill>
                <a:highlight>
                  <a:srgbClr val="FFFFFF"/>
                </a:highlight>
                <a:latin typeface="Cascadia Mono" panose="020B0609020000020004" pitchFamily="49" charset="0"/>
              </a:rPr>
              <a:t> </a:t>
            </a:r>
            <a:r>
              <a:rPr lang="de-CH" sz="900" dirty="0">
                <a:solidFill>
                  <a:srgbClr val="A31515"/>
                </a:solidFill>
                <a:highlight>
                  <a:srgbClr val="FFFFFF"/>
                </a:highlight>
                <a:latin typeface="Cascadia Mono" panose="020B0609020000020004" pitchFamily="49" charset="0"/>
              </a:rPr>
              <a:t>&lt;</a:t>
            </a:r>
            <a:r>
              <a:rPr lang="de-CH" sz="900" dirty="0" err="1">
                <a:solidFill>
                  <a:srgbClr val="A31515"/>
                </a:solidFill>
                <a:highlight>
                  <a:srgbClr val="FFFFFF"/>
                </a:highlight>
                <a:latin typeface="Cascadia Mono" panose="020B0609020000020004" pitchFamily="49" charset="0"/>
              </a:rPr>
              <a:t>iostream</a:t>
            </a:r>
            <a:r>
              <a:rPr lang="de-CH" sz="900" dirty="0">
                <a:solidFill>
                  <a:srgbClr val="A31515"/>
                </a:solidFill>
                <a:highlight>
                  <a:srgbClr val="FFFFFF"/>
                </a:highlight>
                <a:latin typeface="Cascadia Mono" panose="020B0609020000020004" pitchFamily="49" charset="0"/>
              </a:rPr>
              <a:t>&gt;</a:t>
            </a:r>
            <a:endParaRPr lang="de-CH" sz="900" dirty="0">
              <a:solidFill>
                <a:srgbClr val="000000"/>
              </a:solidFill>
              <a:highlight>
                <a:srgbClr val="FFFFFF"/>
              </a:highlight>
              <a:latin typeface="Cascadia Mono" panose="020B0609020000020004" pitchFamily="49" charset="0"/>
            </a:endParaRPr>
          </a:p>
          <a:p>
            <a:r>
              <a:rPr lang="de-CH" sz="900" dirty="0">
                <a:solidFill>
                  <a:srgbClr val="808080"/>
                </a:solidFill>
                <a:highlight>
                  <a:srgbClr val="FFFFFF"/>
                </a:highlight>
                <a:latin typeface="Cascadia Mono" panose="020B0609020000020004" pitchFamily="49" charset="0"/>
              </a:rPr>
              <a:t>#include</a:t>
            </a:r>
            <a:r>
              <a:rPr lang="de-CH" sz="900" dirty="0">
                <a:solidFill>
                  <a:srgbClr val="000000"/>
                </a:solidFill>
                <a:highlight>
                  <a:srgbClr val="FFFFFF"/>
                </a:highlight>
                <a:latin typeface="Cascadia Mono" panose="020B0609020000020004" pitchFamily="49" charset="0"/>
              </a:rPr>
              <a:t> </a:t>
            </a:r>
            <a:r>
              <a:rPr lang="de-CH" sz="900" dirty="0">
                <a:solidFill>
                  <a:srgbClr val="A31515"/>
                </a:solidFill>
                <a:highlight>
                  <a:srgbClr val="FFFFFF"/>
                </a:highlight>
                <a:latin typeface="Cascadia Mono" panose="020B0609020000020004" pitchFamily="49" charset="0"/>
              </a:rPr>
              <a:t>&lt;</a:t>
            </a:r>
            <a:r>
              <a:rPr lang="de-CH" sz="900" dirty="0" err="1">
                <a:solidFill>
                  <a:srgbClr val="A31515"/>
                </a:solidFill>
                <a:highlight>
                  <a:srgbClr val="FFFFFF"/>
                </a:highlight>
                <a:latin typeface="Cascadia Mono" panose="020B0609020000020004" pitchFamily="49" charset="0"/>
              </a:rPr>
              <a:t>string</a:t>
            </a:r>
            <a:r>
              <a:rPr lang="de-CH" sz="900" dirty="0">
                <a:solidFill>
                  <a:srgbClr val="A31515"/>
                </a:solidFill>
                <a:highlight>
                  <a:srgbClr val="FFFFFF"/>
                </a:highlight>
                <a:latin typeface="Cascadia Mono" panose="020B0609020000020004" pitchFamily="49" charset="0"/>
              </a:rPr>
              <a:t>&gt;</a:t>
            </a:r>
            <a:endParaRPr lang="de-CH" sz="900" dirty="0">
              <a:solidFill>
                <a:srgbClr val="000000"/>
              </a:solidFill>
              <a:highlight>
                <a:srgbClr val="FFFFFF"/>
              </a:highlight>
              <a:latin typeface="Cascadia Mono" panose="020B0609020000020004" pitchFamily="49" charset="0"/>
            </a:endParaRPr>
          </a:p>
          <a:p>
            <a:endParaRPr lang="ru-RU" sz="900" dirty="0">
              <a:solidFill>
                <a:srgbClr val="000000"/>
              </a:solidFill>
              <a:highlight>
                <a:srgbClr val="FFFFFF"/>
              </a:highlight>
              <a:latin typeface="Cascadia Mono" panose="020B0609020000020004" pitchFamily="49" charset="0"/>
            </a:endParaRPr>
          </a:p>
          <a:p>
            <a:r>
              <a:rPr lang="de-CH" sz="900" dirty="0">
                <a:solidFill>
                  <a:srgbClr val="0000FF"/>
                </a:solidFill>
                <a:highlight>
                  <a:srgbClr val="FFFFFF"/>
                </a:highlight>
                <a:latin typeface="Cascadia Mono" panose="020B0609020000020004" pitchFamily="49" charset="0"/>
              </a:rPr>
              <a:t>int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main</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a:t>
            </a:r>
          </a:p>
          <a:p>
            <a:r>
              <a:rPr lang="en-US" sz="900" dirty="0">
                <a:solidFill>
                  <a:srgbClr val="000000"/>
                </a:solidFill>
                <a:highlight>
                  <a:srgbClr val="FFFFFF"/>
                </a:highlight>
                <a:latin typeface="Cascadia Mono" panose="020B0609020000020004" pitchFamily="49" charset="0"/>
              </a:rPr>
              <a:t>    std::</a:t>
            </a:r>
            <a:r>
              <a:rPr lang="en-US" sz="900" dirty="0">
                <a:solidFill>
                  <a:srgbClr val="2B91A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people[]{ </a:t>
            </a:r>
            <a:r>
              <a:rPr lang="en-US" sz="900" dirty="0">
                <a:solidFill>
                  <a:srgbClr val="A31515"/>
                </a:solidFill>
                <a:highlight>
                  <a:srgbClr val="FFFFFF"/>
                </a:highlight>
                <a:latin typeface="Cascadia Mono" panose="020B0609020000020004" pitchFamily="49" charset="0"/>
              </a:rPr>
              <a:t>"Tom"</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"Alice"</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"Sam"</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"Bob"</a:t>
            </a:r>
            <a:r>
              <a:rPr lang="en-US" sz="900" dirty="0">
                <a:solidFill>
                  <a:srgbClr val="000000"/>
                </a:solidFill>
                <a:highlight>
                  <a:srgbClr val="FFFFFF"/>
                </a:highlight>
                <a:latin typeface="Cascadia Mono" panose="020B0609020000020004" pitchFamily="49" charset="0"/>
              </a:rPr>
              <a:t>, </a:t>
            </a:r>
            <a:r>
              <a:rPr lang="en-US" sz="900" dirty="0">
                <a:solidFill>
                  <a:srgbClr val="A31515"/>
                </a:solidFill>
                <a:highlight>
                  <a:srgbClr val="FFFFFF"/>
                </a:highlight>
                <a:latin typeface="Cascadia Mono" panose="020B0609020000020004" pitchFamily="49" charset="0"/>
              </a:rPr>
              <a:t>"Kate"</a:t>
            </a:r>
            <a:r>
              <a:rPr lang="en-US"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сортируем по возрастанию</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bool</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sorted</a:t>
            </a:r>
            <a:r>
              <a:rPr lang="de-CH" sz="900" dirty="0">
                <a:solidFill>
                  <a:srgbClr val="000000"/>
                </a:solidFill>
                <a:highlight>
                  <a:srgbClr val="FFFFFF"/>
                </a:highlight>
                <a:latin typeface="Cascadia Mono" panose="020B0609020000020004" pitchFamily="49" charset="0"/>
              </a:rPr>
              <a:t>{};</a:t>
            </a:r>
          </a:p>
          <a:p>
            <a:r>
              <a:rPr lang="de-CH" sz="900" dirty="0">
                <a:solidFill>
                  <a:srgbClr val="000000"/>
                </a:solidFill>
                <a:highlight>
                  <a:srgbClr val="FFFFFF"/>
                </a:highlight>
                <a:latin typeface="Cascadia Mono" panose="020B0609020000020004" pitchFamily="49" charset="0"/>
              </a:rPr>
              <a:t>    </a:t>
            </a:r>
            <a:r>
              <a:rPr lang="de-CH" sz="900" dirty="0">
                <a:solidFill>
                  <a:srgbClr val="0000FF"/>
                </a:solidFill>
                <a:highlight>
                  <a:srgbClr val="FFFFFF"/>
                </a:highlight>
                <a:latin typeface="Cascadia Mono" panose="020B0609020000020004" pitchFamily="49" charset="0"/>
              </a:rPr>
              <a:t>do</a:t>
            </a:r>
            <a:endParaRPr lang="de-CH"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err="1">
                <a:solidFill>
                  <a:srgbClr val="000000"/>
                </a:solidFill>
                <a:highlight>
                  <a:srgbClr val="FFFFFF"/>
                </a:highlight>
                <a:latin typeface="Cascadia Mono" panose="020B0609020000020004" pitchFamily="49" charset="0"/>
              </a:rPr>
              <a:t>sorted</a:t>
            </a:r>
            <a:r>
              <a:rPr lang="ru-RU" sz="900" dirty="0">
                <a:solidFill>
                  <a:srgbClr val="000000"/>
                </a:solidFill>
                <a:highlight>
                  <a:srgbClr val="FFFFFF"/>
                </a:highlight>
                <a:latin typeface="Cascadia Mono" panose="020B0609020000020004" pitchFamily="49" charset="0"/>
              </a:rPr>
              <a:t> = </a:t>
            </a:r>
            <a:r>
              <a:rPr lang="ru-RU" sz="900" dirty="0" err="1">
                <a:solidFill>
                  <a:srgbClr val="0000FF"/>
                </a:solidFill>
                <a:highlight>
                  <a:srgbClr val="FFFFFF"/>
                </a:highlight>
                <a:latin typeface="Cascadia Mono" panose="020B0609020000020004" pitchFamily="49" charset="0"/>
              </a:rPr>
              <a:t>true</a:t>
            </a:r>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остается </a:t>
            </a:r>
            <a:r>
              <a:rPr lang="ru-RU" sz="900" dirty="0" err="1">
                <a:solidFill>
                  <a:srgbClr val="008000"/>
                </a:solidFill>
                <a:highlight>
                  <a:srgbClr val="FFFFFF"/>
                </a:highlight>
                <a:latin typeface="Cascadia Mono" panose="020B0609020000020004" pitchFamily="49" charset="0"/>
              </a:rPr>
              <a:t>true</a:t>
            </a:r>
            <a:r>
              <a:rPr lang="ru-RU" sz="900" dirty="0">
                <a:solidFill>
                  <a:srgbClr val="008000"/>
                </a:solidFill>
                <a:highlight>
                  <a:srgbClr val="FFFFFF"/>
                </a:highlight>
                <a:latin typeface="Cascadia Mono" panose="020B0609020000020004" pitchFamily="49" charset="0"/>
              </a:rPr>
              <a:t>, если строки отсортированы</a:t>
            </a:r>
            <a:endParaRPr lang="ru-RU" sz="900" dirty="0">
              <a:solidFill>
                <a:srgbClr val="000000"/>
              </a:solidFill>
              <a:highlight>
                <a:srgbClr val="FFFFFF"/>
              </a:highlight>
              <a:latin typeface="Cascadia Mono" panose="020B0609020000020004" pitchFamily="49" charset="0"/>
            </a:endParaRPr>
          </a:p>
          <a:p>
            <a:r>
              <a:rPr lang="ru-RU" sz="900" dirty="0">
                <a:solidFill>
                  <a:srgbClr val="000000"/>
                </a:solidFill>
                <a:highlight>
                  <a:srgbClr val="FFFFFF"/>
                </a:highlight>
                <a:latin typeface="Cascadia Mono" panose="020B0609020000020004" pitchFamily="49" charset="0"/>
              </a:rPr>
              <a:t>        </a:t>
            </a:r>
            <a:r>
              <a:rPr lang="ru-RU" sz="900" dirty="0" err="1">
                <a:solidFill>
                  <a:srgbClr val="000000"/>
                </a:solidFill>
                <a:highlight>
                  <a:srgbClr val="FFFFFF"/>
                </a:highlight>
                <a:latin typeface="Cascadia Mono" panose="020B0609020000020004" pitchFamily="49" charset="0"/>
              </a:rPr>
              <a:t>std</a:t>
            </a:r>
            <a:r>
              <a:rPr lang="ru-RU" sz="900" dirty="0">
                <a:solidFill>
                  <a:srgbClr val="000000"/>
                </a:solidFill>
                <a:highlight>
                  <a:srgbClr val="FFFFFF"/>
                </a:highlight>
                <a:latin typeface="Cascadia Mono" panose="020B0609020000020004" pitchFamily="49" charset="0"/>
              </a:rPr>
              <a:t>::</a:t>
            </a:r>
            <a:r>
              <a:rPr lang="ru-RU" sz="900" dirty="0" err="1">
                <a:solidFill>
                  <a:srgbClr val="2B91AF"/>
                </a:solidFill>
                <a:highlight>
                  <a:srgbClr val="FFFFFF"/>
                </a:highlight>
                <a:latin typeface="Cascadia Mono" panose="020B0609020000020004" pitchFamily="49" charset="0"/>
              </a:rPr>
              <a:t>string</a:t>
            </a:r>
            <a:r>
              <a:rPr lang="ru-RU" sz="900" dirty="0">
                <a:solidFill>
                  <a:srgbClr val="000000"/>
                </a:solidFill>
                <a:highlight>
                  <a:srgbClr val="FFFFFF"/>
                </a:highlight>
                <a:latin typeface="Cascadia Mono" panose="020B0609020000020004" pitchFamily="49" charset="0"/>
              </a:rPr>
              <a:t> </a:t>
            </a:r>
            <a:r>
              <a:rPr lang="ru-RU" sz="900" dirty="0" err="1">
                <a:solidFill>
                  <a:srgbClr val="000000"/>
                </a:solidFill>
                <a:highlight>
                  <a:srgbClr val="FFFFFF"/>
                </a:highlight>
                <a:latin typeface="Cascadia Mono" panose="020B0609020000020004" pitchFamily="49" charset="0"/>
              </a:rPr>
              <a:t>temp</a:t>
            </a:r>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переменная для обмена значениями</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for</a:t>
            </a:r>
            <a:r>
              <a:rPr lang="de-CH" sz="900" dirty="0">
                <a:solidFill>
                  <a:srgbClr val="000000"/>
                </a:solidFill>
                <a:highlight>
                  <a:srgbClr val="FFFFFF"/>
                </a:highlight>
                <a:latin typeface="Cascadia Mono" panose="020B0609020000020004" pitchFamily="49" charset="0"/>
              </a:rPr>
              <a:t> (</a:t>
            </a:r>
            <a:r>
              <a:rPr lang="de-CH" sz="900" dirty="0" err="1">
                <a:solidFill>
                  <a:srgbClr val="0000FF"/>
                </a:solidFill>
                <a:highlight>
                  <a:srgbClr val="FFFFFF"/>
                </a:highlight>
                <a:latin typeface="Cascadia Mono" panose="020B0609020000020004" pitchFamily="49" charset="0"/>
              </a:rPr>
              <a:t>unsigned</a:t>
            </a:r>
            <a:r>
              <a:rPr lang="de-CH" sz="900" dirty="0">
                <a:solidFill>
                  <a:srgbClr val="000000"/>
                </a:solidFill>
                <a:highlight>
                  <a:srgbClr val="FFFFFF"/>
                </a:highlight>
                <a:latin typeface="Cascadia Mono" panose="020B0609020000020004" pitchFamily="49" charset="0"/>
              </a:rPr>
              <a:t> i{ 1 }; i &lt;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size</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people</a:t>
            </a:r>
            <a:r>
              <a:rPr lang="de-CH" sz="900" dirty="0">
                <a:solidFill>
                  <a:srgbClr val="000000"/>
                </a:solidFill>
                <a:highlight>
                  <a:srgbClr val="FFFFFF"/>
                </a:highlight>
                <a:latin typeface="Cascadia Mono" panose="020B0609020000020004" pitchFamily="49" charset="0"/>
              </a:rPr>
              <a:t>); i++)</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если предыдущая строка больше последующей</a:t>
            </a:r>
            <a:endParaRPr lang="ru-RU"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if</a:t>
            </a:r>
            <a:r>
              <a:rPr lang="en-US" sz="900" dirty="0">
                <a:solidFill>
                  <a:srgbClr val="000000"/>
                </a:solidFill>
                <a:highlight>
                  <a:srgbClr val="FFFFFF"/>
                </a:highlight>
                <a:latin typeface="Cascadia Mono" panose="020B0609020000020004" pitchFamily="49" charset="0"/>
              </a:rPr>
              <a:t> (people[</a:t>
            </a:r>
            <a:r>
              <a:rPr lang="en-US" sz="900" dirty="0" err="1">
                <a:solidFill>
                  <a:srgbClr val="000000"/>
                </a:solidFill>
                <a:highlight>
                  <a:srgbClr val="FFFFFF"/>
                </a:highlight>
                <a:latin typeface="Cascadia Mono" panose="020B0609020000020004" pitchFamily="49" charset="0"/>
              </a:rPr>
              <a:t>i</a:t>
            </a:r>
            <a:r>
              <a:rPr lang="en-US" sz="900" dirty="0">
                <a:solidFill>
                  <a:srgbClr val="000000"/>
                </a:solidFill>
                <a:highlight>
                  <a:srgbClr val="FFFFFF"/>
                </a:highlight>
                <a:latin typeface="Cascadia Mono" panose="020B0609020000020004" pitchFamily="49" charset="0"/>
              </a:rPr>
              <a:t> - 1] </a:t>
            </a:r>
            <a:r>
              <a:rPr lang="en-US" sz="900" dirty="0">
                <a:solidFill>
                  <a:srgbClr val="008080"/>
                </a:solidFill>
                <a:highlight>
                  <a:srgbClr val="FFFFFF"/>
                </a:highlight>
                <a:latin typeface="Cascadia Mono" panose="020B0609020000020004" pitchFamily="49" charset="0"/>
              </a:rPr>
              <a:t>&gt;</a:t>
            </a:r>
            <a:r>
              <a:rPr lang="en-US" sz="900" dirty="0">
                <a:solidFill>
                  <a:srgbClr val="000000"/>
                </a:solidFill>
                <a:highlight>
                  <a:srgbClr val="FFFFFF"/>
                </a:highlight>
                <a:latin typeface="Cascadia Mono" panose="020B0609020000020004" pitchFamily="49" charset="0"/>
              </a:rPr>
              <a:t> people[</a:t>
            </a:r>
            <a:r>
              <a:rPr lang="en-US" sz="900" dirty="0" err="1">
                <a:solidFill>
                  <a:srgbClr val="000000"/>
                </a:solidFill>
                <a:highlight>
                  <a:srgbClr val="FFFFFF"/>
                </a:highlight>
                <a:latin typeface="Cascadia Mono" panose="020B0609020000020004" pitchFamily="49" charset="0"/>
              </a:rPr>
              <a:t>i</a:t>
            </a:r>
            <a:r>
              <a:rPr lang="en-US"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обмениваем значения</a:t>
            </a:r>
            <a:endParaRPr lang="ru-RU" sz="900" dirty="0">
              <a:solidFill>
                <a:srgbClr val="000000"/>
              </a:solidFill>
              <a:highlight>
                <a:srgbClr val="FFFFFF"/>
              </a:highlight>
              <a:latin typeface="Cascadia Mono" panose="020B0609020000020004" pitchFamily="49" charset="0"/>
            </a:endParaRP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temp</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people</a:t>
            </a:r>
            <a:r>
              <a:rPr lang="de-CH" sz="900" dirty="0">
                <a:solidFill>
                  <a:srgbClr val="000000"/>
                </a:solidFill>
                <a:highlight>
                  <a:srgbClr val="FFFFFF"/>
                </a:highlight>
                <a:latin typeface="Cascadia Mono" panose="020B0609020000020004" pitchFamily="49" charset="0"/>
              </a:rPr>
              <a:t>[i];</a:t>
            </a:r>
          </a:p>
          <a:p>
            <a:r>
              <a:rPr lang="en-US" sz="900" dirty="0">
                <a:solidFill>
                  <a:srgbClr val="000000"/>
                </a:solidFill>
                <a:highlight>
                  <a:srgbClr val="FFFFFF"/>
                </a:highlight>
                <a:latin typeface="Cascadia Mono" panose="020B0609020000020004" pitchFamily="49" charset="0"/>
              </a:rPr>
              <a:t>                people[</a:t>
            </a:r>
            <a:r>
              <a:rPr lang="en-US" sz="900" dirty="0" err="1">
                <a:solidFill>
                  <a:srgbClr val="000000"/>
                </a:solidFill>
                <a:highlight>
                  <a:srgbClr val="FFFFFF"/>
                </a:highlight>
                <a:latin typeface="Cascadia Mono" panose="020B0609020000020004" pitchFamily="49" charset="0"/>
              </a:rPr>
              <a:t>i</a:t>
            </a:r>
            <a:r>
              <a:rPr lang="en-US" sz="900" dirty="0">
                <a:solidFill>
                  <a:srgbClr val="000000"/>
                </a:solidFill>
                <a:highlight>
                  <a:srgbClr val="FFFFFF"/>
                </a:highlight>
                <a:latin typeface="Cascadia Mono" panose="020B0609020000020004" pitchFamily="49" charset="0"/>
              </a:rPr>
              <a:t>] </a:t>
            </a:r>
            <a:r>
              <a:rPr lang="en-US" sz="900" dirty="0">
                <a:solidFill>
                  <a:srgbClr val="008080"/>
                </a:solidFill>
                <a:highlight>
                  <a:srgbClr val="FFFFFF"/>
                </a:highlight>
                <a:latin typeface="Cascadia Mono" panose="020B0609020000020004" pitchFamily="49" charset="0"/>
              </a:rPr>
              <a:t>=</a:t>
            </a:r>
            <a:r>
              <a:rPr lang="en-US" sz="900" dirty="0">
                <a:solidFill>
                  <a:srgbClr val="000000"/>
                </a:solidFill>
                <a:highlight>
                  <a:srgbClr val="FFFFFF"/>
                </a:highlight>
                <a:latin typeface="Cascadia Mono" panose="020B0609020000020004" pitchFamily="49" charset="0"/>
              </a:rPr>
              <a:t> people[</a:t>
            </a:r>
            <a:r>
              <a:rPr lang="en-US" sz="900" dirty="0" err="1">
                <a:solidFill>
                  <a:srgbClr val="000000"/>
                </a:solidFill>
                <a:highlight>
                  <a:srgbClr val="FFFFFF"/>
                </a:highlight>
                <a:latin typeface="Cascadia Mono" panose="020B0609020000020004" pitchFamily="49" charset="0"/>
              </a:rPr>
              <a:t>i</a:t>
            </a:r>
            <a:r>
              <a:rPr lang="en-US" sz="900" dirty="0">
                <a:solidFill>
                  <a:srgbClr val="000000"/>
                </a:solidFill>
                <a:highlight>
                  <a:srgbClr val="FFFFFF"/>
                </a:highlight>
                <a:latin typeface="Cascadia Mono" panose="020B0609020000020004" pitchFamily="49" charset="0"/>
              </a:rPr>
              <a:t> - 1];</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people</a:t>
            </a:r>
            <a:r>
              <a:rPr lang="de-CH" sz="900" dirty="0">
                <a:solidFill>
                  <a:srgbClr val="000000"/>
                </a:solidFill>
                <a:highlight>
                  <a:srgbClr val="FFFFFF"/>
                </a:highlight>
                <a:latin typeface="Cascadia Mono" panose="020B0609020000020004" pitchFamily="49" charset="0"/>
              </a:rPr>
              <a:t>[i - 1] </a:t>
            </a:r>
            <a:r>
              <a:rPr lang="de-CH" sz="900" dirty="0">
                <a:solidFill>
                  <a:srgbClr val="008080"/>
                </a:solidFill>
                <a:highlight>
                  <a:srgbClr val="FFFFFF"/>
                </a:highlight>
                <a:latin typeface="Cascadia Mono" panose="020B0609020000020004" pitchFamily="49" charset="0"/>
              </a:rPr>
              <a: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temp</a:t>
            </a:r>
            <a:r>
              <a:rPr lang="de-CH" sz="900" dirty="0">
                <a:solidFill>
                  <a:srgbClr val="000000"/>
                </a:solidFill>
                <a:highlight>
                  <a:srgbClr val="FFFFFF"/>
                </a:highlight>
                <a:latin typeface="Cascadia Mono" panose="020B0609020000020004" pitchFamily="49" charset="0"/>
              </a:rPr>
              <a:t>;</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sorted</a:t>
            </a:r>
            <a:r>
              <a:rPr lang="de-CH" sz="900" dirty="0">
                <a:solidFill>
                  <a:srgbClr val="000000"/>
                </a:solidFill>
                <a:highlight>
                  <a:srgbClr val="FFFFFF"/>
                </a:highlight>
                <a:latin typeface="Cascadia Mono" panose="020B0609020000020004" pitchFamily="49" charset="0"/>
              </a:rPr>
              <a:t> = </a:t>
            </a:r>
            <a:r>
              <a:rPr lang="de-CH" sz="900" dirty="0" err="1">
                <a:solidFill>
                  <a:srgbClr val="0000FF"/>
                </a:solidFill>
                <a:highlight>
                  <a:srgbClr val="FFFFFF"/>
                </a:highlight>
                <a:latin typeface="Cascadia Mono" panose="020B0609020000020004" pitchFamily="49" charset="0"/>
              </a:rPr>
              <a:t>false</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 </a:t>
            </a:r>
            <a:r>
              <a:rPr lang="de-CH" sz="900" dirty="0" err="1">
                <a:solidFill>
                  <a:srgbClr val="0000FF"/>
                </a:solidFill>
                <a:highlight>
                  <a:srgbClr val="FFFFFF"/>
                </a:highlight>
                <a:latin typeface="Cascadia Mono" panose="020B0609020000020004" pitchFamily="49" charset="0"/>
              </a:rPr>
              <a:t>while</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sorted</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r>
              <a:rPr lang="ru-RU" sz="900" dirty="0">
                <a:solidFill>
                  <a:srgbClr val="008000"/>
                </a:solidFill>
                <a:highlight>
                  <a:srgbClr val="FFFFFF"/>
                </a:highlight>
                <a:latin typeface="Cascadia Mono" panose="020B0609020000020004" pitchFamily="49" charset="0"/>
              </a:rPr>
              <a:t>// вывод строк на консоль</a:t>
            </a:r>
            <a:endParaRPr lang="ru-RU" sz="900" dirty="0">
              <a:solidFill>
                <a:srgbClr val="000000"/>
              </a:solidFill>
              <a:highlight>
                <a:srgbClr val="FFFFFF"/>
              </a:highlight>
              <a:latin typeface="Cascadia Mono" panose="020B0609020000020004" pitchFamily="49" charset="0"/>
            </a:endParaRP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for</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const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auto</a:t>
            </a:r>
            <a:r>
              <a:rPr lang="en-US" sz="900" dirty="0">
                <a:solidFill>
                  <a:srgbClr val="000000"/>
                </a:solidFill>
                <a:highlight>
                  <a:srgbClr val="FFFFFF"/>
                </a:highlight>
                <a:latin typeface="Cascadia Mono" panose="020B0609020000020004" pitchFamily="49" charset="0"/>
              </a:rPr>
              <a:t> person : people)</a:t>
            </a:r>
          </a:p>
          <a:p>
            <a:r>
              <a:rPr lang="ru-RU" sz="900" dirty="0">
                <a:solidFill>
                  <a:srgbClr val="000000"/>
                </a:solidFill>
                <a:highlight>
                  <a:srgbClr val="FFFFFF"/>
                </a:highlight>
                <a:latin typeface="Cascadia Mono" panose="020B0609020000020004" pitchFamily="49" charset="0"/>
              </a:rPr>
              <a:t>    {</a:t>
            </a:r>
          </a:p>
          <a:p>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cout</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person</a:t>
            </a:r>
            <a:r>
              <a:rPr lang="de-CH" sz="900" dirty="0">
                <a:solidFill>
                  <a:srgbClr val="000000"/>
                </a:solidFill>
                <a:highlight>
                  <a:srgbClr val="FFFFFF"/>
                </a:highlight>
                <a:latin typeface="Cascadia Mono" panose="020B0609020000020004" pitchFamily="49" charset="0"/>
              </a:rPr>
              <a:t> </a:t>
            </a:r>
            <a:r>
              <a:rPr lang="de-CH" sz="900" dirty="0">
                <a:solidFill>
                  <a:srgbClr val="008080"/>
                </a:solidFill>
                <a:highlight>
                  <a:srgbClr val="FFFFFF"/>
                </a:highlight>
                <a:latin typeface="Cascadia Mono" panose="020B0609020000020004" pitchFamily="49" charset="0"/>
              </a:rPr>
              <a:t>&lt;&lt;</a:t>
            </a:r>
            <a:r>
              <a:rPr lang="de-CH" sz="900" dirty="0">
                <a:solidFill>
                  <a:srgbClr val="000000"/>
                </a:solidFill>
                <a:highlight>
                  <a:srgbClr val="FFFFFF"/>
                </a:highlight>
                <a:latin typeface="Cascadia Mono" panose="020B0609020000020004" pitchFamily="49" charset="0"/>
              </a:rPr>
              <a:t> </a:t>
            </a:r>
            <a:r>
              <a:rPr lang="de-CH" sz="900" dirty="0" err="1">
                <a:solidFill>
                  <a:srgbClr val="000000"/>
                </a:solidFill>
                <a:highlight>
                  <a:srgbClr val="FFFFFF"/>
                </a:highlight>
                <a:latin typeface="Cascadia Mono" panose="020B0609020000020004" pitchFamily="49" charset="0"/>
              </a:rPr>
              <a:t>std</a:t>
            </a:r>
            <a:r>
              <a:rPr lang="de-CH" sz="900" dirty="0">
                <a:solidFill>
                  <a:srgbClr val="000000"/>
                </a:solidFill>
                <a:highlight>
                  <a:srgbClr val="FFFFFF"/>
                </a:highlight>
                <a:latin typeface="Cascadia Mono" panose="020B0609020000020004" pitchFamily="49" charset="0"/>
              </a:rPr>
              <a:t>::</a:t>
            </a:r>
            <a:r>
              <a:rPr lang="de-CH" sz="900" dirty="0" err="1">
                <a:solidFill>
                  <a:srgbClr val="000000"/>
                </a:solidFill>
                <a:highlight>
                  <a:srgbClr val="FFFFFF"/>
                </a:highlight>
                <a:latin typeface="Cascadia Mono" panose="020B0609020000020004" pitchFamily="49" charset="0"/>
              </a:rPr>
              <a:t>endl</a:t>
            </a:r>
            <a:r>
              <a:rPr lang="de-CH" sz="900" dirty="0">
                <a:solidFill>
                  <a:srgbClr val="000000"/>
                </a:solidFill>
                <a:highlight>
                  <a:srgbClr val="FFFFFF"/>
                </a:highlight>
                <a:latin typeface="Cascadia Mono" panose="020B0609020000020004" pitchFamily="49" charset="0"/>
              </a:rPr>
              <a:t>;</a:t>
            </a:r>
          </a:p>
          <a:p>
            <a:r>
              <a:rPr lang="ru-RU" sz="900" dirty="0">
                <a:solidFill>
                  <a:srgbClr val="000000"/>
                </a:solidFill>
                <a:highlight>
                  <a:srgbClr val="FFFFFF"/>
                </a:highlight>
                <a:latin typeface="Cascadia Mono" panose="020B0609020000020004" pitchFamily="49" charset="0"/>
              </a:rPr>
              <a:t>    }</a:t>
            </a:r>
          </a:p>
          <a:p>
            <a:r>
              <a:rPr lang="ru-RU" sz="900" dirty="0">
                <a:solidFill>
                  <a:srgbClr val="000000"/>
                </a:solidFill>
                <a:highlight>
                  <a:srgbClr val="FFFFFF"/>
                </a:highlight>
                <a:latin typeface="Cascadia Mono" panose="020B0609020000020004" pitchFamily="49" charset="0"/>
              </a:rPr>
              <a:t>}</a:t>
            </a:r>
            <a:endParaRPr lang="ru-RU" sz="900" dirty="0"/>
          </a:p>
        </p:txBody>
      </p:sp>
    </p:spTree>
    <p:extLst>
      <p:ext uri="{BB962C8B-B14F-4D97-AF65-F5344CB8AC3E}">
        <p14:creationId xmlns:p14="http://schemas.microsoft.com/office/powerpoint/2010/main" val="3953130941"/>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6A3D64-5627-6DD2-A67A-D8212E04BE52}"/>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A57CBC3F-4700-DA3D-5D59-43A19712A9DA}"/>
              </a:ext>
            </a:extLst>
          </p:cNvPr>
          <p:cNvSpPr>
            <a:spLocks noGrp="1"/>
          </p:cNvSpPr>
          <p:nvPr>
            <p:ph idx="1"/>
          </p:nvPr>
        </p:nvSpPr>
        <p:spPr/>
        <p:txBody>
          <a:bodyPr/>
          <a:lstStyle/>
          <a:p>
            <a:r>
              <a:rPr lang="ru-RU" b="1" dirty="0"/>
              <a:t>Функция </a:t>
            </a:r>
            <a:r>
              <a:rPr lang="de-CH" b="1" dirty="0" err="1"/>
              <a:t>compare</a:t>
            </a:r>
            <a:r>
              <a:rPr lang="de-CH" b="1" dirty="0"/>
              <a:t>()</a:t>
            </a:r>
          </a:p>
          <a:p>
            <a:endParaRPr lang="en-US" dirty="0"/>
          </a:p>
          <a:p>
            <a:r>
              <a:rPr lang="ru-RU" dirty="0"/>
              <a:t>Для сравнения строк у строки также можно вызвать функцию </a:t>
            </a:r>
            <a:r>
              <a:rPr lang="ru-RU" b="1" dirty="0" err="1"/>
              <a:t>compare</a:t>
            </a:r>
            <a:r>
              <a:rPr lang="ru-RU" b="1" dirty="0"/>
              <a:t>()</a:t>
            </a:r>
            <a:r>
              <a:rPr lang="ru-RU" dirty="0"/>
              <a:t>. В нее передается другая строка, с которой сравнивается текущая. Функция </a:t>
            </a:r>
            <a:r>
              <a:rPr lang="ru-RU" dirty="0" err="1"/>
              <a:t>compare</a:t>
            </a:r>
            <a:r>
              <a:rPr lang="ru-RU" dirty="0"/>
              <a:t> возвращает 0, если две строки равны. Если текущая строка больше, то возвращается число больше 0. Если текущая строка меньше, то возвращается число </a:t>
            </a:r>
            <a:r>
              <a:rPr lang="ru-RU" dirty="0" err="1"/>
              <a:t>менише</a:t>
            </a:r>
            <a:r>
              <a:rPr lang="ru-RU" dirty="0"/>
              <a:t> 0. Например:</a:t>
            </a:r>
          </a:p>
        </p:txBody>
      </p:sp>
    </p:spTree>
    <p:extLst>
      <p:ext uri="{BB962C8B-B14F-4D97-AF65-F5344CB8AC3E}">
        <p14:creationId xmlns:p14="http://schemas.microsoft.com/office/powerpoint/2010/main" val="3997670692"/>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2A41DA-A416-FD89-CCCF-58B6B17766FD}"/>
              </a:ext>
            </a:extLst>
          </p:cNvPr>
          <p:cNvSpPr>
            <a:spLocks noGrp="1"/>
          </p:cNvSpPr>
          <p:nvPr>
            <p:ph type="title"/>
          </p:nvPr>
        </p:nvSpPr>
        <p:spPr/>
        <p:txBody>
          <a:bodyPr/>
          <a:lstStyle/>
          <a:p>
            <a:r>
              <a:rPr lang="ru-RU" dirty="0"/>
              <a:t>Строки</a:t>
            </a:r>
          </a:p>
        </p:txBody>
      </p:sp>
      <p:sp>
        <p:nvSpPr>
          <p:cNvPr id="3" name="Объект 2">
            <a:extLst>
              <a:ext uri="{FF2B5EF4-FFF2-40B4-BE49-F238E27FC236}">
                <a16:creationId xmlns:a16="http://schemas.microsoft.com/office/drawing/2014/main" id="{440D663D-3153-1EF4-DA05-B1814BC68265}"/>
              </a:ext>
            </a:extLst>
          </p:cNvPr>
          <p:cNvSpPr>
            <a:spLocks noGrp="1"/>
          </p:cNvSpPr>
          <p:nvPr>
            <p:ph idx="1"/>
          </p:nvPr>
        </p:nvSpPr>
        <p:spPr/>
        <p:txBody>
          <a:bodyPr/>
          <a:lstStyle/>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iostream</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r>
              <a:rPr lang="de-CH" dirty="0">
                <a:solidFill>
                  <a:srgbClr val="808080"/>
                </a:solidFill>
                <a:highlight>
                  <a:srgbClr val="FFFFFF"/>
                </a:highlight>
                <a:latin typeface="Cascadia Mono" panose="020B0609020000020004" pitchFamily="49" charset="0"/>
              </a:rPr>
              <a:t>#include</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&lt;</a:t>
            </a:r>
            <a:r>
              <a:rPr lang="de-CH" dirty="0" err="1">
                <a:solidFill>
                  <a:srgbClr val="A31515"/>
                </a:solidFill>
                <a:highlight>
                  <a:srgbClr val="FFFFFF"/>
                </a:highlight>
                <a:latin typeface="Cascadia Mono" panose="020B0609020000020004" pitchFamily="49" charset="0"/>
              </a:rPr>
              <a:t>string</a:t>
            </a:r>
            <a:r>
              <a:rPr lang="de-CH" dirty="0">
                <a:solidFill>
                  <a:srgbClr val="A31515"/>
                </a:solidFill>
                <a:highlight>
                  <a:srgbClr val="FFFFFF"/>
                </a:highlight>
                <a:latin typeface="Cascadia Mono" panose="020B0609020000020004" pitchFamily="49" charset="0"/>
              </a:rPr>
              <a:t>&gt;</a:t>
            </a:r>
            <a:endParaRPr lang="de-CH"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main</a:t>
            </a:r>
            <a:r>
              <a:rPr lang="de-CH" dirty="0">
                <a:solidFill>
                  <a:srgbClr val="000000"/>
                </a:solidFill>
                <a:highlight>
                  <a:srgbClr val="FFFFFF"/>
                </a:highlight>
                <a:latin typeface="Cascadia Mono" panose="020B0609020000020004" pitchFamily="49" charset="0"/>
              </a:rPr>
              <a:t>()</a:t>
            </a:r>
          </a:p>
          <a:p>
            <a:pPr lvl="1"/>
            <a:r>
              <a:rPr lang="ru-RU" dirty="0">
                <a:solidFill>
                  <a:srgbClr val="000000"/>
                </a:solidFill>
                <a:highlight>
                  <a:srgbClr val="FFFFFF"/>
                </a:highlight>
                <a:latin typeface="Cascadia Mono" panose="020B0609020000020004" pitchFamily="49" charset="0"/>
              </a:rPr>
              <a:t>{</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tom</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"Tom"</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bob</a:t>
            </a:r>
            <a:r>
              <a:rPr lang="de-CH" dirty="0">
                <a:solidFill>
                  <a:srgbClr val="000000"/>
                </a:solidFill>
                <a:highlight>
                  <a:srgbClr val="FFFFFF"/>
                </a:highlight>
                <a:latin typeface="Cascadia Mono" panose="020B0609020000020004" pitchFamily="49" charset="0"/>
              </a:rPr>
              <a:t>{ </a:t>
            </a:r>
            <a:r>
              <a:rPr lang="de-CH" dirty="0">
                <a:solidFill>
                  <a:srgbClr val="A31515"/>
                </a:solidFill>
                <a:highlight>
                  <a:srgbClr val="FFFFFF"/>
                </a:highlight>
                <a:latin typeface="Cascadia Mono" panose="020B0609020000020004" pitchFamily="49" charset="0"/>
              </a:rPr>
              <a:t>"Bob"</a:t>
            </a:r>
            <a:r>
              <a:rPr lang="de-CH" dirty="0">
                <a:solidFill>
                  <a:srgbClr val="000000"/>
                </a:solidFill>
                <a:highlight>
                  <a:srgbClr val="FFFFFF"/>
                </a:highlight>
                <a:latin typeface="Cascadia Mono" panose="020B0609020000020004" pitchFamily="49" charset="0"/>
              </a:rPr>
              <a:t> };</a:t>
            </a: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std</a:t>
            </a:r>
            <a:r>
              <a:rPr lang="de-CH" dirty="0">
                <a:solidFill>
                  <a:srgbClr val="000000"/>
                </a:solidFill>
                <a:highlight>
                  <a:srgbClr val="FFFFFF"/>
                </a:highlight>
                <a:latin typeface="Cascadia Mono" panose="020B0609020000020004" pitchFamily="49" charset="0"/>
              </a:rPr>
              <a:t>::</a:t>
            </a:r>
            <a:r>
              <a:rPr lang="de-CH" dirty="0" err="1">
                <a:solidFill>
                  <a:srgbClr val="2B91AF"/>
                </a:solidFill>
                <a:highlight>
                  <a:srgbClr val="FFFFFF"/>
                </a:highlight>
                <a:latin typeface="Cascadia Mono" panose="020B0609020000020004" pitchFamily="49" charset="0"/>
              </a:rPr>
              <a:t>string</a:t>
            </a:r>
            <a:r>
              <a:rPr lang="de-CH" dirty="0">
                <a:solidFill>
                  <a:srgbClr val="000000"/>
                </a:solidFill>
                <a:highlight>
                  <a:srgbClr val="FFFFFF"/>
                </a:highlight>
                <a:latin typeface="Cascadia Mono" panose="020B0609020000020004" pitchFamily="49" charset="0"/>
              </a:rPr>
              <a:t> sam{ </a:t>
            </a:r>
            <a:r>
              <a:rPr lang="de-CH" dirty="0">
                <a:solidFill>
                  <a:srgbClr val="A31515"/>
                </a:solidFill>
                <a:highlight>
                  <a:srgbClr val="FFFFFF"/>
                </a:highlight>
                <a:latin typeface="Cascadia Mono" panose="020B0609020000020004" pitchFamily="49" charset="0"/>
              </a:rPr>
              <a:t>"Sam"</a:t>
            </a:r>
            <a:r>
              <a:rPr lang="de-CH" dirty="0">
                <a:solidFill>
                  <a:srgbClr val="000000"/>
                </a:solidFill>
                <a:highlight>
                  <a:srgbClr val="FFFFFF"/>
                </a:highlight>
                <a:latin typeface="Cascadia Mono" panose="020B0609020000020004" pitchFamily="49" charset="0"/>
              </a:rPr>
              <a:t> };</a:t>
            </a: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a:solidFill>
                  <a:srgbClr val="0000FF"/>
                </a:solidFill>
                <a:highlight>
                  <a:srgbClr val="FFFFFF"/>
                </a:highlight>
                <a:latin typeface="Cascadia Mono" panose="020B0609020000020004" pitchFamily="49" charset="0"/>
              </a:rPr>
              <a:t>int</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result</a:t>
            </a:r>
            <a:r>
              <a:rPr lang="de-CH" dirty="0">
                <a:solidFill>
                  <a:srgbClr val="000000"/>
                </a:solidFill>
                <a:highlight>
                  <a:srgbClr val="FFFFFF"/>
                </a:highlight>
                <a:latin typeface="Cascadia Mono" panose="020B0609020000020004" pitchFamily="49" charset="0"/>
              </a:rPr>
              <a:t> = </a:t>
            </a:r>
            <a:r>
              <a:rPr lang="de-CH" dirty="0" err="1">
                <a:solidFill>
                  <a:srgbClr val="000000"/>
                </a:solidFill>
                <a:highlight>
                  <a:srgbClr val="FFFFFF"/>
                </a:highlight>
                <a:latin typeface="Cascadia Mono" panose="020B0609020000020004" pitchFamily="49" charset="0"/>
              </a:rPr>
              <a:t>sam.compare</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bob</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1 - </a:t>
            </a:r>
            <a:r>
              <a:rPr lang="ru-RU" dirty="0">
                <a:solidFill>
                  <a:srgbClr val="008000"/>
                </a:solidFill>
                <a:highlight>
                  <a:srgbClr val="FFFFFF"/>
                </a:highlight>
                <a:latin typeface="Cascadia Mono" panose="020B0609020000020004" pitchFamily="49" charset="0"/>
              </a:rPr>
              <a:t>первая строка (</a:t>
            </a:r>
            <a:r>
              <a:rPr lang="de-CH" dirty="0">
                <a:solidFill>
                  <a:srgbClr val="008000"/>
                </a:solidFill>
                <a:highlight>
                  <a:srgbClr val="FFFFFF"/>
                </a:highlight>
                <a:latin typeface="Cascadia Mono" panose="020B0609020000020004" pitchFamily="49" charset="0"/>
              </a:rPr>
              <a:t>sam) </a:t>
            </a:r>
            <a:r>
              <a:rPr lang="ru-RU" dirty="0">
                <a:solidFill>
                  <a:srgbClr val="008000"/>
                </a:solidFill>
                <a:highlight>
                  <a:srgbClr val="FFFFFF"/>
                </a:highlight>
                <a:latin typeface="Cascadia Mono" panose="020B0609020000020004" pitchFamily="49" charset="0"/>
              </a:rPr>
              <a:t>больше второй (</a:t>
            </a:r>
            <a:r>
              <a:rPr lang="de-CH" dirty="0" err="1">
                <a:solidFill>
                  <a:srgbClr val="008000"/>
                </a:solidFill>
                <a:highlight>
                  <a:srgbClr val="FFFFFF"/>
                </a:highlight>
                <a:latin typeface="Cascadia Mono" panose="020B0609020000020004" pitchFamily="49" charset="0"/>
              </a:rPr>
              <a:t>bob</a:t>
            </a:r>
            <a:r>
              <a:rPr lang="de-CH" dirty="0">
                <a:solidFill>
                  <a:srgbClr val="008000"/>
                </a:solidFill>
                <a:highlight>
                  <a:srgbClr val="FFFFFF"/>
                </a:highlight>
                <a:latin typeface="Cascadia Mono" panose="020B0609020000020004" pitchFamily="49" charset="0"/>
              </a:rPr>
              <a:t>)</a:t>
            </a:r>
            <a:endParaRPr lang="de-CH"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result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1</a:t>
            </a:r>
            <a:endParaRPr lang="en-US" dirty="0">
              <a:solidFill>
                <a:srgbClr val="000000"/>
              </a:solidFill>
              <a:highlight>
                <a:srgbClr val="FFFFFF"/>
              </a:highlight>
              <a:latin typeface="Cascadia Mono" panose="020B0609020000020004" pitchFamily="49" charset="0"/>
            </a:endParaRPr>
          </a:p>
          <a:p>
            <a:pPr lvl="1"/>
            <a:endParaRPr lang="ru-RU" dirty="0">
              <a:solidFill>
                <a:srgbClr val="000000"/>
              </a:solidFill>
              <a:highlight>
                <a:srgbClr val="FFFFFF"/>
              </a:highlight>
              <a:latin typeface="Cascadia Mono" panose="020B0609020000020004" pitchFamily="49" charset="0"/>
            </a:endParaRPr>
          </a:p>
          <a:p>
            <a:pPr lvl="1"/>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result</a:t>
            </a:r>
            <a:r>
              <a:rPr lang="de-CH" dirty="0">
                <a:solidFill>
                  <a:srgbClr val="000000"/>
                </a:solidFill>
                <a:highlight>
                  <a:srgbClr val="FFFFFF"/>
                </a:highlight>
                <a:latin typeface="Cascadia Mono" panose="020B0609020000020004" pitchFamily="49" charset="0"/>
              </a:rPr>
              <a:t> = </a:t>
            </a:r>
            <a:r>
              <a:rPr lang="de-CH" dirty="0" err="1">
                <a:solidFill>
                  <a:srgbClr val="000000"/>
                </a:solidFill>
                <a:highlight>
                  <a:srgbClr val="FFFFFF"/>
                </a:highlight>
                <a:latin typeface="Cascadia Mono" panose="020B0609020000020004" pitchFamily="49" charset="0"/>
              </a:rPr>
              <a:t>sam.compare</a:t>
            </a:r>
            <a:r>
              <a:rPr lang="de-CH" dirty="0">
                <a:solidFill>
                  <a:srgbClr val="000000"/>
                </a:solidFill>
                <a:highlight>
                  <a:srgbClr val="FFFFFF"/>
                </a:highlight>
                <a:latin typeface="Cascadia Mono" panose="020B0609020000020004" pitchFamily="49" charset="0"/>
              </a:rPr>
              <a:t>(</a:t>
            </a:r>
            <a:r>
              <a:rPr lang="de-CH" dirty="0" err="1">
                <a:solidFill>
                  <a:srgbClr val="000000"/>
                </a:solidFill>
                <a:highlight>
                  <a:srgbClr val="FFFFFF"/>
                </a:highlight>
                <a:latin typeface="Cascadia Mono" panose="020B0609020000020004" pitchFamily="49" charset="0"/>
              </a:rPr>
              <a:t>tom</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-1 - </a:t>
            </a:r>
            <a:r>
              <a:rPr lang="ru-RU" dirty="0">
                <a:solidFill>
                  <a:srgbClr val="008000"/>
                </a:solidFill>
                <a:highlight>
                  <a:srgbClr val="FFFFFF"/>
                </a:highlight>
                <a:latin typeface="Cascadia Mono" panose="020B0609020000020004" pitchFamily="49" charset="0"/>
              </a:rPr>
              <a:t>первая строка (</a:t>
            </a:r>
            <a:r>
              <a:rPr lang="de-CH" dirty="0">
                <a:solidFill>
                  <a:srgbClr val="008000"/>
                </a:solidFill>
                <a:highlight>
                  <a:srgbClr val="FFFFFF"/>
                </a:highlight>
                <a:latin typeface="Cascadia Mono" panose="020B0609020000020004" pitchFamily="49" charset="0"/>
              </a:rPr>
              <a:t>sam) </a:t>
            </a:r>
            <a:r>
              <a:rPr lang="ru-RU" dirty="0">
                <a:solidFill>
                  <a:srgbClr val="008000"/>
                </a:solidFill>
                <a:highlight>
                  <a:srgbClr val="FFFFFF"/>
                </a:highlight>
                <a:latin typeface="Cascadia Mono" panose="020B0609020000020004" pitchFamily="49" charset="0"/>
              </a:rPr>
              <a:t>меньше второй (</a:t>
            </a:r>
            <a:r>
              <a:rPr lang="de-CH" dirty="0" err="1">
                <a:solidFill>
                  <a:srgbClr val="008000"/>
                </a:solidFill>
                <a:highlight>
                  <a:srgbClr val="FFFFFF"/>
                </a:highlight>
                <a:latin typeface="Cascadia Mono" panose="020B0609020000020004" pitchFamily="49" charset="0"/>
              </a:rPr>
              <a:t>tom</a:t>
            </a:r>
            <a:r>
              <a:rPr lang="de-CH" dirty="0">
                <a:solidFill>
                  <a:srgbClr val="008000"/>
                </a:solidFill>
                <a:highlight>
                  <a:srgbClr val="FFFFFF"/>
                </a:highlight>
                <a:latin typeface="Cascadia Mono" panose="020B0609020000020004" pitchFamily="49" charset="0"/>
              </a:rPr>
              <a:t>)</a:t>
            </a:r>
            <a:endParaRPr lang="de-CH" dirty="0">
              <a:solidFill>
                <a:srgbClr val="000000"/>
              </a:solidFill>
              <a:highlight>
                <a:srgbClr val="FFFFFF"/>
              </a:highlight>
              <a:latin typeface="Cascadia Mono" panose="020B0609020000020004" pitchFamily="49" charset="0"/>
            </a:endParaRPr>
          </a:p>
          <a:p>
            <a:pPr lvl="1"/>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cout</a:t>
            </a:r>
            <a:r>
              <a:rPr lang="en-US" dirty="0">
                <a:solidFill>
                  <a:srgbClr val="000000"/>
                </a:solidFill>
                <a:highlight>
                  <a:srgbClr val="FFFFFF"/>
                </a:highlight>
                <a:latin typeface="Cascadia Mono" panose="020B0609020000020004" pitchFamily="49" charset="0"/>
              </a:rPr>
              <a: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result </a:t>
            </a:r>
            <a:r>
              <a:rPr lang="en-US" dirty="0">
                <a:solidFill>
                  <a:srgbClr val="008080"/>
                </a:solidFill>
                <a:highlight>
                  <a:srgbClr val="FFFFFF"/>
                </a:highlight>
                <a:latin typeface="Cascadia Mono" panose="020B0609020000020004" pitchFamily="49" charset="0"/>
              </a:rPr>
              <a:t>&lt;&lt;</a:t>
            </a:r>
            <a:r>
              <a:rPr lang="en-US" dirty="0">
                <a:solidFill>
                  <a:srgbClr val="000000"/>
                </a:solidFill>
                <a:highlight>
                  <a:srgbClr val="FFFFFF"/>
                </a:highlight>
                <a:latin typeface="Cascadia Mono" panose="020B0609020000020004" pitchFamily="49" charset="0"/>
              </a:rPr>
              <a:t> std::</a:t>
            </a:r>
            <a:r>
              <a:rPr lang="en-US" dirty="0" err="1">
                <a:solidFill>
                  <a:srgbClr val="000000"/>
                </a:solidFill>
                <a:highlight>
                  <a:srgbClr val="FFFFFF"/>
                </a:highlight>
                <a:latin typeface="Cascadia Mono" panose="020B0609020000020004" pitchFamily="49" charset="0"/>
              </a:rPr>
              <a:t>endl</a:t>
            </a:r>
            <a:r>
              <a:rPr lang="en-US" dirty="0">
                <a:solidFill>
                  <a:srgbClr val="000000"/>
                </a:solidFill>
                <a:highlight>
                  <a:srgbClr val="FFFFFF"/>
                </a:highlight>
                <a:latin typeface="Cascadia Mono" panose="020B0609020000020004" pitchFamily="49" charset="0"/>
              </a:rPr>
              <a:t>;   </a:t>
            </a:r>
            <a:r>
              <a:rPr lang="en-US" dirty="0">
                <a:solidFill>
                  <a:srgbClr val="008000"/>
                </a:solidFill>
                <a:highlight>
                  <a:srgbClr val="FFFFFF"/>
                </a:highlight>
                <a:latin typeface="Cascadia Mono" panose="020B0609020000020004" pitchFamily="49" charset="0"/>
              </a:rPr>
              <a:t>// -1</a:t>
            </a:r>
            <a:endParaRPr lang="en-US" dirty="0">
              <a:solidFill>
                <a:srgbClr val="000000"/>
              </a:solidFill>
              <a:highlight>
                <a:srgbClr val="FFFFFF"/>
              </a:highlight>
              <a:latin typeface="Cascadia Mono" panose="020B0609020000020004" pitchFamily="49" charset="0"/>
            </a:endParaRPr>
          </a:p>
          <a:p>
            <a:pPr lvl="1"/>
            <a:r>
              <a:rPr lang="ru-RU"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3023880031"/>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7E8748-890D-FEAF-1499-34EE2F0BBC0E}"/>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B91B8AF3-91E6-B915-15BC-3147D76554D0}"/>
              </a:ext>
            </a:extLst>
          </p:cNvPr>
          <p:cNvSpPr>
            <a:spLocks noGrp="1"/>
          </p:cNvSpPr>
          <p:nvPr>
            <p:ph idx="1"/>
          </p:nvPr>
        </p:nvSpPr>
        <p:spPr/>
        <p:txBody>
          <a:bodyPr/>
          <a:lstStyle/>
          <a:p>
            <a:r>
              <a:rPr lang="ru-RU" dirty="0"/>
              <a:t>Шаблоны функции позволяют определить конструкции, которые используют определенные типы, но на момент написания кода точно не известно, что это будут за типы. Иными словами, шаблоны позволяют определить универсальные конструкции, которые не зависят от определенного типа.</a:t>
            </a:r>
          </a:p>
          <a:p>
            <a:endParaRPr lang="ru-RU" dirty="0"/>
          </a:p>
          <a:p>
            <a:r>
              <a:rPr lang="ru-RU" dirty="0"/>
              <a:t>Шаблоны функций (</a:t>
            </a:r>
            <a:r>
              <a:rPr lang="ru-RU" dirty="0" err="1"/>
              <a:t>function</a:t>
            </a:r>
            <a:r>
              <a:rPr lang="ru-RU" dirty="0"/>
              <a:t> </a:t>
            </a:r>
            <a:r>
              <a:rPr lang="ru-RU" dirty="0" err="1"/>
              <a:t>template</a:t>
            </a:r>
            <a:r>
              <a:rPr lang="ru-RU" dirty="0"/>
              <a:t>) позволяют определять функции, которые не зависят от конкретных типов.</a:t>
            </a:r>
          </a:p>
        </p:txBody>
      </p:sp>
    </p:spTree>
    <p:extLst>
      <p:ext uri="{BB962C8B-B14F-4D97-AF65-F5344CB8AC3E}">
        <p14:creationId xmlns:p14="http://schemas.microsoft.com/office/powerpoint/2010/main" val="299529050"/>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E42F596-0E3D-147F-441F-ED2489F9D1B4}"/>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7FD3AC1B-1F75-3542-309A-8A03B214015B}"/>
              </a:ext>
            </a:extLst>
          </p:cNvPr>
          <p:cNvSpPr>
            <a:spLocks noGrp="1"/>
          </p:cNvSpPr>
          <p:nvPr>
            <p:ph idx="1"/>
          </p:nvPr>
        </p:nvSpPr>
        <p:spPr>
          <a:xfrm>
            <a:off x="457200" y="1268760"/>
            <a:ext cx="8229600" cy="5248275"/>
          </a:xfrm>
        </p:spPr>
        <p:txBody>
          <a:bodyPr/>
          <a:lstStyle/>
          <a:p>
            <a:r>
              <a:rPr lang="de-CH" sz="1000" dirty="0"/>
              <a:t>#include &lt;</a:t>
            </a:r>
            <a:r>
              <a:rPr lang="de-CH" sz="1000" dirty="0" err="1"/>
              <a:t>iostream</a:t>
            </a:r>
            <a:r>
              <a:rPr lang="de-CH" sz="1000" dirty="0"/>
              <a:t>&gt;</a:t>
            </a:r>
          </a:p>
          <a:p>
            <a:r>
              <a:rPr lang="de-CH" sz="1000" dirty="0"/>
              <a:t> </a:t>
            </a:r>
          </a:p>
          <a:p>
            <a:r>
              <a:rPr lang="de-CH" sz="1000" dirty="0"/>
              <a:t>int </a:t>
            </a:r>
            <a:r>
              <a:rPr lang="de-CH" sz="1000" dirty="0" err="1"/>
              <a:t>add</a:t>
            </a:r>
            <a:r>
              <a:rPr lang="de-CH" sz="1000" dirty="0"/>
              <a:t>(int, int);</a:t>
            </a:r>
          </a:p>
          <a:p>
            <a:r>
              <a:rPr lang="de-CH" sz="1000" dirty="0"/>
              <a:t>double </a:t>
            </a:r>
            <a:r>
              <a:rPr lang="de-CH" sz="1000" dirty="0" err="1"/>
              <a:t>add</a:t>
            </a:r>
            <a:r>
              <a:rPr lang="de-CH" sz="1000" dirty="0"/>
              <a:t>(double, double);</a:t>
            </a:r>
          </a:p>
          <a:p>
            <a:r>
              <a:rPr lang="de-CH" sz="1000" dirty="0" err="1"/>
              <a:t>std</a:t>
            </a:r>
            <a:r>
              <a:rPr lang="de-CH" sz="1000" dirty="0"/>
              <a:t>::</a:t>
            </a:r>
            <a:r>
              <a:rPr lang="de-CH" sz="1000" dirty="0" err="1"/>
              <a:t>string</a:t>
            </a:r>
            <a:r>
              <a:rPr lang="de-CH" sz="1000" dirty="0"/>
              <a:t> </a:t>
            </a:r>
            <a:r>
              <a:rPr lang="de-CH" sz="1000" dirty="0" err="1"/>
              <a:t>add</a:t>
            </a:r>
            <a:r>
              <a:rPr lang="de-CH" sz="1000" dirty="0"/>
              <a:t>(</a:t>
            </a:r>
            <a:r>
              <a:rPr lang="de-CH" sz="1000" dirty="0" err="1"/>
              <a:t>std</a:t>
            </a:r>
            <a:r>
              <a:rPr lang="de-CH" sz="1000" dirty="0"/>
              <a:t>::</a:t>
            </a:r>
            <a:r>
              <a:rPr lang="de-CH" sz="1000" dirty="0" err="1"/>
              <a:t>string</a:t>
            </a:r>
            <a:r>
              <a:rPr lang="de-CH" sz="1000" dirty="0"/>
              <a:t>, </a:t>
            </a:r>
            <a:r>
              <a:rPr lang="de-CH" sz="1000" dirty="0" err="1"/>
              <a:t>std</a:t>
            </a:r>
            <a:r>
              <a:rPr lang="de-CH" sz="1000" dirty="0"/>
              <a:t>::</a:t>
            </a:r>
            <a:r>
              <a:rPr lang="de-CH" sz="1000" dirty="0" err="1"/>
              <a:t>string</a:t>
            </a:r>
            <a:r>
              <a:rPr lang="de-CH" sz="1000" dirty="0"/>
              <a:t>);</a:t>
            </a:r>
          </a:p>
          <a:p>
            <a:r>
              <a:rPr lang="de-CH" sz="1000" dirty="0"/>
              <a:t> </a:t>
            </a:r>
          </a:p>
          <a:p>
            <a:r>
              <a:rPr lang="de-CH" sz="1000" dirty="0"/>
              <a:t>int </a:t>
            </a:r>
            <a:r>
              <a:rPr lang="de-CH" sz="1000" dirty="0" err="1"/>
              <a:t>main</a:t>
            </a:r>
            <a:r>
              <a:rPr lang="de-CH" sz="1000" dirty="0"/>
              <a:t>()</a:t>
            </a:r>
          </a:p>
          <a:p>
            <a:r>
              <a:rPr lang="de-CH" sz="1000" dirty="0"/>
              <a:t>{</a:t>
            </a:r>
          </a:p>
          <a:p>
            <a:r>
              <a:rPr lang="de-CH" sz="1000" dirty="0"/>
              <a:t>    </a:t>
            </a:r>
            <a:r>
              <a:rPr lang="de-CH" sz="1000" dirty="0" err="1"/>
              <a:t>std</a:t>
            </a:r>
            <a:r>
              <a:rPr lang="de-CH" sz="1000" dirty="0"/>
              <a:t>::</a:t>
            </a:r>
            <a:r>
              <a:rPr lang="de-CH" sz="1000" dirty="0" err="1"/>
              <a:t>cout</a:t>
            </a:r>
            <a:r>
              <a:rPr lang="de-CH" sz="1000" dirty="0"/>
              <a:t> &lt;&lt; "int: " &lt;&lt; </a:t>
            </a:r>
            <a:r>
              <a:rPr lang="de-CH" sz="1000" dirty="0" err="1"/>
              <a:t>add</a:t>
            </a:r>
            <a:r>
              <a:rPr lang="de-CH" sz="1000" dirty="0"/>
              <a:t>(4, 5) &lt;&lt; </a:t>
            </a:r>
            <a:r>
              <a:rPr lang="de-CH" sz="1000" dirty="0" err="1"/>
              <a:t>std</a:t>
            </a:r>
            <a:r>
              <a:rPr lang="de-CH" sz="1000" dirty="0"/>
              <a:t>::</a:t>
            </a:r>
            <a:r>
              <a:rPr lang="de-CH" sz="1000" dirty="0" err="1"/>
              <a:t>endl</a:t>
            </a:r>
            <a:r>
              <a:rPr lang="de-CH" sz="1000" dirty="0"/>
              <a:t>; </a:t>
            </a:r>
          </a:p>
          <a:p>
            <a:r>
              <a:rPr lang="de-CH" sz="1000" dirty="0"/>
              <a:t>    </a:t>
            </a:r>
            <a:r>
              <a:rPr lang="de-CH" sz="1000" dirty="0" err="1"/>
              <a:t>std</a:t>
            </a:r>
            <a:r>
              <a:rPr lang="de-CH" sz="1000" dirty="0"/>
              <a:t>::</a:t>
            </a:r>
            <a:r>
              <a:rPr lang="de-CH" sz="1000" dirty="0" err="1"/>
              <a:t>cout</a:t>
            </a:r>
            <a:r>
              <a:rPr lang="de-CH" sz="1000" dirty="0"/>
              <a:t> &lt;&lt; "double: " &lt;&lt; </a:t>
            </a:r>
            <a:r>
              <a:rPr lang="de-CH" sz="1000" dirty="0" err="1"/>
              <a:t>add</a:t>
            </a:r>
            <a:r>
              <a:rPr lang="de-CH" sz="1000" dirty="0"/>
              <a:t>(4.4, 5.5) &lt;&lt; </a:t>
            </a:r>
            <a:r>
              <a:rPr lang="de-CH" sz="1000" dirty="0" err="1"/>
              <a:t>std</a:t>
            </a:r>
            <a:r>
              <a:rPr lang="de-CH" sz="1000" dirty="0"/>
              <a:t>::</a:t>
            </a:r>
            <a:r>
              <a:rPr lang="de-CH" sz="1000" dirty="0" err="1"/>
              <a:t>endl</a:t>
            </a:r>
            <a:r>
              <a:rPr lang="de-CH" sz="1000" dirty="0"/>
              <a:t>;</a:t>
            </a:r>
          </a:p>
          <a:p>
            <a:r>
              <a:rPr lang="de-CH" sz="1000" dirty="0"/>
              <a:t>    </a:t>
            </a:r>
            <a:r>
              <a:rPr lang="de-CH" sz="1000" dirty="0" err="1"/>
              <a:t>std</a:t>
            </a:r>
            <a:r>
              <a:rPr lang="de-CH" sz="1000" dirty="0"/>
              <a:t>::</a:t>
            </a:r>
            <a:r>
              <a:rPr lang="de-CH" sz="1000" dirty="0" err="1"/>
              <a:t>cout</a:t>
            </a:r>
            <a:r>
              <a:rPr lang="de-CH" sz="1000" dirty="0"/>
              <a:t> &lt;&lt; "</a:t>
            </a:r>
            <a:r>
              <a:rPr lang="de-CH" sz="1000" dirty="0" err="1"/>
              <a:t>string</a:t>
            </a:r>
            <a:r>
              <a:rPr lang="de-CH" sz="1000" dirty="0"/>
              <a:t>: " &lt;&lt; </a:t>
            </a:r>
            <a:r>
              <a:rPr lang="de-CH" sz="1000" dirty="0" err="1"/>
              <a:t>add</a:t>
            </a:r>
            <a:r>
              <a:rPr lang="de-CH" sz="1000" dirty="0"/>
              <a:t>(</a:t>
            </a:r>
            <a:r>
              <a:rPr lang="de-CH" sz="1000" dirty="0" err="1"/>
              <a:t>std</a:t>
            </a:r>
            <a:r>
              <a:rPr lang="de-CH" sz="1000" dirty="0"/>
              <a:t>::</a:t>
            </a:r>
            <a:r>
              <a:rPr lang="de-CH" sz="1000" dirty="0" err="1"/>
              <a:t>string</a:t>
            </a:r>
            <a:r>
              <a:rPr lang="de-CH" sz="1000" dirty="0"/>
              <a:t>("</a:t>
            </a:r>
            <a:r>
              <a:rPr lang="de-CH" sz="1000" dirty="0" err="1"/>
              <a:t>hel</a:t>
            </a:r>
            <a:r>
              <a:rPr lang="de-CH" sz="1000" dirty="0"/>
              <a:t>"), </a:t>
            </a:r>
            <a:r>
              <a:rPr lang="de-CH" sz="1000" dirty="0" err="1"/>
              <a:t>std</a:t>
            </a:r>
            <a:r>
              <a:rPr lang="de-CH" sz="1000" dirty="0"/>
              <a:t>::</a:t>
            </a:r>
            <a:r>
              <a:rPr lang="de-CH" sz="1000" dirty="0" err="1"/>
              <a:t>string</a:t>
            </a:r>
            <a:r>
              <a:rPr lang="de-CH" sz="1000" dirty="0"/>
              <a:t>("</a:t>
            </a:r>
            <a:r>
              <a:rPr lang="de-CH" sz="1000" dirty="0" err="1"/>
              <a:t>lo</a:t>
            </a:r>
            <a:r>
              <a:rPr lang="de-CH" sz="1000" dirty="0"/>
              <a:t>")) &lt;&lt; </a:t>
            </a:r>
            <a:r>
              <a:rPr lang="de-CH" sz="1000" dirty="0" err="1"/>
              <a:t>std</a:t>
            </a:r>
            <a:r>
              <a:rPr lang="de-CH" sz="1000" dirty="0"/>
              <a:t>::</a:t>
            </a:r>
            <a:r>
              <a:rPr lang="de-CH" sz="1000" dirty="0" err="1"/>
              <a:t>endl</a:t>
            </a:r>
            <a:r>
              <a:rPr lang="de-CH" sz="1000" dirty="0"/>
              <a:t>;</a:t>
            </a:r>
          </a:p>
          <a:p>
            <a:r>
              <a:rPr lang="de-CH" sz="1000" dirty="0"/>
              <a:t>}</a:t>
            </a:r>
          </a:p>
          <a:p>
            <a:r>
              <a:rPr lang="de-CH" sz="1000" dirty="0"/>
              <a:t> </a:t>
            </a:r>
          </a:p>
          <a:p>
            <a:r>
              <a:rPr lang="de-CH" sz="1000" dirty="0"/>
              <a:t>int </a:t>
            </a:r>
            <a:r>
              <a:rPr lang="de-CH" sz="1000" dirty="0" err="1"/>
              <a:t>add</a:t>
            </a:r>
            <a:r>
              <a:rPr lang="de-CH" sz="1000" dirty="0"/>
              <a:t>(int x, int y)</a:t>
            </a:r>
          </a:p>
          <a:p>
            <a:r>
              <a:rPr lang="de-CH" sz="1000" dirty="0"/>
              <a:t>{</a:t>
            </a:r>
          </a:p>
          <a:p>
            <a:r>
              <a:rPr lang="de-CH" sz="1000" dirty="0"/>
              <a:t>    </a:t>
            </a:r>
            <a:r>
              <a:rPr lang="de-CH" sz="1000" dirty="0" err="1"/>
              <a:t>return</a:t>
            </a:r>
            <a:r>
              <a:rPr lang="de-CH" sz="1000" dirty="0"/>
              <a:t> x + y;</a:t>
            </a:r>
          </a:p>
          <a:p>
            <a:r>
              <a:rPr lang="de-CH" sz="1000" dirty="0"/>
              <a:t>}</a:t>
            </a:r>
          </a:p>
          <a:p>
            <a:r>
              <a:rPr lang="de-CH" sz="1000" dirty="0"/>
              <a:t>double </a:t>
            </a:r>
            <a:r>
              <a:rPr lang="de-CH" sz="1000" dirty="0" err="1"/>
              <a:t>add</a:t>
            </a:r>
            <a:r>
              <a:rPr lang="de-CH" sz="1000" dirty="0"/>
              <a:t>(double x, double y)</a:t>
            </a:r>
          </a:p>
          <a:p>
            <a:r>
              <a:rPr lang="de-CH" sz="1000" dirty="0"/>
              <a:t>{</a:t>
            </a:r>
          </a:p>
          <a:p>
            <a:r>
              <a:rPr lang="de-CH" sz="1000" dirty="0"/>
              <a:t>    </a:t>
            </a:r>
            <a:r>
              <a:rPr lang="de-CH" sz="1000" dirty="0" err="1"/>
              <a:t>return</a:t>
            </a:r>
            <a:r>
              <a:rPr lang="de-CH" sz="1000" dirty="0"/>
              <a:t> x + y;</a:t>
            </a:r>
          </a:p>
          <a:p>
            <a:r>
              <a:rPr lang="de-CH" sz="1000" dirty="0"/>
              <a:t>}</a:t>
            </a:r>
          </a:p>
          <a:p>
            <a:r>
              <a:rPr lang="de-CH" sz="1000" dirty="0"/>
              <a:t> </a:t>
            </a:r>
          </a:p>
          <a:p>
            <a:r>
              <a:rPr lang="de-CH" sz="1000" dirty="0" err="1"/>
              <a:t>std</a:t>
            </a:r>
            <a:r>
              <a:rPr lang="de-CH" sz="1000" dirty="0"/>
              <a:t>::</a:t>
            </a:r>
            <a:r>
              <a:rPr lang="de-CH" sz="1000" dirty="0" err="1"/>
              <a:t>string</a:t>
            </a:r>
            <a:r>
              <a:rPr lang="de-CH" sz="1000" dirty="0"/>
              <a:t> </a:t>
            </a:r>
            <a:r>
              <a:rPr lang="de-CH" sz="1000" dirty="0" err="1"/>
              <a:t>add</a:t>
            </a:r>
            <a:r>
              <a:rPr lang="de-CH" sz="1000" dirty="0"/>
              <a:t>(</a:t>
            </a:r>
            <a:r>
              <a:rPr lang="de-CH" sz="1000" dirty="0" err="1"/>
              <a:t>std</a:t>
            </a:r>
            <a:r>
              <a:rPr lang="de-CH" sz="1000" dirty="0"/>
              <a:t>::</a:t>
            </a:r>
            <a:r>
              <a:rPr lang="de-CH" sz="1000" dirty="0" err="1"/>
              <a:t>string</a:t>
            </a:r>
            <a:r>
              <a:rPr lang="de-CH" sz="1000" dirty="0"/>
              <a:t> str1, </a:t>
            </a:r>
            <a:r>
              <a:rPr lang="de-CH" sz="1000" dirty="0" err="1"/>
              <a:t>std</a:t>
            </a:r>
            <a:r>
              <a:rPr lang="de-CH" sz="1000" dirty="0"/>
              <a:t>::</a:t>
            </a:r>
            <a:r>
              <a:rPr lang="de-CH" sz="1000" dirty="0" err="1"/>
              <a:t>string</a:t>
            </a:r>
            <a:r>
              <a:rPr lang="de-CH" sz="1000" dirty="0"/>
              <a:t> str2)</a:t>
            </a:r>
          </a:p>
          <a:p>
            <a:r>
              <a:rPr lang="de-CH" sz="1000" dirty="0"/>
              <a:t>{</a:t>
            </a:r>
          </a:p>
          <a:p>
            <a:r>
              <a:rPr lang="de-CH" sz="1000" dirty="0"/>
              <a:t>    </a:t>
            </a:r>
            <a:r>
              <a:rPr lang="de-CH" sz="1000" dirty="0" err="1"/>
              <a:t>return</a:t>
            </a:r>
            <a:r>
              <a:rPr lang="de-CH" sz="1000" dirty="0"/>
              <a:t> str1 + str2;</a:t>
            </a:r>
          </a:p>
          <a:p>
            <a:r>
              <a:rPr lang="de-CH" sz="1000" dirty="0"/>
              <a:t>}</a:t>
            </a:r>
            <a:endParaRPr lang="ru-RU" sz="1000" dirty="0"/>
          </a:p>
        </p:txBody>
      </p:sp>
    </p:spTree>
    <p:extLst>
      <p:ext uri="{BB962C8B-B14F-4D97-AF65-F5344CB8AC3E}">
        <p14:creationId xmlns:p14="http://schemas.microsoft.com/office/powerpoint/2010/main" val="2709400345"/>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0B4B41-B2B6-C125-2135-5D2062B0E992}"/>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56D36E66-30B0-9CA0-F51A-86A134F4A266}"/>
              </a:ext>
            </a:extLst>
          </p:cNvPr>
          <p:cNvSpPr>
            <a:spLocks noGrp="1"/>
          </p:cNvSpPr>
          <p:nvPr>
            <p:ph idx="1"/>
          </p:nvPr>
        </p:nvSpPr>
        <p:spPr>
          <a:xfrm>
            <a:off x="325016" y="1124744"/>
            <a:ext cx="8229600" cy="5248275"/>
          </a:xfrm>
        </p:spPr>
        <p:txBody>
          <a:bodyPr/>
          <a:lstStyle/>
          <a:p>
            <a:endParaRPr lang="ru-RU" dirty="0"/>
          </a:p>
          <a:p>
            <a:pPr algn="ctr"/>
            <a:r>
              <a:rPr lang="fr-FR" dirty="0" err="1"/>
              <a:t>template</a:t>
            </a:r>
            <a:r>
              <a:rPr lang="fr-FR" dirty="0"/>
              <a:t>&lt;</a:t>
            </a:r>
            <a:r>
              <a:rPr lang="fr-FR" dirty="0" err="1"/>
              <a:t>typename</a:t>
            </a:r>
            <a:r>
              <a:rPr lang="fr-FR" dirty="0"/>
              <a:t> T&gt; T </a:t>
            </a:r>
            <a:r>
              <a:rPr lang="fr-FR" dirty="0" err="1"/>
              <a:t>add</a:t>
            </a:r>
            <a:r>
              <a:rPr lang="fr-FR" dirty="0"/>
              <a:t>(T a, T b)</a:t>
            </a:r>
            <a:endParaRPr lang="ru-RU" dirty="0"/>
          </a:p>
          <a:p>
            <a:pPr algn="ctr"/>
            <a:endParaRPr lang="ru-RU" dirty="0"/>
          </a:p>
          <a:p>
            <a:r>
              <a:rPr lang="de-CH" sz="1600" dirty="0"/>
              <a:t>#include &lt;</a:t>
            </a:r>
            <a:r>
              <a:rPr lang="de-CH" sz="1600" dirty="0" err="1"/>
              <a:t>iostream</a:t>
            </a:r>
            <a:r>
              <a:rPr lang="de-CH" sz="1600" dirty="0"/>
              <a:t>&gt;</a:t>
            </a:r>
          </a:p>
          <a:p>
            <a:r>
              <a:rPr lang="de-CH" sz="1600" dirty="0"/>
              <a:t> </a:t>
            </a:r>
          </a:p>
          <a:p>
            <a:r>
              <a:rPr lang="de-CH" sz="1600" dirty="0" err="1"/>
              <a:t>template</a:t>
            </a:r>
            <a:r>
              <a:rPr lang="de-CH" sz="1600" dirty="0"/>
              <a:t>&lt;</a:t>
            </a:r>
            <a:r>
              <a:rPr lang="de-CH" sz="1600" dirty="0" err="1"/>
              <a:t>typename</a:t>
            </a:r>
            <a:r>
              <a:rPr lang="de-CH" sz="1600" dirty="0"/>
              <a:t> T&gt; T </a:t>
            </a:r>
            <a:r>
              <a:rPr lang="de-CH" sz="1600" dirty="0" err="1"/>
              <a:t>add</a:t>
            </a:r>
            <a:r>
              <a:rPr lang="de-CH" sz="1600" dirty="0"/>
              <a:t>(T, T); // </a:t>
            </a:r>
            <a:r>
              <a:rPr lang="ru-RU" sz="1600" dirty="0"/>
              <a:t>прототип функции</a:t>
            </a:r>
          </a:p>
          <a:p>
            <a:r>
              <a:rPr lang="ru-RU" sz="1600" dirty="0"/>
              <a:t> </a:t>
            </a:r>
          </a:p>
          <a:p>
            <a:r>
              <a:rPr lang="de-CH" sz="1600" dirty="0"/>
              <a:t>int </a:t>
            </a:r>
            <a:r>
              <a:rPr lang="de-CH" sz="1600" dirty="0" err="1"/>
              <a:t>main</a:t>
            </a:r>
            <a:r>
              <a:rPr lang="de-CH" sz="1600" dirty="0"/>
              <a:t>()</a:t>
            </a:r>
          </a:p>
          <a:p>
            <a:r>
              <a:rPr lang="de-CH" sz="1600" dirty="0"/>
              <a:t>{</a:t>
            </a:r>
          </a:p>
          <a:p>
            <a:r>
              <a:rPr lang="de-CH" sz="1600" dirty="0"/>
              <a:t>    </a:t>
            </a:r>
            <a:r>
              <a:rPr lang="de-CH" sz="1600" dirty="0" err="1"/>
              <a:t>std</a:t>
            </a:r>
            <a:r>
              <a:rPr lang="de-CH" sz="1600" dirty="0"/>
              <a:t>::</a:t>
            </a:r>
            <a:r>
              <a:rPr lang="de-CH" sz="1600" dirty="0" err="1"/>
              <a:t>cout</a:t>
            </a:r>
            <a:r>
              <a:rPr lang="de-CH" sz="1600" dirty="0"/>
              <a:t> &lt;&lt; "int: " &lt;&lt; </a:t>
            </a:r>
            <a:r>
              <a:rPr lang="de-CH" sz="1600" dirty="0" err="1"/>
              <a:t>add</a:t>
            </a:r>
            <a:r>
              <a:rPr lang="de-CH" sz="1600" dirty="0"/>
              <a:t>(4, 5) &lt;&lt; </a:t>
            </a:r>
            <a:r>
              <a:rPr lang="de-CH" sz="1600" dirty="0" err="1"/>
              <a:t>std</a:t>
            </a:r>
            <a:r>
              <a:rPr lang="de-CH" sz="1600" dirty="0"/>
              <a:t>::</a:t>
            </a:r>
            <a:r>
              <a:rPr lang="de-CH" sz="1600" dirty="0" err="1"/>
              <a:t>endl</a:t>
            </a:r>
            <a:r>
              <a:rPr lang="de-CH" sz="1600" dirty="0"/>
              <a:t>; </a:t>
            </a:r>
          </a:p>
          <a:p>
            <a:r>
              <a:rPr lang="de-CH" sz="1600" dirty="0"/>
              <a:t>    </a:t>
            </a:r>
            <a:r>
              <a:rPr lang="de-CH" sz="1600" dirty="0" err="1"/>
              <a:t>std</a:t>
            </a:r>
            <a:r>
              <a:rPr lang="de-CH" sz="1600" dirty="0"/>
              <a:t>::</a:t>
            </a:r>
            <a:r>
              <a:rPr lang="de-CH" sz="1600" dirty="0" err="1"/>
              <a:t>cout</a:t>
            </a:r>
            <a:r>
              <a:rPr lang="de-CH" sz="1600" dirty="0"/>
              <a:t> &lt;&lt; "double: " &lt;&lt; </a:t>
            </a:r>
            <a:r>
              <a:rPr lang="de-CH" sz="1600" dirty="0" err="1"/>
              <a:t>add</a:t>
            </a:r>
            <a:r>
              <a:rPr lang="de-CH" sz="1600" dirty="0"/>
              <a:t>(4.4, 5.5) &lt;&lt; </a:t>
            </a:r>
            <a:r>
              <a:rPr lang="de-CH" sz="1600" dirty="0" err="1"/>
              <a:t>std</a:t>
            </a:r>
            <a:r>
              <a:rPr lang="de-CH" sz="1600" dirty="0"/>
              <a:t>::</a:t>
            </a:r>
            <a:r>
              <a:rPr lang="de-CH" sz="1600" dirty="0" err="1"/>
              <a:t>endl</a:t>
            </a:r>
            <a:r>
              <a:rPr lang="de-CH" sz="1600" dirty="0"/>
              <a:t>;</a:t>
            </a:r>
          </a:p>
          <a:p>
            <a:r>
              <a:rPr lang="de-CH" sz="1600" dirty="0"/>
              <a:t>    </a:t>
            </a:r>
            <a:r>
              <a:rPr lang="de-CH" sz="1600" dirty="0" err="1"/>
              <a:t>std</a:t>
            </a:r>
            <a:r>
              <a:rPr lang="de-CH" sz="1600" dirty="0"/>
              <a:t>::</a:t>
            </a:r>
            <a:r>
              <a:rPr lang="de-CH" sz="1600" dirty="0" err="1"/>
              <a:t>cout</a:t>
            </a:r>
            <a:r>
              <a:rPr lang="de-CH" sz="1600" dirty="0"/>
              <a:t> &lt;&lt; "</a:t>
            </a:r>
            <a:r>
              <a:rPr lang="de-CH" sz="1600" dirty="0" err="1"/>
              <a:t>string</a:t>
            </a:r>
            <a:r>
              <a:rPr lang="de-CH" sz="1600" dirty="0"/>
              <a:t>: " &lt;&lt; </a:t>
            </a:r>
            <a:r>
              <a:rPr lang="de-CH" sz="1600" dirty="0" err="1"/>
              <a:t>add</a:t>
            </a:r>
            <a:r>
              <a:rPr lang="de-CH" sz="1600" dirty="0"/>
              <a:t>(</a:t>
            </a:r>
            <a:r>
              <a:rPr lang="de-CH" sz="1600" dirty="0" err="1"/>
              <a:t>std</a:t>
            </a:r>
            <a:r>
              <a:rPr lang="de-CH" sz="1600" dirty="0"/>
              <a:t>::</a:t>
            </a:r>
            <a:r>
              <a:rPr lang="de-CH" sz="1600" dirty="0" err="1"/>
              <a:t>string</a:t>
            </a:r>
            <a:r>
              <a:rPr lang="de-CH" sz="1600" dirty="0"/>
              <a:t>("</a:t>
            </a:r>
            <a:r>
              <a:rPr lang="de-CH" sz="1600" dirty="0" err="1"/>
              <a:t>hel</a:t>
            </a:r>
            <a:r>
              <a:rPr lang="de-CH" sz="1600" dirty="0"/>
              <a:t>"), </a:t>
            </a:r>
            <a:r>
              <a:rPr lang="de-CH" sz="1600" dirty="0" err="1"/>
              <a:t>std</a:t>
            </a:r>
            <a:r>
              <a:rPr lang="de-CH" sz="1600" dirty="0"/>
              <a:t>::</a:t>
            </a:r>
            <a:r>
              <a:rPr lang="de-CH" sz="1600" dirty="0" err="1"/>
              <a:t>string</a:t>
            </a:r>
            <a:r>
              <a:rPr lang="de-CH" sz="1600" dirty="0"/>
              <a:t>("</a:t>
            </a:r>
            <a:r>
              <a:rPr lang="de-CH" sz="1600" dirty="0" err="1"/>
              <a:t>lo</a:t>
            </a:r>
            <a:r>
              <a:rPr lang="de-CH" sz="1600" dirty="0"/>
              <a:t>")) &lt;&lt; </a:t>
            </a:r>
            <a:r>
              <a:rPr lang="de-CH" sz="1600" dirty="0" err="1"/>
              <a:t>std</a:t>
            </a:r>
            <a:r>
              <a:rPr lang="de-CH" sz="1600" dirty="0"/>
              <a:t>::</a:t>
            </a:r>
            <a:r>
              <a:rPr lang="de-CH" sz="1600" dirty="0" err="1"/>
              <a:t>endl</a:t>
            </a:r>
            <a:r>
              <a:rPr lang="de-CH" sz="1600" dirty="0"/>
              <a:t>;</a:t>
            </a:r>
          </a:p>
          <a:p>
            <a:r>
              <a:rPr lang="de-CH" sz="1600" dirty="0"/>
              <a:t>}</a:t>
            </a:r>
          </a:p>
          <a:p>
            <a:r>
              <a:rPr lang="de-CH" sz="1600" dirty="0" err="1"/>
              <a:t>template</a:t>
            </a:r>
            <a:r>
              <a:rPr lang="de-CH" sz="1600" dirty="0"/>
              <a:t>&lt;</a:t>
            </a:r>
            <a:r>
              <a:rPr lang="de-CH" sz="1600" dirty="0" err="1"/>
              <a:t>typename</a:t>
            </a:r>
            <a:r>
              <a:rPr lang="de-CH" sz="1600" dirty="0"/>
              <a:t> T&gt; T </a:t>
            </a:r>
            <a:r>
              <a:rPr lang="de-CH" sz="1600" dirty="0" err="1"/>
              <a:t>add</a:t>
            </a:r>
            <a:r>
              <a:rPr lang="de-CH" sz="1600" dirty="0"/>
              <a:t>(T a, T b)</a:t>
            </a:r>
          </a:p>
          <a:p>
            <a:r>
              <a:rPr lang="de-CH" sz="1600" dirty="0"/>
              <a:t>{</a:t>
            </a:r>
          </a:p>
          <a:p>
            <a:r>
              <a:rPr lang="de-CH" sz="1600" dirty="0"/>
              <a:t>    </a:t>
            </a:r>
            <a:r>
              <a:rPr lang="de-CH" sz="1600" dirty="0" err="1"/>
              <a:t>return</a:t>
            </a:r>
            <a:r>
              <a:rPr lang="de-CH" sz="1600" dirty="0"/>
              <a:t> a + b;</a:t>
            </a:r>
          </a:p>
          <a:p>
            <a:r>
              <a:rPr lang="de-CH" sz="1600" dirty="0"/>
              <a:t>}</a:t>
            </a:r>
            <a:endParaRPr lang="ru-RU" sz="1600" dirty="0"/>
          </a:p>
        </p:txBody>
      </p:sp>
    </p:spTree>
    <p:extLst>
      <p:ext uri="{BB962C8B-B14F-4D97-AF65-F5344CB8AC3E}">
        <p14:creationId xmlns:p14="http://schemas.microsoft.com/office/powerpoint/2010/main" val="538041375"/>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CA578A-604A-04A6-4ABB-1D7626DAF7FA}"/>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F7599DD1-3354-2B38-5AD6-F936617A4F46}"/>
              </a:ext>
            </a:extLst>
          </p:cNvPr>
          <p:cNvSpPr>
            <a:spLocks noGrp="1"/>
          </p:cNvSpPr>
          <p:nvPr>
            <p:ph idx="1"/>
          </p:nvPr>
        </p:nvSpPr>
        <p:spPr/>
        <p:txBody>
          <a:bodyPr/>
          <a:lstStyle/>
          <a:p>
            <a:r>
              <a:rPr lang="ru-RU" b="1" dirty="0"/>
              <a:t>Явный вызов реализации функции для определенного типа</a:t>
            </a:r>
          </a:p>
          <a:p>
            <a:endParaRPr lang="ru-RU" dirty="0"/>
          </a:p>
          <a:p>
            <a:r>
              <a:rPr lang="de-CH" sz="1600" dirty="0"/>
              <a:t>#include &lt;</a:t>
            </a:r>
            <a:r>
              <a:rPr lang="de-CH" sz="1600" dirty="0" err="1"/>
              <a:t>iostream</a:t>
            </a:r>
            <a:r>
              <a:rPr lang="de-CH" sz="1600" dirty="0"/>
              <a:t>&gt; </a:t>
            </a:r>
          </a:p>
          <a:p>
            <a:r>
              <a:rPr lang="de-CH" sz="1600" dirty="0"/>
              <a:t> </a:t>
            </a:r>
          </a:p>
          <a:p>
            <a:r>
              <a:rPr lang="de-CH" sz="1600" dirty="0" err="1"/>
              <a:t>template</a:t>
            </a:r>
            <a:r>
              <a:rPr lang="de-CH" sz="1600" dirty="0"/>
              <a:t>&lt;</a:t>
            </a:r>
            <a:r>
              <a:rPr lang="de-CH" sz="1600" dirty="0" err="1"/>
              <a:t>typename</a:t>
            </a:r>
            <a:r>
              <a:rPr lang="de-CH" sz="1600" dirty="0"/>
              <a:t> T&gt; T </a:t>
            </a:r>
            <a:r>
              <a:rPr lang="de-CH" sz="1600" dirty="0" err="1"/>
              <a:t>add</a:t>
            </a:r>
            <a:r>
              <a:rPr lang="de-CH" sz="1600" dirty="0"/>
              <a:t>(</a:t>
            </a:r>
            <a:r>
              <a:rPr lang="de-CH" sz="1600" dirty="0" err="1"/>
              <a:t>const</a:t>
            </a:r>
            <a:r>
              <a:rPr lang="de-CH" sz="1600" dirty="0"/>
              <a:t> T&amp;, </a:t>
            </a:r>
            <a:r>
              <a:rPr lang="de-CH" sz="1600" dirty="0" err="1"/>
              <a:t>const</a:t>
            </a:r>
            <a:r>
              <a:rPr lang="de-CH" sz="1600" dirty="0"/>
              <a:t> T&amp;); </a:t>
            </a:r>
          </a:p>
          <a:p>
            <a:r>
              <a:rPr lang="de-CH" sz="1600" dirty="0"/>
              <a:t> </a:t>
            </a:r>
          </a:p>
          <a:p>
            <a:r>
              <a:rPr lang="de-CH" sz="1600" dirty="0"/>
              <a:t>int </a:t>
            </a:r>
            <a:r>
              <a:rPr lang="de-CH" sz="1600" dirty="0" err="1"/>
              <a:t>main</a:t>
            </a:r>
            <a:r>
              <a:rPr lang="de-CH" sz="1600" dirty="0"/>
              <a:t>()</a:t>
            </a:r>
          </a:p>
          <a:p>
            <a:r>
              <a:rPr lang="de-CH" sz="1600" dirty="0"/>
              <a:t>{</a:t>
            </a:r>
          </a:p>
          <a:p>
            <a:r>
              <a:rPr lang="de-CH" sz="1600" dirty="0"/>
              <a:t>    double d { </a:t>
            </a:r>
            <a:r>
              <a:rPr lang="de-CH" sz="1600" dirty="0" err="1"/>
              <a:t>add</a:t>
            </a:r>
            <a:r>
              <a:rPr lang="de-CH" sz="1600" dirty="0"/>
              <a:t>&lt;double&gt;(3.3, 2.2)};</a:t>
            </a:r>
          </a:p>
          <a:p>
            <a:r>
              <a:rPr lang="de-CH" sz="1600" dirty="0"/>
              <a:t>    </a:t>
            </a:r>
            <a:r>
              <a:rPr lang="de-CH" sz="1600" dirty="0" err="1"/>
              <a:t>std</a:t>
            </a:r>
            <a:r>
              <a:rPr lang="de-CH" sz="1600" dirty="0"/>
              <a:t>::</a:t>
            </a:r>
            <a:r>
              <a:rPr lang="de-CH" sz="1600" dirty="0" err="1"/>
              <a:t>cout</a:t>
            </a:r>
            <a:r>
              <a:rPr lang="de-CH" sz="1600" dirty="0"/>
              <a:t> &lt;&lt; "d: " &lt;&lt; d &lt;&lt; </a:t>
            </a:r>
            <a:r>
              <a:rPr lang="de-CH" sz="1600" dirty="0" err="1"/>
              <a:t>std</a:t>
            </a:r>
            <a:r>
              <a:rPr lang="de-CH" sz="1600" dirty="0"/>
              <a:t>::</a:t>
            </a:r>
            <a:r>
              <a:rPr lang="de-CH" sz="1600" dirty="0" err="1"/>
              <a:t>endl</a:t>
            </a:r>
            <a:r>
              <a:rPr lang="de-CH" sz="1600" dirty="0"/>
              <a:t>;   //d: 5.5</a:t>
            </a:r>
          </a:p>
          <a:p>
            <a:r>
              <a:rPr lang="de-CH" sz="1600" dirty="0"/>
              <a:t>    d  = </a:t>
            </a:r>
            <a:r>
              <a:rPr lang="de-CH" sz="1600" dirty="0" err="1"/>
              <a:t>add</a:t>
            </a:r>
            <a:r>
              <a:rPr lang="de-CH" sz="1600" dirty="0"/>
              <a:t>&lt;double&gt;(3, 2);</a:t>
            </a:r>
          </a:p>
          <a:p>
            <a:r>
              <a:rPr lang="de-CH" sz="1600" dirty="0"/>
              <a:t>    </a:t>
            </a:r>
            <a:r>
              <a:rPr lang="de-CH" sz="1600" dirty="0" err="1"/>
              <a:t>std</a:t>
            </a:r>
            <a:r>
              <a:rPr lang="de-CH" sz="1600" dirty="0"/>
              <a:t>::</a:t>
            </a:r>
            <a:r>
              <a:rPr lang="de-CH" sz="1600" dirty="0" err="1"/>
              <a:t>cout</a:t>
            </a:r>
            <a:r>
              <a:rPr lang="de-CH" sz="1600" dirty="0"/>
              <a:t> &lt;&lt; "d: " &lt;&lt; d &lt;&lt; </a:t>
            </a:r>
            <a:r>
              <a:rPr lang="de-CH" sz="1600" dirty="0" err="1"/>
              <a:t>std</a:t>
            </a:r>
            <a:r>
              <a:rPr lang="de-CH" sz="1600" dirty="0"/>
              <a:t>::</a:t>
            </a:r>
            <a:r>
              <a:rPr lang="de-CH" sz="1600" dirty="0" err="1"/>
              <a:t>endl</a:t>
            </a:r>
            <a:r>
              <a:rPr lang="de-CH" sz="1600" dirty="0"/>
              <a:t>;   //d: 5</a:t>
            </a:r>
          </a:p>
          <a:p>
            <a:r>
              <a:rPr lang="de-CH" sz="1600" dirty="0"/>
              <a:t>}</a:t>
            </a:r>
          </a:p>
          <a:p>
            <a:r>
              <a:rPr lang="de-CH" sz="1600" dirty="0" err="1"/>
              <a:t>template</a:t>
            </a:r>
            <a:r>
              <a:rPr lang="de-CH" sz="1600" dirty="0"/>
              <a:t>&lt;</a:t>
            </a:r>
            <a:r>
              <a:rPr lang="de-CH" sz="1600" dirty="0" err="1"/>
              <a:t>typename</a:t>
            </a:r>
            <a:r>
              <a:rPr lang="de-CH" sz="1600" dirty="0"/>
              <a:t> T&gt; T </a:t>
            </a:r>
            <a:r>
              <a:rPr lang="de-CH" sz="1600" dirty="0" err="1"/>
              <a:t>add</a:t>
            </a:r>
            <a:r>
              <a:rPr lang="de-CH" sz="1600" dirty="0"/>
              <a:t>(</a:t>
            </a:r>
            <a:r>
              <a:rPr lang="de-CH" sz="1600" dirty="0" err="1"/>
              <a:t>const</a:t>
            </a:r>
            <a:r>
              <a:rPr lang="de-CH" sz="1600" dirty="0"/>
              <a:t> T&amp; a, </a:t>
            </a:r>
            <a:r>
              <a:rPr lang="de-CH" sz="1600" dirty="0" err="1"/>
              <a:t>const</a:t>
            </a:r>
            <a:r>
              <a:rPr lang="de-CH" sz="1600" dirty="0"/>
              <a:t> T&amp; b)</a:t>
            </a:r>
          </a:p>
          <a:p>
            <a:r>
              <a:rPr lang="de-CH" sz="1600" dirty="0"/>
              <a:t>{</a:t>
            </a:r>
          </a:p>
          <a:p>
            <a:r>
              <a:rPr lang="de-CH" sz="1600" dirty="0"/>
              <a:t>    </a:t>
            </a:r>
            <a:r>
              <a:rPr lang="de-CH" sz="1600" dirty="0" err="1"/>
              <a:t>return</a:t>
            </a:r>
            <a:r>
              <a:rPr lang="de-CH" sz="1600" dirty="0"/>
              <a:t> a + b;</a:t>
            </a:r>
          </a:p>
          <a:p>
            <a:r>
              <a:rPr lang="de-CH" sz="1600" dirty="0"/>
              <a:t>}</a:t>
            </a:r>
            <a:endParaRPr lang="ru-RU" sz="1600" dirty="0"/>
          </a:p>
        </p:txBody>
      </p:sp>
    </p:spTree>
    <p:extLst>
      <p:ext uri="{BB962C8B-B14F-4D97-AF65-F5344CB8AC3E}">
        <p14:creationId xmlns:p14="http://schemas.microsoft.com/office/powerpoint/2010/main" val="3406278097"/>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4570F31-CB9A-0455-DD38-291383C2BC41}"/>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88405550-0F46-2FC8-7284-F641D9E64A99}"/>
              </a:ext>
            </a:extLst>
          </p:cNvPr>
          <p:cNvSpPr>
            <a:spLocks noGrp="1"/>
          </p:cNvSpPr>
          <p:nvPr>
            <p:ph idx="1"/>
          </p:nvPr>
        </p:nvSpPr>
        <p:spPr/>
        <p:txBody>
          <a:bodyPr/>
          <a:lstStyle/>
          <a:p>
            <a:r>
              <a:rPr lang="de-CH" dirty="0"/>
              <a:t>	</a:t>
            </a:r>
          </a:p>
          <a:p>
            <a:r>
              <a:rPr lang="de-CH" dirty="0"/>
              <a:t>double d { </a:t>
            </a:r>
            <a:r>
              <a:rPr lang="de-CH" dirty="0" err="1"/>
              <a:t>add</a:t>
            </a:r>
            <a:r>
              <a:rPr lang="de-CH" dirty="0"/>
              <a:t>&lt;double&gt;(3.3, 2.2)};</a:t>
            </a:r>
            <a:endParaRPr lang="ru-RU" dirty="0"/>
          </a:p>
          <a:p>
            <a:endParaRPr lang="ru-RU" dirty="0"/>
          </a:p>
          <a:p>
            <a:endParaRPr lang="ru-RU" dirty="0"/>
          </a:p>
          <a:p>
            <a:r>
              <a:rPr lang="en-US" dirty="0"/>
              <a:t>	</a:t>
            </a:r>
          </a:p>
          <a:p>
            <a:r>
              <a:rPr lang="en-US" dirty="0"/>
              <a:t>d  = add&lt;double&gt;(3, 2);</a:t>
            </a:r>
            <a:endParaRPr lang="ru-RU" dirty="0"/>
          </a:p>
          <a:p>
            <a:endParaRPr lang="ru-RU" dirty="0"/>
          </a:p>
          <a:p>
            <a:endParaRPr lang="ru-RU" b="1" dirty="0"/>
          </a:p>
        </p:txBody>
      </p:sp>
    </p:spTree>
    <p:extLst>
      <p:ext uri="{BB962C8B-B14F-4D97-AF65-F5344CB8AC3E}">
        <p14:creationId xmlns:p14="http://schemas.microsoft.com/office/powerpoint/2010/main" val="1108739453"/>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B8AC0B-6CF0-DF65-E13D-4D3787FB759D}"/>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7988D4EE-C67B-0C75-868E-C1545A148633}"/>
              </a:ext>
            </a:extLst>
          </p:cNvPr>
          <p:cNvSpPr>
            <a:spLocks noGrp="1"/>
          </p:cNvSpPr>
          <p:nvPr>
            <p:ph idx="1"/>
          </p:nvPr>
        </p:nvSpPr>
        <p:spPr/>
        <p:txBody>
          <a:bodyPr/>
          <a:lstStyle/>
          <a:p>
            <a:r>
              <a:rPr lang="ru-RU" b="1" dirty="0"/>
              <a:t>Перегрузка функций и параметризация</a:t>
            </a:r>
          </a:p>
          <a:p>
            <a:r>
              <a:rPr lang="de-CH" sz="900" dirty="0"/>
              <a:t>#include &lt;</a:t>
            </a:r>
            <a:r>
              <a:rPr lang="de-CH" sz="900" dirty="0" err="1"/>
              <a:t>iostream</a:t>
            </a:r>
            <a:r>
              <a:rPr lang="de-CH" sz="900" dirty="0"/>
              <a:t>&gt;</a:t>
            </a:r>
          </a:p>
          <a:p>
            <a:r>
              <a:rPr lang="de-CH" sz="900" dirty="0"/>
              <a:t> </a:t>
            </a:r>
          </a:p>
          <a:p>
            <a:r>
              <a:rPr lang="de-CH" sz="900" dirty="0" err="1"/>
              <a:t>template</a:t>
            </a:r>
            <a:r>
              <a:rPr lang="de-CH" sz="900" dirty="0"/>
              <a:t>&lt;</a:t>
            </a:r>
            <a:r>
              <a:rPr lang="de-CH" sz="900" dirty="0" err="1"/>
              <a:t>typename</a:t>
            </a:r>
            <a:r>
              <a:rPr lang="de-CH" sz="900" dirty="0"/>
              <a:t> T&gt; </a:t>
            </a:r>
            <a:r>
              <a:rPr lang="de-CH" sz="900" dirty="0" err="1"/>
              <a:t>const</a:t>
            </a:r>
            <a:r>
              <a:rPr lang="de-CH" sz="900" dirty="0"/>
              <a:t> T* </a:t>
            </a:r>
            <a:r>
              <a:rPr lang="de-CH" sz="900" dirty="0" err="1"/>
              <a:t>max</a:t>
            </a:r>
            <a:r>
              <a:rPr lang="de-CH" sz="900" dirty="0"/>
              <a:t>(</a:t>
            </a:r>
            <a:r>
              <a:rPr lang="de-CH" sz="900" dirty="0" err="1"/>
              <a:t>const</a:t>
            </a:r>
            <a:r>
              <a:rPr lang="de-CH" sz="900" dirty="0"/>
              <a:t> T*, </a:t>
            </a:r>
            <a:r>
              <a:rPr lang="de-CH" sz="900" dirty="0" err="1"/>
              <a:t>const</a:t>
            </a:r>
            <a:r>
              <a:rPr lang="de-CH" sz="900" dirty="0"/>
              <a:t> T*); </a:t>
            </a:r>
          </a:p>
          <a:p>
            <a:r>
              <a:rPr lang="de-CH" sz="900" dirty="0" err="1"/>
              <a:t>template</a:t>
            </a:r>
            <a:r>
              <a:rPr lang="de-CH" sz="900" dirty="0"/>
              <a:t> &lt;</a:t>
            </a:r>
            <a:r>
              <a:rPr lang="de-CH" sz="900" dirty="0" err="1"/>
              <a:t>typename</a:t>
            </a:r>
            <a:r>
              <a:rPr lang="de-CH" sz="900" dirty="0"/>
              <a:t> T&gt; </a:t>
            </a:r>
            <a:r>
              <a:rPr lang="de-CH" sz="900" dirty="0" err="1"/>
              <a:t>const</a:t>
            </a:r>
            <a:r>
              <a:rPr lang="de-CH" sz="900" dirty="0"/>
              <a:t> T* </a:t>
            </a:r>
            <a:r>
              <a:rPr lang="de-CH" sz="900" dirty="0" err="1"/>
              <a:t>max</a:t>
            </a:r>
            <a:r>
              <a:rPr lang="de-CH" sz="900" dirty="0"/>
              <a:t>(</a:t>
            </a:r>
            <a:r>
              <a:rPr lang="de-CH" sz="900" dirty="0" err="1"/>
              <a:t>const</a:t>
            </a:r>
            <a:r>
              <a:rPr lang="de-CH" sz="900" dirty="0"/>
              <a:t> T[], </a:t>
            </a:r>
            <a:r>
              <a:rPr lang="de-CH" sz="900" dirty="0" err="1"/>
              <a:t>unsigned</a:t>
            </a:r>
            <a:r>
              <a:rPr lang="de-CH" sz="900" dirty="0"/>
              <a:t>);</a:t>
            </a:r>
          </a:p>
          <a:p>
            <a:r>
              <a:rPr lang="de-CH" sz="900" dirty="0"/>
              <a:t> </a:t>
            </a:r>
          </a:p>
          <a:p>
            <a:r>
              <a:rPr lang="de-CH" sz="900" dirty="0"/>
              <a:t>int </a:t>
            </a:r>
            <a:r>
              <a:rPr lang="de-CH" sz="900" dirty="0" err="1"/>
              <a:t>main</a:t>
            </a:r>
            <a:r>
              <a:rPr lang="de-CH" sz="900" dirty="0"/>
              <a:t>()</a:t>
            </a:r>
          </a:p>
          <a:p>
            <a:r>
              <a:rPr lang="de-CH" sz="900" dirty="0"/>
              <a:t>{</a:t>
            </a:r>
          </a:p>
          <a:p>
            <a:r>
              <a:rPr lang="de-CH" sz="900" dirty="0"/>
              <a:t>    int a{4}, b{5};</a:t>
            </a:r>
          </a:p>
          <a:p>
            <a:r>
              <a:rPr lang="de-CH" sz="900" dirty="0"/>
              <a:t>    </a:t>
            </a:r>
            <a:r>
              <a:rPr lang="de-CH" sz="900" dirty="0" err="1"/>
              <a:t>std</a:t>
            </a:r>
            <a:r>
              <a:rPr lang="de-CH" sz="900" dirty="0"/>
              <a:t>::</a:t>
            </a:r>
            <a:r>
              <a:rPr lang="de-CH" sz="900" dirty="0" err="1"/>
              <a:t>cout</a:t>
            </a:r>
            <a:r>
              <a:rPr lang="de-CH" sz="900" dirty="0"/>
              <a:t> &lt;&lt; *</a:t>
            </a:r>
            <a:r>
              <a:rPr lang="de-CH" sz="900" dirty="0" err="1"/>
              <a:t>max</a:t>
            </a:r>
            <a:r>
              <a:rPr lang="de-CH" sz="900" dirty="0"/>
              <a:t>(&amp;a, &amp;b) &lt;&lt; </a:t>
            </a:r>
            <a:r>
              <a:rPr lang="de-CH" sz="900" dirty="0" err="1"/>
              <a:t>std</a:t>
            </a:r>
            <a:r>
              <a:rPr lang="de-CH" sz="900" dirty="0"/>
              <a:t>::</a:t>
            </a:r>
            <a:r>
              <a:rPr lang="de-CH" sz="900" dirty="0" err="1"/>
              <a:t>endl</a:t>
            </a:r>
            <a:r>
              <a:rPr lang="de-CH" sz="900" dirty="0"/>
              <a:t>;  // 5</a:t>
            </a:r>
          </a:p>
          <a:p>
            <a:r>
              <a:rPr lang="de-CH" sz="900" dirty="0"/>
              <a:t> </a:t>
            </a:r>
          </a:p>
          <a:p>
            <a:r>
              <a:rPr lang="de-CH" sz="900" dirty="0"/>
              <a:t>    double </a:t>
            </a:r>
            <a:r>
              <a:rPr lang="de-CH" sz="900" dirty="0" err="1"/>
              <a:t>numbers</a:t>
            </a:r>
            <a:r>
              <a:rPr lang="de-CH" sz="900" dirty="0"/>
              <a:t>[]{3.4, 2.3, 6.1, 4.3};</a:t>
            </a:r>
          </a:p>
          <a:p>
            <a:r>
              <a:rPr lang="de-CH" sz="900" dirty="0"/>
              <a:t>    </a:t>
            </a:r>
            <a:r>
              <a:rPr lang="de-CH" sz="900" dirty="0" err="1"/>
              <a:t>std</a:t>
            </a:r>
            <a:r>
              <a:rPr lang="de-CH" sz="900" dirty="0"/>
              <a:t>::</a:t>
            </a:r>
            <a:r>
              <a:rPr lang="de-CH" sz="900" dirty="0" err="1"/>
              <a:t>cout</a:t>
            </a:r>
            <a:r>
              <a:rPr lang="de-CH" sz="900" dirty="0"/>
              <a:t> &lt;&lt; *</a:t>
            </a:r>
            <a:r>
              <a:rPr lang="de-CH" sz="900" dirty="0" err="1"/>
              <a:t>max</a:t>
            </a:r>
            <a:r>
              <a:rPr lang="de-CH" sz="900" dirty="0"/>
              <a:t>(</a:t>
            </a:r>
            <a:r>
              <a:rPr lang="de-CH" sz="900" dirty="0" err="1"/>
              <a:t>numbers</a:t>
            </a:r>
            <a:r>
              <a:rPr lang="de-CH" sz="900" dirty="0"/>
              <a:t>, </a:t>
            </a:r>
            <a:r>
              <a:rPr lang="de-CH" sz="900" dirty="0" err="1"/>
              <a:t>std</a:t>
            </a:r>
            <a:r>
              <a:rPr lang="de-CH" sz="900" dirty="0"/>
              <a:t>::</a:t>
            </a:r>
            <a:r>
              <a:rPr lang="de-CH" sz="900" dirty="0" err="1"/>
              <a:t>size</a:t>
            </a:r>
            <a:r>
              <a:rPr lang="de-CH" sz="900" dirty="0"/>
              <a:t>(</a:t>
            </a:r>
            <a:r>
              <a:rPr lang="de-CH" sz="900" dirty="0" err="1"/>
              <a:t>numbers</a:t>
            </a:r>
            <a:r>
              <a:rPr lang="de-CH" sz="900" dirty="0"/>
              <a:t>)) &lt;&lt; </a:t>
            </a:r>
            <a:r>
              <a:rPr lang="de-CH" sz="900" dirty="0" err="1"/>
              <a:t>std</a:t>
            </a:r>
            <a:r>
              <a:rPr lang="de-CH" sz="900" dirty="0"/>
              <a:t>::</a:t>
            </a:r>
            <a:r>
              <a:rPr lang="de-CH" sz="900" dirty="0" err="1"/>
              <a:t>endl</a:t>
            </a:r>
            <a:r>
              <a:rPr lang="de-CH" sz="900" dirty="0"/>
              <a:t>;   //6.1</a:t>
            </a:r>
          </a:p>
          <a:p>
            <a:r>
              <a:rPr lang="de-CH" sz="900" dirty="0"/>
              <a:t>}</a:t>
            </a:r>
          </a:p>
          <a:p>
            <a:r>
              <a:rPr lang="de-CH" sz="900" dirty="0" err="1"/>
              <a:t>template</a:t>
            </a:r>
            <a:r>
              <a:rPr lang="de-CH" sz="900" dirty="0"/>
              <a:t>&lt;</a:t>
            </a:r>
            <a:r>
              <a:rPr lang="de-CH" sz="900" dirty="0" err="1"/>
              <a:t>typename</a:t>
            </a:r>
            <a:r>
              <a:rPr lang="de-CH" sz="900" dirty="0"/>
              <a:t> T&gt; </a:t>
            </a:r>
            <a:r>
              <a:rPr lang="de-CH" sz="900" dirty="0" err="1"/>
              <a:t>const</a:t>
            </a:r>
            <a:r>
              <a:rPr lang="de-CH" sz="900" dirty="0"/>
              <a:t> T* </a:t>
            </a:r>
            <a:r>
              <a:rPr lang="de-CH" sz="900" dirty="0" err="1"/>
              <a:t>max</a:t>
            </a:r>
            <a:r>
              <a:rPr lang="de-CH" sz="900" dirty="0"/>
              <a:t>(</a:t>
            </a:r>
            <a:r>
              <a:rPr lang="de-CH" sz="900" dirty="0" err="1"/>
              <a:t>const</a:t>
            </a:r>
            <a:r>
              <a:rPr lang="de-CH" sz="900" dirty="0"/>
              <a:t> T* a, </a:t>
            </a:r>
            <a:r>
              <a:rPr lang="de-CH" sz="900" dirty="0" err="1"/>
              <a:t>const</a:t>
            </a:r>
            <a:r>
              <a:rPr lang="de-CH" sz="900" dirty="0"/>
              <a:t> T* b)</a:t>
            </a:r>
          </a:p>
          <a:p>
            <a:r>
              <a:rPr lang="de-CH" sz="900" dirty="0"/>
              <a:t>{</a:t>
            </a:r>
          </a:p>
          <a:p>
            <a:r>
              <a:rPr lang="de-CH" sz="900" dirty="0"/>
              <a:t>    </a:t>
            </a:r>
            <a:r>
              <a:rPr lang="de-CH" sz="900" dirty="0" err="1"/>
              <a:t>return</a:t>
            </a:r>
            <a:r>
              <a:rPr lang="de-CH" sz="900" dirty="0"/>
              <a:t> *a &gt; *b? a : b;</a:t>
            </a:r>
          </a:p>
          <a:p>
            <a:r>
              <a:rPr lang="de-CH" sz="900" dirty="0"/>
              <a:t>}</a:t>
            </a:r>
          </a:p>
          <a:p>
            <a:r>
              <a:rPr lang="de-CH" sz="900" dirty="0"/>
              <a:t> </a:t>
            </a:r>
          </a:p>
          <a:p>
            <a:r>
              <a:rPr lang="de-CH" sz="900" dirty="0" err="1"/>
              <a:t>template</a:t>
            </a:r>
            <a:r>
              <a:rPr lang="de-CH" sz="900" dirty="0"/>
              <a:t> &lt;</a:t>
            </a:r>
            <a:r>
              <a:rPr lang="de-CH" sz="900" dirty="0" err="1"/>
              <a:t>typename</a:t>
            </a:r>
            <a:r>
              <a:rPr lang="de-CH" sz="900" dirty="0"/>
              <a:t> T&gt;</a:t>
            </a:r>
          </a:p>
          <a:p>
            <a:r>
              <a:rPr lang="de-CH" sz="900" dirty="0" err="1"/>
              <a:t>const</a:t>
            </a:r>
            <a:r>
              <a:rPr lang="de-CH" sz="900" dirty="0"/>
              <a:t> T* </a:t>
            </a:r>
            <a:r>
              <a:rPr lang="de-CH" sz="900" dirty="0" err="1"/>
              <a:t>max</a:t>
            </a:r>
            <a:r>
              <a:rPr lang="de-CH" sz="900" dirty="0"/>
              <a:t>(</a:t>
            </a:r>
            <a:r>
              <a:rPr lang="de-CH" sz="900" dirty="0" err="1"/>
              <a:t>const</a:t>
            </a:r>
            <a:r>
              <a:rPr lang="de-CH" sz="900" dirty="0"/>
              <a:t> T </a:t>
            </a:r>
            <a:r>
              <a:rPr lang="de-CH" sz="900" dirty="0" err="1"/>
              <a:t>data</a:t>
            </a:r>
            <a:r>
              <a:rPr lang="de-CH" sz="900" dirty="0"/>
              <a:t>[], </a:t>
            </a:r>
            <a:r>
              <a:rPr lang="de-CH" sz="900" dirty="0" err="1"/>
              <a:t>unsigned</a:t>
            </a:r>
            <a:r>
              <a:rPr lang="de-CH" sz="900" dirty="0"/>
              <a:t> </a:t>
            </a:r>
            <a:r>
              <a:rPr lang="de-CH" sz="900" dirty="0" err="1"/>
              <a:t>size</a:t>
            </a:r>
            <a:r>
              <a:rPr lang="de-CH" sz="900" dirty="0"/>
              <a:t>)</a:t>
            </a:r>
          </a:p>
          <a:p>
            <a:r>
              <a:rPr lang="de-CH" sz="900" dirty="0"/>
              <a:t>{</a:t>
            </a:r>
          </a:p>
          <a:p>
            <a:r>
              <a:rPr lang="de-CH" sz="900" dirty="0"/>
              <a:t>    </a:t>
            </a:r>
            <a:r>
              <a:rPr lang="de-CH" sz="900" dirty="0" err="1"/>
              <a:t>const</a:t>
            </a:r>
            <a:r>
              <a:rPr lang="de-CH" sz="900" dirty="0"/>
              <a:t> T* </a:t>
            </a:r>
            <a:r>
              <a:rPr lang="de-CH" sz="900" dirty="0" err="1"/>
              <a:t>result</a:t>
            </a:r>
            <a:r>
              <a:rPr lang="de-CH" sz="900" dirty="0"/>
              <a:t> {}; // </a:t>
            </a:r>
            <a:r>
              <a:rPr lang="ru-RU" sz="900" dirty="0"/>
              <a:t>если вектор пуст, то возвращается </a:t>
            </a:r>
            <a:r>
              <a:rPr lang="de-CH" sz="900" dirty="0" err="1"/>
              <a:t>nullptr</a:t>
            </a:r>
            <a:endParaRPr lang="de-CH" sz="900" dirty="0"/>
          </a:p>
          <a:p>
            <a:r>
              <a:rPr lang="de-CH" sz="900" dirty="0"/>
              <a:t>    </a:t>
            </a:r>
            <a:r>
              <a:rPr lang="de-CH" sz="900" dirty="0" err="1"/>
              <a:t>for</a:t>
            </a:r>
            <a:r>
              <a:rPr lang="de-CH" sz="900" dirty="0"/>
              <a:t>(</a:t>
            </a:r>
            <a:r>
              <a:rPr lang="de-CH" sz="900" dirty="0" err="1"/>
              <a:t>unsigned</a:t>
            </a:r>
            <a:r>
              <a:rPr lang="de-CH" sz="900" dirty="0"/>
              <a:t> i{}; i &lt; </a:t>
            </a:r>
            <a:r>
              <a:rPr lang="de-CH" sz="900" dirty="0" err="1"/>
              <a:t>size</a:t>
            </a:r>
            <a:r>
              <a:rPr lang="de-CH" sz="900" dirty="0"/>
              <a:t>; i++)</a:t>
            </a:r>
          </a:p>
          <a:p>
            <a:r>
              <a:rPr lang="de-CH" sz="900" dirty="0"/>
              <a:t>    {</a:t>
            </a:r>
          </a:p>
          <a:p>
            <a:r>
              <a:rPr lang="de-CH" sz="900" dirty="0"/>
              <a:t>        // </a:t>
            </a:r>
            <a:r>
              <a:rPr lang="ru-RU" sz="900" dirty="0"/>
              <a:t>если </a:t>
            </a:r>
            <a:r>
              <a:rPr lang="de-CH" sz="900" dirty="0" err="1"/>
              <a:t>result</a:t>
            </a:r>
            <a:r>
              <a:rPr lang="de-CH" sz="900" dirty="0"/>
              <a:t> </a:t>
            </a:r>
            <a:r>
              <a:rPr lang="ru-RU" sz="900" dirty="0"/>
              <a:t>не равен </a:t>
            </a:r>
            <a:r>
              <a:rPr lang="de-CH" sz="900" dirty="0" err="1"/>
              <a:t>nullptr</a:t>
            </a:r>
            <a:r>
              <a:rPr lang="de-CH" sz="900" dirty="0"/>
              <a:t> </a:t>
            </a:r>
            <a:r>
              <a:rPr lang="ru-RU" sz="900" dirty="0"/>
              <a:t>и *</a:t>
            </a:r>
            <a:r>
              <a:rPr lang="de-CH" sz="900" dirty="0" err="1"/>
              <a:t>result</a:t>
            </a:r>
            <a:r>
              <a:rPr lang="de-CH" sz="900" dirty="0"/>
              <a:t> </a:t>
            </a:r>
            <a:r>
              <a:rPr lang="ru-RU" sz="900" dirty="0"/>
              <a:t>меньше </a:t>
            </a:r>
            <a:r>
              <a:rPr lang="de-CH" sz="900" dirty="0" err="1"/>
              <a:t>value</a:t>
            </a:r>
            <a:endParaRPr lang="de-CH" sz="900" dirty="0"/>
          </a:p>
          <a:p>
            <a:r>
              <a:rPr lang="de-CH" sz="900" dirty="0"/>
              <a:t>        </a:t>
            </a:r>
            <a:r>
              <a:rPr lang="de-CH" sz="900" dirty="0" err="1"/>
              <a:t>if</a:t>
            </a:r>
            <a:r>
              <a:rPr lang="de-CH" sz="900" dirty="0"/>
              <a:t> (!</a:t>
            </a:r>
            <a:r>
              <a:rPr lang="de-CH" sz="900" dirty="0" err="1"/>
              <a:t>result</a:t>
            </a:r>
            <a:r>
              <a:rPr lang="de-CH" sz="900" dirty="0"/>
              <a:t> || </a:t>
            </a:r>
            <a:r>
              <a:rPr lang="de-CH" sz="900" dirty="0" err="1"/>
              <a:t>data</a:t>
            </a:r>
            <a:r>
              <a:rPr lang="de-CH" sz="900" dirty="0"/>
              <a:t>[i] &gt; *</a:t>
            </a:r>
            <a:r>
              <a:rPr lang="de-CH" sz="900" dirty="0" err="1"/>
              <a:t>result</a:t>
            </a:r>
            <a:r>
              <a:rPr lang="de-CH" sz="900" dirty="0"/>
              <a:t>) </a:t>
            </a:r>
          </a:p>
          <a:p>
            <a:r>
              <a:rPr lang="de-CH" sz="900" dirty="0"/>
              <a:t>            </a:t>
            </a:r>
            <a:r>
              <a:rPr lang="de-CH" sz="900" dirty="0" err="1"/>
              <a:t>result</a:t>
            </a:r>
            <a:r>
              <a:rPr lang="de-CH" sz="900" dirty="0"/>
              <a:t> = &amp;</a:t>
            </a:r>
            <a:r>
              <a:rPr lang="de-CH" sz="900" dirty="0" err="1"/>
              <a:t>data</a:t>
            </a:r>
            <a:r>
              <a:rPr lang="de-CH" sz="900" dirty="0"/>
              <a:t>[i];</a:t>
            </a:r>
          </a:p>
          <a:p>
            <a:r>
              <a:rPr lang="de-CH" sz="900" dirty="0"/>
              <a:t>    }</a:t>
            </a:r>
          </a:p>
          <a:p>
            <a:r>
              <a:rPr lang="de-CH" sz="900" dirty="0"/>
              <a:t>    </a:t>
            </a:r>
            <a:r>
              <a:rPr lang="de-CH" sz="900" dirty="0" err="1"/>
              <a:t>return</a:t>
            </a:r>
            <a:r>
              <a:rPr lang="de-CH" sz="900" dirty="0"/>
              <a:t> </a:t>
            </a:r>
            <a:r>
              <a:rPr lang="de-CH" sz="900" dirty="0" err="1"/>
              <a:t>result</a:t>
            </a:r>
            <a:r>
              <a:rPr lang="de-CH" sz="900" dirty="0"/>
              <a:t>;</a:t>
            </a:r>
          </a:p>
          <a:p>
            <a:r>
              <a:rPr lang="de-CH" sz="900" dirty="0"/>
              <a:t>}</a:t>
            </a:r>
            <a:endParaRPr lang="ru-RU" sz="900" dirty="0"/>
          </a:p>
        </p:txBody>
      </p:sp>
    </p:spTree>
    <p:extLst>
      <p:ext uri="{BB962C8B-B14F-4D97-AF65-F5344CB8AC3E}">
        <p14:creationId xmlns:p14="http://schemas.microsoft.com/office/powerpoint/2010/main" val="1550592944"/>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03BA67-23C2-4CD3-325B-2A031ED37CEA}"/>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83798CC9-FA0D-FBE8-DEED-BFB08DC1335E}"/>
              </a:ext>
            </a:extLst>
          </p:cNvPr>
          <p:cNvSpPr>
            <a:spLocks noGrp="1"/>
          </p:cNvSpPr>
          <p:nvPr>
            <p:ph idx="1"/>
          </p:nvPr>
        </p:nvSpPr>
        <p:spPr/>
        <p:txBody>
          <a:bodyPr/>
          <a:lstStyle/>
          <a:p>
            <a:r>
              <a:rPr lang="ru-RU" b="1" dirty="0"/>
              <a:t>Использование нескольких параметров</a:t>
            </a:r>
          </a:p>
          <a:p>
            <a:endParaRPr lang="ru-RU" b="1" dirty="0"/>
          </a:p>
          <a:p>
            <a:r>
              <a:rPr lang="de-CH" sz="1400" b="1" dirty="0"/>
              <a:t>#include &lt;</a:t>
            </a:r>
            <a:r>
              <a:rPr lang="de-CH" sz="1400" b="1" dirty="0" err="1"/>
              <a:t>iostream</a:t>
            </a:r>
            <a:r>
              <a:rPr lang="de-CH" sz="1400" b="1" dirty="0"/>
              <a:t>&gt;</a:t>
            </a:r>
          </a:p>
          <a:p>
            <a:r>
              <a:rPr lang="de-CH" sz="1400" b="1" dirty="0"/>
              <a:t>  </a:t>
            </a:r>
          </a:p>
          <a:p>
            <a:r>
              <a:rPr lang="de-CH" sz="1400" b="1" dirty="0" err="1"/>
              <a:t>template</a:t>
            </a:r>
            <a:r>
              <a:rPr lang="de-CH" sz="1400" b="1" dirty="0"/>
              <a:t> &lt;</a:t>
            </a:r>
            <a:r>
              <a:rPr lang="de-CH" sz="1400" b="1" dirty="0" err="1"/>
              <a:t>typename</a:t>
            </a:r>
            <a:r>
              <a:rPr lang="de-CH" sz="1400" b="1" dirty="0"/>
              <a:t> T, </a:t>
            </a:r>
            <a:r>
              <a:rPr lang="de-CH" sz="1400" b="1" dirty="0" err="1"/>
              <a:t>typename</a:t>
            </a:r>
            <a:r>
              <a:rPr lang="de-CH" sz="1400" b="1" dirty="0"/>
              <a:t> K&gt;</a:t>
            </a:r>
          </a:p>
          <a:p>
            <a:r>
              <a:rPr lang="de-CH" sz="1400" b="1" dirty="0" err="1"/>
              <a:t>void</a:t>
            </a:r>
            <a:r>
              <a:rPr lang="de-CH" sz="1400" b="1" dirty="0"/>
              <a:t> </a:t>
            </a:r>
            <a:r>
              <a:rPr lang="de-CH" sz="1400" b="1" dirty="0" err="1"/>
              <a:t>transfer</a:t>
            </a:r>
            <a:r>
              <a:rPr lang="de-CH" sz="1400" b="1" dirty="0"/>
              <a:t>(T, T, K, int);</a:t>
            </a:r>
          </a:p>
          <a:p>
            <a:r>
              <a:rPr lang="de-CH" sz="1400" b="1" dirty="0"/>
              <a:t>  </a:t>
            </a:r>
          </a:p>
          <a:p>
            <a:r>
              <a:rPr lang="de-CH" sz="1400" b="1" dirty="0"/>
              <a:t>int </a:t>
            </a:r>
            <a:r>
              <a:rPr lang="de-CH" sz="1400" b="1" dirty="0" err="1"/>
              <a:t>main</a:t>
            </a:r>
            <a:r>
              <a:rPr lang="de-CH" sz="1400" b="1" dirty="0"/>
              <a:t>()</a:t>
            </a:r>
          </a:p>
          <a:p>
            <a:r>
              <a:rPr lang="de-CH" sz="1400" b="1" dirty="0"/>
              <a:t>{</a:t>
            </a:r>
          </a:p>
          <a:p>
            <a:r>
              <a:rPr lang="de-CH" sz="1400" b="1" dirty="0"/>
              <a:t>    </a:t>
            </a:r>
            <a:r>
              <a:rPr lang="de-CH" sz="1400" b="1" dirty="0" err="1"/>
              <a:t>transfer</a:t>
            </a:r>
            <a:r>
              <a:rPr lang="de-CH" sz="1400" b="1" dirty="0"/>
              <a:t>("id1234", "id5678", 2804, 5000);</a:t>
            </a:r>
          </a:p>
          <a:p>
            <a:r>
              <a:rPr lang="de-CH" sz="1400" b="1" dirty="0"/>
              <a:t>}</a:t>
            </a:r>
          </a:p>
          <a:p>
            <a:r>
              <a:rPr lang="de-CH" sz="1400" b="1" dirty="0"/>
              <a:t> </a:t>
            </a:r>
          </a:p>
          <a:p>
            <a:r>
              <a:rPr lang="de-CH" sz="1400" b="1" dirty="0" err="1"/>
              <a:t>template</a:t>
            </a:r>
            <a:r>
              <a:rPr lang="de-CH" sz="1400" b="1" dirty="0"/>
              <a:t> &lt;</a:t>
            </a:r>
            <a:r>
              <a:rPr lang="de-CH" sz="1400" b="1" dirty="0" err="1"/>
              <a:t>typename</a:t>
            </a:r>
            <a:r>
              <a:rPr lang="de-CH" sz="1400" b="1" dirty="0"/>
              <a:t> T, </a:t>
            </a:r>
            <a:r>
              <a:rPr lang="de-CH" sz="1400" b="1" dirty="0" err="1"/>
              <a:t>typename</a:t>
            </a:r>
            <a:r>
              <a:rPr lang="de-CH" sz="1400" b="1" dirty="0"/>
              <a:t> K&gt;</a:t>
            </a:r>
          </a:p>
          <a:p>
            <a:r>
              <a:rPr lang="de-CH" sz="1400" b="1" dirty="0" err="1"/>
              <a:t>void</a:t>
            </a:r>
            <a:r>
              <a:rPr lang="de-CH" sz="1400" b="1" dirty="0"/>
              <a:t> </a:t>
            </a:r>
            <a:r>
              <a:rPr lang="de-CH" sz="1400" b="1" dirty="0" err="1"/>
              <a:t>transfer</a:t>
            </a:r>
            <a:r>
              <a:rPr lang="de-CH" sz="1400" b="1" dirty="0"/>
              <a:t>(T </a:t>
            </a:r>
            <a:r>
              <a:rPr lang="de-CH" sz="1400" b="1" dirty="0" err="1"/>
              <a:t>fromAccount</a:t>
            </a:r>
            <a:r>
              <a:rPr lang="de-CH" sz="1400" b="1" dirty="0"/>
              <a:t>, T </a:t>
            </a:r>
            <a:r>
              <a:rPr lang="de-CH" sz="1400" b="1" dirty="0" err="1"/>
              <a:t>toAccount</a:t>
            </a:r>
            <a:r>
              <a:rPr lang="de-CH" sz="1400" b="1" dirty="0"/>
              <a:t>, K code, int </a:t>
            </a:r>
            <a:r>
              <a:rPr lang="de-CH" sz="1400" b="1" dirty="0" err="1"/>
              <a:t>sum</a:t>
            </a:r>
            <a:r>
              <a:rPr lang="de-CH" sz="1400" b="1" dirty="0"/>
              <a:t>)</a:t>
            </a:r>
          </a:p>
          <a:p>
            <a:r>
              <a:rPr lang="de-CH" sz="1400" b="1" dirty="0"/>
              <a:t>{</a:t>
            </a:r>
          </a:p>
          <a:p>
            <a:r>
              <a:rPr lang="de-CH" sz="1400" b="1" dirty="0"/>
              <a:t>    </a:t>
            </a:r>
            <a:r>
              <a:rPr lang="de-CH" sz="1400" b="1" dirty="0" err="1"/>
              <a:t>std</a:t>
            </a:r>
            <a:r>
              <a:rPr lang="de-CH" sz="1400" b="1" dirty="0"/>
              <a:t>::</a:t>
            </a:r>
            <a:r>
              <a:rPr lang="de-CH" sz="1400" b="1" dirty="0" err="1"/>
              <a:t>cout</a:t>
            </a:r>
            <a:r>
              <a:rPr lang="de-CH" sz="1400" b="1" dirty="0"/>
              <a:t> &lt;&lt; "</a:t>
            </a:r>
            <a:r>
              <a:rPr lang="de-CH" sz="1400" b="1" dirty="0" err="1"/>
              <a:t>From</a:t>
            </a:r>
            <a:r>
              <a:rPr lang="de-CH" sz="1400" b="1" dirty="0"/>
              <a:t>: " &lt;&lt; </a:t>
            </a:r>
            <a:r>
              <a:rPr lang="de-CH" sz="1400" b="1" dirty="0" err="1"/>
              <a:t>fromAccount</a:t>
            </a:r>
            <a:r>
              <a:rPr lang="de-CH" sz="1400" b="1" dirty="0"/>
              <a:t> &lt;&lt; "\</a:t>
            </a:r>
            <a:r>
              <a:rPr lang="de-CH" sz="1400" b="1" dirty="0" err="1"/>
              <a:t>nTo</a:t>
            </a:r>
            <a:r>
              <a:rPr lang="de-CH" sz="1400" b="1" dirty="0"/>
              <a:t>: " &lt;&lt; </a:t>
            </a:r>
            <a:r>
              <a:rPr lang="de-CH" sz="1400" b="1" dirty="0" err="1"/>
              <a:t>toAccount</a:t>
            </a:r>
            <a:endParaRPr lang="de-CH" sz="1400" b="1" dirty="0"/>
          </a:p>
          <a:p>
            <a:r>
              <a:rPr lang="de-CH" sz="1400" b="1" dirty="0"/>
              <a:t>        &lt;&lt; "\</a:t>
            </a:r>
            <a:r>
              <a:rPr lang="de-CH" sz="1400" b="1" dirty="0" err="1"/>
              <a:t>nSum</a:t>
            </a:r>
            <a:r>
              <a:rPr lang="de-CH" sz="1400" b="1" dirty="0"/>
              <a:t>: " &lt;&lt; </a:t>
            </a:r>
            <a:r>
              <a:rPr lang="de-CH" sz="1400" b="1" dirty="0" err="1"/>
              <a:t>sum</a:t>
            </a:r>
            <a:r>
              <a:rPr lang="de-CH" sz="1400" b="1" dirty="0"/>
              <a:t> &lt;&lt; "\</a:t>
            </a:r>
            <a:r>
              <a:rPr lang="de-CH" sz="1400" b="1" dirty="0" err="1"/>
              <a:t>nCode</a:t>
            </a:r>
            <a:r>
              <a:rPr lang="de-CH" sz="1400" b="1" dirty="0"/>
              <a:t>: " &lt;&lt; code &lt;&lt; </a:t>
            </a:r>
            <a:r>
              <a:rPr lang="de-CH" sz="1400" b="1" dirty="0" err="1"/>
              <a:t>std</a:t>
            </a:r>
            <a:r>
              <a:rPr lang="de-CH" sz="1400" b="1" dirty="0"/>
              <a:t>::</a:t>
            </a:r>
            <a:r>
              <a:rPr lang="de-CH" sz="1400" b="1" dirty="0" err="1"/>
              <a:t>endl</a:t>
            </a:r>
            <a:r>
              <a:rPr lang="de-CH" sz="1400" b="1" dirty="0"/>
              <a:t>;</a:t>
            </a:r>
          </a:p>
          <a:p>
            <a:r>
              <a:rPr lang="de-CH" sz="1400" b="1" dirty="0"/>
              <a:t>}</a:t>
            </a:r>
            <a:endParaRPr lang="ru-RU" sz="1400" b="1" dirty="0"/>
          </a:p>
          <a:p>
            <a:endParaRPr lang="ru-RU" dirty="0"/>
          </a:p>
        </p:txBody>
      </p:sp>
    </p:spTree>
    <p:extLst>
      <p:ext uri="{BB962C8B-B14F-4D97-AF65-F5344CB8AC3E}">
        <p14:creationId xmlns:p14="http://schemas.microsoft.com/office/powerpoint/2010/main" val="2888926144"/>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CBF1FA-7C03-D22B-72A3-317B3B3CA11C}"/>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576A2372-F7AF-BD44-3962-527BDD3DAAFA}"/>
              </a:ext>
            </a:extLst>
          </p:cNvPr>
          <p:cNvSpPr>
            <a:spLocks noGrp="1"/>
          </p:cNvSpPr>
          <p:nvPr>
            <p:ph idx="1"/>
          </p:nvPr>
        </p:nvSpPr>
        <p:spPr/>
        <p:txBody>
          <a:bodyPr/>
          <a:lstStyle/>
          <a:p>
            <a:r>
              <a:rPr lang="ru-RU" b="1" dirty="0"/>
              <a:t>Выведение типов и </a:t>
            </a:r>
            <a:r>
              <a:rPr lang="ru-RU" b="1" dirty="0" err="1"/>
              <a:t>decltype</a:t>
            </a:r>
            <a:r>
              <a:rPr lang="ru-RU" b="1" dirty="0"/>
              <a:t>(</a:t>
            </a:r>
            <a:r>
              <a:rPr lang="ru-RU" b="1" dirty="0" err="1"/>
              <a:t>auto</a:t>
            </a:r>
            <a:r>
              <a:rPr lang="ru-RU" b="1" dirty="0"/>
              <a:t>)</a:t>
            </a:r>
          </a:p>
          <a:p>
            <a:endParaRPr lang="ru-RU" b="1" dirty="0"/>
          </a:p>
          <a:p>
            <a:r>
              <a:rPr lang="de-CH" sz="1400" dirty="0"/>
              <a:t>#include &lt;</a:t>
            </a:r>
            <a:r>
              <a:rPr lang="de-CH" sz="1400" dirty="0" err="1"/>
              <a:t>iostream</a:t>
            </a:r>
            <a:r>
              <a:rPr lang="de-CH" sz="1400" dirty="0"/>
              <a:t>&gt; </a:t>
            </a:r>
          </a:p>
          <a:p>
            <a:r>
              <a:rPr lang="de-CH" sz="1400" dirty="0"/>
              <a:t> </a:t>
            </a:r>
          </a:p>
          <a:p>
            <a:r>
              <a:rPr lang="de-CH" sz="1400" b="1" dirty="0" err="1"/>
              <a:t>template</a:t>
            </a:r>
            <a:r>
              <a:rPr lang="de-CH" sz="1400" dirty="0"/>
              <a:t> &lt;</a:t>
            </a:r>
            <a:r>
              <a:rPr lang="de-CH" sz="1400" b="1" dirty="0" err="1"/>
              <a:t>typename</a:t>
            </a:r>
            <a:r>
              <a:rPr lang="de-CH" sz="1400" dirty="0"/>
              <a:t> T&gt; </a:t>
            </a:r>
            <a:r>
              <a:rPr lang="de-CH" sz="1400" dirty="0" err="1"/>
              <a:t>decltype</a:t>
            </a:r>
            <a:r>
              <a:rPr lang="de-CH" sz="1400" dirty="0"/>
              <a:t>(</a:t>
            </a:r>
            <a:r>
              <a:rPr lang="de-CH" sz="1400" dirty="0" err="1"/>
              <a:t>auto</a:t>
            </a:r>
            <a:r>
              <a:rPr lang="de-CH" sz="1400" dirty="0"/>
              <a:t>) </a:t>
            </a:r>
            <a:r>
              <a:rPr lang="de-CH" sz="1400" dirty="0" err="1"/>
              <a:t>average</a:t>
            </a:r>
            <a:r>
              <a:rPr lang="de-CH" sz="1400" dirty="0"/>
              <a:t>(</a:t>
            </a:r>
            <a:r>
              <a:rPr lang="de-CH" sz="1400" b="1" dirty="0" err="1"/>
              <a:t>const</a:t>
            </a:r>
            <a:r>
              <a:rPr lang="de-CH" sz="1400" dirty="0"/>
              <a:t> T (&amp;</a:t>
            </a:r>
            <a:r>
              <a:rPr lang="de-CH" sz="1400" dirty="0" err="1"/>
              <a:t>data</a:t>
            </a:r>
            <a:r>
              <a:rPr lang="de-CH" sz="1400" dirty="0"/>
              <a:t>)[], </a:t>
            </a:r>
            <a:r>
              <a:rPr lang="de-CH" sz="1400" dirty="0" err="1"/>
              <a:t>unsigned</a:t>
            </a:r>
            <a:r>
              <a:rPr lang="de-CH" sz="1400" dirty="0"/>
              <a:t> </a:t>
            </a:r>
            <a:r>
              <a:rPr lang="de-CH" sz="1400" dirty="0" err="1"/>
              <a:t>size</a:t>
            </a:r>
            <a:r>
              <a:rPr lang="de-CH" sz="1400" dirty="0"/>
              <a:t>)</a:t>
            </a:r>
          </a:p>
          <a:p>
            <a:r>
              <a:rPr lang="de-CH" sz="1400" dirty="0"/>
              <a:t>{</a:t>
            </a:r>
          </a:p>
          <a:p>
            <a:r>
              <a:rPr lang="de-CH" sz="1400" dirty="0"/>
              <a:t>    T </a:t>
            </a:r>
            <a:r>
              <a:rPr lang="de-CH" sz="1400" dirty="0" err="1"/>
              <a:t>result</a:t>
            </a:r>
            <a:r>
              <a:rPr lang="de-CH" sz="1400" dirty="0"/>
              <a:t> {};</a:t>
            </a:r>
          </a:p>
          <a:p>
            <a:r>
              <a:rPr lang="de-CH" sz="1400" dirty="0"/>
              <a:t>    </a:t>
            </a:r>
            <a:r>
              <a:rPr lang="de-CH" sz="1400" b="1" dirty="0" err="1"/>
              <a:t>for</a:t>
            </a:r>
            <a:r>
              <a:rPr lang="de-CH" sz="1400" dirty="0"/>
              <a:t>(</a:t>
            </a:r>
            <a:r>
              <a:rPr lang="de-CH" sz="1400" dirty="0" err="1"/>
              <a:t>unsigned</a:t>
            </a:r>
            <a:r>
              <a:rPr lang="de-CH" sz="1400" dirty="0"/>
              <a:t> i{}; i &lt; </a:t>
            </a:r>
            <a:r>
              <a:rPr lang="de-CH" sz="1400" dirty="0" err="1"/>
              <a:t>size</a:t>
            </a:r>
            <a:r>
              <a:rPr lang="de-CH" sz="1400" dirty="0"/>
              <a:t>; i++)</a:t>
            </a:r>
          </a:p>
          <a:p>
            <a:r>
              <a:rPr lang="de-CH" sz="1400" dirty="0"/>
              <a:t>    {</a:t>
            </a:r>
          </a:p>
          <a:p>
            <a:r>
              <a:rPr lang="de-CH" sz="1400" dirty="0"/>
              <a:t>        </a:t>
            </a:r>
            <a:r>
              <a:rPr lang="de-CH" sz="1400" dirty="0" err="1"/>
              <a:t>result</a:t>
            </a:r>
            <a:r>
              <a:rPr lang="de-CH" sz="1400" dirty="0"/>
              <a:t> += </a:t>
            </a:r>
            <a:r>
              <a:rPr lang="de-CH" sz="1400" dirty="0" err="1"/>
              <a:t>data</a:t>
            </a:r>
            <a:r>
              <a:rPr lang="de-CH" sz="1400" dirty="0"/>
              <a:t>[i];</a:t>
            </a:r>
          </a:p>
          <a:p>
            <a:r>
              <a:rPr lang="de-CH" sz="1400" dirty="0"/>
              <a:t>    }</a:t>
            </a:r>
          </a:p>
          <a:p>
            <a:r>
              <a:rPr lang="de-CH" sz="1400" dirty="0"/>
              <a:t>    </a:t>
            </a:r>
            <a:r>
              <a:rPr lang="de-CH" sz="1400" b="1" dirty="0" err="1"/>
              <a:t>return</a:t>
            </a:r>
            <a:r>
              <a:rPr lang="de-CH" sz="1400" dirty="0"/>
              <a:t> </a:t>
            </a:r>
            <a:r>
              <a:rPr lang="de-CH" sz="1400" dirty="0" err="1"/>
              <a:t>result</a:t>
            </a:r>
            <a:r>
              <a:rPr lang="de-CH" sz="1400" dirty="0"/>
              <a:t> / </a:t>
            </a:r>
            <a:r>
              <a:rPr lang="de-CH" sz="1400" dirty="0" err="1"/>
              <a:t>size</a:t>
            </a:r>
            <a:r>
              <a:rPr lang="de-CH" sz="1400" dirty="0"/>
              <a:t>;</a:t>
            </a:r>
          </a:p>
          <a:p>
            <a:r>
              <a:rPr lang="de-CH" sz="1400" dirty="0"/>
              <a:t>}</a:t>
            </a:r>
          </a:p>
          <a:p>
            <a:r>
              <a:rPr lang="de-CH" sz="1400" dirty="0"/>
              <a:t> </a:t>
            </a:r>
          </a:p>
          <a:p>
            <a:r>
              <a:rPr lang="de-CH" sz="1400" b="1" dirty="0"/>
              <a:t>int</a:t>
            </a:r>
            <a:r>
              <a:rPr lang="de-CH" sz="1400" dirty="0"/>
              <a:t> </a:t>
            </a:r>
            <a:r>
              <a:rPr lang="de-CH" sz="1400" dirty="0" err="1"/>
              <a:t>main</a:t>
            </a:r>
            <a:r>
              <a:rPr lang="de-CH" sz="1400" dirty="0"/>
              <a:t>()</a:t>
            </a:r>
          </a:p>
          <a:p>
            <a:r>
              <a:rPr lang="de-CH" sz="1400" dirty="0"/>
              <a:t>{</a:t>
            </a:r>
          </a:p>
          <a:p>
            <a:r>
              <a:rPr lang="de-CH" sz="1400" dirty="0"/>
              <a:t>    </a:t>
            </a:r>
            <a:r>
              <a:rPr lang="de-CH" sz="1400" b="1" dirty="0"/>
              <a:t>int</a:t>
            </a:r>
            <a:r>
              <a:rPr lang="de-CH" sz="1400" dirty="0"/>
              <a:t> </a:t>
            </a:r>
            <a:r>
              <a:rPr lang="de-CH" sz="1400" dirty="0" err="1"/>
              <a:t>numbers</a:t>
            </a:r>
            <a:r>
              <a:rPr lang="de-CH" sz="1400" dirty="0"/>
              <a:t>[]{1, 3, 4, 5, 6};</a:t>
            </a:r>
          </a:p>
          <a:p>
            <a:r>
              <a:rPr lang="de-CH" sz="1400" dirty="0"/>
              <a:t>    </a:t>
            </a:r>
            <a:r>
              <a:rPr lang="de-CH" sz="1400" dirty="0" err="1"/>
              <a:t>std</a:t>
            </a:r>
            <a:r>
              <a:rPr lang="de-CH" sz="1400" dirty="0"/>
              <a:t>::</a:t>
            </a:r>
            <a:r>
              <a:rPr lang="de-CH" sz="1400" dirty="0" err="1"/>
              <a:t>cout</a:t>
            </a:r>
            <a:r>
              <a:rPr lang="de-CH" sz="1400" dirty="0"/>
              <a:t> &lt;&lt; </a:t>
            </a:r>
            <a:r>
              <a:rPr lang="de-CH" sz="1400" dirty="0" err="1"/>
              <a:t>average</a:t>
            </a:r>
            <a:r>
              <a:rPr lang="de-CH" sz="1400" dirty="0"/>
              <a:t>(</a:t>
            </a:r>
            <a:r>
              <a:rPr lang="de-CH" sz="1400" dirty="0" err="1"/>
              <a:t>numbers</a:t>
            </a:r>
            <a:r>
              <a:rPr lang="de-CH" sz="1400" dirty="0"/>
              <a:t>, </a:t>
            </a:r>
            <a:r>
              <a:rPr lang="de-CH" sz="1400" dirty="0" err="1"/>
              <a:t>std</a:t>
            </a:r>
            <a:r>
              <a:rPr lang="de-CH" sz="1400" dirty="0"/>
              <a:t>::</a:t>
            </a:r>
            <a:r>
              <a:rPr lang="de-CH" sz="1400" dirty="0" err="1"/>
              <a:t>size</a:t>
            </a:r>
            <a:r>
              <a:rPr lang="de-CH" sz="1400" dirty="0"/>
              <a:t>(</a:t>
            </a:r>
            <a:r>
              <a:rPr lang="de-CH" sz="1400" dirty="0" err="1"/>
              <a:t>numbers</a:t>
            </a:r>
            <a:r>
              <a:rPr lang="de-CH" sz="1400" dirty="0"/>
              <a:t>)) &lt;&lt; </a:t>
            </a:r>
            <a:r>
              <a:rPr lang="de-CH" sz="1400" dirty="0" err="1"/>
              <a:t>std</a:t>
            </a:r>
            <a:r>
              <a:rPr lang="de-CH" sz="1400" dirty="0"/>
              <a:t>::</a:t>
            </a:r>
            <a:r>
              <a:rPr lang="de-CH" sz="1400" dirty="0" err="1"/>
              <a:t>endl</a:t>
            </a:r>
            <a:r>
              <a:rPr lang="de-CH" sz="1400" dirty="0"/>
              <a:t>;   // 3</a:t>
            </a:r>
          </a:p>
          <a:p>
            <a:r>
              <a:rPr lang="de-CH" sz="1400" dirty="0"/>
              <a:t>}</a:t>
            </a:r>
          </a:p>
          <a:p>
            <a:endParaRPr lang="ru-RU" sz="1200" b="1" dirty="0"/>
          </a:p>
          <a:p>
            <a:endParaRPr lang="ru-RU" dirty="0"/>
          </a:p>
        </p:txBody>
      </p:sp>
    </p:spTree>
    <p:extLst>
      <p:ext uri="{BB962C8B-B14F-4D97-AF65-F5344CB8AC3E}">
        <p14:creationId xmlns:p14="http://schemas.microsoft.com/office/powerpoint/2010/main" val="3129018729"/>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F4BFBB-8F4F-890C-EB66-EEAE6BAB5E58}"/>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A39EB91F-FF27-BFC0-607A-46B2DE89AE83}"/>
              </a:ext>
            </a:extLst>
          </p:cNvPr>
          <p:cNvSpPr>
            <a:spLocks noGrp="1"/>
          </p:cNvSpPr>
          <p:nvPr>
            <p:ph idx="1"/>
          </p:nvPr>
        </p:nvSpPr>
        <p:spPr/>
        <p:txBody>
          <a:bodyPr/>
          <a:lstStyle/>
          <a:p>
            <a:r>
              <a:rPr lang="ru-RU" b="1" dirty="0" err="1"/>
              <a:t>Нетипизированные</a:t>
            </a:r>
            <a:r>
              <a:rPr lang="ru-RU" b="1" dirty="0"/>
              <a:t> параметры</a:t>
            </a:r>
          </a:p>
          <a:p>
            <a:r>
              <a:rPr lang="ru-RU" dirty="0"/>
              <a:t>С++ позволяет определять шаблоны с </a:t>
            </a:r>
            <a:r>
              <a:rPr lang="ru-RU" dirty="0" err="1"/>
              <a:t>нетипизированными</a:t>
            </a:r>
            <a:r>
              <a:rPr lang="ru-RU" dirty="0"/>
              <a:t> параметрами, то есть как и в функции, мы можем определять обычные параметры конкретных типов, например:</a:t>
            </a:r>
            <a:endParaRPr lang="en-US" dirty="0"/>
          </a:p>
          <a:p>
            <a:r>
              <a:rPr lang="de-CH" sz="1400" dirty="0"/>
              <a:t>#include &lt;</a:t>
            </a:r>
            <a:r>
              <a:rPr lang="de-CH" sz="1400" dirty="0" err="1"/>
              <a:t>iostream</a:t>
            </a:r>
            <a:r>
              <a:rPr lang="de-CH" sz="1400" dirty="0"/>
              <a:t>&gt; </a:t>
            </a:r>
          </a:p>
          <a:p>
            <a:r>
              <a:rPr lang="de-CH" sz="1400" dirty="0"/>
              <a:t> </a:t>
            </a:r>
          </a:p>
          <a:p>
            <a:r>
              <a:rPr lang="de-CH" sz="1400" dirty="0" err="1"/>
              <a:t>template</a:t>
            </a:r>
            <a:r>
              <a:rPr lang="de-CH" sz="1400" dirty="0"/>
              <a:t> &lt;</a:t>
            </a:r>
            <a:r>
              <a:rPr lang="de-CH" sz="1400" dirty="0" err="1"/>
              <a:t>typename</a:t>
            </a:r>
            <a:r>
              <a:rPr lang="de-CH" sz="1400" dirty="0"/>
              <a:t> T, </a:t>
            </a:r>
            <a:r>
              <a:rPr lang="de-CH" sz="1400" dirty="0" err="1"/>
              <a:t>unsigned</a:t>
            </a:r>
            <a:r>
              <a:rPr lang="de-CH" sz="1400" dirty="0"/>
              <a:t> N=1&gt; </a:t>
            </a:r>
            <a:r>
              <a:rPr lang="de-CH" sz="1400" dirty="0" err="1"/>
              <a:t>void</a:t>
            </a:r>
            <a:r>
              <a:rPr lang="de-CH" sz="1400" dirty="0"/>
              <a:t> </a:t>
            </a:r>
            <a:r>
              <a:rPr lang="de-CH" sz="1400" dirty="0" err="1"/>
              <a:t>print</a:t>
            </a:r>
            <a:r>
              <a:rPr lang="de-CH" sz="1400" dirty="0"/>
              <a:t>(</a:t>
            </a:r>
            <a:r>
              <a:rPr lang="de-CH" sz="1400" dirty="0" err="1"/>
              <a:t>const</a:t>
            </a:r>
            <a:r>
              <a:rPr lang="de-CH" sz="1400" dirty="0"/>
              <a:t> T&amp;);</a:t>
            </a:r>
          </a:p>
          <a:p>
            <a:r>
              <a:rPr lang="de-CH" sz="1400" dirty="0"/>
              <a:t> </a:t>
            </a:r>
          </a:p>
          <a:p>
            <a:r>
              <a:rPr lang="de-CH" sz="1400" dirty="0"/>
              <a:t>int </a:t>
            </a:r>
            <a:r>
              <a:rPr lang="de-CH" sz="1400" dirty="0" err="1"/>
              <a:t>main</a:t>
            </a:r>
            <a:r>
              <a:rPr lang="de-CH" sz="1400" dirty="0"/>
              <a:t>()</a:t>
            </a:r>
          </a:p>
          <a:p>
            <a:r>
              <a:rPr lang="de-CH" sz="1400" dirty="0"/>
              <a:t>{</a:t>
            </a:r>
          </a:p>
          <a:p>
            <a:r>
              <a:rPr lang="de-CH" sz="1400" dirty="0"/>
              <a:t>    </a:t>
            </a:r>
            <a:r>
              <a:rPr lang="de-CH" sz="1400" dirty="0" err="1"/>
              <a:t>print</a:t>
            </a:r>
            <a:r>
              <a:rPr lang="de-CH" sz="1400" dirty="0"/>
              <a:t>&lt;int, 4&gt;(3);</a:t>
            </a:r>
          </a:p>
          <a:p>
            <a:r>
              <a:rPr lang="de-CH" sz="1400" dirty="0"/>
              <a:t>}</a:t>
            </a:r>
          </a:p>
          <a:p>
            <a:r>
              <a:rPr lang="de-CH" sz="1400" dirty="0"/>
              <a:t>// </a:t>
            </a:r>
            <a:r>
              <a:rPr lang="ru-RU" sz="1400" dirty="0"/>
              <a:t>печатаем </a:t>
            </a:r>
            <a:r>
              <a:rPr lang="de-CH" sz="1400" dirty="0" err="1"/>
              <a:t>value</a:t>
            </a:r>
            <a:r>
              <a:rPr lang="de-CH" sz="1400" dirty="0"/>
              <a:t> N </a:t>
            </a:r>
            <a:r>
              <a:rPr lang="ru-RU" sz="1400" dirty="0"/>
              <a:t>раз</a:t>
            </a:r>
          </a:p>
          <a:p>
            <a:r>
              <a:rPr lang="de-CH" sz="1400" dirty="0" err="1"/>
              <a:t>template</a:t>
            </a:r>
            <a:r>
              <a:rPr lang="de-CH" sz="1400" dirty="0"/>
              <a:t> &lt;</a:t>
            </a:r>
            <a:r>
              <a:rPr lang="de-CH" sz="1400" dirty="0" err="1"/>
              <a:t>typename</a:t>
            </a:r>
            <a:r>
              <a:rPr lang="de-CH" sz="1400" dirty="0"/>
              <a:t> T, </a:t>
            </a:r>
            <a:r>
              <a:rPr lang="de-CH" sz="1400" dirty="0" err="1"/>
              <a:t>unsigned</a:t>
            </a:r>
            <a:r>
              <a:rPr lang="de-CH" sz="1400" dirty="0"/>
              <a:t> N&gt; </a:t>
            </a:r>
            <a:r>
              <a:rPr lang="de-CH" sz="1400" dirty="0" err="1"/>
              <a:t>void</a:t>
            </a:r>
            <a:r>
              <a:rPr lang="de-CH" sz="1400" dirty="0"/>
              <a:t> </a:t>
            </a:r>
            <a:r>
              <a:rPr lang="de-CH" sz="1400" dirty="0" err="1"/>
              <a:t>print</a:t>
            </a:r>
            <a:r>
              <a:rPr lang="de-CH" sz="1400" dirty="0"/>
              <a:t>(</a:t>
            </a:r>
            <a:r>
              <a:rPr lang="de-CH" sz="1400" dirty="0" err="1"/>
              <a:t>const</a:t>
            </a:r>
            <a:r>
              <a:rPr lang="de-CH" sz="1400" dirty="0"/>
              <a:t> T&amp; </a:t>
            </a:r>
            <a:r>
              <a:rPr lang="de-CH" sz="1400" dirty="0" err="1"/>
              <a:t>value</a:t>
            </a:r>
            <a:r>
              <a:rPr lang="de-CH" sz="1400" dirty="0"/>
              <a:t>)</a:t>
            </a:r>
          </a:p>
          <a:p>
            <a:r>
              <a:rPr lang="de-CH" sz="1400" dirty="0"/>
              <a:t>{</a:t>
            </a:r>
          </a:p>
          <a:p>
            <a:r>
              <a:rPr lang="de-CH" sz="1400" dirty="0"/>
              <a:t>    </a:t>
            </a:r>
            <a:r>
              <a:rPr lang="de-CH" sz="1400" dirty="0" err="1"/>
              <a:t>for</a:t>
            </a:r>
            <a:r>
              <a:rPr lang="de-CH" sz="1400" dirty="0"/>
              <a:t>(</a:t>
            </a:r>
            <a:r>
              <a:rPr lang="de-CH" sz="1400" dirty="0" err="1"/>
              <a:t>unsigned</a:t>
            </a:r>
            <a:r>
              <a:rPr lang="de-CH" sz="1400" dirty="0"/>
              <a:t> i{}; i &lt; N; i++)</a:t>
            </a:r>
          </a:p>
          <a:p>
            <a:r>
              <a:rPr lang="de-CH" sz="1400" dirty="0"/>
              <a:t>    {</a:t>
            </a:r>
          </a:p>
          <a:p>
            <a:r>
              <a:rPr lang="de-CH" sz="1400" dirty="0"/>
              <a:t>        </a:t>
            </a:r>
            <a:r>
              <a:rPr lang="de-CH" sz="1400" dirty="0" err="1"/>
              <a:t>std</a:t>
            </a:r>
            <a:r>
              <a:rPr lang="de-CH" sz="1400" dirty="0"/>
              <a:t>::</a:t>
            </a:r>
            <a:r>
              <a:rPr lang="de-CH" sz="1400" dirty="0" err="1"/>
              <a:t>cout</a:t>
            </a:r>
            <a:r>
              <a:rPr lang="de-CH" sz="1400" dirty="0"/>
              <a:t> &lt;&lt; </a:t>
            </a:r>
            <a:r>
              <a:rPr lang="de-CH" sz="1400" dirty="0" err="1"/>
              <a:t>value</a:t>
            </a:r>
            <a:r>
              <a:rPr lang="de-CH" sz="1400" dirty="0"/>
              <a:t> &lt;&lt; </a:t>
            </a:r>
            <a:r>
              <a:rPr lang="de-CH" sz="1400" dirty="0" err="1"/>
              <a:t>std</a:t>
            </a:r>
            <a:r>
              <a:rPr lang="de-CH" sz="1400" dirty="0"/>
              <a:t>::</a:t>
            </a:r>
            <a:r>
              <a:rPr lang="de-CH" sz="1400" dirty="0" err="1"/>
              <a:t>endl</a:t>
            </a:r>
            <a:r>
              <a:rPr lang="de-CH" sz="1400" dirty="0"/>
              <a:t>;</a:t>
            </a:r>
          </a:p>
          <a:p>
            <a:r>
              <a:rPr lang="de-CH" sz="1400" dirty="0"/>
              <a:t>    }</a:t>
            </a:r>
          </a:p>
          <a:p>
            <a:r>
              <a:rPr lang="de-CH" sz="1400" dirty="0"/>
              <a:t>}</a:t>
            </a:r>
            <a:endParaRPr lang="ru-RU" sz="1400" dirty="0"/>
          </a:p>
        </p:txBody>
      </p:sp>
    </p:spTree>
    <p:extLst>
      <p:ext uri="{BB962C8B-B14F-4D97-AF65-F5344CB8AC3E}">
        <p14:creationId xmlns:p14="http://schemas.microsoft.com/office/powerpoint/2010/main" val="4042671762"/>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1B8CAB-E941-67EF-AEB6-BC662B1BA22D}"/>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6B3DE120-61CC-9FB7-29C6-F36A6C69446B}"/>
              </a:ext>
            </a:extLst>
          </p:cNvPr>
          <p:cNvSpPr>
            <a:spLocks noGrp="1"/>
          </p:cNvSpPr>
          <p:nvPr>
            <p:ph idx="1"/>
          </p:nvPr>
        </p:nvSpPr>
        <p:spPr/>
        <p:txBody>
          <a:bodyPr/>
          <a:lstStyle/>
          <a:p>
            <a:r>
              <a:rPr lang="de-CH" sz="1800" dirty="0"/>
              <a:t>#include &lt;</a:t>
            </a:r>
            <a:r>
              <a:rPr lang="de-CH" sz="1800" dirty="0" err="1"/>
              <a:t>iostream</a:t>
            </a:r>
            <a:r>
              <a:rPr lang="de-CH" sz="1800" dirty="0"/>
              <a:t>&gt;</a:t>
            </a:r>
          </a:p>
          <a:p>
            <a:r>
              <a:rPr lang="de-CH" sz="1800" dirty="0"/>
              <a:t> </a:t>
            </a:r>
          </a:p>
          <a:p>
            <a:r>
              <a:rPr lang="de-CH" sz="1800" b="1" dirty="0" err="1"/>
              <a:t>template</a:t>
            </a:r>
            <a:r>
              <a:rPr lang="de-CH" sz="1800" dirty="0"/>
              <a:t> &lt;</a:t>
            </a:r>
            <a:r>
              <a:rPr lang="de-CH" sz="1800" b="1" dirty="0" err="1"/>
              <a:t>typename</a:t>
            </a:r>
            <a:r>
              <a:rPr lang="de-CH" sz="1800" dirty="0"/>
              <a:t> T, </a:t>
            </a:r>
            <a:r>
              <a:rPr lang="de-CH" sz="1800" b="1" dirty="0" err="1"/>
              <a:t>size_t</a:t>
            </a:r>
            <a:r>
              <a:rPr lang="de-CH" sz="1800" dirty="0"/>
              <a:t> N&gt; </a:t>
            </a:r>
            <a:r>
              <a:rPr lang="de-CH" sz="1800" b="1" dirty="0" err="1"/>
              <a:t>size_t</a:t>
            </a:r>
            <a:r>
              <a:rPr lang="de-CH" sz="1800" dirty="0"/>
              <a:t> </a:t>
            </a:r>
            <a:r>
              <a:rPr lang="de-CH" sz="1800" dirty="0" err="1"/>
              <a:t>size</a:t>
            </a:r>
            <a:r>
              <a:rPr lang="de-CH" sz="1800" dirty="0"/>
              <a:t>(</a:t>
            </a:r>
            <a:r>
              <a:rPr lang="de-CH" sz="1800" b="1" dirty="0" err="1"/>
              <a:t>const</a:t>
            </a:r>
            <a:r>
              <a:rPr lang="de-CH" sz="1800" dirty="0"/>
              <a:t> T (&amp;</a:t>
            </a:r>
            <a:r>
              <a:rPr lang="de-CH" sz="1800" dirty="0" err="1"/>
              <a:t>data</a:t>
            </a:r>
            <a:r>
              <a:rPr lang="de-CH" sz="1800" dirty="0"/>
              <a:t>)[N]) { </a:t>
            </a:r>
            <a:r>
              <a:rPr lang="de-CH" sz="1800" b="1" dirty="0" err="1"/>
              <a:t>return</a:t>
            </a:r>
            <a:r>
              <a:rPr lang="de-CH" sz="1800" dirty="0"/>
              <a:t> N; }</a:t>
            </a:r>
          </a:p>
          <a:p>
            <a:r>
              <a:rPr lang="de-CH" sz="1800" dirty="0"/>
              <a:t> </a:t>
            </a:r>
          </a:p>
          <a:p>
            <a:r>
              <a:rPr lang="de-CH" sz="1800" b="1" dirty="0"/>
              <a:t>int</a:t>
            </a:r>
            <a:r>
              <a:rPr lang="de-CH" sz="1800" dirty="0"/>
              <a:t> </a:t>
            </a:r>
            <a:r>
              <a:rPr lang="de-CH" sz="1800" dirty="0" err="1"/>
              <a:t>main</a:t>
            </a:r>
            <a:r>
              <a:rPr lang="de-CH" sz="1800" dirty="0"/>
              <a:t>()</a:t>
            </a:r>
          </a:p>
          <a:p>
            <a:r>
              <a:rPr lang="de-CH" sz="1800" dirty="0"/>
              <a:t>{</a:t>
            </a:r>
          </a:p>
          <a:p>
            <a:r>
              <a:rPr lang="de-CH" sz="1800" dirty="0"/>
              <a:t>    </a:t>
            </a:r>
            <a:r>
              <a:rPr lang="de-CH" sz="1800" b="1" dirty="0" err="1"/>
              <a:t>const</a:t>
            </a:r>
            <a:r>
              <a:rPr lang="de-CH" sz="1800" dirty="0"/>
              <a:t> </a:t>
            </a:r>
            <a:r>
              <a:rPr lang="de-CH" sz="1800" b="1" dirty="0"/>
              <a:t>int</a:t>
            </a:r>
            <a:r>
              <a:rPr lang="de-CH" sz="1800" dirty="0"/>
              <a:t> numbers1[]{1, 2, 3, 4, 5};</a:t>
            </a:r>
          </a:p>
          <a:p>
            <a:r>
              <a:rPr lang="de-CH" sz="1800" dirty="0"/>
              <a:t>    </a:t>
            </a:r>
            <a:r>
              <a:rPr lang="de-CH" sz="1800" b="1" dirty="0" err="1"/>
              <a:t>const</a:t>
            </a:r>
            <a:r>
              <a:rPr lang="de-CH" sz="1800" dirty="0"/>
              <a:t> </a:t>
            </a:r>
            <a:r>
              <a:rPr lang="de-CH" sz="1800" b="1" dirty="0"/>
              <a:t>double</a:t>
            </a:r>
            <a:r>
              <a:rPr lang="de-CH" sz="1800" dirty="0"/>
              <a:t> numbers2[]{1.2, 2.3, 3.4};</a:t>
            </a:r>
          </a:p>
          <a:p>
            <a:r>
              <a:rPr lang="de-CH" sz="1800" dirty="0"/>
              <a:t>    </a:t>
            </a:r>
            <a:r>
              <a:rPr lang="de-CH" sz="1800" b="1" dirty="0" err="1"/>
              <a:t>const</a:t>
            </a:r>
            <a:r>
              <a:rPr lang="de-CH" sz="1800" dirty="0"/>
              <a:t> </a:t>
            </a:r>
            <a:r>
              <a:rPr lang="de-CH" sz="1800" b="1" dirty="0" err="1"/>
              <a:t>char</a:t>
            </a:r>
            <a:r>
              <a:rPr lang="de-CH" sz="1800" dirty="0"/>
              <a:t>* </a:t>
            </a:r>
            <a:r>
              <a:rPr lang="de-CH" sz="1800" dirty="0" err="1"/>
              <a:t>people</a:t>
            </a:r>
            <a:r>
              <a:rPr lang="de-CH" sz="1800" dirty="0"/>
              <a:t>[] {"Sam", "Tom", "Bob", "Mike"};</a:t>
            </a:r>
          </a:p>
          <a:p>
            <a:r>
              <a:rPr lang="de-CH" sz="1800" dirty="0"/>
              <a:t>     </a:t>
            </a:r>
          </a:p>
          <a:p>
            <a:r>
              <a:rPr lang="de-CH" sz="1800" dirty="0"/>
              <a:t>    </a:t>
            </a:r>
            <a:r>
              <a:rPr lang="de-CH" sz="1800" dirty="0" err="1"/>
              <a:t>std</a:t>
            </a:r>
            <a:r>
              <a:rPr lang="de-CH" sz="1800" dirty="0"/>
              <a:t>::</a:t>
            </a:r>
            <a:r>
              <a:rPr lang="de-CH" sz="1800" dirty="0" err="1"/>
              <a:t>cout</a:t>
            </a:r>
            <a:r>
              <a:rPr lang="de-CH" sz="1800" dirty="0"/>
              <a:t> &lt;&lt; "numbers1 </a:t>
            </a:r>
            <a:r>
              <a:rPr lang="de-CH" sz="1800" dirty="0" err="1"/>
              <a:t>size</a:t>
            </a:r>
            <a:r>
              <a:rPr lang="de-CH" sz="1800" dirty="0"/>
              <a:t>: " &lt;&lt; </a:t>
            </a:r>
            <a:r>
              <a:rPr lang="de-CH" sz="1800" dirty="0" err="1"/>
              <a:t>size</a:t>
            </a:r>
            <a:r>
              <a:rPr lang="de-CH" sz="1800" dirty="0"/>
              <a:t>(numbers1) &lt;&lt; </a:t>
            </a:r>
            <a:r>
              <a:rPr lang="de-CH" sz="1800" dirty="0" err="1"/>
              <a:t>std</a:t>
            </a:r>
            <a:r>
              <a:rPr lang="de-CH" sz="1800" dirty="0"/>
              <a:t>::</a:t>
            </a:r>
            <a:r>
              <a:rPr lang="de-CH" sz="1800" dirty="0" err="1"/>
              <a:t>endl</a:t>
            </a:r>
            <a:r>
              <a:rPr lang="de-CH" sz="1800" dirty="0"/>
              <a:t>;</a:t>
            </a:r>
          </a:p>
          <a:p>
            <a:r>
              <a:rPr lang="de-CH" sz="1800" dirty="0"/>
              <a:t>    </a:t>
            </a:r>
            <a:r>
              <a:rPr lang="de-CH" sz="1800" dirty="0" err="1"/>
              <a:t>std</a:t>
            </a:r>
            <a:r>
              <a:rPr lang="de-CH" sz="1800" dirty="0"/>
              <a:t>::</a:t>
            </a:r>
            <a:r>
              <a:rPr lang="de-CH" sz="1800" dirty="0" err="1"/>
              <a:t>cout</a:t>
            </a:r>
            <a:r>
              <a:rPr lang="de-CH" sz="1800" dirty="0"/>
              <a:t> &lt;&lt; "numbers2 </a:t>
            </a:r>
            <a:r>
              <a:rPr lang="de-CH" sz="1800" dirty="0" err="1"/>
              <a:t>size</a:t>
            </a:r>
            <a:r>
              <a:rPr lang="de-CH" sz="1800" dirty="0"/>
              <a:t>: " &lt;&lt; </a:t>
            </a:r>
            <a:r>
              <a:rPr lang="de-CH" sz="1800" dirty="0" err="1"/>
              <a:t>size</a:t>
            </a:r>
            <a:r>
              <a:rPr lang="de-CH" sz="1800" dirty="0"/>
              <a:t>(numbers2) &lt;&lt; </a:t>
            </a:r>
            <a:r>
              <a:rPr lang="de-CH" sz="1800" dirty="0" err="1"/>
              <a:t>std</a:t>
            </a:r>
            <a:r>
              <a:rPr lang="de-CH" sz="1800" dirty="0"/>
              <a:t>::</a:t>
            </a:r>
            <a:r>
              <a:rPr lang="de-CH" sz="1800" dirty="0" err="1"/>
              <a:t>endl</a:t>
            </a:r>
            <a:r>
              <a:rPr lang="de-CH" sz="1800" dirty="0"/>
              <a:t>;</a:t>
            </a:r>
          </a:p>
          <a:p>
            <a:r>
              <a:rPr lang="de-CH" sz="1800" dirty="0"/>
              <a:t>    </a:t>
            </a:r>
            <a:r>
              <a:rPr lang="de-CH" sz="1800" dirty="0" err="1"/>
              <a:t>std</a:t>
            </a:r>
            <a:r>
              <a:rPr lang="de-CH" sz="1800" dirty="0"/>
              <a:t>::</a:t>
            </a:r>
            <a:r>
              <a:rPr lang="de-CH" sz="1800" dirty="0" err="1"/>
              <a:t>cout</a:t>
            </a:r>
            <a:r>
              <a:rPr lang="de-CH" sz="1800" dirty="0"/>
              <a:t> &lt;&lt; "</a:t>
            </a:r>
            <a:r>
              <a:rPr lang="de-CH" sz="1800" dirty="0" err="1"/>
              <a:t>people</a:t>
            </a:r>
            <a:r>
              <a:rPr lang="de-CH" sz="1800" dirty="0"/>
              <a:t> </a:t>
            </a:r>
            <a:r>
              <a:rPr lang="de-CH" sz="1800" dirty="0" err="1"/>
              <a:t>size</a:t>
            </a:r>
            <a:r>
              <a:rPr lang="de-CH" sz="1800" dirty="0"/>
              <a:t>: " &lt;&lt; </a:t>
            </a:r>
            <a:r>
              <a:rPr lang="de-CH" sz="1800" dirty="0" err="1"/>
              <a:t>size</a:t>
            </a:r>
            <a:r>
              <a:rPr lang="de-CH" sz="1800" dirty="0"/>
              <a:t>(</a:t>
            </a:r>
            <a:r>
              <a:rPr lang="de-CH" sz="1800" dirty="0" err="1"/>
              <a:t>people</a:t>
            </a:r>
            <a:r>
              <a:rPr lang="de-CH" sz="1800" dirty="0"/>
              <a:t>) &lt;&lt; </a:t>
            </a:r>
            <a:r>
              <a:rPr lang="de-CH" sz="1800" dirty="0" err="1"/>
              <a:t>std</a:t>
            </a:r>
            <a:r>
              <a:rPr lang="de-CH" sz="1800" dirty="0"/>
              <a:t>::</a:t>
            </a:r>
            <a:r>
              <a:rPr lang="de-CH" sz="1800" dirty="0" err="1"/>
              <a:t>endl</a:t>
            </a:r>
            <a:r>
              <a:rPr lang="de-CH" sz="1800" dirty="0"/>
              <a:t>;</a:t>
            </a:r>
          </a:p>
          <a:p>
            <a:r>
              <a:rPr lang="de-CH" sz="1800" dirty="0"/>
              <a:t>}</a:t>
            </a:r>
          </a:p>
          <a:p>
            <a:endParaRPr lang="ru-RU" dirty="0"/>
          </a:p>
        </p:txBody>
      </p:sp>
    </p:spTree>
    <p:extLst>
      <p:ext uri="{BB962C8B-B14F-4D97-AF65-F5344CB8AC3E}">
        <p14:creationId xmlns:p14="http://schemas.microsoft.com/office/powerpoint/2010/main" val="24231621"/>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5AA5EA-53F7-6D20-1BF9-236BF96CC400}"/>
              </a:ext>
            </a:extLst>
          </p:cNvPr>
          <p:cNvSpPr>
            <a:spLocks noGrp="1"/>
          </p:cNvSpPr>
          <p:nvPr>
            <p:ph type="title"/>
          </p:nvPr>
        </p:nvSpPr>
        <p:spPr/>
        <p:txBody>
          <a:bodyPr/>
          <a:lstStyle/>
          <a:p>
            <a:r>
              <a:rPr lang="ru-RU" dirty="0"/>
              <a:t>Шаблоны функций</a:t>
            </a:r>
          </a:p>
        </p:txBody>
      </p:sp>
      <p:sp>
        <p:nvSpPr>
          <p:cNvPr id="3" name="Объект 2">
            <a:extLst>
              <a:ext uri="{FF2B5EF4-FFF2-40B4-BE49-F238E27FC236}">
                <a16:creationId xmlns:a16="http://schemas.microsoft.com/office/drawing/2014/main" id="{F6E58B6E-8AF6-1C14-430A-0311FEA17843}"/>
              </a:ext>
            </a:extLst>
          </p:cNvPr>
          <p:cNvSpPr>
            <a:spLocks noGrp="1"/>
          </p:cNvSpPr>
          <p:nvPr>
            <p:ph idx="1"/>
          </p:nvPr>
        </p:nvSpPr>
        <p:spPr/>
        <p:txBody>
          <a:bodyPr/>
          <a:lstStyle/>
          <a:p>
            <a:r>
              <a:rPr lang="de-CH" sz="1200" dirty="0"/>
              <a:t>#include &lt;</a:t>
            </a:r>
            <a:r>
              <a:rPr lang="de-CH" sz="1200" dirty="0" err="1"/>
              <a:t>iostream</a:t>
            </a:r>
            <a:r>
              <a:rPr lang="de-CH" sz="1200" dirty="0"/>
              <a:t>&gt; </a:t>
            </a:r>
          </a:p>
          <a:p>
            <a:r>
              <a:rPr lang="de-CH" sz="1200" dirty="0"/>
              <a:t> </a:t>
            </a:r>
          </a:p>
          <a:p>
            <a:r>
              <a:rPr lang="de-CH" sz="1200" dirty="0" err="1"/>
              <a:t>template</a:t>
            </a:r>
            <a:r>
              <a:rPr lang="de-CH" sz="1200" dirty="0"/>
              <a:t> &lt;</a:t>
            </a:r>
            <a:r>
              <a:rPr lang="de-CH" sz="1200" dirty="0" err="1"/>
              <a:t>typename</a:t>
            </a:r>
            <a:r>
              <a:rPr lang="de-CH" sz="1200" dirty="0"/>
              <a:t> T, </a:t>
            </a:r>
            <a:r>
              <a:rPr lang="de-CH" sz="1200" dirty="0" err="1"/>
              <a:t>size_t</a:t>
            </a:r>
            <a:r>
              <a:rPr lang="de-CH" sz="1200" dirty="0"/>
              <a:t> N&gt; T </a:t>
            </a:r>
            <a:r>
              <a:rPr lang="de-CH" sz="1200" dirty="0" err="1"/>
              <a:t>average</a:t>
            </a:r>
            <a:r>
              <a:rPr lang="de-CH" sz="1200" dirty="0"/>
              <a:t>(</a:t>
            </a:r>
            <a:r>
              <a:rPr lang="de-CH" sz="1200" dirty="0" err="1"/>
              <a:t>const</a:t>
            </a:r>
            <a:r>
              <a:rPr lang="de-CH" sz="1200" dirty="0"/>
              <a:t> T (&amp;)[N]);</a:t>
            </a:r>
          </a:p>
          <a:p>
            <a:r>
              <a:rPr lang="de-CH" sz="1200" dirty="0"/>
              <a:t> </a:t>
            </a:r>
          </a:p>
          <a:p>
            <a:r>
              <a:rPr lang="de-CH" sz="1200" dirty="0"/>
              <a:t>int </a:t>
            </a:r>
            <a:r>
              <a:rPr lang="de-CH" sz="1200" dirty="0" err="1"/>
              <a:t>main</a:t>
            </a:r>
            <a:r>
              <a:rPr lang="de-CH" sz="1200" dirty="0"/>
              <a:t>()</a:t>
            </a:r>
          </a:p>
          <a:p>
            <a:r>
              <a:rPr lang="de-CH" sz="1200" dirty="0"/>
              <a:t>{</a:t>
            </a:r>
          </a:p>
          <a:p>
            <a:r>
              <a:rPr lang="de-CH" sz="1200" dirty="0"/>
              <a:t>    int numbers1[]{1, 2, 3, 4, 5};</a:t>
            </a:r>
          </a:p>
          <a:p>
            <a:r>
              <a:rPr lang="de-CH" sz="1200" dirty="0"/>
              <a:t>    </a:t>
            </a:r>
            <a:r>
              <a:rPr lang="de-CH" sz="1200" dirty="0" err="1"/>
              <a:t>std</a:t>
            </a:r>
            <a:r>
              <a:rPr lang="de-CH" sz="1200" dirty="0"/>
              <a:t>::</a:t>
            </a:r>
            <a:r>
              <a:rPr lang="de-CH" sz="1200" dirty="0" err="1"/>
              <a:t>cout</a:t>
            </a:r>
            <a:r>
              <a:rPr lang="de-CH" sz="1200" dirty="0"/>
              <a:t> &lt;&lt; </a:t>
            </a:r>
            <a:r>
              <a:rPr lang="de-CH" sz="1200" dirty="0" err="1"/>
              <a:t>average</a:t>
            </a:r>
            <a:r>
              <a:rPr lang="de-CH" sz="1200" dirty="0"/>
              <a:t>(numbers1) &lt;&lt; </a:t>
            </a:r>
            <a:r>
              <a:rPr lang="de-CH" sz="1200" dirty="0" err="1"/>
              <a:t>std</a:t>
            </a:r>
            <a:r>
              <a:rPr lang="de-CH" sz="1200" dirty="0"/>
              <a:t>::</a:t>
            </a:r>
            <a:r>
              <a:rPr lang="de-CH" sz="1200" dirty="0" err="1"/>
              <a:t>endl</a:t>
            </a:r>
            <a:r>
              <a:rPr lang="de-CH" sz="1200" dirty="0"/>
              <a:t>;   // 3</a:t>
            </a:r>
          </a:p>
          <a:p>
            <a:r>
              <a:rPr lang="de-CH" sz="1200" dirty="0"/>
              <a:t> </a:t>
            </a:r>
          </a:p>
          <a:p>
            <a:r>
              <a:rPr lang="de-CH" sz="1200" dirty="0"/>
              <a:t>    double numbers2[]{1.1, 3.2, 4.3, 5.4, 6.5, 2.6};</a:t>
            </a:r>
          </a:p>
          <a:p>
            <a:r>
              <a:rPr lang="de-CH" sz="1200" dirty="0"/>
              <a:t>    </a:t>
            </a:r>
            <a:r>
              <a:rPr lang="de-CH" sz="1200" dirty="0" err="1"/>
              <a:t>std</a:t>
            </a:r>
            <a:r>
              <a:rPr lang="de-CH" sz="1200" dirty="0"/>
              <a:t>::</a:t>
            </a:r>
            <a:r>
              <a:rPr lang="de-CH" sz="1200" dirty="0" err="1"/>
              <a:t>cout</a:t>
            </a:r>
            <a:r>
              <a:rPr lang="de-CH" sz="1200" dirty="0"/>
              <a:t> &lt;&lt; </a:t>
            </a:r>
            <a:r>
              <a:rPr lang="de-CH" sz="1200" dirty="0" err="1"/>
              <a:t>average</a:t>
            </a:r>
            <a:r>
              <a:rPr lang="de-CH" sz="1200" dirty="0"/>
              <a:t>(numbers2) &lt;&lt; </a:t>
            </a:r>
            <a:r>
              <a:rPr lang="de-CH" sz="1200" dirty="0" err="1"/>
              <a:t>std</a:t>
            </a:r>
            <a:r>
              <a:rPr lang="de-CH" sz="1200" dirty="0"/>
              <a:t>::</a:t>
            </a:r>
            <a:r>
              <a:rPr lang="de-CH" sz="1200" dirty="0" err="1"/>
              <a:t>endl</a:t>
            </a:r>
            <a:r>
              <a:rPr lang="de-CH" sz="1200" dirty="0"/>
              <a:t>;   // 3.85</a:t>
            </a:r>
          </a:p>
          <a:p>
            <a:r>
              <a:rPr lang="de-CH" sz="1200" dirty="0"/>
              <a:t>}</a:t>
            </a:r>
          </a:p>
          <a:p>
            <a:r>
              <a:rPr lang="de-CH" sz="1200" dirty="0"/>
              <a:t> </a:t>
            </a:r>
          </a:p>
          <a:p>
            <a:r>
              <a:rPr lang="de-CH" sz="1200" dirty="0" err="1"/>
              <a:t>template</a:t>
            </a:r>
            <a:r>
              <a:rPr lang="de-CH" sz="1200" dirty="0"/>
              <a:t> &lt;</a:t>
            </a:r>
            <a:r>
              <a:rPr lang="de-CH" sz="1200" dirty="0" err="1"/>
              <a:t>typename</a:t>
            </a:r>
            <a:r>
              <a:rPr lang="de-CH" sz="1200" dirty="0"/>
              <a:t> T, </a:t>
            </a:r>
            <a:r>
              <a:rPr lang="de-CH" sz="1200" dirty="0" err="1"/>
              <a:t>size_t</a:t>
            </a:r>
            <a:r>
              <a:rPr lang="de-CH" sz="1200" dirty="0"/>
              <a:t> N&gt; T </a:t>
            </a:r>
            <a:r>
              <a:rPr lang="de-CH" sz="1200" dirty="0" err="1"/>
              <a:t>average</a:t>
            </a:r>
            <a:r>
              <a:rPr lang="de-CH" sz="1200" dirty="0"/>
              <a:t>(</a:t>
            </a:r>
            <a:r>
              <a:rPr lang="de-CH" sz="1200" dirty="0" err="1"/>
              <a:t>const</a:t>
            </a:r>
            <a:r>
              <a:rPr lang="de-CH" sz="1200" dirty="0"/>
              <a:t> T (&amp;</a:t>
            </a:r>
            <a:r>
              <a:rPr lang="de-CH" sz="1200" dirty="0" err="1"/>
              <a:t>data</a:t>
            </a:r>
            <a:r>
              <a:rPr lang="de-CH" sz="1200" dirty="0"/>
              <a:t>)[N])</a:t>
            </a:r>
          </a:p>
          <a:p>
            <a:r>
              <a:rPr lang="de-CH" sz="1200" dirty="0"/>
              <a:t>{</a:t>
            </a:r>
          </a:p>
          <a:p>
            <a:r>
              <a:rPr lang="de-CH" sz="1200" dirty="0"/>
              <a:t>    T </a:t>
            </a:r>
            <a:r>
              <a:rPr lang="de-CH" sz="1200" dirty="0" err="1"/>
              <a:t>result</a:t>
            </a:r>
            <a:r>
              <a:rPr lang="de-CH" sz="1200" dirty="0"/>
              <a:t> {};</a:t>
            </a:r>
          </a:p>
          <a:p>
            <a:r>
              <a:rPr lang="de-CH" sz="1200" dirty="0"/>
              <a:t>    </a:t>
            </a:r>
            <a:r>
              <a:rPr lang="de-CH" sz="1200" dirty="0" err="1"/>
              <a:t>for</a:t>
            </a:r>
            <a:r>
              <a:rPr lang="de-CH" sz="1200" dirty="0"/>
              <a:t>(</a:t>
            </a:r>
            <a:r>
              <a:rPr lang="de-CH" sz="1200" dirty="0" err="1"/>
              <a:t>unsigned</a:t>
            </a:r>
            <a:r>
              <a:rPr lang="de-CH" sz="1200" dirty="0"/>
              <a:t> i{}; i &lt; N; i++)</a:t>
            </a:r>
          </a:p>
          <a:p>
            <a:r>
              <a:rPr lang="de-CH" sz="1200" dirty="0"/>
              <a:t>    {</a:t>
            </a:r>
          </a:p>
          <a:p>
            <a:r>
              <a:rPr lang="de-CH" sz="1200" dirty="0"/>
              <a:t>        </a:t>
            </a:r>
            <a:r>
              <a:rPr lang="de-CH" sz="1200" dirty="0" err="1"/>
              <a:t>result</a:t>
            </a:r>
            <a:r>
              <a:rPr lang="de-CH" sz="1200" dirty="0"/>
              <a:t> += </a:t>
            </a:r>
            <a:r>
              <a:rPr lang="de-CH" sz="1200" dirty="0" err="1"/>
              <a:t>data</a:t>
            </a:r>
            <a:r>
              <a:rPr lang="de-CH" sz="1200" dirty="0"/>
              <a:t>[i];</a:t>
            </a:r>
          </a:p>
          <a:p>
            <a:r>
              <a:rPr lang="de-CH" sz="1200" dirty="0"/>
              <a:t>    }</a:t>
            </a:r>
          </a:p>
          <a:p>
            <a:r>
              <a:rPr lang="de-CH" sz="1200" dirty="0"/>
              <a:t>    </a:t>
            </a:r>
            <a:r>
              <a:rPr lang="de-CH" sz="1200" dirty="0" err="1"/>
              <a:t>return</a:t>
            </a:r>
            <a:r>
              <a:rPr lang="de-CH" sz="1200" dirty="0"/>
              <a:t> </a:t>
            </a:r>
            <a:r>
              <a:rPr lang="de-CH" sz="1200" dirty="0" err="1"/>
              <a:t>result</a:t>
            </a:r>
            <a:r>
              <a:rPr lang="de-CH" sz="1200" dirty="0"/>
              <a:t> / N;</a:t>
            </a:r>
          </a:p>
          <a:p>
            <a:r>
              <a:rPr lang="de-CH" sz="1200" dirty="0"/>
              <a:t>}</a:t>
            </a:r>
            <a:endParaRPr lang="ru-RU" sz="1200" dirty="0"/>
          </a:p>
        </p:txBody>
      </p:sp>
    </p:spTree>
    <p:extLst>
      <p:ext uri="{BB962C8B-B14F-4D97-AF65-F5344CB8AC3E}">
        <p14:creationId xmlns:p14="http://schemas.microsoft.com/office/powerpoint/2010/main" val="2043790020"/>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200F30-4560-3E02-8075-0F65F15979BD}"/>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6F366DFA-4F74-4049-3540-CE79AC606D65}"/>
              </a:ext>
            </a:extLst>
          </p:cNvPr>
          <p:cNvSpPr>
            <a:spLocks noGrp="1"/>
          </p:cNvSpPr>
          <p:nvPr>
            <p:ph idx="1"/>
          </p:nvPr>
        </p:nvSpPr>
        <p:spPr/>
        <p:txBody>
          <a:bodyPr/>
          <a:lstStyle/>
          <a:p>
            <a:r>
              <a:rPr lang="ru-RU" b="1" dirty="0"/>
              <a:t>Выведение типов и результата</a:t>
            </a:r>
          </a:p>
          <a:p>
            <a:r>
              <a:rPr lang="ru-RU" sz="1200" dirty="0"/>
              <a:t>Стоит отметить, что начиная со стандарта C++20 можно определять параметры, типы которых автоматически выводятся исходя из переданных аргументов. Аналогично можно и выводить тип результата. Для этого применяется ключевое слово </a:t>
            </a:r>
            <a:r>
              <a:rPr lang="ru-RU" sz="1200" b="1" dirty="0" err="1"/>
              <a:t>auto</a:t>
            </a:r>
            <a:r>
              <a:rPr lang="ru-RU" sz="1200" dirty="0"/>
              <a:t>. Равным образом для определения типов параметров и результатов функции можно использовать выражения </a:t>
            </a:r>
            <a:r>
              <a:rPr lang="ru-RU" sz="1200" dirty="0" err="1"/>
              <a:t>auto</a:t>
            </a:r>
            <a:r>
              <a:rPr lang="ru-RU" sz="1200" dirty="0"/>
              <a:t>*, </a:t>
            </a:r>
            <a:r>
              <a:rPr lang="ru-RU" sz="1200" dirty="0" err="1"/>
              <a:t>auto</a:t>
            </a:r>
            <a:r>
              <a:rPr lang="ru-RU" sz="1200" dirty="0"/>
              <a:t>&amp; и </a:t>
            </a:r>
            <a:r>
              <a:rPr lang="ru-RU" sz="1200" dirty="0" err="1"/>
              <a:t>const</a:t>
            </a:r>
            <a:r>
              <a:rPr lang="ru-RU" sz="1200" dirty="0"/>
              <a:t> </a:t>
            </a:r>
            <a:r>
              <a:rPr lang="ru-RU" sz="1200" dirty="0" err="1"/>
              <a:t>auto</a:t>
            </a:r>
            <a:r>
              <a:rPr lang="ru-RU" sz="1200" dirty="0"/>
              <a:t>&amp;:</a:t>
            </a:r>
            <a:endParaRPr lang="de-CH" sz="1200" dirty="0"/>
          </a:p>
          <a:p>
            <a:endParaRPr lang="de-CH" sz="1200" dirty="0"/>
          </a:p>
          <a:p>
            <a:r>
              <a:rPr lang="de-CH" sz="1200" dirty="0"/>
              <a:t>#include &lt;</a:t>
            </a:r>
            <a:r>
              <a:rPr lang="de-CH" sz="1200" dirty="0" err="1"/>
              <a:t>iostream</a:t>
            </a:r>
            <a:r>
              <a:rPr lang="de-CH" sz="1200" dirty="0"/>
              <a:t>&gt;&gt;</a:t>
            </a:r>
          </a:p>
          <a:p>
            <a:r>
              <a:rPr lang="de-CH" sz="1200" dirty="0" err="1"/>
              <a:t>auto</a:t>
            </a:r>
            <a:r>
              <a:rPr lang="de-CH" sz="1200" dirty="0"/>
              <a:t> </a:t>
            </a:r>
            <a:r>
              <a:rPr lang="de-CH" sz="1200" dirty="0" err="1"/>
              <a:t>add</a:t>
            </a:r>
            <a:r>
              <a:rPr lang="de-CH" sz="1200" dirty="0"/>
              <a:t>(</a:t>
            </a:r>
            <a:r>
              <a:rPr lang="de-CH" sz="1200" b="1" dirty="0" err="1"/>
              <a:t>const</a:t>
            </a:r>
            <a:r>
              <a:rPr lang="de-CH" sz="1200" dirty="0"/>
              <a:t> </a:t>
            </a:r>
            <a:r>
              <a:rPr lang="de-CH" sz="1200" dirty="0" err="1"/>
              <a:t>auto</a:t>
            </a:r>
            <a:r>
              <a:rPr lang="de-CH" sz="1200" dirty="0"/>
              <a:t>&amp; a, </a:t>
            </a:r>
            <a:r>
              <a:rPr lang="de-CH" sz="1200" b="1" dirty="0" err="1"/>
              <a:t>const</a:t>
            </a:r>
            <a:r>
              <a:rPr lang="de-CH" sz="1200" dirty="0"/>
              <a:t> </a:t>
            </a:r>
            <a:r>
              <a:rPr lang="de-CH" sz="1200" dirty="0" err="1"/>
              <a:t>auto</a:t>
            </a:r>
            <a:r>
              <a:rPr lang="de-CH" sz="1200" dirty="0"/>
              <a:t>&amp; b)</a:t>
            </a:r>
          </a:p>
          <a:p>
            <a:r>
              <a:rPr lang="de-CH" sz="1200" dirty="0"/>
              <a:t>{</a:t>
            </a:r>
          </a:p>
          <a:p>
            <a:r>
              <a:rPr lang="de-CH" sz="1200" dirty="0"/>
              <a:t>    </a:t>
            </a:r>
            <a:r>
              <a:rPr lang="de-CH" sz="1200" b="1" dirty="0" err="1"/>
              <a:t>return</a:t>
            </a:r>
            <a:r>
              <a:rPr lang="de-CH" sz="1200" dirty="0"/>
              <a:t> a + b;</a:t>
            </a:r>
          </a:p>
          <a:p>
            <a:r>
              <a:rPr lang="de-CH" sz="1200" dirty="0"/>
              <a:t>}</a:t>
            </a:r>
          </a:p>
          <a:p>
            <a:r>
              <a:rPr lang="de-CH" sz="1200" dirty="0"/>
              <a:t> </a:t>
            </a:r>
          </a:p>
          <a:p>
            <a:r>
              <a:rPr lang="de-CH" sz="1200" b="1" dirty="0"/>
              <a:t>int</a:t>
            </a:r>
            <a:r>
              <a:rPr lang="de-CH" sz="1200" dirty="0"/>
              <a:t> </a:t>
            </a:r>
            <a:r>
              <a:rPr lang="de-CH" sz="1200" dirty="0" err="1"/>
              <a:t>main</a:t>
            </a:r>
            <a:r>
              <a:rPr lang="de-CH" sz="1200" dirty="0"/>
              <a:t>()</a:t>
            </a:r>
          </a:p>
          <a:p>
            <a:r>
              <a:rPr lang="de-CH" sz="1200" dirty="0"/>
              <a:t>{</a:t>
            </a:r>
          </a:p>
          <a:p>
            <a:r>
              <a:rPr lang="de-CH" sz="1200" dirty="0"/>
              <a:t>    </a:t>
            </a:r>
            <a:r>
              <a:rPr lang="de-CH" sz="1200" b="1" dirty="0" err="1"/>
              <a:t>const</a:t>
            </a:r>
            <a:r>
              <a:rPr lang="de-CH" sz="1200" dirty="0"/>
              <a:t> </a:t>
            </a:r>
            <a:r>
              <a:rPr lang="de-CH" sz="1200" b="1" dirty="0"/>
              <a:t>int</a:t>
            </a:r>
            <a:r>
              <a:rPr lang="de-CH" sz="1200" dirty="0"/>
              <a:t> n1{3};</a:t>
            </a:r>
          </a:p>
          <a:p>
            <a:r>
              <a:rPr lang="de-CH" sz="1200" dirty="0"/>
              <a:t>    </a:t>
            </a:r>
            <a:r>
              <a:rPr lang="de-CH" sz="1200" b="1" dirty="0" err="1"/>
              <a:t>const</a:t>
            </a:r>
            <a:r>
              <a:rPr lang="de-CH" sz="1200" dirty="0"/>
              <a:t> </a:t>
            </a:r>
            <a:r>
              <a:rPr lang="de-CH" sz="1200" b="1" dirty="0"/>
              <a:t>int</a:t>
            </a:r>
            <a:r>
              <a:rPr lang="de-CH" sz="1200" dirty="0"/>
              <a:t> n2{4};</a:t>
            </a:r>
          </a:p>
          <a:p>
            <a:r>
              <a:rPr lang="de-CH" sz="1200" dirty="0"/>
              <a:t>    </a:t>
            </a:r>
            <a:r>
              <a:rPr lang="de-CH" sz="1200" dirty="0" err="1"/>
              <a:t>std</a:t>
            </a:r>
            <a:r>
              <a:rPr lang="de-CH" sz="1200" dirty="0"/>
              <a:t>::</a:t>
            </a:r>
            <a:r>
              <a:rPr lang="de-CH" sz="1200" dirty="0" err="1"/>
              <a:t>cout</a:t>
            </a:r>
            <a:r>
              <a:rPr lang="de-CH" sz="1200" dirty="0"/>
              <a:t> &lt;&lt; </a:t>
            </a:r>
            <a:r>
              <a:rPr lang="de-CH" sz="1200" dirty="0" err="1"/>
              <a:t>add</a:t>
            </a:r>
            <a:r>
              <a:rPr lang="de-CH" sz="1200" dirty="0"/>
              <a:t>(n1, n2) &lt;&lt; </a:t>
            </a:r>
            <a:r>
              <a:rPr lang="de-CH" sz="1200" dirty="0" err="1"/>
              <a:t>std</a:t>
            </a:r>
            <a:r>
              <a:rPr lang="de-CH" sz="1200" dirty="0"/>
              <a:t>::</a:t>
            </a:r>
            <a:r>
              <a:rPr lang="de-CH" sz="1200" dirty="0" err="1"/>
              <a:t>endl</a:t>
            </a:r>
            <a:r>
              <a:rPr lang="de-CH" sz="1200" dirty="0"/>
              <a:t>;  // 7</a:t>
            </a:r>
          </a:p>
          <a:p>
            <a:r>
              <a:rPr lang="de-CH" sz="1200" dirty="0"/>
              <a:t> </a:t>
            </a:r>
          </a:p>
          <a:p>
            <a:r>
              <a:rPr lang="de-CH" sz="1200" dirty="0"/>
              <a:t>    </a:t>
            </a:r>
            <a:r>
              <a:rPr lang="de-CH" sz="1200" b="1" dirty="0" err="1"/>
              <a:t>const</a:t>
            </a:r>
            <a:r>
              <a:rPr lang="de-CH" sz="1200" dirty="0"/>
              <a:t> </a:t>
            </a:r>
            <a:r>
              <a:rPr lang="de-CH" sz="1200" b="1" dirty="0"/>
              <a:t>double</a:t>
            </a:r>
            <a:r>
              <a:rPr lang="de-CH" sz="1200" dirty="0"/>
              <a:t> d1{3.3};</a:t>
            </a:r>
          </a:p>
          <a:p>
            <a:r>
              <a:rPr lang="de-CH" sz="1200" dirty="0"/>
              <a:t>    </a:t>
            </a:r>
            <a:r>
              <a:rPr lang="de-CH" sz="1200" b="1" dirty="0" err="1"/>
              <a:t>const</a:t>
            </a:r>
            <a:r>
              <a:rPr lang="de-CH" sz="1200" dirty="0"/>
              <a:t> </a:t>
            </a:r>
            <a:r>
              <a:rPr lang="de-CH" sz="1200" b="1" dirty="0"/>
              <a:t>double</a:t>
            </a:r>
            <a:r>
              <a:rPr lang="de-CH" sz="1200" dirty="0"/>
              <a:t> d2{4.4};</a:t>
            </a:r>
          </a:p>
          <a:p>
            <a:r>
              <a:rPr lang="de-CH" sz="1200" dirty="0"/>
              <a:t>    </a:t>
            </a:r>
            <a:r>
              <a:rPr lang="de-CH" sz="1200" dirty="0" err="1"/>
              <a:t>std</a:t>
            </a:r>
            <a:r>
              <a:rPr lang="de-CH" sz="1200" dirty="0"/>
              <a:t>::</a:t>
            </a:r>
            <a:r>
              <a:rPr lang="de-CH" sz="1200" dirty="0" err="1"/>
              <a:t>cout</a:t>
            </a:r>
            <a:r>
              <a:rPr lang="de-CH" sz="1200" dirty="0"/>
              <a:t> &lt;&lt; </a:t>
            </a:r>
            <a:r>
              <a:rPr lang="de-CH" sz="1200" dirty="0" err="1"/>
              <a:t>add</a:t>
            </a:r>
            <a:r>
              <a:rPr lang="de-CH" sz="1200" dirty="0"/>
              <a:t>(d1, d2) &lt;&lt; </a:t>
            </a:r>
            <a:r>
              <a:rPr lang="de-CH" sz="1200" dirty="0" err="1"/>
              <a:t>std</a:t>
            </a:r>
            <a:r>
              <a:rPr lang="de-CH" sz="1200" dirty="0"/>
              <a:t>::</a:t>
            </a:r>
            <a:r>
              <a:rPr lang="de-CH" sz="1200" dirty="0" err="1"/>
              <a:t>endl</a:t>
            </a:r>
            <a:r>
              <a:rPr lang="de-CH" sz="1200" dirty="0"/>
              <a:t>;  // 7.7</a:t>
            </a:r>
          </a:p>
          <a:p>
            <a:r>
              <a:rPr lang="de-CH" sz="1200" dirty="0"/>
              <a:t>}</a:t>
            </a:r>
          </a:p>
          <a:p>
            <a:endParaRPr lang="ru-RU" dirty="0"/>
          </a:p>
        </p:txBody>
      </p:sp>
    </p:spTree>
    <p:extLst>
      <p:ext uri="{BB962C8B-B14F-4D97-AF65-F5344CB8AC3E}">
        <p14:creationId xmlns:p14="http://schemas.microsoft.com/office/powerpoint/2010/main" val="2372232038"/>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642A94-C293-A957-CD4F-E6293DAAA60F}"/>
              </a:ext>
            </a:extLst>
          </p:cNvPr>
          <p:cNvSpPr>
            <a:spLocks noGrp="1"/>
          </p:cNvSpPr>
          <p:nvPr>
            <p:ph type="title"/>
          </p:nvPr>
        </p:nvSpPr>
        <p:spPr/>
        <p:txBody>
          <a:bodyPr/>
          <a:lstStyle/>
          <a:p>
            <a:r>
              <a:rPr lang="ru-RU" dirty="0"/>
              <a:t>ИСКЛЮЧЕНИЯ</a:t>
            </a:r>
          </a:p>
        </p:txBody>
      </p:sp>
      <p:sp>
        <p:nvSpPr>
          <p:cNvPr id="3" name="Объект 2">
            <a:extLst>
              <a:ext uri="{FF2B5EF4-FFF2-40B4-BE49-F238E27FC236}">
                <a16:creationId xmlns:a16="http://schemas.microsoft.com/office/drawing/2014/main" id="{04A66F1B-A01C-384F-4732-E4B1D63EE848}"/>
              </a:ext>
            </a:extLst>
          </p:cNvPr>
          <p:cNvSpPr>
            <a:spLocks noGrp="1"/>
          </p:cNvSpPr>
          <p:nvPr>
            <p:ph idx="1"/>
          </p:nvPr>
        </p:nvSpPr>
        <p:spPr/>
        <p:txBody>
          <a:bodyPr/>
          <a:lstStyle/>
          <a:p>
            <a:endParaRPr lang="ru-RU" dirty="0"/>
          </a:p>
          <a:p>
            <a:r>
              <a:rPr lang="ru-RU" dirty="0"/>
              <a:t>Исключение представляет временный объект любого типа, который используется для сигнализации об ошибке. Цель объекта-исключения состоит в том, чтобы передать информацию из точки, в которой произошла ошибка, в код, который должен ее обработать. Если исключение не обработано, то при его возникновении программа прекращает свою работу.</a:t>
            </a:r>
          </a:p>
        </p:txBody>
      </p:sp>
    </p:spTree>
    <p:extLst>
      <p:ext uri="{BB962C8B-B14F-4D97-AF65-F5344CB8AC3E}">
        <p14:creationId xmlns:p14="http://schemas.microsoft.com/office/powerpoint/2010/main" val="2970430546"/>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F623BB-1F07-9221-2759-078495B04D41}"/>
              </a:ext>
            </a:extLst>
          </p:cNvPr>
          <p:cNvSpPr>
            <a:spLocks noGrp="1"/>
          </p:cNvSpPr>
          <p:nvPr>
            <p:ph type="title"/>
          </p:nvPr>
        </p:nvSpPr>
        <p:spPr/>
        <p:txBody>
          <a:bodyPr/>
          <a:lstStyle/>
          <a:p>
            <a:r>
              <a:rPr lang="ru-RU" dirty="0"/>
              <a:t>ИСКЛЮЧЕНИЯ</a:t>
            </a:r>
          </a:p>
        </p:txBody>
      </p:sp>
      <p:sp>
        <p:nvSpPr>
          <p:cNvPr id="3" name="Объект 2">
            <a:extLst>
              <a:ext uri="{FF2B5EF4-FFF2-40B4-BE49-F238E27FC236}">
                <a16:creationId xmlns:a16="http://schemas.microsoft.com/office/drawing/2014/main" id="{F65E8C80-8913-6F67-122F-2414D8382C29}"/>
              </a:ext>
            </a:extLst>
          </p:cNvPr>
          <p:cNvSpPr>
            <a:spLocks noGrp="1"/>
          </p:cNvSpPr>
          <p:nvPr>
            <p:ph idx="1"/>
          </p:nvPr>
        </p:nvSpPr>
        <p:spPr/>
        <p:txBody>
          <a:bodyPr/>
          <a:lstStyle/>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ru-RU" sz="1600" dirty="0">
              <a:solidFill>
                <a:srgbClr val="000000"/>
              </a:solidFill>
              <a:highlight>
                <a:srgbClr val="FFFFFF"/>
              </a:highlight>
              <a:latin typeface="Cascadia Mono" panose="020B0609020000020004" pitchFamily="49" charset="0"/>
            </a:endParaRPr>
          </a:p>
          <a:p>
            <a:r>
              <a:rPr lang="fr-FR" sz="1600" dirty="0">
                <a:solidFill>
                  <a:srgbClr val="0000FF"/>
                </a:solidFill>
                <a:highlight>
                  <a:srgbClr val="FFFFFF"/>
                </a:highlight>
                <a:latin typeface="Cascadia Mono" panose="020B0609020000020004" pitchFamily="49" charset="0"/>
              </a:rPr>
              <a:t>double</a:t>
            </a:r>
            <a:r>
              <a:rPr lang="fr-FR" sz="1600" dirty="0">
                <a:solidFill>
                  <a:srgbClr val="000000"/>
                </a:solidFill>
                <a:highlight>
                  <a:srgbClr val="FFFFFF"/>
                </a:highlight>
                <a:latin typeface="Cascadia Mono" panose="020B0609020000020004" pitchFamily="49" charset="0"/>
              </a:rPr>
              <a:t> </a:t>
            </a:r>
            <a:r>
              <a:rPr lang="fr-FR" sz="1600" dirty="0" err="1">
                <a:solidFill>
                  <a:srgbClr val="000000"/>
                </a:solidFill>
                <a:highlight>
                  <a:srgbClr val="FFFFFF"/>
                </a:highlight>
                <a:latin typeface="Cascadia Mono" panose="020B0609020000020004" pitchFamily="49" charset="0"/>
              </a:rPr>
              <a:t>divide</a:t>
            </a:r>
            <a:r>
              <a:rPr lang="fr-FR" sz="1600" dirty="0">
                <a:solidFill>
                  <a:srgbClr val="000000"/>
                </a:solidFill>
                <a:highlight>
                  <a:srgbClr val="FFFFFF"/>
                </a:highlight>
                <a:latin typeface="Cascadia Mono" panose="020B0609020000020004" pitchFamily="49" charset="0"/>
              </a:rPr>
              <a:t>(</a:t>
            </a:r>
            <a:r>
              <a:rPr lang="fr-FR" sz="1600" dirty="0">
                <a:solidFill>
                  <a:srgbClr val="0000FF"/>
                </a:solidFill>
                <a:highlight>
                  <a:srgbClr val="FFFFFF"/>
                </a:highlight>
                <a:latin typeface="Cascadia Mono" panose="020B0609020000020004" pitchFamily="49" charset="0"/>
              </a:rPr>
              <a:t>int</a:t>
            </a:r>
            <a:r>
              <a:rPr lang="fr-FR" sz="1600" dirty="0">
                <a:solidFill>
                  <a:srgbClr val="000000"/>
                </a:solidFill>
                <a:highlight>
                  <a:srgbClr val="FFFFFF"/>
                </a:highlight>
                <a:latin typeface="Cascadia Mono" panose="020B0609020000020004" pitchFamily="49" charset="0"/>
              </a:rPr>
              <a:t> </a:t>
            </a:r>
            <a:r>
              <a:rPr lang="fr-FR" sz="1600" dirty="0">
                <a:solidFill>
                  <a:srgbClr val="808080"/>
                </a:solidFill>
                <a:highlight>
                  <a:srgbClr val="FFFFFF"/>
                </a:highlight>
                <a:latin typeface="Cascadia Mono" panose="020B0609020000020004" pitchFamily="49" charset="0"/>
              </a:rPr>
              <a:t>a</a:t>
            </a:r>
            <a:r>
              <a:rPr lang="fr-FR" sz="1600" dirty="0">
                <a:solidFill>
                  <a:srgbClr val="000000"/>
                </a:solidFill>
                <a:highlight>
                  <a:srgbClr val="FFFFFF"/>
                </a:highlight>
                <a:latin typeface="Cascadia Mono" panose="020B0609020000020004" pitchFamily="49" charset="0"/>
              </a:rPr>
              <a:t>, </a:t>
            </a:r>
            <a:r>
              <a:rPr lang="fr-FR" sz="1600" dirty="0">
                <a:solidFill>
                  <a:srgbClr val="0000FF"/>
                </a:solidFill>
                <a:highlight>
                  <a:srgbClr val="FFFFFF"/>
                </a:highlight>
                <a:latin typeface="Cascadia Mono" panose="020B0609020000020004" pitchFamily="49" charset="0"/>
              </a:rPr>
              <a:t>int</a:t>
            </a:r>
            <a:r>
              <a:rPr lang="fr-FR" sz="1600" dirty="0">
                <a:solidFill>
                  <a:srgbClr val="000000"/>
                </a:solidFill>
                <a:highlight>
                  <a:srgbClr val="FFFFFF"/>
                </a:highlight>
                <a:latin typeface="Cascadia Mono" panose="020B0609020000020004" pitchFamily="49" charset="0"/>
              </a:rPr>
              <a:t> </a:t>
            </a:r>
            <a:r>
              <a:rPr lang="fr-FR" sz="1600" dirty="0">
                <a:solidFill>
                  <a:srgbClr val="808080"/>
                </a:solidFill>
                <a:highlight>
                  <a:srgbClr val="FFFFFF"/>
                </a:highlight>
                <a:latin typeface="Cascadia Mono" panose="020B0609020000020004" pitchFamily="49" charset="0"/>
              </a:rPr>
              <a:t>b</a:t>
            </a:r>
            <a:r>
              <a:rPr lang="fr-FR"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a</a:t>
            </a:r>
            <a:r>
              <a:rPr lang="de-CH" sz="1600" dirty="0">
                <a:solidFill>
                  <a:srgbClr val="000000"/>
                </a:solidFill>
                <a:highlight>
                  <a:srgbClr val="FFFFFF"/>
                </a:highlight>
                <a:latin typeface="Cascadia Mono" panose="020B0609020000020004" pitchFamily="49" charset="0"/>
              </a:rPr>
              <a:t> / </a:t>
            </a:r>
            <a:r>
              <a:rPr lang="de-CH" sz="1600" dirty="0">
                <a:solidFill>
                  <a:srgbClr val="808080"/>
                </a:solidFill>
                <a:highlight>
                  <a:srgbClr val="FFFFFF"/>
                </a:highlight>
                <a:latin typeface="Cascadia Mono" panose="020B0609020000020004" pitchFamily="49" charset="0"/>
              </a:rPr>
              <a:t>b</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x{ 500 };</a:t>
            </a:r>
          </a:p>
          <a:p>
            <a:r>
              <a:rPr lang="de-CH" sz="1600" dirty="0">
                <a:solidFill>
                  <a:srgbClr val="000000"/>
                </a:solidFill>
                <a:highlight>
                  <a:srgbClr val="FFFFFF"/>
                </a:highlight>
                <a:latin typeface="Cascadia Mono" panose="020B0609020000020004" pitchFamily="49" charset="0"/>
              </a:rPr>
              <a:t>    </a:t>
            </a:r>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y{};</a:t>
            </a:r>
          </a:p>
          <a:p>
            <a:r>
              <a:rPr lang="fr-FR" sz="1600" dirty="0">
                <a:solidFill>
                  <a:srgbClr val="000000"/>
                </a:solidFill>
                <a:highlight>
                  <a:srgbClr val="FFFFFF"/>
                </a:highlight>
                <a:latin typeface="Cascadia Mono" panose="020B0609020000020004" pitchFamily="49" charset="0"/>
              </a:rPr>
              <a:t>    </a:t>
            </a:r>
            <a:r>
              <a:rPr lang="fr-FR" sz="1600" dirty="0">
                <a:solidFill>
                  <a:srgbClr val="0000FF"/>
                </a:solidFill>
                <a:highlight>
                  <a:srgbClr val="FFFFFF"/>
                </a:highlight>
                <a:latin typeface="Cascadia Mono" panose="020B0609020000020004" pitchFamily="49" charset="0"/>
              </a:rPr>
              <a:t>double</a:t>
            </a:r>
            <a:r>
              <a:rPr lang="fr-FR" sz="1600" dirty="0">
                <a:solidFill>
                  <a:srgbClr val="000000"/>
                </a:solidFill>
                <a:highlight>
                  <a:srgbClr val="FFFFFF"/>
                </a:highlight>
                <a:latin typeface="Cascadia Mono" panose="020B0609020000020004" pitchFamily="49" charset="0"/>
              </a:rPr>
              <a:t> z{ </a:t>
            </a:r>
            <a:r>
              <a:rPr lang="fr-FR" sz="1600" dirty="0" err="1">
                <a:solidFill>
                  <a:srgbClr val="000000"/>
                </a:solidFill>
                <a:highlight>
                  <a:srgbClr val="FFFFFF"/>
                </a:highlight>
                <a:latin typeface="Cascadia Mono" panose="020B0609020000020004" pitchFamily="49" charset="0"/>
              </a:rPr>
              <a:t>divide</a:t>
            </a:r>
            <a:r>
              <a:rPr lang="fr-FR" sz="1600" dirty="0">
                <a:solidFill>
                  <a:srgbClr val="000000"/>
                </a:solidFill>
                <a:highlight>
                  <a:srgbClr val="FFFFFF"/>
                </a:highlight>
                <a:latin typeface="Cascadia Mono" panose="020B0609020000020004" pitchFamily="49" charset="0"/>
              </a:rPr>
              <a:t>(x, y) };</a:t>
            </a:r>
          </a:p>
          <a:p>
            <a:endParaRPr lang="ru-RU" sz="1600" dirty="0">
              <a:solidFill>
                <a:srgbClr val="000000"/>
              </a:solidFill>
              <a:highlight>
                <a:srgbClr val="FFFFFF"/>
              </a:highlight>
              <a:latin typeface="Cascadia Mono" panose="020B0609020000020004" pitchFamily="49" charset="0"/>
            </a:endParaRPr>
          </a:p>
          <a:p>
            <a:r>
              <a:rPr lang="de-DE" sz="1600" dirty="0">
                <a:solidFill>
                  <a:srgbClr val="000000"/>
                </a:solidFill>
                <a:highlight>
                  <a:srgbClr val="FFFFFF"/>
                </a:highlight>
                <a:latin typeface="Cascadia Mono" panose="020B0609020000020004" pitchFamily="49" charset="0"/>
              </a:rPr>
              <a:t>    </a:t>
            </a:r>
            <a:r>
              <a:rPr lang="de-DE" sz="1600" dirty="0" err="1">
                <a:solidFill>
                  <a:srgbClr val="000000"/>
                </a:solidFill>
                <a:highlight>
                  <a:srgbClr val="FFFFFF"/>
                </a:highlight>
                <a:latin typeface="Cascadia Mono" panose="020B0609020000020004" pitchFamily="49" charset="0"/>
              </a:rPr>
              <a:t>std</a:t>
            </a:r>
            <a:r>
              <a:rPr lang="de-DE" sz="1600" dirty="0">
                <a:solidFill>
                  <a:srgbClr val="000000"/>
                </a:solidFill>
                <a:highlight>
                  <a:srgbClr val="FFFFFF"/>
                </a:highlight>
                <a:latin typeface="Cascadia Mono" panose="020B0609020000020004" pitchFamily="49" charset="0"/>
              </a:rPr>
              <a:t>::</a:t>
            </a:r>
            <a:r>
              <a:rPr lang="de-DE" sz="1600" dirty="0" err="1">
                <a:solidFill>
                  <a:srgbClr val="000000"/>
                </a:solidFill>
                <a:highlight>
                  <a:srgbClr val="FFFFFF"/>
                </a:highlight>
                <a:latin typeface="Cascadia Mono" panose="020B0609020000020004" pitchFamily="49" charset="0"/>
              </a:rPr>
              <a:t>cout</a:t>
            </a:r>
            <a:r>
              <a:rPr lang="de-DE" sz="1600" dirty="0">
                <a:solidFill>
                  <a:srgbClr val="000000"/>
                </a:solidFill>
                <a:highlight>
                  <a:srgbClr val="FFFFFF"/>
                </a:highlight>
                <a:latin typeface="Cascadia Mono" panose="020B0609020000020004" pitchFamily="49" charset="0"/>
              </a:rPr>
              <a:t> </a:t>
            </a:r>
            <a:r>
              <a:rPr lang="de-DE" sz="1600" dirty="0">
                <a:solidFill>
                  <a:srgbClr val="008080"/>
                </a:solidFill>
                <a:highlight>
                  <a:srgbClr val="FFFFFF"/>
                </a:highlight>
                <a:latin typeface="Cascadia Mono" panose="020B0609020000020004" pitchFamily="49" charset="0"/>
              </a:rPr>
              <a:t>&lt;&lt;</a:t>
            </a:r>
            <a:r>
              <a:rPr lang="de-DE" sz="1600" dirty="0">
                <a:solidFill>
                  <a:srgbClr val="000000"/>
                </a:solidFill>
                <a:highlight>
                  <a:srgbClr val="FFFFFF"/>
                </a:highlight>
                <a:latin typeface="Cascadia Mono" panose="020B0609020000020004" pitchFamily="49" charset="0"/>
              </a:rPr>
              <a:t> z </a:t>
            </a:r>
            <a:r>
              <a:rPr lang="de-DE" sz="1600" dirty="0">
                <a:solidFill>
                  <a:srgbClr val="008080"/>
                </a:solidFill>
                <a:highlight>
                  <a:srgbClr val="FFFFFF"/>
                </a:highlight>
                <a:latin typeface="Cascadia Mono" panose="020B0609020000020004" pitchFamily="49" charset="0"/>
              </a:rPr>
              <a:t>&lt;&lt;</a:t>
            </a:r>
            <a:r>
              <a:rPr lang="de-DE" sz="1600" dirty="0">
                <a:solidFill>
                  <a:srgbClr val="000000"/>
                </a:solidFill>
                <a:highlight>
                  <a:srgbClr val="FFFFFF"/>
                </a:highlight>
                <a:latin typeface="Cascadia Mono" panose="020B0609020000020004" pitchFamily="49" charset="0"/>
              </a:rPr>
              <a:t> </a:t>
            </a:r>
            <a:r>
              <a:rPr lang="de-DE" sz="1600" dirty="0" err="1">
                <a:solidFill>
                  <a:srgbClr val="000000"/>
                </a:solidFill>
                <a:highlight>
                  <a:srgbClr val="FFFFFF"/>
                </a:highlight>
                <a:latin typeface="Cascadia Mono" panose="020B0609020000020004" pitchFamily="49" charset="0"/>
              </a:rPr>
              <a:t>std</a:t>
            </a:r>
            <a:r>
              <a:rPr lang="de-DE" sz="1600" dirty="0">
                <a:solidFill>
                  <a:srgbClr val="000000"/>
                </a:solidFill>
                <a:highlight>
                  <a:srgbClr val="FFFFFF"/>
                </a:highlight>
                <a:latin typeface="Cascadia Mono" panose="020B0609020000020004" pitchFamily="49" charset="0"/>
              </a:rPr>
              <a:t>::</a:t>
            </a:r>
            <a:r>
              <a:rPr lang="de-DE" sz="1600" dirty="0" err="1">
                <a:solidFill>
                  <a:srgbClr val="000000"/>
                </a:solidFill>
                <a:highlight>
                  <a:srgbClr val="FFFFFF"/>
                </a:highlight>
                <a:latin typeface="Cascadia Mono" panose="020B0609020000020004" pitchFamily="49" charset="0"/>
              </a:rPr>
              <a:t>endl</a:t>
            </a:r>
            <a:r>
              <a:rPr lang="de-DE" sz="1600" dirty="0">
                <a:solidFill>
                  <a:srgbClr val="000000"/>
                </a:solidFill>
                <a:highlight>
                  <a:srgbClr val="FFFFFF"/>
                </a:highlight>
                <a:latin typeface="Cascadia Mono" panose="020B0609020000020004" pitchFamily="49" charset="0"/>
              </a:rPr>
              <a:t>;</a:t>
            </a: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A31515"/>
                </a:solidFill>
                <a:highlight>
                  <a:srgbClr val="FFFFFF"/>
                </a:highlight>
                <a:latin typeface="Cascadia Mono" panose="020B0609020000020004" pitchFamily="49" charset="0"/>
              </a:rPr>
              <a:t>"The End..."</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46137202"/>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596C0B-6AAB-39E4-92B7-059AA5ADD334}"/>
              </a:ext>
            </a:extLst>
          </p:cNvPr>
          <p:cNvSpPr>
            <a:spLocks noGrp="1"/>
          </p:cNvSpPr>
          <p:nvPr>
            <p:ph type="title"/>
          </p:nvPr>
        </p:nvSpPr>
        <p:spPr/>
        <p:txBody>
          <a:bodyPr/>
          <a:lstStyle/>
          <a:p>
            <a:r>
              <a:rPr lang="ru-RU" dirty="0"/>
              <a:t>ИСКЛЮЧЕНИЯ</a:t>
            </a:r>
          </a:p>
        </p:txBody>
      </p:sp>
      <p:sp>
        <p:nvSpPr>
          <p:cNvPr id="3" name="Объект 2">
            <a:extLst>
              <a:ext uri="{FF2B5EF4-FFF2-40B4-BE49-F238E27FC236}">
                <a16:creationId xmlns:a16="http://schemas.microsoft.com/office/drawing/2014/main" id="{3D5B03DA-1B69-9552-21E8-512BC438C231}"/>
              </a:ext>
            </a:extLst>
          </p:cNvPr>
          <p:cNvSpPr>
            <a:spLocks noGrp="1"/>
          </p:cNvSpPr>
          <p:nvPr>
            <p:ph idx="1"/>
          </p:nvPr>
        </p:nvSpPr>
        <p:spPr>
          <a:xfrm>
            <a:off x="457200" y="1343988"/>
            <a:ext cx="8229600" cy="5248275"/>
          </a:xfrm>
        </p:spPr>
        <p:txBody>
          <a:bodyPr/>
          <a:lstStyle/>
          <a:p>
            <a:r>
              <a:rPr lang="ru-RU" dirty="0"/>
              <a:t>Проверка внутри функции</a:t>
            </a:r>
          </a:p>
          <a:p>
            <a:endParaRPr lang="ru-RU" dirty="0"/>
          </a:p>
          <a:p>
            <a:r>
              <a:rPr lang="fr-FR" sz="1800" dirty="0">
                <a:solidFill>
                  <a:srgbClr val="0000FF"/>
                </a:solidFill>
                <a:highlight>
                  <a:srgbClr val="FFFFFF"/>
                </a:highlight>
                <a:latin typeface="Cascadia Mono" panose="020B0609020000020004" pitchFamily="49" charset="0"/>
              </a:rPr>
              <a:t>double</a:t>
            </a:r>
            <a:r>
              <a:rPr lang="fr-FR" sz="1800" dirty="0">
                <a:solidFill>
                  <a:srgbClr val="000000"/>
                </a:solidFill>
                <a:highlight>
                  <a:srgbClr val="FFFFFF"/>
                </a:highlight>
                <a:latin typeface="Cascadia Mono" panose="020B0609020000020004" pitchFamily="49" charset="0"/>
              </a:rPr>
              <a:t> </a:t>
            </a:r>
            <a:r>
              <a:rPr lang="fr-FR" sz="1800" dirty="0" err="1">
                <a:solidFill>
                  <a:srgbClr val="000000"/>
                </a:solidFill>
                <a:highlight>
                  <a:srgbClr val="FFFFFF"/>
                </a:highlight>
                <a:latin typeface="Cascadia Mono" panose="020B0609020000020004" pitchFamily="49" charset="0"/>
              </a:rPr>
              <a:t>divide</a:t>
            </a:r>
            <a:r>
              <a:rPr lang="fr-FR" sz="1800" dirty="0">
                <a:solidFill>
                  <a:srgbClr val="000000"/>
                </a:solidFill>
                <a:highlight>
                  <a:srgbClr val="FFFFFF"/>
                </a:highlight>
                <a:latin typeface="Cascadia Mono" panose="020B0609020000020004" pitchFamily="49" charset="0"/>
              </a:rPr>
              <a:t>(</a:t>
            </a:r>
            <a:r>
              <a:rPr lang="fr-FR" sz="1800" dirty="0">
                <a:solidFill>
                  <a:srgbClr val="0000FF"/>
                </a:solidFill>
                <a:highlight>
                  <a:srgbClr val="FFFFFF"/>
                </a:highlight>
                <a:latin typeface="Cascadia Mono" panose="020B0609020000020004" pitchFamily="49" charset="0"/>
              </a:rPr>
              <a:t>int</a:t>
            </a:r>
            <a:r>
              <a:rPr lang="fr-FR" sz="1800" dirty="0">
                <a:solidFill>
                  <a:srgbClr val="000000"/>
                </a:solidFill>
                <a:highlight>
                  <a:srgbClr val="FFFFFF"/>
                </a:highlight>
                <a:latin typeface="Cascadia Mono" panose="020B0609020000020004" pitchFamily="49" charset="0"/>
              </a:rPr>
              <a:t> </a:t>
            </a:r>
            <a:r>
              <a:rPr lang="fr-FR" sz="1800" dirty="0">
                <a:solidFill>
                  <a:srgbClr val="808080"/>
                </a:solidFill>
                <a:highlight>
                  <a:srgbClr val="FFFFFF"/>
                </a:highlight>
                <a:latin typeface="Cascadia Mono" panose="020B0609020000020004" pitchFamily="49" charset="0"/>
              </a:rPr>
              <a:t>a</a:t>
            </a:r>
            <a:r>
              <a:rPr lang="fr-FR" sz="1800" dirty="0">
                <a:solidFill>
                  <a:srgbClr val="000000"/>
                </a:solidFill>
                <a:highlight>
                  <a:srgbClr val="FFFFFF"/>
                </a:highlight>
                <a:latin typeface="Cascadia Mono" panose="020B0609020000020004" pitchFamily="49" charset="0"/>
              </a:rPr>
              <a:t>, </a:t>
            </a:r>
            <a:r>
              <a:rPr lang="fr-FR" sz="1800" dirty="0">
                <a:solidFill>
                  <a:srgbClr val="0000FF"/>
                </a:solidFill>
                <a:highlight>
                  <a:srgbClr val="FFFFFF"/>
                </a:highlight>
                <a:latin typeface="Cascadia Mono" panose="020B0609020000020004" pitchFamily="49" charset="0"/>
              </a:rPr>
              <a:t>int</a:t>
            </a:r>
            <a:r>
              <a:rPr lang="fr-FR" sz="1800" dirty="0">
                <a:solidFill>
                  <a:srgbClr val="000000"/>
                </a:solidFill>
                <a:highlight>
                  <a:srgbClr val="FFFFFF"/>
                </a:highlight>
                <a:latin typeface="Cascadia Mono" panose="020B0609020000020004" pitchFamily="49" charset="0"/>
              </a:rPr>
              <a:t> </a:t>
            </a:r>
            <a:r>
              <a:rPr lang="fr-FR" sz="1800" dirty="0">
                <a:solidFill>
                  <a:srgbClr val="808080"/>
                </a:solidFill>
                <a:highlight>
                  <a:srgbClr val="FFFFFF"/>
                </a:highlight>
                <a:latin typeface="Cascadia Mono" panose="020B0609020000020004" pitchFamily="49" charset="0"/>
              </a:rPr>
              <a:t>b</a:t>
            </a:r>
            <a:r>
              <a:rPr lang="fr-FR"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a:t>
            </a:r>
          </a:p>
          <a:p>
            <a:r>
              <a:rPr lang="de-CH" sz="1800" dirty="0">
                <a:solidFill>
                  <a:srgbClr val="000000"/>
                </a:solidFill>
                <a:highlight>
                  <a:srgbClr val="FFFFFF"/>
                </a:highlight>
                <a:latin typeface="Cascadia Mono" panose="020B0609020000020004" pitchFamily="49" charset="0"/>
              </a:rPr>
              <a:t>    </a:t>
            </a:r>
            <a:r>
              <a:rPr lang="de-CH" sz="1800" dirty="0" err="1">
                <a:solidFill>
                  <a:srgbClr val="0000FF"/>
                </a:solidFill>
                <a:highlight>
                  <a:srgbClr val="FFFFFF"/>
                </a:highlight>
                <a:latin typeface="Cascadia Mono" panose="020B0609020000020004" pitchFamily="49" charset="0"/>
              </a:rPr>
              <a:t>if</a:t>
            </a:r>
            <a:r>
              <a:rPr lang="de-CH" sz="1800" dirty="0">
                <a:solidFill>
                  <a:srgbClr val="000000"/>
                </a:solidFill>
                <a:highlight>
                  <a:srgbClr val="FFFFFF"/>
                </a:highlight>
                <a:latin typeface="Cascadia Mono" panose="020B0609020000020004" pitchFamily="49" charset="0"/>
              </a:rPr>
              <a:t> (</a:t>
            </a:r>
            <a:r>
              <a:rPr lang="de-CH" sz="1800" dirty="0">
                <a:solidFill>
                  <a:srgbClr val="808080"/>
                </a:solidFill>
                <a:highlight>
                  <a:srgbClr val="FFFFFF"/>
                </a:highlight>
                <a:latin typeface="Cascadia Mono" panose="020B0609020000020004" pitchFamily="49" charset="0"/>
              </a:rPr>
              <a:t>b</a:t>
            </a:r>
            <a:r>
              <a:rPr lang="de-CH" sz="1800" dirty="0">
                <a:solidFill>
                  <a:srgbClr val="000000"/>
                </a:solidFill>
                <a:highlight>
                  <a:srgbClr val="FFFFFF"/>
                </a:highlight>
                <a:latin typeface="Cascadia Mono" panose="020B0609020000020004" pitchFamily="49" charset="0"/>
              </a:rPr>
              <a:t>)</a:t>
            </a:r>
          </a:p>
          <a:p>
            <a:r>
              <a:rPr lang="de-CH" sz="1800" dirty="0">
                <a:solidFill>
                  <a:srgbClr val="000000"/>
                </a:solidFill>
                <a:highlight>
                  <a:srgbClr val="FFFFFF"/>
                </a:highlight>
                <a:latin typeface="Cascadia Mono" panose="020B0609020000020004" pitchFamily="49" charset="0"/>
              </a:rPr>
              <a:t>        </a:t>
            </a:r>
            <a:r>
              <a:rPr lang="de-CH" sz="1800" dirty="0" err="1">
                <a:solidFill>
                  <a:srgbClr val="0000FF"/>
                </a:solidFill>
                <a:highlight>
                  <a:srgbClr val="FFFFFF"/>
                </a:highlight>
                <a:latin typeface="Cascadia Mono" panose="020B0609020000020004" pitchFamily="49" charset="0"/>
              </a:rPr>
              <a:t>return</a:t>
            </a:r>
            <a:r>
              <a:rPr lang="de-CH" sz="1800" dirty="0">
                <a:solidFill>
                  <a:srgbClr val="000000"/>
                </a:solidFill>
                <a:highlight>
                  <a:srgbClr val="FFFFFF"/>
                </a:highlight>
                <a:latin typeface="Cascadia Mono" panose="020B0609020000020004" pitchFamily="49" charset="0"/>
              </a:rPr>
              <a:t> </a:t>
            </a:r>
            <a:r>
              <a:rPr lang="de-CH" sz="1800" dirty="0">
                <a:solidFill>
                  <a:srgbClr val="808080"/>
                </a:solidFill>
                <a:highlight>
                  <a:srgbClr val="FFFFFF"/>
                </a:highlight>
                <a:latin typeface="Cascadia Mono" panose="020B0609020000020004" pitchFamily="49" charset="0"/>
              </a:rPr>
              <a:t>a</a:t>
            </a:r>
            <a:r>
              <a:rPr lang="de-CH" sz="1800" dirty="0">
                <a:solidFill>
                  <a:srgbClr val="000000"/>
                </a:solidFill>
                <a:highlight>
                  <a:srgbClr val="FFFFFF"/>
                </a:highlight>
                <a:latin typeface="Cascadia Mono" panose="020B0609020000020004" pitchFamily="49" charset="0"/>
              </a:rPr>
              <a:t> / </a:t>
            </a:r>
            <a:r>
              <a:rPr lang="de-CH" sz="1800" dirty="0">
                <a:solidFill>
                  <a:srgbClr val="808080"/>
                </a:solidFill>
                <a:highlight>
                  <a:srgbClr val="FFFFFF"/>
                </a:highlight>
                <a:latin typeface="Cascadia Mono" panose="020B0609020000020004" pitchFamily="49" charset="0"/>
              </a:rPr>
              <a:t>b</a:t>
            </a:r>
            <a:r>
              <a:rPr lang="de-CH" sz="1800" dirty="0">
                <a:solidFill>
                  <a:srgbClr val="000000"/>
                </a:solidFill>
                <a:highlight>
                  <a:srgbClr val="FFFFFF"/>
                </a:highlight>
                <a:latin typeface="Cascadia Mono" panose="020B0609020000020004" pitchFamily="49" charset="0"/>
              </a:rPr>
              <a:t>;</a:t>
            </a:r>
          </a:p>
          <a:p>
            <a:r>
              <a:rPr lang="de-CH" sz="1800" dirty="0">
                <a:solidFill>
                  <a:srgbClr val="000000"/>
                </a:solidFill>
                <a:highlight>
                  <a:srgbClr val="FFFFFF"/>
                </a:highlight>
                <a:latin typeface="Cascadia Mono" panose="020B0609020000020004" pitchFamily="49" charset="0"/>
              </a:rPr>
              <a:t>    </a:t>
            </a:r>
            <a:r>
              <a:rPr lang="de-CH" sz="1800" dirty="0" err="1">
                <a:solidFill>
                  <a:srgbClr val="0000FF"/>
                </a:solidFill>
                <a:highlight>
                  <a:srgbClr val="FFFFFF"/>
                </a:highlight>
                <a:latin typeface="Cascadia Mono" panose="020B0609020000020004" pitchFamily="49" charset="0"/>
              </a:rPr>
              <a:t>else</a:t>
            </a:r>
            <a:endParaRPr lang="de-CH" sz="1800" dirty="0">
              <a:solidFill>
                <a:srgbClr val="000000"/>
              </a:solidFill>
              <a:highlight>
                <a:srgbClr val="FFFFFF"/>
              </a:highlight>
              <a:latin typeface="Cascadia Mono" panose="020B0609020000020004" pitchFamily="49" charset="0"/>
            </a:endParaRPr>
          </a:p>
          <a:p>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cout</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a:t>
            </a:r>
            <a:r>
              <a:rPr lang="en-US" sz="1800" dirty="0">
                <a:solidFill>
                  <a:srgbClr val="A31515"/>
                </a:solidFill>
                <a:highlight>
                  <a:srgbClr val="FFFFFF"/>
                </a:highlight>
                <a:latin typeface="Cascadia Mono" panose="020B0609020000020004" pitchFamily="49" charset="0"/>
              </a:rPr>
              <a:t>"Error! b must not be equal to 0"</a:t>
            </a:r>
            <a:r>
              <a:rPr lang="en-US" sz="1800" dirty="0">
                <a:solidFill>
                  <a:srgbClr val="000000"/>
                </a:solidFill>
                <a:highlight>
                  <a:srgbClr val="FFFFFF"/>
                </a:highlight>
                <a:latin typeface="Cascadia Mono" panose="020B0609020000020004" pitchFamily="49" charset="0"/>
              </a:rPr>
              <a:t> </a:t>
            </a:r>
            <a:r>
              <a:rPr lang="en-US" sz="1800" dirty="0">
                <a:solidFill>
                  <a:srgbClr val="008080"/>
                </a:solidFill>
                <a:highlight>
                  <a:srgbClr val="FFFFFF"/>
                </a:highlight>
                <a:latin typeface="Cascadia Mono" panose="020B0609020000020004" pitchFamily="49" charset="0"/>
              </a:rPr>
              <a:t>&lt;&lt;</a:t>
            </a:r>
            <a:r>
              <a:rPr lang="en-US" sz="1800" dirty="0">
                <a:solidFill>
                  <a:srgbClr val="000000"/>
                </a:solidFill>
                <a:highlight>
                  <a:srgbClr val="FFFFFF"/>
                </a:highlight>
                <a:latin typeface="Cascadia Mono" panose="020B0609020000020004" pitchFamily="49" charset="0"/>
              </a:rPr>
              <a:t> std::</a:t>
            </a:r>
            <a:r>
              <a:rPr lang="en-US" sz="1800" dirty="0" err="1">
                <a:solidFill>
                  <a:srgbClr val="000000"/>
                </a:solidFill>
                <a:highlight>
                  <a:srgbClr val="FFFFFF"/>
                </a:highlight>
                <a:latin typeface="Cascadia Mono" panose="020B0609020000020004" pitchFamily="49" charset="0"/>
              </a:rPr>
              <a:t>endl</a:t>
            </a:r>
            <a:r>
              <a:rPr lang="en-US" sz="1800" dirty="0">
                <a:solidFill>
                  <a:srgbClr val="000000"/>
                </a:solidFill>
                <a:highlight>
                  <a:srgbClr val="FFFFFF"/>
                </a:highlight>
                <a:latin typeface="Cascadia Mono" panose="020B0609020000020004" pitchFamily="49" charset="0"/>
              </a:rPr>
              <a:t>;</a:t>
            </a:r>
          </a:p>
          <a:p>
            <a:r>
              <a:rPr lang="ru-RU" sz="1800" dirty="0">
                <a:solidFill>
                  <a:srgbClr val="000000"/>
                </a:solidFill>
                <a:highlight>
                  <a:srgbClr val="FFFFFF"/>
                </a:highlight>
                <a:latin typeface="Cascadia Mono" panose="020B0609020000020004" pitchFamily="49" charset="0"/>
              </a:rPr>
              <a:t>}</a:t>
            </a:r>
          </a:p>
          <a:p>
            <a:endParaRPr lang="ru-RU" sz="1800" dirty="0">
              <a:solidFill>
                <a:srgbClr val="000000"/>
              </a:solidFill>
              <a:highlight>
                <a:srgbClr val="FFFFFF"/>
              </a:highlight>
              <a:latin typeface="Cascadia Mono" panose="020B0609020000020004" pitchFamily="49" charset="0"/>
            </a:endParaRPr>
          </a:p>
          <a:p>
            <a:r>
              <a:rPr lang="ru-RU" dirty="0"/>
              <a:t>И в этом случае нам надо известить систему о возникшей ошибке. Для этого используется оператор </a:t>
            </a:r>
            <a:r>
              <a:rPr lang="ru-RU" b="1" dirty="0" err="1"/>
              <a:t>throw</a:t>
            </a:r>
            <a:r>
              <a:rPr lang="ru-RU" dirty="0"/>
              <a:t>.</a:t>
            </a:r>
            <a:endParaRPr lang="ru-RU" sz="1800" dirty="0"/>
          </a:p>
        </p:txBody>
      </p:sp>
    </p:spTree>
    <p:extLst>
      <p:ext uri="{BB962C8B-B14F-4D97-AF65-F5344CB8AC3E}">
        <p14:creationId xmlns:p14="http://schemas.microsoft.com/office/powerpoint/2010/main" val="3859173789"/>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4913C1-0D2A-F2F1-0727-5D338AF74A9C}"/>
              </a:ext>
            </a:extLst>
          </p:cNvPr>
          <p:cNvSpPr>
            <a:spLocks noGrp="1"/>
          </p:cNvSpPr>
          <p:nvPr>
            <p:ph type="title"/>
          </p:nvPr>
        </p:nvSpPr>
        <p:spPr/>
        <p:txBody>
          <a:bodyPr/>
          <a:lstStyle/>
          <a:p>
            <a:r>
              <a:rPr lang="ru-RU" dirty="0"/>
              <a:t>ИСКЛЮЧЕНИЯ</a:t>
            </a:r>
          </a:p>
        </p:txBody>
      </p:sp>
      <p:sp>
        <p:nvSpPr>
          <p:cNvPr id="3" name="Объект 2">
            <a:extLst>
              <a:ext uri="{FF2B5EF4-FFF2-40B4-BE49-F238E27FC236}">
                <a16:creationId xmlns:a16="http://schemas.microsoft.com/office/drawing/2014/main" id="{EA01A10D-2D30-7B72-A4C0-000CCCC458B9}"/>
              </a:ext>
            </a:extLst>
          </p:cNvPr>
          <p:cNvSpPr>
            <a:spLocks noGrp="1"/>
          </p:cNvSpPr>
          <p:nvPr>
            <p:ph idx="1"/>
          </p:nvPr>
        </p:nvSpPr>
        <p:spPr/>
        <p:txBody>
          <a:bodyPr/>
          <a:lstStyle/>
          <a:p>
            <a:endParaRPr lang="ru-RU" sz="2000" dirty="0">
              <a:solidFill>
                <a:srgbClr val="0000FF"/>
              </a:solidFill>
              <a:highlight>
                <a:srgbClr val="FFFFFF"/>
              </a:highlight>
              <a:latin typeface="Cascadia Mono" panose="020B0609020000020004" pitchFamily="49" charset="0"/>
            </a:endParaRPr>
          </a:p>
          <a:p>
            <a:r>
              <a:rPr lang="fr-FR" sz="2000" dirty="0">
                <a:solidFill>
                  <a:srgbClr val="0000FF"/>
                </a:solidFill>
                <a:highlight>
                  <a:srgbClr val="FFFFFF"/>
                </a:highlight>
                <a:latin typeface="Cascadia Mono" panose="020B0609020000020004" pitchFamily="49" charset="0"/>
              </a:rPr>
              <a:t>double</a:t>
            </a:r>
            <a:r>
              <a:rPr lang="fr-FR" sz="2000" dirty="0">
                <a:solidFill>
                  <a:srgbClr val="000000"/>
                </a:solidFill>
                <a:highlight>
                  <a:srgbClr val="FFFFFF"/>
                </a:highlight>
                <a:latin typeface="Cascadia Mono" panose="020B0609020000020004" pitchFamily="49" charset="0"/>
              </a:rPr>
              <a:t> </a:t>
            </a:r>
            <a:r>
              <a:rPr lang="fr-FR" sz="2000" dirty="0" err="1">
                <a:solidFill>
                  <a:srgbClr val="000000"/>
                </a:solidFill>
                <a:highlight>
                  <a:srgbClr val="FFFFFF"/>
                </a:highlight>
                <a:latin typeface="Cascadia Mono" panose="020B0609020000020004" pitchFamily="49" charset="0"/>
              </a:rPr>
              <a:t>divide</a:t>
            </a:r>
            <a:r>
              <a:rPr lang="fr-FR" sz="2000" dirty="0">
                <a:solidFill>
                  <a:srgbClr val="000000"/>
                </a:solidFill>
                <a:highlight>
                  <a:srgbClr val="FFFFFF"/>
                </a:highlight>
                <a:latin typeface="Cascadia Mono" panose="020B0609020000020004" pitchFamily="49" charset="0"/>
              </a:rPr>
              <a:t>(</a:t>
            </a:r>
            <a:r>
              <a:rPr lang="fr-FR" sz="2000" dirty="0">
                <a:solidFill>
                  <a:srgbClr val="0000FF"/>
                </a:solidFill>
                <a:highlight>
                  <a:srgbClr val="FFFFFF"/>
                </a:highlight>
                <a:latin typeface="Cascadia Mono" panose="020B0609020000020004" pitchFamily="49" charset="0"/>
              </a:rPr>
              <a:t>int</a:t>
            </a:r>
            <a:r>
              <a:rPr lang="fr-FR" sz="2000" dirty="0">
                <a:solidFill>
                  <a:srgbClr val="000000"/>
                </a:solidFill>
                <a:highlight>
                  <a:srgbClr val="FFFFFF"/>
                </a:highlight>
                <a:latin typeface="Cascadia Mono" panose="020B0609020000020004" pitchFamily="49" charset="0"/>
              </a:rPr>
              <a:t> </a:t>
            </a:r>
            <a:r>
              <a:rPr lang="fr-FR" sz="2000" dirty="0">
                <a:solidFill>
                  <a:srgbClr val="808080"/>
                </a:solidFill>
                <a:highlight>
                  <a:srgbClr val="FFFFFF"/>
                </a:highlight>
                <a:latin typeface="Cascadia Mono" panose="020B0609020000020004" pitchFamily="49" charset="0"/>
              </a:rPr>
              <a:t>a</a:t>
            </a:r>
            <a:r>
              <a:rPr lang="fr-FR" sz="2000" dirty="0">
                <a:solidFill>
                  <a:srgbClr val="000000"/>
                </a:solidFill>
                <a:highlight>
                  <a:srgbClr val="FFFFFF"/>
                </a:highlight>
                <a:latin typeface="Cascadia Mono" panose="020B0609020000020004" pitchFamily="49" charset="0"/>
              </a:rPr>
              <a:t>, </a:t>
            </a:r>
            <a:r>
              <a:rPr lang="fr-FR" sz="2000" dirty="0">
                <a:solidFill>
                  <a:srgbClr val="0000FF"/>
                </a:solidFill>
                <a:highlight>
                  <a:srgbClr val="FFFFFF"/>
                </a:highlight>
                <a:latin typeface="Cascadia Mono" panose="020B0609020000020004" pitchFamily="49" charset="0"/>
              </a:rPr>
              <a:t>int</a:t>
            </a:r>
            <a:r>
              <a:rPr lang="fr-FR" sz="2000" dirty="0">
                <a:solidFill>
                  <a:srgbClr val="000000"/>
                </a:solidFill>
                <a:highlight>
                  <a:srgbClr val="FFFFFF"/>
                </a:highlight>
                <a:latin typeface="Cascadia Mono" panose="020B0609020000020004" pitchFamily="49" charset="0"/>
              </a:rPr>
              <a:t> </a:t>
            </a:r>
            <a:r>
              <a:rPr lang="fr-FR" sz="2000" dirty="0">
                <a:solidFill>
                  <a:srgbClr val="808080"/>
                </a:solidFill>
                <a:highlight>
                  <a:srgbClr val="FFFFFF"/>
                </a:highlight>
                <a:latin typeface="Cascadia Mono" panose="020B0609020000020004" pitchFamily="49" charset="0"/>
              </a:rPr>
              <a:t>b</a:t>
            </a:r>
            <a:r>
              <a:rPr lang="fr-FR"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if</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b</a:t>
            </a:r>
            <a:r>
              <a:rPr lang="de-CH"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a:t>
            </a:r>
            <a:r>
              <a:rPr lang="de-CH" sz="2000" dirty="0">
                <a:solidFill>
                  <a:srgbClr val="808080"/>
                </a:solidFill>
                <a:highlight>
                  <a:srgbClr val="FFFFFF"/>
                </a:highlight>
                <a:latin typeface="Cascadia Mono" panose="020B0609020000020004" pitchFamily="49" charset="0"/>
              </a:rPr>
              <a:t>a</a:t>
            </a:r>
            <a:r>
              <a:rPr lang="de-CH" sz="2000" dirty="0">
                <a:solidFill>
                  <a:srgbClr val="000000"/>
                </a:solidFill>
                <a:highlight>
                  <a:srgbClr val="FFFFFF"/>
                </a:highlight>
                <a:latin typeface="Cascadia Mono" panose="020B0609020000020004" pitchFamily="49" charset="0"/>
              </a:rPr>
              <a:t> / </a:t>
            </a:r>
            <a:r>
              <a:rPr lang="de-CH" sz="2000" dirty="0">
                <a:solidFill>
                  <a:srgbClr val="808080"/>
                </a:solidFill>
                <a:highlight>
                  <a:srgbClr val="FFFFFF"/>
                </a:highlight>
                <a:latin typeface="Cascadia Mono" panose="020B0609020000020004" pitchFamily="49" charset="0"/>
              </a:rPr>
              <a:t>b</a:t>
            </a:r>
            <a:r>
              <a:rPr lang="de-CH"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throw</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"Division </a:t>
            </a:r>
            <a:r>
              <a:rPr lang="de-CH" sz="2000" dirty="0" err="1">
                <a:solidFill>
                  <a:srgbClr val="A31515"/>
                </a:solidFill>
                <a:highlight>
                  <a:srgbClr val="FFFFFF"/>
                </a:highlight>
                <a:latin typeface="Cascadia Mono" panose="020B0609020000020004" pitchFamily="49" charset="0"/>
              </a:rPr>
              <a:t>by</a:t>
            </a:r>
            <a:r>
              <a:rPr lang="de-CH" sz="2000" dirty="0">
                <a:solidFill>
                  <a:srgbClr val="A31515"/>
                </a:solidFill>
                <a:highlight>
                  <a:srgbClr val="FFFFFF"/>
                </a:highlight>
                <a:latin typeface="Cascadia Mono" panose="020B0609020000020004" pitchFamily="49" charset="0"/>
              </a:rPr>
              <a:t> </a:t>
            </a:r>
            <a:r>
              <a:rPr lang="de-CH" sz="2000" dirty="0" err="1">
                <a:solidFill>
                  <a:srgbClr val="A31515"/>
                </a:solidFill>
                <a:highlight>
                  <a:srgbClr val="FFFFFF"/>
                </a:highlight>
                <a:latin typeface="Cascadia Mono" panose="020B0609020000020004" pitchFamily="49" charset="0"/>
              </a:rPr>
              <a:t>zero</a:t>
            </a:r>
            <a:r>
              <a:rPr lang="de-CH" sz="2000" dirty="0">
                <a:solidFill>
                  <a:srgbClr val="A31515"/>
                </a:solidFill>
                <a:highlight>
                  <a:srgbClr val="FFFFFF"/>
                </a:highlight>
                <a:latin typeface="Cascadia Mono" panose="020B0609020000020004" pitchFamily="49" charset="0"/>
              </a:rPr>
              <a:t>!"</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333907475"/>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1597B8-AEB3-CA3E-5EA6-C8EE2E90B4EC}"/>
              </a:ext>
            </a:extLst>
          </p:cNvPr>
          <p:cNvSpPr>
            <a:spLocks noGrp="1"/>
          </p:cNvSpPr>
          <p:nvPr>
            <p:ph type="title"/>
          </p:nvPr>
        </p:nvSpPr>
        <p:spPr/>
        <p:txBody>
          <a:bodyPr/>
          <a:lstStyle/>
          <a:p>
            <a:r>
              <a:rPr lang="ru-RU" dirty="0"/>
              <a:t>Обработка исключений</a:t>
            </a:r>
          </a:p>
        </p:txBody>
      </p:sp>
      <p:sp>
        <p:nvSpPr>
          <p:cNvPr id="3" name="Объект 2">
            <a:extLst>
              <a:ext uri="{FF2B5EF4-FFF2-40B4-BE49-F238E27FC236}">
                <a16:creationId xmlns:a16="http://schemas.microsoft.com/office/drawing/2014/main" id="{C8C00C26-C0B5-16C3-A948-E6A4B736AC62}"/>
              </a:ext>
            </a:extLst>
          </p:cNvPr>
          <p:cNvSpPr>
            <a:spLocks noGrp="1"/>
          </p:cNvSpPr>
          <p:nvPr>
            <p:ph idx="1"/>
          </p:nvPr>
        </p:nvSpPr>
        <p:spPr/>
        <p:txBody>
          <a:bodyPr/>
          <a:lstStyle/>
          <a:p>
            <a:pPr algn="l" fontAlgn="base">
              <a:lnSpc>
                <a:spcPts val="1575"/>
              </a:lnSpc>
              <a:buNone/>
            </a:pPr>
            <a:endParaRPr lang="ru-RU" b="1" i="0" dirty="0">
              <a:solidFill>
                <a:srgbClr val="006699"/>
              </a:solidFill>
              <a:effectLst/>
              <a:latin typeface="SFMono-Regular"/>
            </a:endParaRPr>
          </a:p>
          <a:p>
            <a:pPr algn="l" fontAlgn="base">
              <a:lnSpc>
                <a:spcPts val="1575"/>
              </a:lnSpc>
              <a:buNone/>
            </a:pPr>
            <a:endParaRPr lang="ru-RU" b="1" dirty="0">
              <a:solidFill>
                <a:srgbClr val="006699"/>
              </a:solidFill>
              <a:latin typeface="SFMono-Regular"/>
            </a:endParaRPr>
          </a:p>
          <a:p>
            <a:pPr algn="l" fontAlgn="base">
              <a:lnSpc>
                <a:spcPts val="1575"/>
              </a:lnSpc>
              <a:buNone/>
            </a:pPr>
            <a:endParaRPr lang="ru-RU" b="1" i="0" dirty="0">
              <a:solidFill>
                <a:srgbClr val="006699"/>
              </a:solidFill>
              <a:effectLst/>
              <a:latin typeface="SFMono-Regular"/>
            </a:endParaRPr>
          </a:p>
          <a:p>
            <a:pPr marL="914400" lvl="2" indent="0">
              <a:lnSpc>
                <a:spcPts val="1575"/>
              </a:lnSpc>
              <a:buNone/>
            </a:pPr>
            <a:r>
              <a:rPr lang="ru-RU" sz="2400" b="1" i="0" dirty="0" err="1">
                <a:solidFill>
                  <a:srgbClr val="006699"/>
                </a:solidFill>
                <a:effectLst/>
                <a:latin typeface="SFMono-Regular"/>
              </a:rPr>
              <a:t>try</a:t>
            </a:r>
            <a:endParaRPr lang="ru-RU" sz="2400" b="0" i="0" dirty="0">
              <a:solidFill>
                <a:srgbClr val="000000"/>
              </a:solidFill>
              <a:effectLst/>
              <a:latin typeface="SFMono-Regular"/>
            </a:endParaRPr>
          </a:p>
          <a:p>
            <a:pPr marL="914400" lvl="2" indent="0">
              <a:lnSpc>
                <a:spcPts val="1575"/>
              </a:lnSpc>
              <a:buNone/>
            </a:pPr>
            <a:r>
              <a:rPr lang="ru-RU" sz="2400" b="0" i="0" dirty="0">
                <a:solidFill>
                  <a:srgbClr val="000000"/>
                </a:solidFill>
                <a:effectLst/>
                <a:latin typeface="SFMono-Regular"/>
              </a:rPr>
              <a:t>{</a:t>
            </a:r>
          </a:p>
          <a:p>
            <a:pPr marL="914400" lvl="2" indent="0">
              <a:lnSpc>
                <a:spcPts val="1575"/>
              </a:lnSpc>
              <a:buNone/>
            </a:pPr>
            <a:r>
              <a:rPr lang="ru-RU" sz="2400" b="0" i="0" dirty="0">
                <a:solidFill>
                  <a:srgbClr val="000000"/>
                </a:solidFill>
                <a:effectLst/>
                <a:latin typeface="SFMono-Regular"/>
              </a:rPr>
              <a:t>    инструкции, которые могут вызвать исключение</a:t>
            </a:r>
          </a:p>
          <a:p>
            <a:pPr marL="914400" lvl="2" indent="0">
              <a:lnSpc>
                <a:spcPts val="1575"/>
              </a:lnSpc>
              <a:buNone/>
            </a:pPr>
            <a:r>
              <a:rPr lang="ru-RU" sz="2400" b="0" i="0" dirty="0">
                <a:solidFill>
                  <a:srgbClr val="000000"/>
                </a:solidFill>
                <a:effectLst/>
                <a:latin typeface="SFMono-Regular"/>
              </a:rPr>
              <a:t>}</a:t>
            </a:r>
          </a:p>
          <a:p>
            <a:pPr marL="914400" lvl="2" indent="0">
              <a:lnSpc>
                <a:spcPts val="1575"/>
              </a:lnSpc>
              <a:buNone/>
            </a:pPr>
            <a:r>
              <a:rPr lang="ru-RU" sz="2400" b="1" i="0" dirty="0" err="1">
                <a:solidFill>
                  <a:srgbClr val="006699"/>
                </a:solidFill>
                <a:effectLst/>
                <a:latin typeface="SFMono-Regular"/>
              </a:rPr>
              <a:t>catch</a:t>
            </a:r>
            <a:r>
              <a:rPr lang="ru-RU" sz="2400" b="0" i="0" dirty="0">
                <a:solidFill>
                  <a:srgbClr val="000000"/>
                </a:solidFill>
                <a:effectLst/>
                <a:latin typeface="SFMono-Regular"/>
              </a:rPr>
              <a:t>(</a:t>
            </a:r>
            <a:r>
              <a:rPr lang="ru-RU" sz="2400" b="0" i="0" dirty="0" err="1">
                <a:solidFill>
                  <a:srgbClr val="000000"/>
                </a:solidFill>
                <a:effectLst/>
                <a:latin typeface="SFMono-Regular"/>
              </a:rPr>
              <a:t>объявление_исключения</a:t>
            </a:r>
            <a:r>
              <a:rPr lang="ru-RU" sz="2400" b="0" i="0" dirty="0">
                <a:solidFill>
                  <a:srgbClr val="000000"/>
                </a:solidFill>
                <a:effectLst/>
                <a:latin typeface="SFMono-Regular"/>
              </a:rPr>
              <a:t>)</a:t>
            </a:r>
          </a:p>
          <a:p>
            <a:pPr marL="914400" lvl="2" indent="0">
              <a:lnSpc>
                <a:spcPts val="1575"/>
              </a:lnSpc>
              <a:buNone/>
            </a:pPr>
            <a:r>
              <a:rPr lang="ru-RU" sz="2400" b="0" i="0" dirty="0">
                <a:solidFill>
                  <a:srgbClr val="000000"/>
                </a:solidFill>
                <a:effectLst/>
                <a:latin typeface="SFMono-Regular"/>
              </a:rPr>
              <a:t>{</a:t>
            </a:r>
          </a:p>
          <a:p>
            <a:pPr marL="914400" lvl="2" indent="0">
              <a:lnSpc>
                <a:spcPts val="1575"/>
              </a:lnSpc>
              <a:buNone/>
            </a:pPr>
            <a:r>
              <a:rPr lang="ru-RU" sz="2400" b="0" i="0" dirty="0">
                <a:solidFill>
                  <a:srgbClr val="000000"/>
                </a:solidFill>
                <a:effectLst/>
                <a:latin typeface="SFMono-Regular"/>
              </a:rPr>
              <a:t>    обработка исключения</a:t>
            </a:r>
          </a:p>
          <a:p>
            <a:pPr marL="914400" lvl="2" indent="0">
              <a:lnSpc>
                <a:spcPts val="1575"/>
              </a:lnSpc>
              <a:buNone/>
            </a:pPr>
            <a:r>
              <a:rPr lang="ru-RU" sz="2400" b="0" i="0" dirty="0">
                <a:solidFill>
                  <a:srgbClr val="000000"/>
                </a:solidFill>
                <a:effectLst/>
                <a:latin typeface="SFMono-Regular"/>
              </a:rPr>
              <a:t>}</a:t>
            </a:r>
          </a:p>
          <a:p>
            <a:endParaRPr lang="ru-RU" dirty="0"/>
          </a:p>
        </p:txBody>
      </p:sp>
    </p:spTree>
    <p:extLst>
      <p:ext uri="{BB962C8B-B14F-4D97-AF65-F5344CB8AC3E}">
        <p14:creationId xmlns:p14="http://schemas.microsoft.com/office/powerpoint/2010/main" val="3615939009"/>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C45EF2-37F4-3DDD-7191-5B925EB57D10}"/>
              </a:ext>
            </a:extLst>
          </p:cNvPr>
          <p:cNvSpPr>
            <a:spLocks noGrp="1"/>
          </p:cNvSpPr>
          <p:nvPr>
            <p:ph type="title"/>
          </p:nvPr>
        </p:nvSpPr>
        <p:spPr/>
        <p:txBody>
          <a:bodyPr/>
          <a:lstStyle/>
          <a:p>
            <a:r>
              <a:rPr lang="ru-RU" dirty="0"/>
              <a:t>Обработка исключений</a:t>
            </a:r>
          </a:p>
        </p:txBody>
      </p:sp>
      <p:sp>
        <p:nvSpPr>
          <p:cNvPr id="3" name="Объект 2">
            <a:extLst>
              <a:ext uri="{FF2B5EF4-FFF2-40B4-BE49-F238E27FC236}">
                <a16:creationId xmlns:a16="http://schemas.microsoft.com/office/drawing/2014/main" id="{4A5F82ED-3E0A-06EA-54EB-DBD0BF19D53A}"/>
              </a:ext>
            </a:extLst>
          </p:cNvPr>
          <p:cNvSpPr>
            <a:spLocks noGrp="1"/>
          </p:cNvSpPr>
          <p:nvPr>
            <p:ph idx="1"/>
          </p:nvPr>
        </p:nvSpPr>
        <p:spPr/>
        <p:txBody>
          <a:bodyPr/>
          <a:lstStyle/>
          <a:p>
            <a:r>
              <a:rPr lang="de-CH" sz="1100" dirty="0">
                <a:solidFill>
                  <a:srgbClr val="808080"/>
                </a:solidFill>
                <a:highlight>
                  <a:srgbClr val="FFFFFF"/>
                </a:highlight>
                <a:latin typeface="Cascadia Mono" panose="020B0609020000020004" pitchFamily="49" charset="0"/>
              </a:rPr>
              <a:t>#include</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&lt;</a:t>
            </a:r>
            <a:r>
              <a:rPr lang="de-CH" sz="1100" dirty="0" err="1">
                <a:solidFill>
                  <a:srgbClr val="A31515"/>
                </a:solidFill>
                <a:highlight>
                  <a:srgbClr val="FFFFFF"/>
                </a:highlight>
                <a:latin typeface="Cascadia Mono" panose="020B0609020000020004" pitchFamily="49" charset="0"/>
              </a:rPr>
              <a:t>iostream</a:t>
            </a:r>
            <a:r>
              <a:rPr lang="de-CH" sz="1100" dirty="0">
                <a:solidFill>
                  <a:srgbClr val="A31515"/>
                </a:solidFill>
                <a:highlight>
                  <a:srgbClr val="FFFFFF"/>
                </a:highlight>
                <a:latin typeface="Cascadia Mono" panose="020B0609020000020004" pitchFamily="49" charset="0"/>
              </a:rPr>
              <a:t>&gt;</a:t>
            </a:r>
            <a:endParaRPr lang="de-CH" sz="1100" dirty="0">
              <a:solidFill>
                <a:srgbClr val="000000"/>
              </a:solidFill>
              <a:highlight>
                <a:srgbClr val="FFFFFF"/>
              </a:highlight>
              <a:latin typeface="Cascadia Mono" panose="020B0609020000020004" pitchFamily="49" charset="0"/>
            </a:endParaRPr>
          </a:p>
          <a:p>
            <a:endParaRPr lang="ru-RU" sz="1100" dirty="0">
              <a:solidFill>
                <a:srgbClr val="000000"/>
              </a:solidFill>
              <a:highlight>
                <a:srgbClr val="FFFFFF"/>
              </a:highlight>
              <a:latin typeface="Cascadia Mono" panose="020B0609020000020004" pitchFamily="49" charset="0"/>
            </a:endParaRPr>
          </a:p>
          <a:p>
            <a:r>
              <a:rPr lang="fr-FR" sz="1100" dirty="0">
                <a:solidFill>
                  <a:srgbClr val="0000FF"/>
                </a:solidFill>
                <a:highlight>
                  <a:srgbClr val="FFFFFF"/>
                </a:highlight>
                <a:latin typeface="Cascadia Mono" panose="020B0609020000020004" pitchFamily="49" charset="0"/>
              </a:rPr>
              <a:t>double</a:t>
            </a:r>
            <a:r>
              <a:rPr lang="fr-FR" sz="1100" dirty="0">
                <a:solidFill>
                  <a:srgbClr val="000000"/>
                </a:solidFill>
                <a:highlight>
                  <a:srgbClr val="FFFFFF"/>
                </a:highlight>
                <a:latin typeface="Cascadia Mono" panose="020B0609020000020004" pitchFamily="49" charset="0"/>
              </a:rPr>
              <a:t> </a:t>
            </a:r>
            <a:r>
              <a:rPr lang="fr-FR" sz="1100" dirty="0" err="1">
                <a:solidFill>
                  <a:srgbClr val="000000"/>
                </a:solidFill>
                <a:highlight>
                  <a:srgbClr val="FFFFFF"/>
                </a:highlight>
                <a:latin typeface="Cascadia Mono" panose="020B0609020000020004" pitchFamily="49" charset="0"/>
              </a:rPr>
              <a:t>divide</a:t>
            </a:r>
            <a:r>
              <a:rPr lang="fr-FR" sz="1100" dirty="0">
                <a:solidFill>
                  <a:srgbClr val="000000"/>
                </a:solidFill>
                <a:highlight>
                  <a:srgbClr val="FFFFFF"/>
                </a:highlight>
                <a:latin typeface="Cascadia Mono" panose="020B0609020000020004" pitchFamily="49" charset="0"/>
              </a:rPr>
              <a:t>(</a:t>
            </a:r>
            <a:r>
              <a:rPr lang="fr-FR" sz="1100" dirty="0">
                <a:solidFill>
                  <a:srgbClr val="0000FF"/>
                </a:solidFill>
                <a:highlight>
                  <a:srgbClr val="FFFFFF"/>
                </a:highlight>
                <a:latin typeface="Cascadia Mono" panose="020B0609020000020004" pitchFamily="49" charset="0"/>
              </a:rPr>
              <a:t>int</a:t>
            </a:r>
            <a:r>
              <a:rPr lang="fr-FR" sz="1100" dirty="0">
                <a:solidFill>
                  <a:srgbClr val="000000"/>
                </a:solidFill>
                <a:highlight>
                  <a:srgbClr val="FFFFFF"/>
                </a:highlight>
                <a:latin typeface="Cascadia Mono" panose="020B0609020000020004" pitchFamily="49" charset="0"/>
              </a:rPr>
              <a:t> </a:t>
            </a:r>
            <a:r>
              <a:rPr lang="fr-FR" sz="1100" dirty="0">
                <a:solidFill>
                  <a:srgbClr val="808080"/>
                </a:solidFill>
                <a:highlight>
                  <a:srgbClr val="FFFFFF"/>
                </a:highlight>
                <a:latin typeface="Cascadia Mono" panose="020B0609020000020004" pitchFamily="49" charset="0"/>
              </a:rPr>
              <a:t>a</a:t>
            </a:r>
            <a:r>
              <a:rPr lang="fr-FR" sz="1100" dirty="0">
                <a:solidFill>
                  <a:srgbClr val="000000"/>
                </a:solidFill>
                <a:highlight>
                  <a:srgbClr val="FFFFFF"/>
                </a:highlight>
                <a:latin typeface="Cascadia Mono" panose="020B0609020000020004" pitchFamily="49" charset="0"/>
              </a:rPr>
              <a:t>, </a:t>
            </a:r>
            <a:r>
              <a:rPr lang="fr-FR" sz="1100" dirty="0">
                <a:solidFill>
                  <a:srgbClr val="0000FF"/>
                </a:solidFill>
                <a:highlight>
                  <a:srgbClr val="FFFFFF"/>
                </a:highlight>
                <a:latin typeface="Cascadia Mono" panose="020B0609020000020004" pitchFamily="49" charset="0"/>
              </a:rPr>
              <a:t>int</a:t>
            </a:r>
            <a:r>
              <a:rPr lang="fr-FR" sz="1100" dirty="0">
                <a:solidFill>
                  <a:srgbClr val="000000"/>
                </a:solidFill>
                <a:highlight>
                  <a:srgbClr val="FFFFFF"/>
                </a:highlight>
                <a:latin typeface="Cascadia Mono" panose="020B0609020000020004" pitchFamily="49" charset="0"/>
              </a:rPr>
              <a:t> </a:t>
            </a:r>
            <a:r>
              <a:rPr lang="fr-FR" sz="1100" dirty="0">
                <a:solidFill>
                  <a:srgbClr val="808080"/>
                </a:solidFill>
                <a:highlight>
                  <a:srgbClr val="FFFFFF"/>
                </a:highlight>
                <a:latin typeface="Cascadia Mono" panose="020B0609020000020004" pitchFamily="49" charset="0"/>
              </a:rPr>
              <a:t>b</a:t>
            </a:r>
            <a:r>
              <a:rPr lang="fr-FR"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if</a:t>
            </a:r>
            <a:r>
              <a:rPr lang="de-CH" sz="1100" dirty="0">
                <a:solidFill>
                  <a:srgbClr val="000000"/>
                </a:solidFill>
                <a:highlight>
                  <a:srgbClr val="FFFFFF"/>
                </a:highlight>
                <a:latin typeface="Cascadia Mono" panose="020B0609020000020004" pitchFamily="49" charset="0"/>
              </a:rPr>
              <a:t> (</a:t>
            </a:r>
            <a:r>
              <a:rPr lang="de-CH" sz="1100" dirty="0">
                <a:solidFill>
                  <a:srgbClr val="808080"/>
                </a:solidFill>
                <a:highlight>
                  <a:srgbClr val="FFFFFF"/>
                </a:highlight>
                <a:latin typeface="Cascadia Mono" panose="020B0609020000020004" pitchFamily="49" charset="0"/>
              </a:rPr>
              <a:t>b</a:t>
            </a:r>
            <a:r>
              <a:rPr lang="de-CH"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return</a:t>
            </a:r>
            <a:r>
              <a:rPr lang="de-CH" sz="1100" dirty="0">
                <a:solidFill>
                  <a:srgbClr val="000000"/>
                </a:solidFill>
                <a:highlight>
                  <a:srgbClr val="FFFFFF"/>
                </a:highlight>
                <a:latin typeface="Cascadia Mono" panose="020B0609020000020004" pitchFamily="49" charset="0"/>
              </a:rPr>
              <a:t> </a:t>
            </a:r>
            <a:r>
              <a:rPr lang="de-CH" sz="1100" dirty="0">
                <a:solidFill>
                  <a:srgbClr val="808080"/>
                </a:solidFill>
                <a:highlight>
                  <a:srgbClr val="FFFFFF"/>
                </a:highlight>
                <a:latin typeface="Cascadia Mono" panose="020B0609020000020004" pitchFamily="49" charset="0"/>
              </a:rPr>
              <a:t>a</a:t>
            </a:r>
            <a:r>
              <a:rPr lang="de-CH" sz="1100" dirty="0">
                <a:solidFill>
                  <a:srgbClr val="000000"/>
                </a:solidFill>
                <a:highlight>
                  <a:srgbClr val="FFFFFF"/>
                </a:highlight>
                <a:latin typeface="Cascadia Mono" panose="020B0609020000020004" pitchFamily="49" charset="0"/>
              </a:rPr>
              <a:t> / </a:t>
            </a:r>
            <a:r>
              <a:rPr lang="de-CH" sz="1100" dirty="0">
                <a:solidFill>
                  <a:srgbClr val="808080"/>
                </a:solidFill>
                <a:highlight>
                  <a:srgbClr val="FFFFFF"/>
                </a:highlight>
                <a:latin typeface="Cascadia Mono" panose="020B0609020000020004" pitchFamily="49" charset="0"/>
              </a:rPr>
              <a:t>b</a:t>
            </a:r>
            <a:r>
              <a:rPr lang="de-CH"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throw</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"Division </a:t>
            </a:r>
            <a:r>
              <a:rPr lang="de-CH" sz="1100" dirty="0" err="1">
                <a:solidFill>
                  <a:srgbClr val="A31515"/>
                </a:solidFill>
                <a:highlight>
                  <a:srgbClr val="FFFFFF"/>
                </a:highlight>
                <a:latin typeface="Cascadia Mono" panose="020B0609020000020004" pitchFamily="49" charset="0"/>
              </a:rPr>
              <a:t>by</a:t>
            </a:r>
            <a:r>
              <a:rPr lang="de-CH" sz="1100" dirty="0">
                <a:solidFill>
                  <a:srgbClr val="A31515"/>
                </a:solidFill>
                <a:highlight>
                  <a:srgbClr val="FFFFFF"/>
                </a:highlight>
                <a:latin typeface="Cascadia Mono" panose="020B0609020000020004" pitchFamily="49" charset="0"/>
              </a:rPr>
              <a:t> </a:t>
            </a:r>
            <a:r>
              <a:rPr lang="de-CH" sz="1100" dirty="0" err="1">
                <a:solidFill>
                  <a:srgbClr val="A31515"/>
                </a:solidFill>
                <a:highlight>
                  <a:srgbClr val="FFFFFF"/>
                </a:highlight>
                <a:latin typeface="Cascadia Mono" panose="020B0609020000020004" pitchFamily="49" charset="0"/>
              </a:rPr>
              <a:t>zero</a:t>
            </a:r>
            <a:r>
              <a:rPr lang="de-CH" sz="1100" dirty="0">
                <a:solidFill>
                  <a:srgbClr val="A31515"/>
                </a:solidFill>
                <a:highlight>
                  <a:srgbClr val="FFFFFF"/>
                </a:highlight>
                <a:latin typeface="Cascadia Mono" panose="020B0609020000020004" pitchFamily="49" charset="0"/>
              </a:rPr>
              <a:t>!"</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endParaRPr lang="ru-RU" sz="1100" dirty="0">
              <a:solidFill>
                <a:srgbClr val="000000"/>
              </a:solidFill>
              <a:highlight>
                <a:srgbClr val="FFFFFF"/>
              </a:highlight>
              <a:latin typeface="Cascadia Mono" panose="020B0609020000020004" pitchFamily="49" charset="0"/>
            </a:endParaRPr>
          </a:p>
          <a:p>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main</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x{ 500 };</a:t>
            </a:r>
          </a:p>
          <a:p>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y{};</a:t>
            </a:r>
          </a:p>
          <a:p>
            <a:endParaRPr lang="ru-RU" sz="1100" dirty="0">
              <a:solidFill>
                <a:srgbClr val="000000"/>
              </a:solidFill>
              <a:highlight>
                <a:srgbClr val="FFFFFF"/>
              </a:highlight>
              <a:latin typeface="Cascadia Mono" panose="020B0609020000020004" pitchFamily="49" charset="0"/>
            </a:endParaRP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try</a:t>
            </a:r>
            <a:endParaRPr lang="de-CH" sz="1100" dirty="0">
              <a:solidFill>
                <a:srgbClr val="000000"/>
              </a:solidFill>
              <a:highlight>
                <a:srgbClr val="FFFFFF"/>
              </a:highlight>
              <a:latin typeface="Cascadia Mono" panose="020B0609020000020004" pitchFamily="49" charset="0"/>
            </a:endParaRPr>
          </a:p>
          <a:p>
            <a:r>
              <a:rPr lang="ru-RU" sz="1100" dirty="0">
                <a:solidFill>
                  <a:srgbClr val="000000"/>
                </a:solidFill>
                <a:highlight>
                  <a:srgbClr val="FFFFFF"/>
                </a:highlight>
                <a:latin typeface="Cascadia Mono" panose="020B0609020000020004" pitchFamily="49" charset="0"/>
              </a:rPr>
              <a:t>    {</a:t>
            </a:r>
          </a:p>
          <a:p>
            <a:r>
              <a:rPr lang="fr-FR" sz="1100" dirty="0">
                <a:solidFill>
                  <a:srgbClr val="000000"/>
                </a:solidFill>
                <a:highlight>
                  <a:srgbClr val="FFFFFF"/>
                </a:highlight>
                <a:latin typeface="Cascadia Mono" panose="020B0609020000020004" pitchFamily="49" charset="0"/>
              </a:rPr>
              <a:t>        </a:t>
            </a:r>
            <a:r>
              <a:rPr lang="fr-FR" sz="1100" dirty="0">
                <a:solidFill>
                  <a:srgbClr val="0000FF"/>
                </a:solidFill>
                <a:highlight>
                  <a:srgbClr val="FFFFFF"/>
                </a:highlight>
                <a:latin typeface="Cascadia Mono" panose="020B0609020000020004" pitchFamily="49" charset="0"/>
              </a:rPr>
              <a:t>double</a:t>
            </a:r>
            <a:r>
              <a:rPr lang="fr-FR" sz="1100" dirty="0">
                <a:solidFill>
                  <a:srgbClr val="000000"/>
                </a:solidFill>
                <a:highlight>
                  <a:srgbClr val="FFFFFF"/>
                </a:highlight>
                <a:latin typeface="Cascadia Mono" panose="020B0609020000020004" pitchFamily="49" charset="0"/>
              </a:rPr>
              <a:t> z{ </a:t>
            </a:r>
            <a:r>
              <a:rPr lang="fr-FR" sz="1100" dirty="0" err="1">
                <a:solidFill>
                  <a:srgbClr val="000000"/>
                </a:solidFill>
                <a:highlight>
                  <a:srgbClr val="FFFFFF"/>
                </a:highlight>
                <a:latin typeface="Cascadia Mono" panose="020B0609020000020004" pitchFamily="49" charset="0"/>
              </a:rPr>
              <a:t>divide</a:t>
            </a:r>
            <a:r>
              <a:rPr lang="fr-FR" sz="1100" dirty="0">
                <a:solidFill>
                  <a:srgbClr val="000000"/>
                </a:solidFill>
                <a:highlight>
                  <a:srgbClr val="FFFFFF"/>
                </a:highlight>
                <a:latin typeface="Cascadia Mono" panose="020B0609020000020004" pitchFamily="49" charset="0"/>
              </a:rPr>
              <a:t>(x, y) };</a:t>
            </a:r>
          </a:p>
          <a:p>
            <a:r>
              <a:rPr lang="de-DE" sz="1100" dirty="0">
                <a:solidFill>
                  <a:srgbClr val="000000"/>
                </a:solidFill>
                <a:highlight>
                  <a:srgbClr val="FFFFFF"/>
                </a:highlight>
                <a:latin typeface="Cascadia Mono" panose="020B0609020000020004" pitchFamily="49" charset="0"/>
              </a:rPr>
              <a:t>        </a:t>
            </a:r>
            <a:r>
              <a:rPr lang="de-DE" sz="1100" dirty="0" err="1">
                <a:solidFill>
                  <a:srgbClr val="000000"/>
                </a:solidFill>
                <a:highlight>
                  <a:srgbClr val="FFFFFF"/>
                </a:highlight>
                <a:latin typeface="Cascadia Mono" panose="020B0609020000020004" pitchFamily="49" charset="0"/>
              </a:rPr>
              <a:t>std</a:t>
            </a:r>
            <a:r>
              <a:rPr lang="de-DE" sz="1100" dirty="0">
                <a:solidFill>
                  <a:srgbClr val="000000"/>
                </a:solidFill>
                <a:highlight>
                  <a:srgbClr val="FFFFFF"/>
                </a:highlight>
                <a:latin typeface="Cascadia Mono" panose="020B0609020000020004" pitchFamily="49" charset="0"/>
              </a:rPr>
              <a:t>::</a:t>
            </a:r>
            <a:r>
              <a:rPr lang="de-DE" sz="1100" dirty="0" err="1">
                <a:solidFill>
                  <a:srgbClr val="000000"/>
                </a:solidFill>
                <a:highlight>
                  <a:srgbClr val="FFFFFF"/>
                </a:highlight>
                <a:latin typeface="Cascadia Mono" panose="020B0609020000020004" pitchFamily="49" charset="0"/>
              </a:rPr>
              <a:t>cout</a:t>
            </a:r>
            <a:r>
              <a:rPr lang="de-DE" sz="1100" dirty="0">
                <a:solidFill>
                  <a:srgbClr val="000000"/>
                </a:solidFill>
                <a:highlight>
                  <a:srgbClr val="FFFFFF"/>
                </a:highlight>
                <a:latin typeface="Cascadia Mono" panose="020B0609020000020004" pitchFamily="49" charset="0"/>
              </a:rPr>
              <a:t> </a:t>
            </a:r>
            <a:r>
              <a:rPr lang="de-DE" sz="1100" dirty="0">
                <a:solidFill>
                  <a:srgbClr val="008080"/>
                </a:solidFill>
                <a:highlight>
                  <a:srgbClr val="FFFFFF"/>
                </a:highlight>
                <a:latin typeface="Cascadia Mono" panose="020B0609020000020004" pitchFamily="49" charset="0"/>
              </a:rPr>
              <a:t>&lt;&lt;</a:t>
            </a:r>
            <a:r>
              <a:rPr lang="de-DE" sz="1100" dirty="0">
                <a:solidFill>
                  <a:srgbClr val="000000"/>
                </a:solidFill>
                <a:highlight>
                  <a:srgbClr val="FFFFFF"/>
                </a:highlight>
                <a:latin typeface="Cascadia Mono" panose="020B0609020000020004" pitchFamily="49" charset="0"/>
              </a:rPr>
              <a:t> z </a:t>
            </a:r>
            <a:r>
              <a:rPr lang="de-DE" sz="1100" dirty="0">
                <a:solidFill>
                  <a:srgbClr val="008080"/>
                </a:solidFill>
                <a:highlight>
                  <a:srgbClr val="FFFFFF"/>
                </a:highlight>
                <a:latin typeface="Cascadia Mono" panose="020B0609020000020004" pitchFamily="49" charset="0"/>
              </a:rPr>
              <a:t>&lt;&lt;</a:t>
            </a:r>
            <a:r>
              <a:rPr lang="de-DE" sz="1100" dirty="0">
                <a:solidFill>
                  <a:srgbClr val="000000"/>
                </a:solidFill>
                <a:highlight>
                  <a:srgbClr val="FFFFFF"/>
                </a:highlight>
                <a:latin typeface="Cascadia Mono" panose="020B0609020000020004" pitchFamily="49" charset="0"/>
              </a:rPr>
              <a:t> </a:t>
            </a:r>
            <a:r>
              <a:rPr lang="de-DE" sz="1100" dirty="0" err="1">
                <a:solidFill>
                  <a:srgbClr val="000000"/>
                </a:solidFill>
                <a:highlight>
                  <a:srgbClr val="FFFFFF"/>
                </a:highlight>
                <a:latin typeface="Cascadia Mono" panose="020B0609020000020004" pitchFamily="49" charset="0"/>
              </a:rPr>
              <a:t>std</a:t>
            </a:r>
            <a:r>
              <a:rPr lang="de-DE" sz="1100" dirty="0">
                <a:solidFill>
                  <a:srgbClr val="000000"/>
                </a:solidFill>
                <a:highlight>
                  <a:srgbClr val="FFFFFF"/>
                </a:highlight>
                <a:latin typeface="Cascadia Mono" panose="020B0609020000020004" pitchFamily="49" charset="0"/>
              </a:rPr>
              <a:t>::</a:t>
            </a:r>
            <a:r>
              <a:rPr lang="de-DE" sz="1100" dirty="0" err="1">
                <a:solidFill>
                  <a:srgbClr val="000000"/>
                </a:solidFill>
                <a:highlight>
                  <a:srgbClr val="FFFFFF"/>
                </a:highlight>
                <a:latin typeface="Cascadia Mono" panose="020B0609020000020004" pitchFamily="49" charset="0"/>
              </a:rPr>
              <a:t>endl</a:t>
            </a:r>
            <a:r>
              <a:rPr lang="de-DE"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    }</a:t>
            </a:r>
          </a:p>
          <a:p>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catch</a:t>
            </a:r>
            <a:r>
              <a:rPr lang="de-CH" sz="1100" dirty="0">
                <a:solidFill>
                  <a:srgbClr val="000000"/>
                </a:solidFill>
                <a:highlight>
                  <a:srgbClr val="FFFFFF"/>
                </a:highlight>
                <a:latin typeface="Cascadia Mono" panose="020B0609020000020004" pitchFamily="49" charset="0"/>
              </a:rPr>
              <a:t> (...)</a:t>
            </a:r>
          </a:p>
          <a:p>
            <a:r>
              <a:rPr lang="ru-RU" sz="1100" dirty="0">
                <a:solidFill>
                  <a:srgbClr val="000000"/>
                </a:solidFill>
                <a:highlight>
                  <a:srgbClr val="FFFFFF"/>
                </a:highlight>
                <a:latin typeface="Cascadia Mono" panose="020B0609020000020004" pitchFamily="49" charset="0"/>
              </a:rPr>
              <a:t>    {</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"Error!"</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endl</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std::</a:t>
            </a:r>
            <a:r>
              <a:rPr lang="en-US" sz="1100" dirty="0" err="1">
                <a:solidFill>
                  <a:srgbClr val="000000"/>
                </a:solidFill>
                <a:highlight>
                  <a:srgbClr val="FFFFFF"/>
                </a:highlight>
                <a:latin typeface="Cascadia Mono" panose="020B0609020000020004" pitchFamily="49" charset="0"/>
              </a:rPr>
              <a:t>cout</a:t>
            </a:r>
            <a:r>
              <a:rPr lang="en-US" sz="1100" dirty="0">
                <a:solidFill>
                  <a:srgbClr val="000000"/>
                </a:solidFill>
                <a:highlight>
                  <a:srgbClr val="FFFFFF"/>
                </a:highlight>
                <a:latin typeface="Cascadia Mono" panose="020B0609020000020004" pitchFamily="49" charset="0"/>
              </a:rPr>
              <a:t> </a:t>
            </a:r>
            <a:r>
              <a:rPr lang="en-US" sz="1100" dirty="0">
                <a:solidFill>
                  <a:srgbClr val="008080"/>
                </a:solidFill>
                <a:highlight>
                  <a:srgbClr val="FFFFFF"/>
                </a:highlight>
                <a:latin typeface="Cascadia Mono" panose="020B0609020000020004" pitchFamily="49" charset="0"/>
              </a:rPr>
              <a:t>&lt;&lt;</a:t>
            </a:r>
            <a:r>
              <a:rPr lang="en-US" sz="1100" dirty="0">
                <a:solidFill>
                  <a:srgbClr val="000000"/>
                </a:solidFill>
                <a:highlight>
                  <a:srgbClr val="FFFFFF"/>
                </a:highlight>
                <a:latin typeface="Cascadia Mono" panose="020B0609020000020004" pitchFamily="49" charset="0"/>
              </a:rPr>
              <a:t> </a:t>
            </a:r>
            <a:r>
              <a:rPr lang="en-US" sz="1100" dirty="0">
                <a:solidFill>
                  <a:srgbClr val="A31515"/>
                </a:solidFill>
                <a:highlight>
                  <a:srgbClr val="FFFFFF"/>
                </a:highlight>
                <a:latin typeface="Cascadia Mono" panose="020B0609020000020004" pitchFamily="49" charset="0"/>
              </a:rPr>
              <a:t>"The End..."</a:t>
            </a:r>
            <a:r>
              <a:rPr lang="en-US" sz="1100" dirty="0">
                <a:solidFill>
                  <a:srgbClr val="000000"/>
                </a:solidFill>
                <a:highlight>
                  <a:srgbClr val="FFFFFF"/>
                </a:highlight>
                <a:latin typeface="Cascadia Mono" panose="020B0609020000020004" pitchFamily="49" charset="0"/>
              </a:rPr>
              <a:t> </a:t>
            </a:r>
            <a:r>
              <a:rPr lang="en-US" sz="1100" dirty="0">
                <a:solidFill>
                  <a:srgbClr val="008080"/>
                </a:solidFill>
                <a:highlight>
                  <a:srgbClr val="FFFFFF"/>
                </a:highlight>
                <a:latin typeface="Cascadia Mono" panose="020B0609020000020004" pitchFamily="49" charset="0"/>
              </a:rPr>
              <a:t>&lt;&lt;</a:t>
            </a:r>
            <a:r>
              <a:rPr lang="en-US" sz="1100" dirty="0">
                <a:solidFill>
                  <a:srgbClr val="000000"/>
                </a:solidFill>
                <a:highlight>
                  <a:srgbClr val="FFFFFF"/>
                </a:highlight>
                <a:latin typeface="Cascadia Mono" panose="020B0609020000020004" pitchFamily="49" charset="0"/>
              </a:rPr>
              <a:t> std::</a:t>
            </a:r>
            <a:r>
              <a:rPr lang="en-US" sz="1100" dirty="0" err="1">
                <a:solidFill>
                  <a:srgbClr val="000000"/>
                </a:solidFill>
                <a:highlight>
                  <a:srgbClr val="FFFFFF"/>
                </a:highlight>
                <a:latin typeface="Cascadia Mono" panose="020B0609020000020004" pitchFamily="49" charset="0"/>
              </a:rPr>
              <a:t>endl</a:t>
            </a:r>
            <a:r>
              <a:rPr lang="en-US"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endParaRPr lang="ru-RU" sz="1100" dirty="0"/>
          </a:p>
        </p:txBody>
      </p:sp>
    </p:spTree>
    <p:extLst>
      <p:ext uri="{BB962C8B-B14F-4D97-AF65-F5344CB8AC3E}">
        <p14:creationId xmlns:p14="http://schemas.microsoft.com/office/powerpoint/2010/main" val="1993225523"/>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A08F1B-368F-0BEB-2F24-F9E173B9E596}"/>
              </a:ext>
            </a:extLst>
          </p:cNvPr>
          <p:cNvSpPr>
            <a:spLocks noGrp="1"/>
          </p:cNvSpPr>
          <p:nvPr>
            <p:ph type="title"/>
          </p:nvPr>
        </p:nvSpPr>
        <p:spPr/>
        <p:txBody>
          <a:bodyPr/>
          <a:lstStyle/>
          <a:p>
            <a:r>
              <a:rPr lang="ru-RU" dirty="0"/>
              <a:t>Обработка исключений</a:t>
            </a:r>
          </a:p>
        </p:txBody>
      </p:sp>
      <p:sp>
        <p:nvSpPr>
          <p:cNvPr id="3" name="Объект 2">
            <a:extLst>
              <a:ext uri="{FF2B5EF4-FFF2-40B4-BE49-F238E27FC236}">
                <a16:creationId xmlns:a16="http://schemas.microsoft.com/office/drawing/2014/main" id="{D005F67D-53E2-425C-C543-879DEBF35473}"/>
              </a:ext>
            </a:extLst>
          </p:cNvPr>
          <p:cNvSpPr>
            <a:spLocks noGrp="1"/>
          </p:cNvSpPr>
          <p:nvPr>
            <p:ph idx="1"/>
          </p:nvPr>
        </p:nvSpPr>
        <p:spPr/>
        <p:txBody>
          <a:bodyPr/>
          <a:lstStyle/>
          <a:p>
            <a:endParaRPr lang="ru-RU" dirty="0"/>
          </a:p>
          <a:p>
            <a:r>
              <a:rPr lang="ru-RU" dirty="0"/>
              <a:t>В блоке </a:t>
            </a:r>
            <a:r>
              <a:rPr lang="ru-RU" dirty="0" err="1"/>
              <a:t>catch</a:t>
            </a:r>
            <a:r>
              <a:rPr lang="ru-RU" dirty="0"/>
              <a:t> идет обработка исключения. Причем многоточие в скобках после оператора </a:t>
            </a:r>
            <a:r>
              <a:rPr lang="ru-RU" dirty="0" err="1"/>
              <a:t>catch</a:t>
            </a:r>
            <a:r>
              <a:rPr lang="ru-RU" dirty="0"/>
              <a:t> (</a:t>
            </a:r>
            <a:r>
              <a:rPr lang="ru-RU" dirty="0" err="1"/>
              <a:t>catch</a:t>
            </a:r>
            <a:r>
              <a:rPr lang="ru-RU" dirty="0"/>
              <a:t>(...)) позволяет обработать любое исключение.</a:t>
            </a:r>
          </a:p>
        </p:txBody>
      </p:sp>
    </p:spTree>
    <p:extLst>
      <p:ext uri="{BB962C8B-B14F-4D97-AF65-F5344CB8AC3E}">
        <p14:creationId xmlns:p14="http://schemas.microsoft.com/office/powerpoint/2010/main" val="1278846662"/>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350B99-4699-8ECB-2207-B5B392F31960}"/>
              </a:ext>
            </a:extLst>
          </p:cNvPr>
          <p:cNvSpPr>
            <a:spLocks noGrp="1"/>
          </p:cNvSpPr>
          <p:nvPr>
            <p:ph type="title"/>
          </p:nvPr>
        </p:nvSpPr>
        <p:spPr/>
        <p:txBody>
          <a:bodyPr/>
          <a:lstStyle/>
          <a:p>
            <a:r>
              <a:rPr lang="ru-RU" dirty="0"/>
              <a:t>Обработка исключений</a:t>
            </a:r>
          </a:p>
        </p:txBody>
      </p:sp>
      <p:sp>
        <p:nvSpPr>
          <p:cNvPr id="3" name="Объект 2">
            <a:extLst>
              <a:ext uri="{FF2B5EF4-FFF2-40B4-BE49-F238E27FC236}">
                <a16:creationId xmlns:a16="http://schemas.microsoft.com/office/drawing/2014/main" id="{CE32B3C8-3CC6-B5C0-D42F-9377CFF68DD5}"/>
              </a:ext>
            </a:extLst>
          </p:cNvPr>
          <p:cNvSpPr>
            <a:spLocks noGrp="1"/>
          </p:cNvSpPr>
          <p:nvPr>
            <p:ph idx="1"/>
          </p:nvPr>
        </p:nvSpPr>
        <p:spPr/>
        <p:txBody>
          <a:bodyPr/>
          <a:lstStyle/>
          <a:p>
            <a:r>
              <a:rPr lang="de-CH" sz="1100" dirty="0">
                <a:solidFill>
                  <a:srgbClr val="808080"/>
                </a:solidFill>
                <a:highlight>
                  <a:srgbClr val="FFFFFF"/>
                </a:highlight>
                <a:latin typeface="Cascadia Mono" panose="020B0609020000020004" pitchFamily="49" charset="0"/>
              </a:rPr>
              <a:t>#include</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&lt;</a:t>
            </a:r>
            <a:r>
              <a:rPr lang="de-CH" sz="1100" dirty="0" err="1">
                <a:solidFill>
                  <a:srgbClr val="A31515"/>
                </a:solidFill>
                <a:highlight>
                  <a:srgbClr val="FFFFFF"/>
                </a:highlight>
                <a:latin typeface="Cascadia Mono" panose="020B0609020000020004" pitchFamily="49" charset="0"/>
              </a:rPr>
              <a:t>iostream</a:t>
            </a:r>
            <a:r>
              <a:rPr lang="de-CH" sz="1100" dirty="0">
                <a:solidFill>
                  <a:srgbClr val="A31515"/>
                </a:solidFill>
                <a:highlight>
                  <a:srgbClr val="FFFFFF"/>
                </a:highlight>
                <a:latin typeface="Cascadia Mono" panose="020B0609020000020004" pitchFamily="49" charset="0"/>
              </a:rPr>
              <a:t>&gt;</a:t>
            </a:r>
            <a:endParaRPr lang="de-CH" sz="1100" dirty="0">
              <a:solidFill>
                <a:srgbClr val="000000"/>
              </a:solidFill>
              <a:highlight>
                <a:srgbClr val="FFFFFF"/>
              </a:highlight>
              <a:latin typeface="Cascadia Mono" panose="020B0609020000020004" pitchFamily="49" charset="0"/>
            </a:endParaRPr>
          </a:p>
          <a:p>
            <a:endParaRPr lang="ru-RU" sz="1100" dirty="0">
              <a:solidFill>
                <a:srgbClr val="000000"/>
              </a:solidFill>
              <a:highlight>
                <a:srgbClr val="FFFFFF"/>
              </a:highlight>
              <a:latin typeface="Cascadia Mono" panose="020B0609020000020004" pitchFamily="49" charset="0"/>
            </a:endParaRPr>
          </a:p>
          <a:p>
            <a:r>
              <a:rPr lang="fr-FR" sz="1100" dirty="0">
                <a:solidFill>
                  <a:srgbClr val="0000FF"/>
                </a:solidFill>
                <a:highlight>
                  <a:srgbClr val="FFFFFF"/>
                </a:highlight>
                <a:latin typeface="Cascadia Mono" panose="020B0609020000020004" pitchFamily="49" charset="0"/>
              </a:rPr>
              <a:t>double</a:t>
            </a:r>
            <a:r>
              <a:rPr lang="fr-FR" sz="1100" dirty="0">
                <a:solidFill>
                  <a:srgbClr val="000000"/>
                </a:solidFill>
                <a:highlight>
                  <a:srgbClr val="FFFFFF"/>
                </a:highlight>
                <a:latin typeface="Cascadia Mono" panose="020B0609020000020004" pitchFamily="49" charset="0"/>
              </a:rPr>
              <a:t> </a:t>
            </a:r>
            <a:r>
              <a:rPr lang="fr-FR" sz="1100" dirty="0" err="1">
                <a:solidFill>
                  <a:srgbClr val="000000"/>
                </a:solidFill>
                <a:highlight>
                  <a:srgbClr val="FFFFFF"/>
                </a:highlight>
                <a:latin typeface="Cascadia Mono" panose="020B0609020000020004" pitchFamily="49" charset="0"/>
              </a:rPr>
              <a:t>divide</a:t>
            </a:r>
            <a:r>
              <a:rPr lang="fr-FR" sz="1100" dirty="0">
                <a:solidFill>
                  <a:srgbClr val="000000"/>
                </a:solidFill>
                <a:highlight>
                  <a:srgbClr val="FFFFFF"/>
                </a:highlight>
                <a:latin typeface="Cascadia Mono" panose="020B0609020000020004" pitchFamily="49" charset="0"/>
              </a:rPr>
              <a:t>(</a:t>
            </a:r>
            <a:r>
              <a:rPr lang="fr-FR" sz="1100" dirty="0">
                <a:solidFill>
                  <a:srgbClr val="0000FF"/>
                </a:solidFill>
                <a:highlight>
                  <a:srgbClr val="FFFFFF"/>
                </a:highlight>
                <a:latin typeface="Cascadia Mono" panose="020B0609020000020004" pitchFamily="49" charset="0"/>
              </a:rPr>
              <a:t>int</a:t>
            </a:r>
            <a:r>
              <a:rPr lang="fr-FR" sz="1100" dirty="0">
                <a:solidFill>
                  <a:srgbClr val="000000"/>
                </a:solidFill>
                <a:highlight>
                  <a:srgbClr val="FFFFFF"/>
                </a:highlight>
                <a:latin typeface="Cascadia Mono" panose="020B0609020000020004" pitchFamily="49" charset="0"/>
              </a:rPr>
              <a:t> </a:t>
            </a:r>
            <a:r>
              <a:rPr lang="fr-FR" sz="1100" dirty="0">
                <a:solidFill>
                  <a:srgbClr val="808080"/>
                </a:solidFill>
                <a:highlight>
                  <a:srgbClr val="FFFFFF"/>
                </a:highlight>
                <a:latin typeface="Cascadia Mono" panose="020B0609020000020004" pitchFamily="49" charset="0"/>
              </a:rPr>
              <a:t>a</a:t>
            </a:r>
            <a:r>
              <a:rPr lang="fr-FR" sz="1100" dirty="0">
                <a:solidFill>
                  <a:srgbClr val="000000"/>
                </a:solidFill>
                <a:highlight>
                  <a:srgbClr val="FFFFFF"/>
                </a:highlight>
                <a:latin typeface="Cascadia Mono" panose="020B0609020000020004" pitchFamily="49" charset="0"/>
              </a:rPr>
              <a:t>, </a:t>
            </a:r>
            <a:r>
              <a:rPr lang="fr-FR" sz="1100" dirty="0">
                <a:solidFill>
                  <a:srgbClr val="0000FF"/>
                </a:solidFill>
                <a:highlight>
                  <a:srgbClr val="FFFFFF"/>
                </a:highlight>
                <a:latin typeface="Cascadia Mono" panose="020B0609020000020004" pitchFamily="49" charset="0"/>
              </a:rPr>
              <a:t>int</a:t>
            </a:r>
            <a:r>
              <a:rPr lang="fr-FR" sz="1100" dirty="0">
                <a:solidFill>
                  <a:srgbClr val="000000"/>
                </a:solidFill>
                <a:highlight>
                  <a:srgbClr val="FFFFFF"/>
                </a:highlight>
                <a:latin typeface="Cascadia Mono" panose="020B0609020000020004" pitchFamily="49" charset="0"/>
              </a:rPr>
              <a:t> </a:t>
            </a:r>
            <a:r>
              <a:rPr lang="fr-FR" sz="1100" dirty="0">
                <a:solidFill>
                  <a:srgbClr val="808080"/>
                </a:solidFill>
                <a:highlight>
                  <a:srgbClr val="FFFFFF"/>
                </a:highlight>
                <a:latin typeface="Cascadia Mono" panose="020B0609020000020004" pitchFamily="49" charset="0"/>
              </a:rPr>
              <a:t>b</a:t>
            </a:r>
            <a:r>
              <a:rPr lang="fr-FR"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if</a:t>
            </a:r>
            <a:r>
              <a:rPr lang="de-CH" sz="1100" dirty="0">
                <a:solidFill>
                  <a:srgbClr val="000000"/>
                </a:solidFill>
                <a:highlight>
                  <a:srgbClr val="FFFFFF"/>
                </a:highlight>
                <a:latin typeface="Cascadia Mono" panose="020B0609020000020004" pitchFamily="49" charset="0"/>
              </a:rPr>
              <a:t> (</a:t>
            </a:r>
            <a:r>
              <a:rPr lang="de-CH" sz="1100" dirty="0">
                <a:solidFill>
                  <a:srgbClr val="808080"/>
                </a:solidFill>
                <a:highlight>
                  <a:srgbClr val="FFFFFF"/>
                </a:highlight>
                <a:latin typeface="Cascadia Mono" panose="020B0609020000020004" pitchFamily="49" charset="0"/>
              </a:rPr>
              <a:t>b</a:t>
            </a:r>
            <a:r>
              <a:rPr lang="de-CH"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return</a:t>
            </a:r>
            <a:r>
              <a:rPr lang="de-CH" sz="1100" dirty="0">
                <a:solidFill>
                  <a:srgbClr val="000000"/>
                </a:solidFill>
                <a:highlight>
                  <a:srgbClr val="FFFFFF"/>
                </a:highlight>
                <a:latin typeface="Cascadia Mono" panose="020B0609020000020004" pitchFamily="49" charset="0"/>
              </a:rPr>
              <a:t> </a:t>
            </a:r>
            <a:r>
              <a:rPr lang="de-CH" sz="1100" dirty="0">
                <a:solidFill>
                  <a:srgbClr val="808080"/>
                </a:solidFill>
                <a:highlight>
                  <a:srgbClr val="FFFFFF"/>
                </a:highlight>
                <a:latin typeface="Cascadia Mono" panose="020B0609020000020004" pitchFamily="49" charset="0"/>
              </a:rPr>
              <a:t>a</a:t>
            </a:r>
            <a:r>
              <a:rPr lang="de-CH" sz="1100" dirty="0">
                <a:solidFill>
                  <a:srgbClr val="000000"/>
                </a:solidFill>
                <a:highlight>
                  <a:srgbClr val="FFFFFF"/>
                </a:highlight>
                <a:latin typeface="Cascadia Mono" panose="020B0609020000020004" pitchFamily="49" charset="0"/>
              </a:rPr>
              <a:t> / </a:t>
            </a:r>
            <a:r>
              <a:rPr lang="de-CH" sz="1100" dirty="0">
                <a:solidFill>
                  <a:srgbClr val="808080"/>
                </a:solidFill>
                <a:highlight>
                  <a:srgbClr val="FFFFFF"/>
                </a:highlight>
                <a:latin typeface="Cascadia Mono" panose="020B0609020000020004" pitchFamily="49" charset="0"/>
              </a:rPr>
              <a:t>b</a:t>
            </a:r>
            <a:r>
              <a:rPr lang="de-CH"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throw</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"Division </a:t>
            </a:r>
            <a:r>
              <a:rPr lang="de-CH" sz="1100" dirty="0" err="1">
                <a:solidFill>
                  <a:srgbClr val="A31515"/>
                </a:solidFill>
                <a:highlight>
                  <a:srgbClr val="FFFFFF"/>
                </a:highlight>
                <a:latin typeface="Cascadia Mono" panose="020B0609020000020004" pitchFamily="49" charset="0"/>
              </a:rPr>
              <a:t>by</a:t>
            </a:r>
            <a:r>
              <a:rPr lang="de-CH" sz="1100" dirty="0">
                <a:solidFill>
                  <a:srgbClr val="A31515"/>
                </a:solidFill>
                <a:highlight>
                  <a:srgbClr val="FFFFFF"/>
                </a:highlight>
                <a:latin typeface="Cascadia Mono" panose="020B0609020000020004" pitchFamily="49" charset="0"/>
              </a:rPr>
              <a:t> </a:t>
            </a:r>
            <a:r>
              <a:rPr lang="de-CH" sz="1100" dirty="0" err="1">
                <a:solidFill>
                  <a:srgbClr val="A31515"/>
                </a:solidFill>
                <a:highlight>
                  <a:srgbClr val="FFFFFF"/>
                </a:highlight>
                <a:latin typeface="Cascadia Mono" panose="020B0609020000020004" pitchFamily="49" charset="0"/>
              </a:rPr>
              <a:t>zero</a:t>
            </a:r>
            <a:r>
              <a:rPr lang="de-CH" sz="1100" dirty="0">
                <a:solidFill>
                  <a:srgbClr val="A31515"/>
                </a:solidFill>
                <a:highlight>
                  <a:srgbClr val="FFFFFF"/>
                </a:highlight>
                <a:latin typeface="Cascadia Mono" panose="020B0609020000020004" pitchFamily="49" charset="0"/>
              </a:rPr>
              <a:t>!"</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endParaRPr lang="ru-RU" sz="1100" dirty="0">
              <a:solidFill>
                <a:srgbClr val="000000"/>
              </a:solidFill>
              <a:highlight>
                <a:srgbClr val="FFFFFF"/>
              </a:highlight>
              <a:latin typeface="Cascadia Mono" panose="020B0609020000020004" pitchFamily="49" charset="0"/>
            </a:endParaRPr>
          </a:p>
          <a:p>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main</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x{ 500 };</a:t>
            </a:r>
          </a:p>
          <a:p>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y{};</a:t>
            </a:r>
          </a:p>
          <a:p>
            <a:endParaRPr lang="ru-RU" sz="1100" dirty="0">
              <a:solidFill>
                <a:srgbClr val="000000"/>
              </a:solidFill>
              <a:highlight>
                <a:srgbClr val="FFFFFF"/>
              </a:highlight>
              <a:latin typeface="Cascadia Mono" panose="020B0609020000020004" pitchFamily="49" charset="0"/>
            </a:endParaRP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try</a:t>
            </a:r>
            <a:endParaRPr lang="de-CH" sz="1100" dirty="0">
              <a:solidFill>
                <a:srgbClr val="000000"/>
              </a:solidFill>
              <a:highlight>
                <a:srgbClr val="FFFFFF"/>
              </a:highlight>
              <a:latin typeface="Cascadia Mono" panose="020B0609020000020004" pitchFamily="49" charset="0"/>
            </a:endParaRPr>
          </a:p>
          <a:p>
            <a:r>
              <a:rPr lang="ru-RU" sz="1100" dirty="0">
                <a:solidFill>
                  <a:srgbClr val="000000"/>
                </a:solidFill>
                <a:highlight>
                  <a:srgbClr val="FFFFFF"/>
                </a:highlight>
                <a:latin typeface="Cascadia Mono" panose="020B0609020000020004" pitchFamily="49" charset="0"/>
              </a:rPr>
              <a:t>    {</a:t>
            </a:r>
          </a:p>
          <a:p>
            <a:r>
              <a:rPr lang="fr-FR" sz="1100" dirty="0">
                <a:solidFill>
                  <a:srgbClr val="000000"/>
                </a:solidFill>
                <a:highlight>
                  <a:srgbClr val="FFFFFF"/>
                </a:highlight>
                <a:latin typeface="Cascadia Mono" panose="020B0609020000020004" pitchFamily="49" charset="0"/>
              </a:rPr>
              <a:t>        </a:t>
            </a:r>
            <a:r>
              <a:rPr lang="fr-FR" sz="1100" dirty="0">
                <a:solidFill>
                  <a:srgbClr val="0000FF"/>
                </a:solidFill>
                <a:highlight>
                  <a:srgbClr val="FFFFFF"/>
                </a:highlight>
                <a:latin typeface="Cascadia Mono" panose="020B0609020000020004" pitchFamily="49" charset="0"/>
              </a:rPr>
              <a:t>double</a:t>
            </a:r>
            <a:r>
              <a:rPr lang="fr-FR" sz="1100" dirty="0">
                <a:solidFill>
                  <a:srgbClr val="000000"/>
                </a:solidFill>
                <a:highlight>
                  <a:srgbClr val="FFFFFF"/>
                </a:highlight>
                <a:latin typeface="Cascadia Mono" panose="020B0609020000020004" pitchFamily="49" charset="0"/>
              </a:rPr>
              <a:t> z{ </a:t>
            </a:r>
            <a:r>
              <a:rPr lang="fr-FR" sz="1100" dirty="0" err="1">
                <a:solidFill>
                  <a:srgbClr val="000000"/>
                </a:solidFill>
                <a:highlight>
                  <a:srgbClr val="FFFFFF"/>
                </a:highlight>
                <a:latin typeface="Cascadia Mono" panose="020B0609020000020004" pitchFamily="49" charset="0"/>
              </a:rPr>
              <a:t>divide</a:t>
            </a:r>
            <a:r>
              <a:rPr lang="fr-FR" sz="1100" dirty="0">
                <a:solidFill>
                  <a:srgbClr val="000000"/>
                </a:solidFill>
                <a:highlight>
                  <a:srgbClr val="FFFFFF"/>
                </a:highlight>
                <a:latin typeface="Cascadia Mono" panose="020B0609020000020004" pitchFamily="49" charset="0"/>
              </a:rPr>
              <a:t>(x, y) };</a:t>
            </a:r>
          </a:p>
          <a:p>
            <a:r>
              <a:rPr lang="de-DE" sz="1100" dirty="0">
                <a:solidFill>
                  <a:srgbClr val="000000"/>
                </a:solidFill>
                <a:highlight>
                  <a:srgbClr val="FFFFFF"/>
                </a:highlight>
                <a:latin typeface="Cascadia Mono" panose="020B0609020000020004" pitchFamily="49" charset="0"/>
              </a:rPr>
              <a:t>        </a:t>
            </a:r>
            <a:r>
              <a:rPr lang="de-DE" sz="1100" dirty="0" err="1">
                <a:solidFill>
                  <a:srgbClr val="000000"/>
                </a:solidFill>
                <a:highlight>
                  <a:srgbClr val="FFFFFF"/>
                </a:highlight>
                <a:latin typeface="Cascadia Mono" panose="020B0609020000020004" pitchFamily="49" charset="0"/>
              </a:rPr>
              <a:t>std</a:t>
            </a:r>
            <a:r>
              <a:rPr lang="de-DE" sz="1100" dirty="0">
                <a:solidFill>
                  <a:srgbClr val="000000"/>
                </a:solidFill>
                <a:highlight>
                  <a:srgbClr val="FFFFFF"/>
                </a:highlight>
                <a:latin typeface="Cascadia Mono" panose="020B0609020000020004" pitchFamily="49" charset="0"/>
              </a:rPr>
              <a:t>::</a:t>
            </a:r>
            <a:r>
              <a:rPr lang="de-DE" sz="1100" dirty="0" err="1">
                <a:solidFill>
                  <a:srgbClr val="000000"/>
                </a:solidFill>
                <a:highlight>
                  <a:srgbClr val="FFFFFF"/>
                </a:highlight>
                <a:latin typeface="Cascadia Mono" panose="020B0609020000020004" pitchFamily="49" charset="0"/>
              </a:rPr>
              <a:t>cout</a:t>
            </a:r>
            <a:r>
              <a:rPr lang="de-DE" sz="1100" dirty="0">
                <a:solidFill>
                  <a:srgbClr val="000000"/>
                </a:solidFill>
                <a:highlight>
                  <a:srgbClr val="FFFFFF"/>
                </a:highlight>
                <a:latin typeface="Cascadia Mono" panose="020B0609020000020004" pitchFamily="49" charset="0"/>
              </a:rPr>
              <a:t> </a:t>
            </a:r>
            <a:r>
              <a:rPr lang="de-DE" sz="1100" dirty="0">
                <a:solidFill>
                  <a:srgbClr val="008080"/>
                </a:solidFill>
                <a:highlight>
                  <a:srgbClr val="FFFFFF"/>
                </a:highlight>
                <a:latin typeface="Cascadia Mono" panose="020B0609020000020004" pitchFamily="49" charset="0"/>
              </a:rPr>
              <a:t>&lt;&lt;</a:t>
            </a:r>
            <a:r>
              <a:rPr lang="de-DE" sz="1100" dirty="0">
                <a:solidFill>
                  <a:srgbClr val="000000"/>
                </a:solidFill>
                <a:highlight>
                  <a:srgbClr val="FFFFFF"/>
                </a:highlight>
                <a:latin typeface="Cascadia Mono" panose="020B0609020000020004" pitchFamily="49" charset="0"/>
              </a:rPr>
              <a:t> z </a:t>
            </a:r>
            <a:r>
              <a:rPr lang="de-DE" sz="1100" dirty="0">
                <a:solidFill>
                  <a:srgbClr val="008080"/>
                </a:solidFill>
                <a:highlight>
                  <a:srgbClr val="FFFFFF"/>
                </a:highlight>
                <a:latin typeface="Cascadia Mono" panose="020B0609020000020004" pitchFamily="49" charset="0"/>
              </a:rPr>
              <a:t>&lt;&lt;</a:t>
            </a:r>
            <a:r>
              <a:rPr lang="de-DE" sz="1100" dirty="0">
                <a:solidFill>
                  <a:srgbClr val="000000"/>
                </a:solidFill>
                <a:highlight>
                  <a:srgbClr val="FFFFFF"/>
                </a:highlight>
                <a:latin typeface="Cascadia Mono" panose="020B0609020000020004" pitchFamily="49" charset="0"/>
              </a:rPr>
              <a:t> </a:t>
            </a:r>
            <a:r>
              <a:rPr lang="de-DE" sz="1100" dirty="0" err="1">
                <a:solidFill>
                  <a:srgbClr val="000000"/>
                </a:solidFill>
                <a:highlight>
                  <a:srgbClr val="FFFFFF"/>
                </a:highlight>
                <a:latin typeface="Cascadia Mono" panose="020B0609020000020004" pitchFamily="49" charset="0"/>
              </a:rPr>
              <a:t>std</a:t>
            </a:r>
            <a:r>
              <a:rPr lang="de-DE" sz="1100" dirty="0">
                <a:solidFill>
                  <a:srgbClr val="000000"/>
                </a:solidFill>
                <a:highlight>
                  <a:srgbClr val="FFFFFF"/>
                </a:highlight>
                <a:latin typeface="Cascadia Mono" panose="020B0609020000020004" pitchFamily="49" charset="0"/>
              </a:rPr>
              <a:t>::</a:t>
            </a:r>
            <a:r>
              <a:rPr lang="de-DE" sz="1100" dirty="0" err="1">
                <a:solidFill>
                  <a:srgbClr val="000000"/>
                </a:solidFill>
                <a:highlight>
                  <a:srgbClr val="FFFFFF"/>
                </a:highlight>
                <a:latin typeface="Cascadia Mono" panose="020B0609020000020004" pitchFamily="49" charset="0"/>
              </a:rPr>
              <a:t>endl</a:t>
            </a:r>
            <a:r>
              <a:rPr lang="de-DE"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catch</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const</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char</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error_message</a:t>
            </a:r>
            <a:r>
              <a:rPr lang="en-US"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    {</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error_message</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endl</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std::</a:t>
            </a:r>
            <a:r>
              <a:rPr lang="en-US" sz="1100" dirty="0" err="1">
                <a:solidFill>
                  <a:srgbClr val="000000"/>
                </a:solidFill>
                <a:highlight>
                  <a:srgbClr val="FFFFFF"/>
                </a:highlight>
                <a:latin typeface="Cascadia Mono" panose="020B0609020000020004" pitchFamily="49" charset="0"/>
              </a:rPr>
              <a:t>cout</a:t>
            </a:r>
            <a:r>
              <a:rPr lang="en-US" sz="1100" dirty="0">
                <a:solidFill>
                  <a:srgbClr val="000000"/>
                </a:solidFill>
                <a:highlight>
                  <a:srgbClr val="FFFFFF"/>
                </a:highlight>
                <a:latin typeface="Cascadia Mono" panose="020B0609020000020004" pitchFamily="49" charset="0"/>
              </a:rPr>
              <a:t> </a:t>
            </a:r>
            <a:r>
              <a:rPr lang="en-US" sz="1100" dirty="0">
                <a:solidFill>
                  <a:srgbClr val="008080"/>
                </a:solidFill>
                <a:highlight>
                  <a:srgbClr val="FFFFFF"/>
                </a:highlight>
                <a:latin typeface="Cascadia Mono" panose="020B0609020000020004" pitchFamily="49" charset="0"/>
              </a:rPr>
              <a:t>&lt;&lt;</a:t>
            </a:r>
            <a:r>
              <a:rPr lang="en-US" sz="1100" dirty="0">
                <a:solidFill>
                  <a:srgbClr val="000000"/>
                </a:solidFill>
                <a:highlight>
                  <a:srgbClr val="FFFFFF"/>
                </a:highlight>
                <a:latin typeface="Cascadia Mono" panose="020B0609020000020004" pitchFamily="49" charset="0"/>
              </a:rPr>
              <a:t> </a:t>
            </a:r>
            <a:r>
              <a:rPr lang="en-US" sz="1100" dirty="0">
                <a:solidFill>
                  <a:srgbClr val="A31515"/>
                </a:solidFill>
                <a:highlight>
                  <a:srgbClr val="FFFFFF"/>
                </a:highlight>
                <a:latin typeface="Cascadia Mono" panose="020B0609020000020004" pitchFamily="49" charset="0"/>
              </a:rPr>
              <a:t>"The End..."</a:t>
            </a:r>
            <a:r>
              <a:rPr lang="en-US" sz="1100" dirty="0">
                <a:solidFill>
                  <a:srgbClr val="000000"/>
                </a:solidFill>
                <a:highlight>
                  <a:srgbClr val="FFFFFF"/>
                </a:highlight>
                <a:latin typeface="Cascadia Mono" panose="020B0609020000020004" pitchFamily="49" charset="0"/>
              </a:rPr>
              <a:t> </a:t>
            </a:r>
            <a:r>
              <a:rPr lang="en-US" sz="1100" dirty="0">
                <a:solidFill>
                  <a:srgbClr val="008080"/>
                </a:solidFill>
                <a:highlight>
                  <a:srgbClr val="FFFFFF"/>
                </a:highlight>
                <a:latin typeface="Cascadia Mono" panose="020B0609020000020004" pitchFamily="49" charset="0"/>
              </a:rPr>
              <a:t>&lt;&lt;</a:t>
            </a:r>
            <a:r>
              <a:rPr lang="en-US" sz="1100" dirty="0">
                <a:solidFill>
                  <a:srgbClr val="000000"/>
                </a:solidFill>
                <a:highlight>
                  <a:srgbClr val="FFFFFF"/>
                </a:highlight>
                <a:latin typeface="Cascadia Mono" panose="020B0609020000020004" pitchFamily="49" charset="0"/>
              </a:rPr>
              <a:t> std::</a:t>
            </a:r>
            <a:r>
              <a:rPr lang="en-US" sz="1100" dirty="0" err="1">
                <a:solidFill>
                  <a:srgbClr val="000000"/>
                </a:solidFill>
                <a:highlight>
                  <a:srgbClr val="FFFFFF"/>
                </a:highlight>
                <a:latin typeface="Cascadia Mono" panose="020B0609020000020004" pitchFamily="49" charset="0"/>
              </a:rPr>
              <a:t>endl</a:t>
            </a:r>
            <a:r>
              <a:rPr lang="en-US"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endParaRPr lang="ru-RU" sz="1100" dirty="0"/>
          </a:p>
        </p:txBody>
      </p:sp>
    </p:spTree>
    <p:extLst>
      <p:ext uri="{BB962C8B-B14F-4D97-AF65-F5344CB8AC3E}">
        <p14:creationId xmlns:p14="http://schemas.microsoft.com/office/powerpoint/2010/main" val="1011868659"/>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BF1365-3BCE-CD07-0DB3-68E2A32A57A9}"/>
              </a:ext>
            </a:extLst>
          </p:cNvPr>
          <p:cNvSpPr>
            <a:spLocks noGrp="1"/>
          </p:cNvSpPr>
          <p:nvPr>
            <p:ph type="title"/>
          </p:nvPr>
        </p:nvSpPr>
        <p:spPr/>
        <p:txBody>
          <a:bodyPr/>
          <a:lstStyle/>
          <a:p>
            <a:r>
              <a:rPr lang="ru-RU" b="1" dirty="0"/>
              <a:t>Создание объекта исключения</a:t>
            </a:r>
            <a:endParaRPr lang="ru-RU" dirty="0"/>
          </a:p>
        </p:txBody>
      </p:sp>
      <p:sp>
        <p:nvSpPr>
          <p:cNvPr id="3" name="Объект 2">
            <a:extLst>
              <a:ext uri="{FF2B5EF4-FFF2-40B4-BE49-F238E27FC236}">
                <a16:creationId xmlns:a16="http://schemas.microsoft.com/office/drawing/2014/main" id="{7C11299E-3083-88AF-D4C2-1D1585267755}"/>
              </a:ext>
            </a:extLst>
          </p:cNvPr>
          <p:cNvSpPr>
            <a:spLocks noGrp="1"/>
          </p:cNvSpPr>
          <p:nvPr>
            <p:ph idx="1"/>
          </p:nvPr>
        </p:nvSpPr>
        <p:spPr/>
        <p:txBody>
          <a:bodyPr/>
          <a:lstStyle/>
          <a:p>
            <a:r>
              <a:rPr lang="de-CH" sz="1100" dirty="0">
                <a:solidFill>
                  <a:srgbClr val="808080"/>
                </a:solidFill>
                <a:highlight>
                  <a:srgbClr val="FFFFFF"/>
                </a:highlight>
                <a:latin typeface="Cascadia Mono" panose="020B0609020000020004" pitchFamily="49" charset="0"/>
              </a:rPr>
              <a:t>#include</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&lt;</a:t>
            </a:r>
            <a:r>
              <a:rPr lang="de-CH" sz="1100" dirty="0" err="1">
                <a:solidFill>
                  <a:srgbClr val="A31515"/>
                </a:solidFill>
                <a:highlight>
                  <a:srgbClr val="FFFFFF"/>
                </a:highlight>
                <a:latin typeface="Cascadia Mono" panose="020B0609020000020004" pitchFamily="49" charset="0"/>
              </a:rPr>
              <a:t>iostream</a:t>
            </a:r>
            <a:r>
              <a:rPr lang="de-CH" sz="1100" dirty="0">
                <a:solidFill>
                  <a:srgbClr val="A31515"/>
                </a:solidFill>
                <a:highlight>
                  <a:srgbClr val="FFFFFF"/>
                </a:highlight>
                <a:latin typeface="Cascadia Mono" panose="020B0609020000020004" pitchFamily="49" charset="0"/>
              </a:rPr>
              <a:t>&gt;</a:t>
            </a:r>
            <a:endParaRPr lang="de-CH" sz="1100" dirty="0">
              <a:solidFill>
                <a:srgbClr val="000000"/>
              </a:solidFill>
              <a:highlight>
                <a:srgbClr val="FFFFFF"/>
              </a:highlight>
              <a:latin typeface="Cascadia Mono" panose="020B0609020000020004" pitchFamily="49" charset="0"/>
            </a:endParaRPr>
          </a:p>
          <a:p>
            <a:endParaRPr lang="ru-RU" sz="1100" dirty="0">
              <a:solidFill>
                <a:srgbClr val="000000"/>
              </a:solidFill>
              <a:highlight>
                <a:srgbClr val="FFFFFF"/>
              </a:highlight>
              <a:latin typeface="Cascadia Mono" panose="020B0609020000020004" pitchFamily="49" charset="0"/>
            </a:endParaRPr>
          </a:p>
          <a:p>
            <a:r>
              <a:rPr lang="fr-FR" sz="1100" dirty="0">
                <a:solidFill>
                  <a:srgbClr val="0000FF"/>
                </a:solidFill>
                <a:highlight>
                  <a:srgbClr val="FFFFFF"/>
                </a:highlight>
                <a:latin typeface="Cascadia Mono" panose="020B0609020000020004" pitchFamily="49" charset="0"/>
              </a:rPr>
              <a:t>double</a:t>
            </a:r>
            <a:r>
              <a:rPr lang="fr-FR" sz="1100" dirty="0">
                <a:solidFill>
                  <a:srgbClr val="000000"/>
                </a:solidFill>
                <a:highlight>
                  <a:srgbClr val="FFFFFF"/>
                </a:highlight>
                <a:latin typeface="Cascadia Mono" panose="020B0609020000020004" pitchFamily="49" charset="0"/>
              </a:rPr>
              <a:t> </a:t>
            </a:r>
            <a:r>
              <a:rPr lang="fr-FR" sz="1100" dirty="0" err="1">
                <a:solidFill>
                  <a:srgbClr val="000000"/>
                </a:solidFill>
                <a:highlight>
                  <a:srgbClr val="FFFFFF"/>
                </a:highlight>
                <a:latin typeface="Cascadia Mono" panose="020B0609020000020004" pitchFamily="49" charset="0"/>
              </a:rPr>
              <a:t>divide</a:t>
            </a:r>
            <a:r>
              <a:rPr lang="fr-FR" sz="1100" dirty="0">
                <a:solidFill>
                  <a:srgbClr val="000000"/>
                </a:solidFill>
                <a:highlight>
                  <a:srgbClr val="FFFFFF"/>
                </a:highlight>
                <a:latin typeface="Cascadia Mono" panose="020B0609020000020004" pitchFamily="49" charset="0"/>
              </a:rPr>
              <a:t>(</a:t>
            </a:r>
            <a:r>
              <a:rPr lang="fr-FR" sz="1100" dirty="0">
                <a:solidFill>
                  <a:srgbClr val="0000FF"/>
                </a:solidFill>
                <a:highlight>
                  <a:srgbClr val="FFFFFF"/>
                </a:highlight>
                <a:latin typeface="Cascadia Mono" panose="020B0609020000020004" pitchFamily="49" charset="0"/>
              </a:rPr>
              <a:t>int</a:t>
            </a:r>
            <a:r>
              <a:rPr lang="fr-FR" sz="1100" dirty="0">
                <a:solidFill>
                  <a:srgbClr val="000000"/>
                </a:solidFill>
                <a:highlight>
                  <a:srgbClr val="FFFFFF"/>
                </a:highlight>
                <a:latin typeface="Cascadia Mono" panose="020B0609020000020004" pitchFamily="49" charset="0"/>
              </a:rPr>
              <a:t> </a:t>
            </a:r>
            <a:r>
              <a:rPr lang="fr-FR" sz="1100" dirty="0">
                <a:solidFill>
                  <a:srgbClr val="808080"/>
                </a:solidFill>
                <a:highlight>
                  <a:srgbClr val="FFFFFF"/>
                </a:highlight>
                <a:latin typeface="Cascadia Mono" panose="020B0609020000020004" pitchFamily="49" charset="0"/>
              </a:rPr>
              <a:t>a</a:t>
            </a:r>
            <a:r>
              <a:rPr lang="fr-FR" sz="1100" dirty="0">
                <a:solidFill>
                  <a:srgbClr val="000000"/>
                </a:solidFill>
                <a:highlight>
                  <a:srgbClr val="FFFFFF"/>
                </a:highlight>
                <a:latin typeface="Cascadia Mono" panose="020B0609020000020004" pitchFamily="49" charset="0"/>
              </a:rPr>
              <a:t>, </a:t>
            </a:r>
            <a:r>
              <a:rPr lang="fr-FR" sz="1100" dirty="0">
                <a:solidFill>
                  <a:srgbClr val="0000FF"/>
                </a:solidFill>
                <a:highlight>
                  <a:srgbClr val="FFFFFF"/>
                </a:highlight>
                <a:latin typeface="Cascadia Mono" panose="020B0609020000020004" pitchFamily="49" charset="0"/>
              </a:rPr>
              <a:t>int</a:t>
            </a:r>
            <a:r>
              <a:rPr lang="fr-FR" sz="1100" dirty="0">
                <a:solidFill>
                  <a:srgbClr val="000000"/>
                </a:solidFill>
                <a:highlight>
                  <a:srgbClr val="FFFFFF"/>
                </a:highlight>
                <a:latin typeface="Cascadia Mono" panose="020B0609020000020004" pitchFamily="49" charset="0"/>
              </a:rPr>
              <a:t> </a:t>
            </a:r>
            <a:r>
              <a:rPr lang="fr-FR" sz="1100" dirty="0">
                <a:solidFill>
                  <a:srgbClr val="808080"/>
                </a:solidFill>
                <a:highlight>
                  <a:srgbClr val="FFFFFF"/>
                </a:highlight>
                <a:latin typeface="Cascadia Mono" panose="020B0609020000020004" pitchFamily="49" charset="0"/>
              </a:rPr>
              <a:t>b</a:t>
            </a:r>
            <a:r>
              <a:rPr lang="fr-FR"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if</a:t>
            </a:r>
            <a:r>
              <a:rPr lang="de-CH" sz="1100" dirty="0">
                <a:solidFill>
                  <a:srgbClr val="000000"/>
                </a:solidFill>
                <a:highlight>
                  <a:srgbClr val="FFFFFF"/>
                </a:highlight>
                <a:latin typeface="Cascadia Mono" panose="020B0609020000020004" pitchFamily="49" charset="0"/>
              </a:rPr>
              <a:t> (</a:t>
            </a:r>
            <a:r>
              <a:rPr lang="de-CH" sz="1100" dirty="0">
                <a:solidFill>
                  <a:srgbClr val="808080"/>
                </a:solidFill>
                <a:highlight>
                  <a:srgbClr val="FFFFFF"/>
                </a:highlight>
                <a:latin typeface="Cascadia Mono" panose="020B0609020000020004" pitchFamily="49" charset="0"/>
              </a:rPr>
              <a:t>b</a:t>
            </a:r>
            <a:r>
              <a:rPr lang="de-CH"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return</a:t>
            </a:r>
            <a:r>
              <a:rPr lang="de-CH" sz="1100" dirty="0">
                <a:solidFill>
                  <a:srgbClr val="000000"/>
                </a:solidFill>
                <a:highlight>
                  <a:srgbClr val="FFFFFF"/>
                </a:highlight>
                <a:latin typeface="Cascadia Mono" panose="020B0609020000020004" pitchFamily="49" charset="0"/>
              </a:rPr>
              <a:t> </a:t>
            </a:r>
            <a:r>
              <a:rPr lang="de-CH" sz="1100" dirty="0">
                <a:solidFill>
                  <a:srgbClr val="808080"/>
                </a:solidFill>
                <a:highlight>
                  <a:srgbClr val="FFFFFF"/>
                </a:highlight>
                <a:latin typeface="Cascadia Mono" panose="020B0609020000020004" pitchFamily="49" charset="0"/>
              </a:rPr>
              <a:t>a</a:t>
            </a:r>
            <a:r>
              <a:rPr lang="de-CH" sz="1100" dirty="0">
                <a:solidFill>
                  <a:srgbClr val="000000"/>
                </a:solidFill>
                <a:highlight>
                  <a:srgbClr val="FFFFFF"/>
                </a:highlight>
                <a:latin typeface="Cascadia Mono" panose="020B0609020000020004" pitchFamily="49" charset="0"/>
              </a:rPr>
              <a:t> / </a:t>
            </a:r>
            <a:r>
              <a:rPr lang="de-CH" sz="1100" dirty="0">
                <a:solidFill>
                  <a:srgbClr val="808080"/>
                </a:solidFill>
                <a:highlight>
                  <a:srgbClr val="FFFFFF"/>
                </a:highlight>
                <a:latin typeface="Cascadia Mono" panose="020B0609020000020004" pitchFamily="49" charset="0"/>
              </a:rPr>
              <a:t>b</a:t>
            </a:r>
            <a:r>
              <a:rPr lang="de-CH" sz="1100" dirty="0">
                <a:solidFill>
                  <a:srgbClr val="000000"/>
                </a:solidFill>
                <a:highlight>
                  <a:srgbClr val="FFFFFF"/>
                </a:highlight>
                <a:latin typeface="Cascadia Mono" panose="020B0609020000020004" pitchFamily="49" charset="0"/>
              </a:rPr>
              <a:t>;</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throw</a:t>
            </a:r>
            <a:r>
              <a:rPr lang="en-US" sz="1100" dirty="0">
                <a:solidFill>
                  <a:srgbClr val="000000"/>
                </a:solidFill>
                <a:highlight>
                  <a:srgbClr val="FFFFFF"/>
                </a:highlight>
                <a:latin typeface="Cascadia Mono" panose="020B0609020000020004" pitchFamily="49" charset="0"/>
              </a:rPr>
              <a:t> std::</a:t>
            </a:r>
            <a:r>
              <a:rPr lang="en-US" sz="1100" dirty="0">
                <a:solidFill>
                  <a:srgbClr val="2B91AF"/>
                </a:solidFill>
                <a:highlight>
                  <a:srgbClr val="FFFFFF"/>
                </a:highlight>
                <a:latin typeface="Cascadia Mono" panose="020B0609020000020004" pitchFamily="49" charset="0"/>
              </a:rPr>
              <a:t>string</a:t>
            </a:r>
            <a:r>
              <a:rPr lang="en-US" sz="1100" dirty="0">
                <a:solidFill>
                  <a:srgbClr val="000000"/>
                </a:solidFill>
                <a:highlight>
                  <a:srgbClr val="FFFFFF"/>
                </a:highlight>
                <a:latin typeface="Cascadia Mono" panose="020B0609020000020004" pitchFamily="49" charset="0"/>
              </a:rPr>
              <a:t>{ </a:t>
            </a:r>
            <a:r>
              <a:rPr lang="en-US" sz="1100" dirty="0">
                <a:solidFill>
                  <a:srgbClr val="A31515"/>
                </a:solidFill>
                <a:highlight>
                  <a:srgbClr val="FFFFFF"/>
                </a:highlight>
                <a:latin typeface="Cascadia Mono" panose="020B0609020000020004" pitchFamily="49" charset="0"/>
              </a:rPr>
              <a:t>"Division by zero!"</a:t>
            </a:r>
            <a:r>
              <a:rPr lang="en-US" sz="1100" dirty="0">
                <a:solidFill>
                  <a:srgbClr val="000000"/>
                </a:solidFill>
                <a:highlight>
                  <a:srgbClr val="FFFFFF"/>
                </a:highlight>
                <a:latin typeface="Cascadia Mono" panose="020B0609020000020004" pitchFamily="49" charset="0"/>
              </a:rPr>
              <a:t> };</a:t>
            </a:r>
          </a:p>
          <a:p>
            <a:r>
              <a:rPr lang="ru-RU" sz="1100" dirty="0">
                <a:solidFill>
                  <a:srgbClr val="000000"/>
                </a:solidFill>
                <a:highlight>
                  <a:srgbClr val="FFFFFF"/>
                </a:highlight>
                <a:latin typeface="Cascadia Mono" panose="020B0609020000020004" pitchFamily="49" charset="0"/>
              </a:rPr>
              <a:t>}</a:t>
            </a:r>
          </a:p>
          <a:p>
            <a:endParaRPr lang="ru-RU" sz="1100" dirty="0">
              <a:solidFill>
                <a:srgbClr val="000000"/>
              </a:solidFill>
              <a:highlight>
                <a:srgbClr val="FFFFFF"/>
              </a:highlight>
              <a:latin typeface="Cascadia Mono" panose="020B0609020000020004" pitchFamily="49" charset="0"/>
            </a:endParaRPr>
          </a:p>
          <a:p>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main</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x{ 500 };</a:t>
            </a:r>
          </a:p>
          <a:p>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y{};</a:t>
            </a:r>
          </a:p>
          <a:p>
            <a:endParaRPr lang="ru-RU" sz="1100" dirty="0">
              <a:solidFill>
                <a:srgbClr val="000000"/>
              </a:solidFill>
              <a:highlight>
                <a:srgbClr val="FFFFFF"/>
              </a:highlight>
              <a:latin typeface="Cascadia Mono" panose="020B0609020000020004" pitchFamily="49" charset="0"/>
            </a:endParaRPr>
          </a:p>
          <a:p>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try</a:t>
            </a:r>
            <a:endParaRPr lang="de-CH" sz="1100" dirty="0">
              <a:solidFill>
                <a:srgbClr val="000000"/>
              </a:solidFill>
              <a:highlight>
                <a:srgbClr val="FFFFFF"/>
              </a:highlight>
              <a:latin typeface="Cascadia Mono" panose="020B0609020000020004" pitchFamily="49" charset="0"/>
            </a:endParaRPr>
          </a:p>
          <a:p>
            <a:r>
              <a:rPr lang="ru-RU" sz="1100" dirty="0">
                <a:solidFill>
                  <a:srgbClr val="000000"/>
                </a:solidFill>
                <a:highlight>
                  <a:srgbClr val="FFFFFF"/>
                </a:highlight>
                <a:latin typeface="Cascadia Mono" panose="020B0609020000020004" pitchFamily="49" charset="0"/>
              </a:rPr>
              <a:t>    {</a:t>
            </a:r>
          </a:p>
          <a:p>
            <a:r>
              <a:rPr lang="fr-FR" sz="1100" dirty="0">
                <a:solidFill>
                  <a:srgbClr val="000000"/>
                </a:solidFill>
                <a:highlight>
                  <a:srgbClr val="FFFFFF"/>
                </a:highlight>
                <a:latin typeface="Cascadia Mono" panose="020B0609020000020004" pitchFamily="49" charset="0"/>
              </a:rPr>
              <a:t>        </a:t>
            </a:r>
            <a:r>
              <a:rPr lang="fr-FR" sz="1100" dirty="0">
                <a:solidFill>
                  <a:srgbClr val="0000FF"/>
                </a:solidFill>
                <a:highlight>
                  <a:srgbClr val="FFFFFF"/>
                </a:highlight>
                <a:latin typeface="Cascadia Mono" panose="020B0609020000020004" pitchFamily="49" charset="0"/>
              </a:rPr>
              <a:t>double</a:t>
            </a:r>
            <a:r>
              <a:rPr lang="fr-FR" sz="1100" dirty="0">
                <a:solidFill>
                  <a:srgbClr val="000000"/>
                </a:solidFill>
                <a:highlight>
                  <a:srgbClr val="FFFFFF"/>
                </a:highlight>
                <a:latin typeface="Cascadia Mono" panose="020B0609020000020004" pitchFamily="49" charset="0"/>
              </a:rPr>
              <a:t> z{ </a:t>
            </a:r>
            <a:r>
              <a:rPr lang="fr-FR" sz="1100" dirty="0" err="1">
                <a:solidFill>
                  <a:srgbClr val="000000"/>
                </a:solidFill>
                <a:highlight>
                  <a:srgbClr val="FFFFFF"/>
                </a:highlight>
                <a:latin typeface="Cascadia Mono" panose="020B0609020000020004" pitchFamily="49" charset="0"/>
              </a:rPr>
              <a:t>divide</a:t>
            </a:r>
            <a:r>
              <a:rPr lang="fr-FR" sz="1100" dirty="0">
                <a:solidFill>
                  <a:srgbClr val="000000"/>
                </a:solidFill>
                <a:highlight>
                  <a:srgbClr val="FFFFFF"/>
                </a:highlight>
                <a:latin typeface="Cascadia Mono" panose="020B0609020000020004" pitchFamily="49" charset="0"/>
              </a:rPr>
              <a:t>(x, y) };</a:t>
            </a:r>
          </a:p>
          <a:p>
            <a:r>
              <a:rPr lang="de-DE" sz="1100" dirty="0">
                <a:solidFill>
                  <a:srgbClr val="000000"/>
                </a:solidFill>
                <a:highlight>
                  <a:srgbClr val="FFFFFF"/>
                </a:highlight>
                <a:latin typeface="Cascadia Mono" panose="020B0609020000020004" pitchFamily="49" charset="0"/>
              </a:rPr>
              <a:t>        </a:t>
            </a:r>
            <a:r>
              <a:rPr lang="de-DE" sz="1100" dirty="0" err="1">
                <a:solidFill>
                  <a:srgbClr val="000000"/>
                </a:solidFill>
                <a:highlight>
                  <a:srgbClr val="FFFFFF"/>
                </a:highlight>
                <a:latin typeface="Cascadia Mono" panose="020B0609020000020004" pitchFamily="49" charset="0"/>
              </a:rPr>
              <a:t>std</a:t>
            </a:r>
            <a:r>
              <a:rPr lang="de-DE" sz="1100" dirty="0">
                <a:solidFill>
                  <a:srgbClr val="000000"/>
                </a:solidFill>
                <a:highlight>
                  <a:srgbClr val="FFFFFF"/>
                </a:highlight>
                <a:latin typeface="Cascadia Mono" panose="020B0609020000020004" pitchFamily="49" charset="0"/>
              </a:rPr>
              <a:t>::</a:t>
            </a:r>
            <a:r>
              <a:rPr lang="de-DE" sz="1100" dirty="0" err="1">
                <a:solidFill>
                  <a:srgbClr val="000000"/>
                </a:solidFill>
                <a:highlight>
                  <a:srgbClr val="FFFFFF"/>
                </a:highlight>
                <a:latin typeface="Cascadia Mono" panose="020B0609020000020004" pitchFamily="49" charset="0"/>
              </a:rPr>
              <a:t>cout</a:t>
            </a:r>
            <a:r>
              <a:rPr lang="de-DE" sz="1100" dirty="0">
                <a:solidFill>
                  <a:srgbClr val="000000"/>
                </a:solidFill>
                <a:highlight>
                  <a:srgbClr val="FFFFFF"/>
                </a:highlight>
                <a:latin typeface="Cascadia Mono" panose="020B0609020000020004" pitchFamily="49" charset="0"/>
              </a:rPr>
              <a:t> </a:t>
            </a:r>
            <a:r>
              <a:rPr lang="de-DE" sz="1100" dirty="0">
                <a:solidFill>
                  <a:srgbClr val="008080"/>
                </a:solidFill>
                <a:highlight>
                  <a:srgbClr val="FFFFFF"/>
                </a:highlight>
                <a:latin typeface="Cascadia Mono" panose="020B0609020000020004" pitchFamily="49" charset="0"/>
              </a:rPr>
              <a:t>&lt;&lt;</a:t>
            </a:r>
            <a:r>
              <a:rPr lang="de-DE" sz="1100" dirty="0">
                <a:solidFill>
                  <a:srgbClr val="000000"/>
                </a:solidFill>
                <a:highlight>
                  <a:srgbClr val="FFFFFF"/>
                </a:highlight>
                <a:latin typeface="Cascadia Mono" panose="020B0609020000020004" pitchFamily="49" charset="0"/>
              </a:rPr>
              <a:t> z </a:t>
            </a:r>
            <a:r>
              <a:rPr lang="de-DE" sz="1100" dirty="0">
                <a:solidFill>
                  <a:srgbClr val="008080"/>
                </a:solidFill>
                <a:highlight>
                  <a:srgbClr val="FFFFFF"/>
                </a:highlight>
                <a:latin typeface="Cascadia Mono" panose="020B0609020000020004" pitchFamily="49" charset="0"/>
              </a:rPr>
              <a:t>&lt;&lt;</a:t>
            </a:r>
            <a:r>
              <a:rPr lang="de-DE" sz="1100" dirty="0">
                <a:solidFill>
                  <a:srgbClr val="000000"/>
                </a:solidFill>
                <a:highlight>
                  <a:srgbClr val="FFFFFF"/>
                </a:highlight>
                <a:latin typeface="Cascadia Mono" panose="020B0609020000020004" pitchFamily="49" charset="0"/>
              </a:rPr>
              <a:t> </a:t>
            </a:r>
            <a:r>
              <a:rPr lang="de-DE" sz="1100" dirty="0" err="1">
                <a:solidFill>
                  <a:srgbClr val="000000"/>
                </a:solidFill>
                <a:highlight>
                  <a:srgbClr val="FFFFFF"/>
                </a:highlight>
                <a:latin typeface="Cascadia Mono" panose="020B0609020000020004" pitchFamily="49" charset="0"/>
              </a:rPr>
              <a:t>std</a:t>
            </a:r>
            <a:r>
              <a:rPr lang="de-DE" sz="1100" dirty="0">
                <a:solidFill>
                  <a:srgbClr val="000000"/>
                </a:solidFill>
                <a:highlight>
                  <a:srgbClr val="FFFFFF"/>
                </a:highlight>
                <a:latin typeface="Cascadia Mono" panose="020B0609020000020004" pitchFamily="49" charset="0"/>
              </a:rPr>
              <a:t>::</a:t>
            </a:r>
            <a:r>
              <a:rPr lang="de-DE" sz="1100" dirty="0" err="1">
                <a:solidFill>
                  <a:srgbClr val="000000"/>
                </a:solidFill>
                <a:highlight>
                  <a:srgbClr val="FFFFFF"/>
                </a:highlight>
                <a:latin typeface="Cascadia Mono" panose="020B0609020000020004" pitchFamily="49" charset="0"/>
              </a:rPr>
              <a:t>endl</a:t>
            </a:r>
            <a:r>
              <a:rPr lang="de-DE"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    }</a:t>
            </a:r>
          </a:p>
          <a:p>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catch</a:t>
            </a:r>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const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2B91AF"/>
                </a:solidFill>
                <a:highlight>
                  <a:srgbClr val="FFFFFF"/>
                </a:highlight>
                <a:latin typeface="Cascadia Mono" panose="020B0609020000020004" pitchFamily="49" charset="0"/>
              </a:rPr>
              <a:t>string</a:t>
            </a:r>
            <a:r>
              <a:rPr lang="de-CH" sz="1100" dirty="0">
                <a:solidFill>
                  <a:srgbClr val="000000"/>
                </a:solidFill>
                <a:highlight>
                  <a:srgbClr val="FFFFFF"/>
                </a:highlight>
                <a:latin typeface="Cascadia Mono" panose="020B0609020000020004" pitchFamily="49" charset="0"/>
              </a:rPr>
              <a:t>&amp; </a:t>
            </a:r>
            <a:r>
              <a:rPr lang="de-CH" sz="1100" dirty="0" err="1">
                <a:solidFill>
                  <a:srgbClr val="000000"/>
                </a:solidFill>
                <a:highlight>
                  <a:srgbClr val="FFFFFF"/>
                </a:highlight>
                <a:latin typeface="Cascadia Mono" panose="020B0609020000020004" pitchFamily="49" charset="0"/>
              </a:rPr>
              <a:t>error_message</a:t>
            </a:r>
            <a:r>
              <a:rPr lang="de-CH" sz="1100" dirty="0">
                <a:solidFill>
                  <a:srgbClr val="000000"/>
                </a:solidFill>
                <a:highlight>
                  <a:srgbClr val="FFFFFF"/>
                </a:highlight>
                <a:latin typeface="Cascadia Mono" panose="020B0609020000020004" pitchFamily="49" charset="0"/>
              </a:rPr>
              <a:t>)    </a:t>
            </a:r>
            <a:r>
              <a:rPr lang="de-CH" sz="1100" dirty="0">
                <a:solidFill>
                  <a:srgbClr val="008000"/>
                </a:solidFill>
                <a:highlight>
                  <a:srgbClr val="FFFFFF"/>
                </a:highlight>
                <a:latin typeface="Cascadia Mono" panose="020B0609020000020004" pitchFamily="49" charset="0"/>
              </a:rPr>
              <a:t>// </a:t>
            </a:r>
            <a:r>
              <a:rPr lang="ru-RU" sz="1100" dirty="0">
                <a:solidFill>
                  <a:srgbClr val="008000"/>
                </a:solidFill>
                <a:highlight>
                  <a:srgbClr val="FFFFFF"/>
                </a:highlight>
                <a:latin typeface="Cascadia Mono" panose="020B0609020000020004" pitchFamily="49" charset="0"/>
              </a:rPr>
              <a:t>строка передается по ссылке</a:t>
            </a:r>
            <a:endParaRPr lang="ru-RU" sz="1100" dirty="0">
              <a:solidFill>
                <a:srgbClr val="000000"/>
              </a:solidFill>
              <a:highlight>
                <a:srgbClr val="FFFFFF"/>
              </a:highlight>
              <a:latin typeface="Cascadia Mono" panose="020B0609020000020004" pitchFamily="49" charset="0"/>
            </a:endParaRPr>
          </a:p>
          <a:p>
            <a:r>
              <a:rPr lang="ru-RU" sz="1100" dirty="0">
                <a:solidFill>
                  <a:srgbClr val="000000"/>
                </a:solidFill>
                <a:highlight>
                  <a:srgbClr val="FFFFFF"/>
                </a:highlight>
                <a:latin typeface="Cascadia Mono" panose="020B0609020000020004" pitchFamily="49" charset="0"/>
              </a:rPr>
              <a:t>    {</a:t>
            </a:r>
          </a:p>
          <a:p>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error_message</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r>
              <a:rPr lang="de-CH" sz="1100" dirty="0" err="1">
                <a:solidFill>
                  <a:srgbClr val="000000"/>
                </a:solidFill>
                <a:highlight>
                  <a:srgbClr val="FFFFFF"/>
                </a:highlight>
                <a:latin typeface="Cascadia Mono" panose="020B0609020000020004" pitchFamily="49" charset="0"/>
              </a:rPr>
              <a:t>endl</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    }</a:t>
            </a:r>
          </a:p>
          <a:p>
            <a:r>
              <a:rPr lang="en-US" sz="1100" dirty="0">
                <a:solidFill>
                  <a:srgbClr val="000000"/>
                </a:solidFill>
                <a:highlight>
                  <a:srgbClr val="FFFFFF"/>
                </a:highlight>
                <a:latin typeface="Cascadia Mono" panose="020B0609020000020004" pitchFamily="49" charset="0"/>
              </a:rPr>
              <a:t>    std::</a:t>
            </a:r>
            <a:r>
              <a:rPr lang="en-US" sz="1100" dirty="0" err="1">
                <a:solidFill>
                  <a:srgbClr val="000000"/>
                </a:solidFill>
                <a:highlight>
                  <a:srgbClr val="FFFFFF"/>
                </a:highlight>
                <a:latin typeface="Cascadia Mono" panose="020B0609020000020004" pitchFamily="49" charset="0"/>
              </a:rPr>
              <a:t>cout</a:t>
            </a:r>
            <a:r>
              <a:rPr lang="en-US" sz="1100" dirty="0">
                <a:solidFill>
                  <a:srgbClr val="000000"/>
                </a:solidFill>
                <a:highlight>
                  <a:srgbClr val="FFFFFF"/>
                </a:highlight>
                <a:latin typeface="Cascadia Mono" panose="020B0609020000020004" pitchFamily="49" charset="0"/>
              </a:rPr>
              <a:t> </a:t>
            </a:r>
            <a:r>
              <a:rPr lang="en-US" sz="1100" dirty="0">
                <a:solidFill>
                  <a:srgbClr val="008080"/>
                </a:solidFill>
                <a:highlight>
                  <a:srgbClr val="FFFFFF"/>
                </a:highlight>
                <a:latin typeface="Cascadia Mono" panose="020B0609020000020004" pitchFamily="49" charset="0"/>
              </a:rPr>
              <a:t>&lt;&lt;</a:t>
            </a:r>
            <a:r>
              <a:rPr lang="en-US" sz="1100" dirty="0">
                <a:solidFill>
                  <a:srgbClr val="000000"/>
                </a:solidFill>
                <a:highlight>
                  <a:srgbClr val="FFFFFF"/>
                </a:highlight>
                <a:latin typeface="Cascadia Mono" panose="020B0609020000020004" pitchFamily="49" charset="0"/>
              </a:rPr>
              <a:t> </a:t>
            </a:r>
            <a:r>
              <a:rPr lang="en-US" sz="1100" dirty="0">
                <a:solidFill>
                  <a:srgbClr val="A31515"/>
                </a:solidFill>
                <a:highlight>
                  <a:srgbClr val="FFFFFF"/>
                </a:highlight>
                <a:latin typeface="Cascadia Mono" panose="020B0609020000020004" pitchFamily="49" charset="0"/>
              </a:rPr>
              <a:t>"The End..."</a:t>
            </a:r>
            <a:r>
              <a:rPr lang="en-US" sz="1100" dirty="0">
                <a:solidFill>
                  <a:srgbClr val="000000"/>
                </a:solidFill>
                <a:highlight>
                  <a:srgbClr val="FFFFFF"/>
                </a:highlight>
                <a:latin typeface="Cascadia Mono" panose="020B0609020000020004" pitchFamily="49" charset="0"/>
              </a:rPr>
              <a:t> </a:t>
            </a:r>
            <a:r>
              <a:rPr lang="en-US" sz="1100" dirty="0">
                <a:solidFill>
                  <a:srgbClr val="008080"/>
                </a:solidFill>
                <a:highlight>
                  <a:srgbClr val="FFFFFF"/>
                </a:highlight>
                <a:latin typeface="Cascadia Mono" panose="020B0609020000020004" pitchFamily="49" charset="0"/>
              </a:rPr>
              <a:t>&lt;&lt;</a:t>
            </a:r>
            <a:r>
              <a:rPr lang="en-US" sz="1100" dirty="0">
                <a:solidFill>
                  <a:srgbClr val="000000"/>
                </a:solidFill>
                <a:highlight>
                  <a:srgbClr val="FFFFFF"/>
                </a:highlight>
                <a:latin typeface="Cascadia Mono" panose="020B0609020000020004" pitchFamily="49" charset="0"/>
              </a:rPr>
              <a:t> std::</a:t>
            </a:r>
            <a:r>
              <a:rPr lang="en-US" sz="1100" dirty="0" err="1">
                <a:solidFill>
                  <a:srgbClr val="000000"/>
                </a:solidFill>
                <a:highlight>
                  <a:srgbClr val="FFFFFF"/>
                </a:highlight>
                <a:latin typeface="Cascadia Mono" panose="020B0609020000020004" pitchFamily="49" charset="0"/>
              </a:rPr>
              <a:t>endl</a:t>
            </a:r>
            <a:r>
              <a:rPr lang="en-US"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endParaRPr lang="ru-RU" sz="1100" dirty="0"/>
          </a:p>
        </p:txBody>
      </p:sp>
    </p:spTree>
    <p:extLst>
      <p:ext uri="{BB962C8B-B14F-4D97-AF65-F5344CB8AC3E}">
        <p14:creationId xmlns:p14="http://schemas.microsoft.com/office/powerpoint/2010/main" val="305091230"/>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785B8E-5B4F-5782-CBEE-C0D5A51C6950}"/>
              </a:ext>
            </a:extLst>
          </p:cNvPr>
          <p:cNvSpPr>
            <a:spLocks noGrp="1"/>
          </p:cNvSpPr>
          <p:nvPr>
            <p:ph type="title"/>
          </p:nvPr>
        </p:nvSpPr>
        <p:spPr/>
        <p:txBody>
          <a:bodyPr/>
          <a:lstStyle/>
          <a:p>
            <a:r>
              <a:rPr lang="ru-RU" sz="1800" b="1" dirty="0"/>
              <a:t>Обработка и генерация разных типов исключений</a:t>
            </a:r>
            <a:endParaRPr lang="ru-RU" dirty="0"/>
          </a:p>
        </p:txBody>
      </p:sp>
      <p:sp>
        <p:nvSpPr>
          <p:cNvPr id="3" name="Объект 2">
            <a:extLst>
              <a:ext uri="{FF2B5EF4-FFF2-40B4-BE49-F238E27FC236}">
                <a16:creationId xmlns:a16="http://schemas.microsoft.com/office/drawing/2014/main" id="{B16AE93E-4693-A252-E17F-B78534F82524}"/>
              </a:ext>
            </a:extLst>
          </p:cNvPr>
          <p:cNvSpPr>
            <a:spLocks noGrp="1"/>
          </p:cNvSpPr>
          <p:nvPr>
            <p:ph idx="1"/>
          </p:nvPr>
        </p:nvSpPr>
        <p:spPr/>
        <p:txBody>
          <a:bodyPr/>
          <a:lstStyle/>
          <a:p>
            <a:r>
              <a:rPr lang="de-CH" sz="800" dirty="0">
                <a:solidFill>
                  <a:srgbClr val="808080"/>
                </a:solidFill>
                <a:highlight>
                  <a:srgbClr val="FFFFFF"/>
                </a:highlight>
                <a:latin typeface="Cascadia Mono" panose="020B0609020000020004" pitchFamily="49" charset="0"/>
              </a:rPr>
              <a:t>#include</a:t>
            </a:r>
            <a:r>
              <a:rPr lang="de-CH" sz="800" dirty="0">
                <a:solidFill>
                  <a:srgbClr val="000000"/>
                </a:solidFill>
                <a:highlight>
                  <a:srgbClr val="FFFFFF"/>
                </a:highlight>
                <a:latin typeface="Cascadia Mono" panose="020B0609020000020004" pitchFamily="49" charset="0"/>
              </a:rPr>
              <a:t> </a:t>
            </a:r>
            <a:r>
              <a:rPr lang="de-CH" sz="800" dirty="0">
                <a:solidFill>
                  <a:srgbClr val="A31515"/>
                </a:solidFill>
                <a:highlight>
                  <a:srgbClr val="FFFFFF"/>
                </a:highlight>
                <a:latin typeface="Cascadia Mono" panose="020B0609020000020004" pitchFamily="49" charset="0"/>
              </a:rPr>
              <a:t>&lt;</a:t>
            </a:r>
            <a:r>
              <a:rPr lang="de-CH" sz="800" dirty="0" err="1">
                <a:solidFill>
                  <a:srgbClr val="A31515"/>
                </a:solidFill>
                <a:highlight>
                  <a:srgbClr val="FFFFFF"/>
                </a:highlight>
                <a:latin typeface="Cascadia Mono" panose="020B0609020000020004" pitchFamily="49" charset="0"/>
              </a:rPr>
              <a:t>iostream</a:t>
            </a:r>
            <a:r>
              <a:rPr lang="de-CH" sz="800" dirty="0">
                <a:solidFill>
                  <a:srgbClr val="A31515"/>
                </a:solidFill>
                <a:highlight>
                  <a:srgbClr val="FFFFFF"/>
                </a:highlight>
                <a:latin typeface="Cascadia Mono" panose="020B0609020000020004" pitchFamily="49" charset="0"/>
              </a:rPr>
              <a:t>&gt;</a:t>
            </a:r>
            <a:endParaRPr lang="de-CH" sz="800" dirty="0">
              <a:solidFill>
                <a:srgbClr val="000000"/>
              </a:solidFill>
              <a:highlight>
                <a:srgbClr val="FFFFFF"/>
              </a:highlight>
              <a:latin typeface="Cascadia Mono" panose="020B0609020000020004" pitchFamily="49" charset="0"/>
            </a:endParaRPr>
          </a:p>
          <a:p>
            <a:endParaRPr lang="ru-RU" sz="800" dirty="0">
              <a:solidFill>
                <a:srgbClr val="000000"/>
              </a:solidFill>
              <a:highlight>
                <a:srgbClr val="FFFFFF"/>
              </a:highlight>
              <a:latin typeface="Cascadia Mono" panose="020B0609020000020004" pitchFamily="49" charset="0"/>
            </a:endParaRPr>
          </a:p>
          <a:p>
            <a:r>
              <a:rPr lang="fr-FR" sz="800" dirty="0">
                <a:solidFill>
                  <a:srgbClr val="0000FF"/>
                </a:solidFill>
                <a:highlight>
                  <a:srgbClr val="FFFFFF"/>
                </a:highlight>
                <a:latin typeface="Cascadia Mono" panose="020B0609020000020004" pitchFamily="49" charset="0"/>
              </a:rPr>
              <a:t>double</a:t>
            </a:r>
            <a:r>
              <a:rPr lang="fr-FR" sz="800" dirty="0">
                <a:solidFill>
                  <a:srgbClr val="000000"/>
                </a:solidFill>
                <a:highlight>
                  <a:srgbClr val="FFFFFF"/>
                </a:highlight>
                <a:latin typeface="Cascadia Mono" panose="020B0609020000020004" pitchFamily="49" charset="0"/>
              </a:rPr>
              <a:t> </a:t>
            </a:r>
            <a:r>
              <a:rPr lang="fr-FR" sz="800" dirty="0" err="1">
                <a:solidFill>
                  <a:srgbClr val="000000"/>
                </a:solidFill>
                <a:highlight>
                  <a:srgbClr val="FFFFFF"/>
                </a:highlight>
                <a:latin typeface="Cascadia Mono" panose="020B0609020000020004" pitchFamily="49" charset="0"/>
              </a:rPr>
              <a:t>divide</a:t>
            </a:r>
            <a:r>
              <a:rPr lang="fr-FR" sz="800" dirty="0">
                <a:solidFill>
                  <a:srgbClr val="000000"/>
                </a:solidFill>
                <a:highlight>
                  <a:srgbClr val="FFFFFF"/>
                </a:highlight>
                <a:latin typeface="Cascadia Mono" panose="020B0609020000020004" pitchFamily="49" charset="0"/>
              </a:rPr>
              <a:t>(</a:t>
            </a:r>
            <a:r>
              <a:rPr lang="fr-FR" sz="800" dirty="0">
                <a:solidFill>
                  <a:srgbClr val="0000FF"/>
                </a:solidFill>
                <a:highlight>
                  <a:srgbClr val="FFFFFF"/>
                </a:highlight>
                <a:latin typeface="Cascadia Mono" panose="020B0609020000020004" pitchFamily="49" charset="0"/>
              </a:rPr>
              <a:t>int</a:t>
            </a:r>
            <a:r>
              <a:rPr lang="fr-FR" sz="800" dirty="0">
                <a:solidFill>
                  <a:srgbClr val="000000"/>
                </a:solidFill>
                <a:highlight>
                  <a:srgbClr val="FFFFFF"/>
                </a:highlight>
                <a:latin typeface="Cascadia Mono" panose="020B0609020000020004" pitchFamily="49" charset="0"/>
              </a:rPr>
              <a:t> </a:t>
            </a:r>
            <a:r>
              <a:rPr lang="fr-FR" sz="800" dirty="0">
                <a:solidFill>
                  <a:srgbClr val="808080"/>
                </a:solidFill>
                <a:highlight>
                  <a:srgbClr val="FFFFFF"/>
                </a:highlight>
                <a:latin typeface="Cascadia Mono" panose="020B0609020000020004" pitchFamily="49" charset="0"/>
              </a:rPr>
              <a:t>a</a:t>
            </a:r>
            <a:r>
              <a:rPr lang="fr-FR" sz="800" dirty="0">
                <a:solidFill>
                  <a:srgbClr val="000000"/>
                </a:solidFill>
                <a:highlight>
                  <a:srgbClr val="FFFFFF"/>
                </a:highlight>
                <a:latin typeface="Cascadia Mono" panose="020B0609020000020004" pitchFamily="49" charset="0"/>
              </a:rPr>
              <a:t>, </a:t>
            </a:r>
            <a:r>
              <a:rPr lang="fr-FR" sz="800" dirty="0">
                <a:solidFill>
                  <a:srgbClr val="0000FF"/>
                </a:solidFill>
                <a:highlight>
                  <a:srgbClr val="FFFFFF"/>
                </a:highlight>
                <a:latin typeface="Cascadia Mono" panose="020B0609020000020004" pitchFamily="49" charset="0"/>
              </a:rPr>
              <a:t>int</a:t>
            </a:r>
            <a:r>
              <a:rPr lang="fr-FR" sz="800" dirty="0">
                <a:solidFill>
                  <a:srgbClr val="000000"/>
                </a:solidFill>
                <a:highlight>
                  <a:srgbClr val="FFFFFF"/>
                </a:highlight>
                <a:latin typeface="Cascadia Mono" panose="020B0609020000020004" pitchFamily="49" charset="0"/>
              </a:rPr>
              <a:t> </a:t>
            </a:r>
            <a:r>
              <a:rPr lang="fr-FR" sz="800" dirty="0">
                <a:solidFill>
                  <a:srgbClr val="808080"/>
                </a:solidFill>
                <a:highlight>
                  <a:srgbClr val="FFFFFF"/>
                </a:highlight>
                <a:latin typeface="Cascadia Mono" panose="020B0609020000020004" pitchFamily="49" charset="0"/>
              </a:rPr>
              <a:t>b</a:t>
            </a:r>
            <a:r>
              <a:rPr lang="fr-FR"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a:t>
            </a:r>
          </a:p>
          <a:p>
            <a:r>
              <a:rPr lang="en-US" sz="800" dirty="0">
                <a:solidFill>
                  <a:srgbClr val="000000"/>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if</a:t>
            </a:r>
            <a:r>
              <a:rPr lang="en-US" sz="800" dirty="0">
                <a:solidFill>
                  <a:srgbClr val="000000"/>
                </a:solidFill>
                <a:highlight>
                  <a:srgbClr val="FFFFFF"/>
                </a:highlight>
                <a:latin typeface="Cascadia Mono" panose="020B0609020000020004" pitchFamily="49" charset="0"/>
              </a:rPr>
              <a:t> (!</a:t>
            </a:r>
            <a:r>
              <a:rPr lang="en-US" sz="800" dirty="0">
                <a:solidFill>
                  <a:srgbClr val="808080"/>
                </a:solidFill>
                <a:highlight>
                  <a:srgbClr val="FFFFFF"/>
                </a:highlight>
                <a:latin typeface="Cascadia Mono" panose="020B0609020000020004" pitchFamily="49" charset="0"/>
              </a:rPr>
              <a:t>b</a:t>
            </a:r>
            <a:r>
              <a:rPr lang="en-US" sz="800" dirty="0">
                <a:solidFill>
                  <a:srgbClr val="000000"/>
                </a:solidFill>
                <a:highlight>
                  <a:srgbClr val="FFFFFF"/>
                </a:highlight>
                <a:latin typeface="Cascadia Mono" panose="020B0609020000020004" pitchFamily="49" charset="0"/>
              </a:rPr>
              <a:t>)  </a:t>
            </a:r>
            <a:r>
              <a:rPr lang="en-US" sz="800" dirty="0">
                <a:solidFill>
                  <a:srgbClr val="008000"/>
                </a:solidFill>
                <a:highlight>
                  <a:srgbClr val="FFFFFF"/>
                </a:highlight>
                <a:latin typeface="Cascadia Mono" panose="020B0609020000020004" pitchFamily="49" charset="0"/>
              </a:rPr>
              <a:t>// </a:t>
            </a:r>
            <a:r>
              <a:rPr lang="en-US" sz="800" dirty="0" err="1">
                <a:solidFill>
                  <a:srgbClr val="008000"/>
                </a:solidFill>
                <a:highlight>
                  <a:srgbClr val="FFFFFF"/>
                </a:highlight>
                <a:latin typeface="Cascadia Mono" panose="020B0609020000020004" pitchFamily="49" charset="0"/>
              </a:rPr>
              <a:t>если</a:t>
            </a:r>
            <a:r>
              <a:rPr lang="en-US" sz="800" dirty="0">
                <a:solidFill>
                  <a:srgbClr val="008000"/>
                </a:solidFill>
                <a:highlight>
                  <a:srgbClr val="FFFFFF"/>
                </a:highlight>
                <a:latin typeface="Cascadia Mono" panose="020B0609020000020004" pitchFamily="49" charset="0"/>
              </a:rPr>
              <a:t> b == 0</a:t>
            </a:r>
            <a:endParaRPr lang="en-US" sz="800" dirty="0">
              <a:solidFill>
                <a:srgbClr val="000000"/>
              </a:solidFill>
              <a:highlight>
                <a:srgbClr val="FFFFFF"/>
              </a:highlight>
              <a:latin typeface="Cascadia Mono" panose="020B0609020000020004" pitchFamily="49" charset="0"/>
            </a:endParaRP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throw</a:t>
            </a:r>
            <a:r>
              <a:rPr lang="de-CH" sz="800" dirty="0">
                <a:solidFill>
                  <a:srgbClr val="000000"/>
                </a:solidFill>
                <a:highlight>
                  <a:srgbClr val="FFFFFF"/>
                </a:highlight>
                <a:latin typeface="Cascadia Mono" panose="020B0609020000020004" pitchFamily="49" charset="0"/>
              </a:rPr>
              <a:t> 0;</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if</a:t>
            </a:r>
            <a:r>
              <a:rPr lang="de-CH" sz="800" dirty="0">
                <a:solidFill>
                  <a:srgbClr val="000000"/>
                </a:solidFill>
                <a:highlight>
                  <a:srgbClr val="FFFFFF"/>
                </a:highlight>
                <a:latin typeface="Cascadia Mono" panose="020B0609020000020004" pitchFamily="49" charset="0"/>
              </a:rPr>
              <a:t> (</a:t>
            </a:r>
            <a:r>
              <a:rPr lang="de-CH" sz="800" dirty="0">
                <a:solidFill>
                  <a:srgbClr val="808080"/>
                </a:solidFill>
                <a:highlight>
                  <a:srgbClr val="FFFFFF"/>
                </a:highlight>
                <a:latin typeface="Cascadia Mono" panose="020B0609020000020004" pitchFamily="49" charset="0"/>
              </a:rPr>
              <a:t>b</a:t>
            </a:r>
            <a:r>
              <a:rPr lang="de-CH" sz="800" dirty="0">
                <a:solidFill>
                  <a:srgbClr val="000000"/>
                </a:solidFill>
                <a:highlight>
                  <a:srgbClr val="FFFFFF"/>
                </a:highlight>
                <a:latin typeface="Cascadia Mono" panose="020B0609020000020004" pitchFamily="49" charset="0"/>
              </a:rPr>
              <a:t> &gt; </a:t>
            </a:r>
            <a:r>
              <a:rPr lang="de-CH" sz="800" dirty="0">
                <a:solidFill>
                  <a:srgbClr val="808080"/>
                </a:solidFill>
                <a:highlight>
                  <a:srgbClr val="FFFFFF"/>
                </a:highlight>
                <a:latin typeface="Cascadia Mono" panose="020B0609020000020004" pitchFamily="49" charset="0"/>
              </a:rPr>
              <a:t>a</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en-US" sz="800" dirty="0">
                <a:solidFill>
                  <a:srgbClr val="000000"/>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throw</a:t>
            </a:r>
            <a:r>
              <a:rPr lang="en-US" sz="800" dirty="0">
                <a:solidFill>
                  <a:srgbClr val="000000"/>
                </a:solidFill>
                <a:highlight>
                  <a:srgbClr val="FFFFFF"/>
                </a:highlight>
                <a:latin typeface="Cascadia Mono" panose="020B0609020000020004" pitchFamily="49" charset="0"/>
              </a:rPr>
              <a:t> </a:t>
            </a:r>
            <a:r>
              <a:rPr lang="en-US" sz="800" dirty="0">
                <a:solidFill>
                  <a:srgbClr val="A31515"/>
                </a:solidFill>
                <a:highlight>
                  <a:srgbClr val="FFFFFF"/>
                </a:highlight>
                <a:latin typeface="Cascadia Mono" panose="020B0609020000020004" pitchFamily="49" charset="0"/>
              </a:rPr>
              <a:t>"The second number is greater than the first one"</a:t>
            </a:r>
            <a:r>
              <a:rPr lang="en-US"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return</a:t>
            </a:r>
            <a:r>
              <a:rPr lang="de-CH" sz="800" dirty="0">
                <a:solidFill>
                  <a:srgbClr val="000000"/>
                </a:solidFill>
                <a:highlight>
                  <a:srgbClr val="FFFFFF"/>
                </a:highlight>
                <a:latin typeface="Cascadia Mono" panose="020B0609020000020004" pitchFamily="49" charset="0"/>
              </a:rPr>
              <a:t> </a:t>
            </a:r>
            <a:r>
              <a:rPr lang="de-CH" sz="800" dirty="0">
                <a:solidFill>
                  <a:srgbClr val="808080"/>
                </a:solidFill>
                <a:highlight>
                  <a:srgbClr val="FFFFFF"/>
                </a:highlight>
                <a:latin typeface="Cascadia Mono" panose="020B0609020000020004" pitchFamily="49" charset="0"/>
              </a:rPr>
              <a:t>a</a:t>
            </a:r>
            <a:r>
              <a:rPr lang="de-CH" sz="800" dirty="0">
                <a:solidFill>
                  <a:srgbClr val="000000"/>
                </a:solidFill>
                <a:highlight>
                  <a:srgbClr val="FFFFFF"/>
                </a:highlight>
                <a:latin typeface="Cascadia Mono" panose="020B0609020000020004" pitchFamily="49" charset="0"/>
              </a:rPr>
              <a:t> / </a:t>
            </a:r>
            <a:r>
              <a:rPr lang="de-CH" sz="800" dirty="0">
                <a:solidFill>
                  <a:srgbClr val="808080"/>
                </a:solidFill>
                <a:highlight>
                  <a:srgbClr val="FFFFFF"/>
                </a:highlight>
                <a:latin typeface="Cascadia Mono" panose="020B0609020000020004" pitchFamily="49" charset="0"/>
              </a:rPr>
              <a:t>b</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a:t>
            </a:r>
          </a:p>
          <a:p>
            <a:endParaRPr lang="ru-RU" sz="800" dirty="0">
              <a:solidFill>
                <a:srgbClr val="000000"/>
              </a:solidFill>
              <a:highlight>
                <a:srgbClr val="FFFFFF"/>
              </a:highlight>
              <a:latin typeface="Cascadia Mono" panose="020B0609020000020004" pitchFamily="49" charset="0"/>
            </a:endParaRPr>
          </a:p>
          <a:p>
            <a:r>
              <a:rPr lang="en-US" sz="800" dirty="0">
                <a:solidFill>
                  <a:srgbClr val="0000FF"/>
                </a:solidFill>
                <a:highlight>
                  <a:srgbClr val="FFFFFF"/>
                </a:highlight>
                <a:latin typeface="Cascadia Mono" panose="020B0609020000020004" pitchFamily="49" charset="0"/>
              </a:rPr>
              <a:t>void</a:t>
            </a:r>
            <a:r>
              <a:rPr lang="en-US" sz="800" dirty="0">
                <a:solidFill>
                  <a:srgbClr val="000000"/>
                </a:solidFill>
                <a:highlight>
                  <a:srgbClr val="FFFFFF"/>
                </a:highlight>
                <a:latin typeface="Cascadia Mono" panose="020B0609020000020004" pitchFamily="49" charset="0"/>
              </a:rPr>
              <a:t> test(</a:t>
            </a:r>
            <a:r>
              <a:rPr lang="en-US" sz="800" dirty="0">
                <a:solidFill>
                  <a:srgbClr val="0000FF"/>
                </a:solidFill>
                <a:highlight>
                  <a:srgbClr val="FFFFFF"/>
                </a:highlight>
                <a:latin typeface="Cascadia Mono" panose="020B0609020000020004" pitchFamily="49" charset="0"/>
              </a:rPr>
              <a:t>int</a:t>
            </a:r>
            <a:r>
              <a:rPr lang="en-US" sz="800" dirty="0">
                <a:solidFill>
                  <a:srgbClr val="000000"/>
                </a:solidFill>
                <a:highlight>
                  <a:srgbClr val="FFFFFF"/>
                </a:highlight>
                <a:latin typeface="Cascadia Mono" panose="020B0609020000020004" pitchFamily="49" charset="0"/>
              </a:rPr>
              <a:t> </a:t>
            </a:r>
            <a:r>
              <a:rPr lang="en-US" sz="800" dirty="0">
                <a:solidFill>
                  <a:srgbClr val="808080"/>
                </a:solidFill>
                <a:highlight>
                  <a:srgbClr val="FFFFFF"/>
                </a:highlight>
                <a:latin typeface="Cascadia Mono" panose="020B0609020000020004" pitchFamily="49" charset="0"/>
              </a:rPr>
              <a:t>a</a:t>
            </a:r>
            <a:r>
              <a:rPr lang="en-US" sz="800" dirty="0">
                <a:solidFill>
                  <a:srgbClr val="000000"/>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int</a:t>
            </a:r>
            <a:r>
              <a:rPr lang="en-US" sz="800" dirty="0">
                <a:solidFill>
                  <a:srgbClr val="000000"/>
                </a:solidFill>
                <a:highlight>
                  <a:srgbClr val="FFFFFF"/>
                </a:highlight>
                <a:latin typeface="Cascadia Mono" panose="020B0609020000020004" pitchFamily="49" charset="0"/>
              </a:rPr>
              <a:t> </a:t>
            </a:r>
            <a:r>
              <a:rPr lang="en-US" sz="800" dirty="0">
                <a:solidFill>
                  <a:srgbClr val="808080"/>
                </a:solidFill>
                <a:highlight>
                  <a:srgbClr val="FFFFFF"/>
                </a:highlight>
                <a:latin typeface="Cascadia Mono" panose="020B0609020000020004" pitchFamily="49" charset="0"/>
              </a:rPr>
              <a:t>b</a:t>
            </a:r>
            <a:r>
              <a:rPr lang="en-US"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a:t>
            </a:r>
          </a:p>
          <a:p>
            <a:r>
              <a:rPr lang="de-CH" sz="800" dirty="0">
                <a:solidFill>
                  <a:srgbClr val="000000"/>
                </a:solidFill>
                <a:highlight>
                  <a:srgbClr val="FFFFFF"/>
                </a:highlight>
                <a:latin typeface="Cascadia Mono" panose="020B0609020000020004" pitchFamily="49" charset="0"/>
              </a:rPr>
              <a:t>    </a:t>
            </a:r>
            <a:r>
              <a:rPr lang="de-CH" sz="800" dirty="0" err="1">
                <a:solidFill>
                  <a:srgbClr val="0000FF"/>
                </a:solidFill>
                <a:highlight>
                  <a:srgbClr val="FFFFFF"/>
                </a:highlight>
                <a:latin typeface="Cascadia Mono" panose="020B0609020000020004" pitchFamily="49" charset="0"/>
              </a:rPr>
              <a:t>try</a:t>
            </a:r>
            <a:endParaRPr lang="de-CH" sz="800" dirty="0">
              <a:solidFill>
                <a:srgbClr val="000000"/>
              </a:solidFill>
              <a:highlight>
                <a:srgbClr val="FFFFFF"/>
              </a:highlight>
              <a:latin typeface="Cascadia Mono" panose="020B0609020000020004" pitchFamily="49" charset="0"/>
            </a:endParaRP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a:solidFill>
                  <a:srgbClr val="0000FF"/>
                </a:solidFill>
                <a:highlight>
                  <a:srgbClr val="FFFFFF"/>
                </a:highlight>
                <a:latin typeface="Cascadia Mono" panose="020B0609020000020004" pitchFamily="49" charset="0"/>
              </a:rPr>
              <a:t>double</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result</a:t>
            </a:r>
            <a:r>
              <a:rPr lang="de-CH" sz="800" dirty="0">
                <a:solidFill>
                  <a:srgbClr val="000000"/>
                </a:solidFill>
                <a:highlight>
                  <a:srgbClr val="FFFFFF"/>
                </a:highlight>
                <a:latin typeface="Cascadia Mono" panose="020B0609020000020004" pitchFamily="49" charset="0"/>
              </a:rPr>
              <a:t>{ divide(</a:t>
            </a:r>
            <a:r>
              <a:rPr lang="de-CH" sz="800" dirty="0">
                <a:solidFill>
                  <a:srgbClr val="808080"/>
                </a:solidFill>
                <a:highlight>
                  <a:srgbClr val="FFFFFF"/>
                </a:highlight>
                <a:latin typeface="Cascadia Mono" panose="020B0609020000020004" pitchFamily="49" charset="0"/>
              </a:rPr>
              <a:t>a</a:t>
            </a:r>
            <a:r>
              <a:rPr lang="de-CH" sz="800" dirty="0">
                <a:solidFill>
                  <a:srgbClr val="000000"/>
                </a:solidFill>
                <a:highlight>
                  <a:srgbClr val="FFFFFF"/>
                </a:highlight>
                <a:latin typeface="Cascadia Mono" panose="020B0609020000020004" pitchFamily="49" charset="0"/>
              </a:rPr>
              <a:t>, </a:t>
            </a:r>
            <a:r>
              <a:rPr lang="de-CH" sz="800" dirty="0">
                <a:solidFill>
                  <a:srgbClr val="808080"/>
                </a:solidFill>
                <a:highlight>
                  <a:srgbClr val="FFFFFF"/>
                </a:highlight>
                <a:latin typeface="Cascadia Mono" panose="020B0609020000020004" pitchFamily="49" charset="0"/>
              </a:rPr>
              <a:t>b</a:t>
            </a:r>
            <a:r>
              <a:rPr lang="de-CH" sz="800" dirty="0">
                <a:solidFill>
                  <a:srgbClr val="000000"/>
                </a:solidFill>
                <a:highlight>
                  <a:srgbClr val="FFFFFF"/>
                </a:highlight>
                <a:latin typeface="Cascadia Mono" panose="020B0609020000020004" pitchFamily="49" charset="0"/>
              </a:rPr>
              <a:t>) };</a:t>
            </a:r>
          </a:p>
          <a:p>
            <a:r>
              <a:rPr lang="en-US" sz="800" dirty="0">
                <a:solidFill>
                  <a:srgbClr val="000000"/>
                </a:solidFill>
                <a:highlight>
                  <a:srgbClr val="FFFFFF"/>
                </a:highlight>
                <a:latin typeface="Cascadia Mono" panose="020B0609020000020004" pitchFamily="49" charset="0"/>
              </a:rPr>
              <a:t>        std::</a:t>
            </a:r>
            <a:r>
              <a:rPr lang="en-US" sz="800" dirty="0" err="1">
                <a:solidFill>
                  <a:srgbClr val="000000"/>
                </a:solidFill>
                <a:highlight>
                  <a:srgbClr val="FFFFFF"/>
                </a:highlight>
                <a:latin typeface="Cascadia Mono" panose="020B0609020000020004" pitchFamily="49" charset="0"/>
              </a:rPr>
              <a:t>cout</a:t>
            </a:r>
            <a:r>
              <a:rPr lang="en-US" sz="800" dirty="0">
                <a:solidFill>
                  <a:srgbClr val="000000"/>
                </a:solidFill>
                <a:highlight>
                  <a:srgbClr val="FFFFFF"/>
                </a:highlight>
                <a:latin typeface="Cascadia Mono" panose="020B0609020000020004" pitchFamily="49" charset="0"/>
              </a:rPr>
              <a:t>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result </a:t>
            </a:r>
            <a:r>
              <a:rPr lang="en-US" sz="800" dirty="0">
                <a:solidFill>
                  <a:srgbClr val="008080"/>
                </a:solidFill>
                <a:highlight>
                  <a:srgbClr val="FFFFFF"/>
                </a:highlight>
                <a:latin typeface="Cascadia Mono" panose="020B0609020000020004" pitchFamily="49" charset="0"/>
              </a:rPr>
              <a:t>&lt;&lt;</a:t>
            </a:r>
            <a:r>
              <a:rPr lang="en-US" sz="800" dirty="0">
                <a:solidFill>
                  <a:srgbClr val="000000"/>
                </a:solidFill>
                <a:highlight>
                  <a:srgbClr val="FFFFFF"/>
                </a:highlight>
                <a:latin typeface="Cascadia Mono" panose="020B0609020000020004" pitchFamily="49" charset="0"/>
              </a:rPr>
              <a:t> std::</a:t>
            </a:r>
            <a:r>
              <a:rPr lang="en-US" sz="800" dirty="0" err="1">
                <a:solidFill>
                  <a:srgbClr val="000000"/>
                </a:solidFill>
                <a:highlight>
                  <a:srgbClr val="FFFFFF"/>
                </a:highlight>
                <a:latin typeface="Cascadia Mono" panose="020B0609020000020004" pitchFamily="49" charset="0"/>
              </a:rPr>
              <a:t>endl</a:t>
            </a:r>
            <a:r>
              <a:rPr lang="en-US"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a:solidFill>
                  <a:srgbClr val="0000FF"/>
                </a:solidFill>
                <a:highlight>
                  <a:srgbClr val="FFFFFF"/>
                </a:highlight>
                <a:latin typeface="Cascadia Mono" panose="020B0609020000020004" pitchFamily="49" charset="0"/>
              </a:rPr>
              <a:t>catch</a:t>
            </a:r>
            <a:r>
              <a:rPr lang="de-CH" sz="800" dirty="0">
                <a:solidFill>
                  <a:srgbClr val="000000"/>
                </a:solidFill>
                <a:highlight>
                  <a:srgbClr val="FFFFFF"/>
                </a:highlight>
                <a:latin typeface="Cascadia Mono" panose="020B0609020000020004" pitchFamily="49" charset="0"/>
              </a:rPr>
              <a:t> (</a:t>
            </a:r>
            <a:r>
              <a:rPr lang="de-CH" sz="800" dirty="0">
                <a:solidFill>
                  <a:srgbClr val="0000FF"/>
                </a:solidFill>
                <a:highlight>
                  <a:srgbClr val="FFFFFF"/>
                </a:highlight>
                <a:latin typeface="Cascadia Mono" panose="020B0609020000020004" pitchFamily="49" charset="0"/>
              </a:rPr>
              <a:t>int</a:t>
            </a:r>
            <a:r>
              <a:rPr lang="de-CH" sz="800" dirty="0">
                <a:solidFill>
                  <a:srgbClr val="000000"/>
                </a:solidFill>
                <a:highlight>
                  <a:srgbClr val="FFFFFF"/>
                </a:highlight>
                <a:latin typeface="Cascadia Mono" panose="020B0609020000020004" pitchFamily="49" charset="0"/>
              </a:rPr>
              <a:t> code)</a:t>
            </a:r>
          </a:p>
          <a:p>
            <a:r>
              <a:rPr lang="ru-RU" sz="800" dirty="0">
                <a:solidFill>
                  <a:srgbClr val="000000"/>
                </a:solidFill>
                <a:highlight>
                  <a:srgbClr val="FFFFFF"/>
                </a:highlight>
                <a:latin typeface="Cascadia Mono" panose="020B0609020000020004" pitchFamily="49" charset="0"/>
              </a:rPr>
              <a:t>    {</a:t>
            </a:r>
          </a:p>
          <a:p>
            <a:r>
              <a:rPr lang="fr-FR" sz="800" dirty="0">
                <a:solidFill>
                  <a:srgbClr val="000000"/>
                </a:solidFill>
                <a:highlight>
                  <a:srgbClr val="FFFFFF"/>
                </a:highlight>
                <a:latin typeface="Cascadia Mono" panose="020B0609020000020004" pitchFamily="49" charset="0"/>
              </a:rPr>
              <a:t>        std::cout </a:t>
            </a:r>
            <a:r>
              <a:rPr lang="fr-FR" sz="800" dirty="0">
                <a:solidFill>
                  <a:srgbClr val="008080"/>
                </a:solidFill>
                <a:highlight>
                  <a:srgbClr val="FFFFFF"/>
                </a:highlight>
                <a:latin typeface="Cascadia Mono" panose="020B0609020000020004" pitchFamily="49" charset="0"/>
              </a:rPr>
              <a:t>&lt;&lt;</a:t>
            </a:r>
            <a:r>
              <a:rPr lang="fr-FR" sz="800" dirty="0">
                <a:solidFill>
                  <a:srgbClr val="000000"/>
                </a:solidFill>
                <a:highlight>
                  <a:srgbClr val="FFFFFF"/>
                </a:highlight>
                <a:latin typeface="Cascadia Mono" panose="020B0609020000020004" pitchFamily="49" charset="0"/>
              </a:rPr>
              <a:t> </a:t>
            </a:r>
            <a:r>
              <a:rPr lang="fr-FR" sz="800" dirty="0">
                <a:solidFill>
                  <a:srgbClr val="A31515"/>
                </a:solidFill>
                <a:highlight>
                  <a:srgbClr val="FFFFFF"/>
                </a:highlight>
                <a:latin typeface="Cascadia Mono" panose="020B0609020000020004" pitchFamily="49" charset="0"/>
              </a:rPr>
              <a:t>"</a:t>
            </a:r>
            <a:r>
              <a:rPr lang="fr-FR" sz="800" dirty="0" err="1">
                <a:solidFill>
                  <a:srgbClr val="A31515"/>
                </a:solidFill>
                <a:highlight>
                  <a:srgbClr val="FFFFFF"/>
                </a:highlight>
                <a:latin typeface="Cascadia Mono" panose="020B0609020000020004" pitchFamily="49" charset="0"/>
              </a:rPr>
              <a:t>Error</a:t>
            </a:r>
            <a:r>
              <a:rPr lang="fr-FR" sz="800" dirty="0">
                <a:solidFill>
                  <a:srgbClr val="A31515"/>
                </a:solidFill>
                <a:highlight>
                  <a:srgbClr val="FFFFFF"/>
                </a:highlight>
                <a:latin typeface="Cascadia Mono" panose="020B0609020000020004" pitchFamily="49" charset="0"/>
              </a:rPr>
              <a:t> code: "</a:t>
            </a:r>
            <a:r>
              <a:rPr lang="fr-FR" sz="800" dirty="0">
                <a:solidFill>
                  <a:srgbClr val="000000"/>
                </a:solidFill>
                <a:highlight>
                  <a:srgbClr val="FFFFFF"/>
                </a:highlight>
                <a:latin typeface="Cascadia Mono" panose="020B0609020000020004" pitchFamily="49" charset="0"/>
              </a:rPr>
              <a:t> </a:t>
            </a:r>
            <a:r>
              <a:rPr lang="fr-FR" sz="800" dirty="0">
                <a:solidFill>
                  <a:srgbClr val="008080"/>
                </a:solidFill>
                <a:highlight>
                  <a:srgbClr val="FFFFFF"/>
                </a:highlight>
                <a:latin typeface="Cascadia Mono" panose="020B0609020000020004" pitchFamily="49" charset="0"/>
              </a:rPr>
              <a:t>&lt;&lt;</a:t>
            </a:r>
            <a:r>
              <a:rPr lang="fr-FR" sz="800" dirty="0">
                <a:solidFill>
                  <a:srgbClr val="000000"/>
                </a:solidFill>
                <a:highlight>
                  <a:srgbClr val="FFFFFF"/>
                </a:highlight>
                <a:latin typeface="Cascadia Mono" panose="020B0609020000020004" pitchFamily="49" charset="0"/>
              </a:rPr>
              <a:t> code </a:t>
            </a:r>
            <a:r>
              <a:rPr lang="fr-FR" sz="800" dirty="0">
                <a:solidFill>
                  <a:srgbClr val="008080"/>
                </a:solidFill>
                <a:highlight>
                  <a:srgbClr val="FFFFFF"/>
                </a:highlight>
                <a:latin typeface="Cascadia Mono" panose="020B0609020000020004" pitchFamily="49" charset="0"/>
              </a:rPr>
              <a:t>&lt;&lt;</a:t>
            </a:r>
            <a:r>
              <a:rPr lang="fr-FR" sz="800" dirty="0">
                <a:solidFill>
                  <a:srgbClr val="000000"/>
                </a:solidFill>
                <a:highlight>
                  <a:srgbClr val="FFFFFF"/>
                </a:highlight>
                <a:latin typeface="Cascadia Mono" panose="020B0609020000020004" pitchFamily="49" charset="0"/>
              </a:rPr>
              <a:t> std::</a:t>
            </a:r>
            <a:r>
              <a:rPr lang="fr-FR" sz="800" dirty="0" err="1">
                <a:solidFill>
                  <a:srgbClr val="000000"/>
                </a:solidFill>
                <a:highlight>
                  <a:srgbClr val="FFFFFF"/>
                </a:highlight>
                <a:latin typeface="Cascadia Mono" panose="020B0609020000020004" pitchFamily="49" charset="0"/>
              </a:rPr>
              <a:t>endl</a:t>
            </a:r>
            <a:r>
              <a:rPr lang="fr-FR"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en-US" sz="800" dirty="0">
                <a:solidFill>
                  <a:srgbClr val="000000"/>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catch</a:t>
            </a:r>
            <a:r>
              <a:rPr lang="en-US" sz="800" dirty="0">
                <a:solidFill>
                  <a:srgbClr val="000000"/>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const</a:t>
            </a:r>
            <a:r>
              <a:rPr lang="en-US" sz="800" dirty="0">
                <a:solidFill>
                  <a:srgbClr val="000000"/>
                </a:solidFill>
                <a:highlight>
                  <a:srgbClr val="FFFFFF"/>
                </a:highlight>
                <a:latin typeface="Cascadia Mono" panose="020B0609020000020004" pitchFamily="49" charset="0"/>
              </a:rPr>
              <a:t> </a:t>
            </a:r>
            <a:r>
              <a:rPr lang="en-US" sz="800" dirty="0">
                <a:solidFill>
                  <a:srgbClr val="0000FF"/>
                </a:solidFill>
                <a:highlight>
                  <a:srgbClr val="FFFFFF"/>
                </a:highlight>
                <a:latin typeface="Cascadia Mono" panose="020B0609020000020004" pitchFamily="49" charset="0"/>
              </a:rPr>
              <a:t>char</a:t>
            </a:r>
            <a:r>
              <a:rPr lang="en-US" sz="800" dirty="0">
                <a:solidFill>
                  <a:srgbClr val="000000"/>
                </a:solidFill>
                <a:highlight>
                  <a:srgbClr val="FFFFFF"/>
                </a:highlight>
                <a:latin typeface="Cascadia Mono" panose="020B0609020000020004" pitchFamily="49" charset="0"/>
              </a:rPr>
              <a:t>* </a:t>
            </a:r>
            <a:r>
              <a:rPr lang="en-US" sz="800" dirty="0" err="1">
                <a:solidFill>
                  <a:srgbClr val="000000"/>
                </a:solidFill>
                <a:highlight>
                  <a:srgbClr val="FFFFFF"/>
                </a:highlight>
                <a:latin typeface="Cascadia Mono" panose="020B0609020000020004" pitchFamily="49" charset="0"/>
              </a:rPr>
              <a:t>error_message</a:t>
            </a:r>
            <a:r>
              <a:rPr lang="en-US"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cout</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error_message</a:t>
            </a:r>
            <a:r>
              <a:rPr lang="de-CH" sz="800" dirty="0">
                <a:solidFill>
                  <a:srgbClr val="000000"/>
                </a:solidFill>
                <a:highlight>
                  <a:srgbClr val="FFFFFF"/>
                </a:highlight>
                <a:latin typeface="Cascadia Mono" panose="020B0609020000020004" pitchFamily="49" charset="0"/>
              </a:rPr>
              <a:t> </a:t>
            </a:r>
            <a:r>
              <a:rPr lang="de-CH" sz="800" dirty="0">
                <a:solidFill>
                  <a:srgbClr val="008080"/>
                </a:solidFill>
                <a:highlight>
                  <a:srgbClr val="FFFFFF"/>
                </a:highlight>
                <a:latin typeface="Cascadia Mono" panose="020B0609020000020004" pitchFamily="49" charset="0"/>
              </a:rPr>
              <a:t>&lt;&lt;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std</a:t>
            </a:r>
            <a:r>
              <a:rPr lang="de-CH" sz="800" dirty="0">
                <a:solidFill>
                  <a:srgbClr val="000000"/>
                </a:solidFill>
                <a:highlight>
                  <a:srgbClr val="FFFFFF"/>
                </a:highlight>
                <a:latin typeface="Cascadia Mono" panose="020B0609020000020004" pitchFamily="49" charset="0"/>
              </a:rPr>
              <a:t>::</a:t>
            </a:r>
            <a:r>
              <a:rPr lang="de-CH" sz="800" dirty="0" err="1">
                <a:solidFill>
                  <a:srgbClr val="000000"/>
                </a:solidFill>
                <a:highlight>
                  <a:srgbClr val="FFFFFF"/>
                </a:highlight>
                <a:latin typeface="Cascadia Mono" panose="020B0609020000020004" pitchFamily="49" charset="0"/>
              </a:rPr>
              <a:t>endl</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    }</a:t>
            </a:r>
          </a:p>
          <a:p>
            <a:r>
              <a:rPr lang="ru-RU" sz="800" dirty="0">
                <a:solidFill>
                  <a:srgbClr val="000000"/>
                </a:solidFill>
                <a:highlight>
                  <a:srgbClr val="FFFFFF"/>
                </a:highlight>
                <a:latin typeface="Cascadia Mono" panose="020B0609020000020004" pitchFamily="49" charset="0"/>
              </a:rPr>
              <a:t>}</a:t>
            </a:r>
          </a:p>
          <a:p>
            <a:endParaRPr lang="ru-RU" sz="800" dirty="0">
              <a:solidFill>
                <a:srgbClr val="000000"/>
              </a:solidFill>
              <a:highlight>
                <a:srgbClr val="FFFFFF"/>
              </a:highlight>
              <a:latin typeface="Cascadia Mono" panose="020B0609020000020004" pitchFamily="49" charset="0"/>
            </a:endParaRPr>
          </a:p>
          <a:p>
            <a:r>
              <a:rPr lang="de-CH" sz="800" dirty="0">
                <a:solidFill>
                  <a:srgbClr val="0000FF"/>
                </a:solidFill>
                <a:highlight>
                  <a:srgbClr val="FFFFFF"/>
                </a:highlight>
                <a:latin typeface="Cascadia Mono" panose="020B0609020000020004" pitchFamily="49" charset="0"/>
              </a:rPr>
              <a:t>int</a:t>
            </a:r>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main</a:t>
            </a:r>
            <a:r>
              <a:rPr lang="de-CH" sz="800" dirty="0">
                <a:solidFill>
                  <a:srgbClr val="000000"/>
                </a:solidFill>
                <a:highlight>
                  <a:srgbClr val="FFFFFF"/>
                </a:highlight>
                <a:latin typeface="Cascadia Mono" panose="020B0609020000020004" pitchFamily="49" charset="0"/>
              </a:rPr>
              <a:t>()</a:t>
            </a:r>
          </a:p>
          <a:p>
            <a:r>
              <a:rPr lang="ru-RU" sz="800" dirty="0">
                <a:solidFill>
                  <a:srgbClr val="000000"/>
                </a:solidFill>
                <a:highlight>
                  <a:srgbClr val="FFFFFF"/>
                </a:highlight>
                <a:latin typeface="Cascadia Mono" panose="020B0609020000020004" pitchFamily="49" charset="0"/>
              </a:rPr>
              <a:t>{</a:t>
            </a:r>
          </a:p>
          <a:p>
            <a:r>
              <a:rPr lang="de-CH" sz="800" dirty="0">
                <a:solidFill>
                  <a:srgbClr val="000000"/>
                </a:solidFill>
                <a:highlight>
                  <a:srgbClr val="FFFFFF"/>
                </a:highlight>
                <a:latin typeface="Cascadia Mono" panose="020B0609020000020004" pitchFamily="49" charset="0"/>
              </a:rPr>
              <a:t>    </a:t>
            </a:r>
            <a:r>
              <a:rPr lang="de-CH" sz="800" dirty="0" err="1">
                <a:solidFill>
                  <a:srgbClr val="000000"/>
                </a:solidFill>
                <a:highlight>
                  <a:srgbClr val="FFFFFF"/>
                </a:highlight>
                <a:latin typeface="Cascadia Mono" panose="020B0609020000020004" pitchFamily="49" charset="0"/>
              </a:rPr>
              <a:t>test</a:t>
            </a:r>
            <a:r>
              <a:rPr lang="de-CH" sz="800" dirty="0">
                <a:solidFill>
                  <a:srgbClr val="000000"/>
                </a:solidFill>
                <a:highlight>
                  <a:srgbClr val="FFFFFF"/>
                </a:highlight>
                <a:latin typeface="Cascadia Mono" panose="020B0609020000020004" pitchFamily="49" charset="0"/>
              </a:rPr>
              <a:t>(100, 20);      </a:t>
            </a:r>
            <a:r>
              <a:rPr lang="de-CH" sz="800" dirty="0">
                <a:solidFill>
                  <a:srgbClr val="008000"/>
                </a:solidFill>
                <a:highlight>
                  <a:srgbClr val="FFFFFF"/>
                </a:highlight>
                <a:latin typeface="Cascadia Mono" panose="020B0609020000020004" pitchFamily="49" charset="0"/>
              </a:rPr>
              <a:t>// 5</a:t>
            </a:r>
            <a:endParaRPr lang="de-CH" sz="800" dirty="0">
              <a:solidFill>
                <a:srgbClr val="000000"/>
              </a:solidFill>
              <a:highlight>
                <a:srgbClr val="FFFFFF"/>
              </a:highlight>
              <a:latin typeface="Cascadia Mono" panose="020B0609020000020004" pitchFamily="49" charset="0"/>
            </a:endParaRPr>
          </a:p>
          <a:p>
            <a:r>
              <a:rPr lang="en-US" sz="800" dirty="0">
                <a:solidFill>
                  <a:srgbClr val="000000"/>
                </a:solidFill>
                <a:highlight>
                  <a:srgbClr val="FFFFFF"/>
                </a:highlight>
                <a:latin typeface="Cascadia Mono" panose="020B0609020000020004" pitchFamily="49" charset="0"/>
              </a:rPr>
              <a:t>    test(100, 0);       </a:t>
            </a:r>
            <a:r>
              <a:rPr lang="en-US" sz="800" dirty="0">
                <a:solidFill>
                  <a:srgbClr val="008000"/>
                </a:solidFill>
                <a:highlight>
                  <a:srgbClr val="FFFFFF"/>
                </a:highlight>
                <a:latin typeface="Cascadia Mono" panose="020B0609020000020004" pitchFamily="49" charset="0"/>
              </a:rPr>
              <a:t>// Error code: 0</a:t>
            </a:r>
            <a:endParaRPr lang="en-US" sz="800" dirty="0">
              <a:solidFill>
                <a:srgbClr val="000000"/>
              </a:solidFill>
              <a:highlight>
                <a:srgbClr val="FFFFFF"/>
              </a:highlight>
              <a:latin typeface="Cascadia Mono" panose="020B0609020000020004" pitchFamily="49" charset="0"/>
            </a:endParaRPr>
          </a:p>
          <a:p>
            <a:r>
              <a:rPr lang="en-US" sz="800" dirty="0">
                <a:solidFill>
                  <a:srgbClr val="000000"/>
                </a:solidFill>
                <a:highlight>
                  <a:srgbClr val="FFFFFF"/>
                </a:highlight>
                <a:latin typeface="Cascadia Mono" panose="020B0609020000020004" pitchFamily="49" charset="0"/>
              </a:rPr>
              <a:t>    test(100, 1000);    </a:t>
            </a:r>
            <a:r>
              <a:rPr lang="en-US" sz="800" dirty="0">
                <a:solidFill>
                  <a:srgbClr val="008000"/>
                </a:solidFill>
                <a:highlight>
                  <a:srgbClr val="FFFFFF"/>
                </a:highlight>
                <a:latin typeface="Cascadia Mono" panose="020B0609020000020004" pitchFamily="49" charset="0"/>
              </a:rPr>
              <a:t>// The second number is greater than the first one</a:t>
            </a:r>
            <a:endParaRPr lang="en-US" sz="800" dirty="0">
              <a:solidFill>
                <a:srgbClr val="000000"/>
              </a:solidFill>
              <a:highlight>
                <a:srgbClr val="FFFFFF"/>
              </a:highlight>
              <a:latin typeface="Cascadia Mono" panose="020B0609020000020004" pitchFamily="49" charset="0"/>
            </a:endParaRPr>
          </a:p>
          <a:p>
            <a:r>
              <a:rPr lang="ru-RU" sz="8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1827145542"/>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265C19-0176-317A-AEB6-340FF6D6365C}"/>
              </a:ext>
            </a:extLst>
          </p:cNvPr>
          <p:cNvSpPr>
            <a:spLocks noGrp="1"/>
          </p:cNvSpPr>
          <p:nvPr>
            <p:ph type="title"/>
          </p:nvPr>
        </p:nvSpPr>
        <p:spPr/>
        <p:txBody>
          <a:bodyPr/>
          <a:lstStyle/>
          <a:p>
            <a:r>
              <a:rPr lang="ru-RU" b="1" dirty="0"/>
              <a:t>Вложенные </a:t>
            </a:r>
            <a:r>
              <a:rPr lang="de-CH" b="1" dirty="0" err="1"/>
              <a:t>try</a:t>
            </a:r>
            <a:r>
              <a:rPr lang="de-CH" b="1" dirty="0"/>
              <a:t>-catch</a:t>
            </a:r>
            <a:endParaRPr lang="ru-RU" dirty="0"/>
          </a:p>
        </p:txBody>
      </p:sp>
      <p:sp>
        <p:nvSpPr>
          <p:cNvPr id="3" name="Объект 2">
            <a:extLst>
              <a:ext uri="{FF2B5EF4-FFF2-40B4-BE49-F238E27FC236}">
                <a16:creationId xmlns:a16="http://schemas.microsoft.com/office/drawing/2014/main" id="{2EB119BF-4457-3CDE-C10A-A800B5843461}"/>
              </a:ext>
            </a:extLst>
          </p:cNvPr>
          <p:cNvSpPr>
            <a:spLocks noGrp="1"/>
          </p:cNvSpPr>
          <p:nvPr>
            <p:ph idx="1"/>
          </p:nvPr>
        </p:nvSpPr>
        <p:spPr/>
        <p:txBody>
          <a:bodyPr/>
          <a:lstStyle/>
          <a:p>
            <a:r>
              <a:rPr lang="ru-RU" dirty="0"/>
              <a:t>Одни конструкции </a:t>
            </a:r>
            <a:r>
              <a:rPr lang="ru-RU" dirty="0" err="1"/>
              <a:t>try-catch</a:t>
            </a:r>
            <a:r>
              <a:rPr lang="ru-RU" dirty="0"/>
              <a:t> могут содержать другие. Если исключение возникает во вложенной конструкции </a:t>
            </a:r>
            <a:r>
              <a:rPr lang="ru-RU" dirty="0" err="1"/>
              <a:t>try-catch</a:t>
            </a:r>
            <a:r>
              <a:rPr lang="ru-RU" dirty="0"/>
              <a:t>, то программа сначала ищет во вложенной конструкции блок </a:t>
            </a:r>
            <a:r>
              <a:rPr lang="ru-RU" dirty="0" err="1"/>
              <a:t>catch</a:t>
            </a:r>
            <a:r>
              <a:rPr lang="ru-RU" dirty="0"/>
              <a:t>, который обрабатывает нужный тип исключения. Если во вложенной конструкции </a:t>
            </a:r>
            <a:r>
              <a:rPr lang="ru-RU" dirty="0" err="1"/>
              <a:t>try-catch</a:t>
            </a:r>
            <a:r>
              <a:rPr lang="ru-RU" dirty="0"/>
              <a:t> такой блок </a:t>
            </a:r>
            <a:r>
              <a:rPr lang="ru-RU" dirty="0" err="1"/>
              <a:t>catch</a:t>
            </a:r>
            <a:r>
              <a:rPr lang="ru-RU" dirty="0"/>
              <a:t> не найден, то программа начинает искать аналогичный блок </a:t>
            </a:r>
            <a:r>
              <a:rPr lang="ru-RU" dirty="0" err="1"/>
              <a:t>catch</a:t>
            </a:r>
            <a:r>
              <a:rPr lang="ru-RU" dirty="0"/>
              <a:t> во </a:t>
            </a:r>
            <a:r>
              <a:rPr lang="ru-RU" dirty="0" err="1"/>
              <a:t>внешей</a:t>
            </a:r>
            <a:r>
              <a:rPr lang="ru-RU" dirty="0"/>
              <a:t> </a:t>
            </a:r>
            <a:r>
              <a:rPr lang="ru-RU" dirty="0" err="1"/>
              <a:t>конструкии</a:t>
            </a:r>
            <a:r>
              <a:rPr lang="ru-RU" dirty="0"/>
              <a:t> </a:t>
            </a:r>
            <a:r>
              <a:rPr lang="ru-RU" dirty="0" err="1"/>
              <a:t>try-catch</a:t>
            </a:r>
            <a:r>
              <a:rPr lang="ru-RU" dirty="0"/>
              <a:t>.</a:t>
            </a:r>
          </a:p>
        </p:txBody>
      </p:sp>
    </p:spTree>
    <p:extLst>
      <p:ext uri="{BB962C8B-B14F-4D97-AF65-F5344CB8AC3E}">
        <p14:creationId xmlns:p14="http://schemas.microsoft.com/office/powerpoint/2010/main" val="156943124"/>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A04371-D045-97E5-6D77-60E0FA174E35}"/>
              </a:ext>
            </a:extLst>
          </p:cNvPr>
          <p:cNvSpPr>
            <a:spLocks noGrp="1"/>
          </p:cNvSpPr>
          <p:nvPr>
            <p:ph type="title"/>
          </p:nvPr>
        </p:nvSpPr>
        <p:spPr/>
        <p:txBody>
          <a:bodyPr/>
          <a:lstStyle/>
          <a:p>
            <a:r>
              <a:rPr lang="ru-RU" b="1" dirty="0"/>
              <a:t>Вложенные </a:t>
            </a:r>
            <a:r>
              <a:rPr lang="de-CH" b="1" dirty="0" err="1"/>
              <a:t>try</a:t>
            </a:r>
            <a:r>
              <a:rPr lang="de-CH" b="1" dirty="0"/>
              <a:t>-catch</a:t>
            </a:r>
            <a:endParaRPr lang="ru-RU" dirty="0"/>
          </a:p>
        </p:txBody>
      </p:sp>
      <p:sp>
        <p:nvSpPr>
          <p:cNvPr id="3" name="Объект 2">
            <a:extLst>
              <a:ext uri="{FF2B5EF4-FFF2-40B4-BE49-F238E27FC236}">
                <a16:creationId xmlns:a16="http://schemas.microsoft.com/office/drawing/2014/main" id="{0C5F40B7-37F2-28B2-8F90-07D4769F7FBB}"/>
              </a:ext>
            </a:extLst>
          </p:cNvPr>
          <p:cNvSpPr>
            <a:spLocks noGrp="1"/>
          </p:cNvSpPr>
          <p:nvPr>
            <p:ph idx="1"/>
          </p:nvPr>
        </p:nvSpPr>
        <p:spPr/>
        <p:txBody>
          <a:bodyPr/>
          <a:lstStyle/>
          <a:p>
            <a:r>
              <a:rPr lang="fr-FR" sz="1000" dirty="0">
                <a:solidFill>
                  <a:srgbClr val="0000FF"/>
                </a:solidFill>
                <a:highlight>
                  <a:srgbClr val="FFFFFF"/>
                </a:highlight>
                <a:latin typeface="Cascadia Mono" panose="020B0609020000020004" pitchFamily="49" charset="0"/>
              </a:rPr>
              <a:t>double</a:t>
            </a:r>
            <a:r>
              <a:rPr lang="fr-FR" sz="1000" dirty="0">
                <a:solidFill>
                  <a:srgbClr val="000000"/>
                </a:solidFill>
                <a:highlight>
                  <a:srgbClr val="FFFFFF"/>
                </a:highlight>
                <a:latin typeface="Cascadia Mono" panose="020B0609020000020004" pitchFamily="49" charset="0"/>
              </a:rPr>
              <a:t> </a:t>
            </a:r>
            <a:r>
              <a:rPr lang="fr-FR" sz="1000" dirty="0" err="1">
                <a:solidFill>
                  <a:srgbClr val="000000"/>
                </a:solidFill>
                <a:highlight>
                  <a:srgbClr val="FFFFFF"/>
                </a:highlight>
                <a:latin typeface="Cascadia Mono" panose="020B0609020000020004" pitchFamily="49" charset="0"/>
              </a:rPr>
              <a:t>divide</a:t>
            </a:r>
            <a:r>
              <a:rPr lang="fr-FR" sz="1000" dirty="0">
                <a:solidFill>
                  <a:srgbClr val="000000"/>
                </a:solidFill>
                <a:highlight>
                  <a:srgbClr val="FFFFFF"/>
                </a:highlight>
                <a:latin typeface="Cascadia Mono" panose="020B0609020000020004" pitchFamily="49" charset="0"/>
              </a:rPr>
              <a:t>(</a:t>
            </a:r>
            <a:r>
              <a:rPr lang="fr-FR" sz="1000" dirty="0">
                <a:solidFill>
                  <a:srgbClr val="0000FF"/>
                </a:solidFill>
                <a:highlight>
                  <a:srgbClr val="FFFFFF"/>
                </a:highlight>
                <a:latin typeface="Cascadia Mono" panose="020B0609020000020004" pitchFamily="49" charset="0"/>
              </a:rPr>
              <a:t>int</a:t>
            </a:r>
            <a:r>
              <a:rPr lang="fr-FR" sz="1000" dirty="0">
                <a:solidFill>
                  <a:srgbClr val="000000"/>
                </a:solidFill>
                <a:highlight>
                  <a:srgbClr val="FFFFFF"/>
                </a:highlight>
                <a:latin typeface="Cascadia Mono" panose="020B0609020000020004" pitchFamily="49" charset="0"/>
              </a:rPr>
              <a:t> </a:t>
            </a:r>
            <a:r>
              <a:rPr lang="fr-FR" sz="1000" dirty="0">
                <a:solidFill>
                  <a:srgbClr val="808080"/>
                </a:solidFill>
                <a:highlight>
                  <a:srgbClr val="FFFFFF"/>
                </a:highlight>
                <a:latin typeface="Cascadia Mono" panose="020B0609020000020004" pitchFamily="49" charset="0"/>
              </a:rPr>
              <a:t>a</a:t>
            </a:r>
            <a:r>
              <a:rPr lang="fr-FR" sz="1000" dirty="0">
                <a:solidFill>
                  <a:srgbClr val="000000"/>
                </a:solidFill>
                <a:highlight>
                  <a:srgbClr val="FFFFFF"/>
                </a:highlight>
                <a:latin typeface="Cascadia Mono" panose="020B0609020000020004" pitchFamily="49" charset="0"/>
              </a:rPr>
              <a:t>, </a:t>
            </a:r>
            <a:r>
              <a:rPr lang="fr-FR" sz="1000" dirty="0">
                <a:solidFill>
                  <a:srgbClr val="0000FF"/>
                </a:solidFill>
                <a:highlight>
                  <a:srgbClr val="FFFFFF"/>
                </a:highlight>
                <a:latin typeface="Cascadia Mono" panose="020B0609020000020004" pitchFamily="49" charset="0"/>
              </a:rPr>
              <a:t>int</a:t>
            </a:r>
            <a:r>
              <a:rPr lang="fr-FR" sz="1000" dirty="0">
                <a:solidFill>
                  <a:srgbClr val="000000"/>
                </a:solidFill>
                <a:highlight>
                  <a:srgbClr val="FFFFFF"/>
                </a:highlight>
                <a:latin typeface="Cascadia Mono" panose="020B0609020000020004" pitchFamily="49" charset="0"/>
              </a:rPr>
              <a:t> </a:t>
            </a:r>
            <a:r>
              <a:rPr lang="fr-FR" sz="1000" dirty="0">
                <a:solidFill>
                  <a:srgbClr val="808080"/>
                </a:solidFill>
                <a:highlight>
                  <a:srgbClr val="FFFFFF"/>
                </a:highlight>
                <a:latin typeface="Cascadia Mono" panose="020B0609020000020004" pitchFamily="49" charset="0"/>
              </a:rPr>
              <a:t>b</a:t>
            </a:r>
            <a:r>
              <a:rPr lang="fr-FR"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p>
          <a:p>
            <a:r>
              <a:rPr lang="en-US" sz="1000" dirty="0">
                <a:solidFill>
                  <a:srgbClr val="000000"/>
                </a:solidFill>
                <a:highlight>
                  <a:srgbClr val="FFFFFF"/>
                </a:highlight>
                <a:latin typeface="Cascadia Mono" panose="020B0609020000020004" pitchFamily="49" charset="0"/>
              </a:rPr>
              <a:t>    </a:t>
            </a:r>
            <a:r>
              <a:rPr lang="en-US" sz="1000" dirty="0">
                <a:solidFill>
                  <a:srgbClr val="0000FF"/>
                </a:solidFill>
                <a:highlight>
                  <a:srgbClr val="FFFFFF"/>
                </a:highlight>
                <a:latin typeface="Cascadia Mono" panose="020B0609020000020004" pitchFamily="49" charset="0"/>
              </a:rPr>
              <a:t>if</a:t>
            </a:r>
            <a:r>
              <a:rPr lang="en-US" sz="1000" dirty="0">
                <a:solidFill>
                  <a:srgbClr val="000000"/>
                </a:solidFill>
                <a:highlight>
                  <a:srgbClr val="FFFFFF"/>
                </a:highlight>
                <a:latin typeface="Cascadia Mono" panose="020B0609020000020004" pitchFamily="49" charset="0"/>
              </a:rPr>
              <a:t> (!</a:t>
            </a:r>
            <a:r>
              <a:rPr lang="en-US" sz="1000" dirty="0">
                <a:solidFill>
                  <a:srgbClr val="808080"/>
                </a:solidFill>
                <a:highlight>
                  <a:srgbClr val="FFFFFF"/>
                </a:highlight>
                <a:latin typeface="Cascadia Mono" panose="020B0609020000020004" pitchFamily="49" charset="0"/>
              </a:rPr>
              <a:t>b</a:t>
            </a:r>
            <a:r>
              <a:rPr lang="en-US" sz="1000" dirty="0">
                <a:solidFill>
                  <a:srgbClr val="000000"/>
                </a:solidFill>
                <a:highlight>
                  <a:srgbClr val="FFFFFF"/>
                </a:highlight>
                <a:latin typeface="Cascadia Mono" panose="020B0609020000020004" pitchFamily="49" charset="0"/>
              </a:rPr>
              <a:t>)  </a:t>
            </a:r>
            <a:r>
              <a:rPr lang="en-US" sz="1000" dirty="0">
                <a:solidFill>
                  <a:srgbClr val="008000"/>
                </a:solidFill>
                <a:highlight>
                  <a:srgbClr val="FFFFFF"/>
                </a:highlight>
                <a:latin typeface="Cascadia Mono" panose="020B0609020000020004" pitchFamily="49" charset="0"/>
              </a:rPr>
              <a:t>// </a:t>
            </a:r>
            <a:r>
              <a:rPr lang="en-US" sz="1000" dirty="0" err="1">
                <a:solidFill>
                  <a:srgbClr val="008000"/>
                </a:solidFill>
                <a:highlight>
                  <a:srgbClr val="FFFFFF"/>
                </a:highlight>
                <a:latin typeface="Cascadia Mono" panose="020B0609020000020004" pitchFamily="49" charset="0"/>
              </a:rPr>
              <a:t>если</a:t>
            </a:r>
            <a:r>
              <a:rPr lang="en-US" sz="1000" dirty="0">
                <a:solidFill>
                  <a:srgbClr val="008000"/>
                </a:solidFill>
                <a:highlight>
                  <a:srgbClr val="FFFFFF"/>
                </a:highlight>
                <a:latin typeface="Cascadia Mono" panose="020B0609020000020004" pitchFamily="49" charset="0"/>
              </a:rPr>
              <a:t> b == 0</a:t>
            </a:r>
            <a:endParaRPr lang="en-US" sz="1000" dirty="0">
              <a:solidFill>
                <a:srgbClr val="000000"/>
              </a:solidFill>
              <a:highlight>
                <a:srgbClr val="FFFFFF"/>
              </a:highlight>
              <a:latin typeface="Cascadia Mono" panose="020B0609020000020004" pitchFamily="49" charset="0"/>
            </a:endParaRP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throw</a:t>
            </a:r>
            <a:r>
              <a:rPr lang="de-CH" sz="1000" dirty="0">
                <a:solidFill>
                  <a:srgbClr val="000000"/>
                </a:solidFill>
                <a:highlight>
                  <a:srgbClr val="FFFFFF"/>
                </a:highlight>
                <a:latin typeface="Cascadia Mono" panose="020B0609020000020004" pitchFamily="49" charset="0"/>
              </a:rPr>
              <a:t> </a:t>
            </a:r>
            <a:r>
              <a:rPr lang="de-CH" sz="1000" dirty="0">
                <a:solidFill>
                  <a:srgbClr val="A31515"/>
                </a:solidFill>
                <a:highlight>
                  <a:srgbClr val="FFFFFF"/>
                </a:highlight>
                <a:latin typeface="Cascadia Mono" panose="020B0609020000020004" pitchFamily="49" charset="0"/>
              </a:rPr>
              <a:t>"Division </a:t>
            </a:r>
            <a:r>
              <a:rPr lang="de-CH" sz="1000" dirty="0" err="1">
                <a:solidFill>
                  <a:srgbClr val="A31515"/>
                </a:solidFill>
                <a:highlight>
                  <a:srgbClr val="FFFFFF"/>
                </a:highlight>
                <a:latin typeface="Cascadia Mono" panose="020B0609020000020004" pitchFamily="49" charset="0"/>
              </a:rPr>
              <a:t>by</a:t>
            </a:r>
            <a:r>
              <a:rPr lang="de-CH" sz="1000" dirty="0">
                <a:solidFill>
                  <a:srgbClr val="A31515"/>
                </a:solidFill>
                <a:highlight>
                  <a:srgbClr val="FFFFFF"/>
                </a:highlight>
                <a:latin typeface="Cascadia Mono" panose="020B0609020000020004" pitchFamily="49" charset="0"/>
              </a:rPr>
              <a:t> </a:t>
            </a:r>
            <a:r>
              <a:rPr lang="de-CH" sz="1000" dirty="0" err="1">
                <a:solidFill>
                  <a:srgbClr val="A31515"/>
                </a:solidFill>
                <a:highlight>
                  <a:srgbClr val="FFFFFF"/>
                </a:highlight>
                <a:latin typeface="Cascadia Mono" panose="020B0609020000020004" pitchFamily="49" charset="0"/>
              </a:rPr>
              <a:t>zero</a:t>
            </a:r>
            <a:r>
              <a:rPr lang="de-CH" sz="1000" dirty="0">
                <a:solidFill>
                  <a:srgbClr val="A31515"/>
                </a:solidFill>
                <a:highlight>
                  <a:srgbClr val="FFFFFF"/>
                </a:highlight>
                <a:latin typeface="Cascadia Mono" panose="020B0609020000020004" pitchFamily="49" charset="0"/>
              </a:rPr>
              <a:t>"</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return</a:t>
            </a:r>
            <a:r>
              <a:rPr lang="de-CH" sz="1000" dirty="0">
                <a:solidFill>
                  <a:srgbClr val="000000"/>
                </a:solidFill>
                <a:highlight>
                  <a:srgbClr val="FFFFFF"/>
                </a:highlight>
                <a:latin typeface="Cascadia Mono" panose="020B0609020000020004" pitchFamily="49" charset="0"/>
              </a:rPr>
              <a:t> </a:t>
            </a:r>
            <a:r>
              <a:rPr lang="de-CH" sz="1000" dirty="0">
                <a:solidFill>
                  <a:srgbClr val="808080"/>
                </a:solidFill>
                <a:highlight>
                  <a:srgbClr val="FFFFFF"/>
                </a:highlight>
                <a:latin typeface="Cascadia Mono" panose="020B0609020000020004" pitchFamily="49" charset="0"/>
              </a:rPr>
              <a:t>a</a:t>
            </a:r>
            <a:r>
              <a:rPr lang="de-CH" sz="1000" dirty="0">
                <a:solidFill>
                  <a:srgbClr val="000000"/>
                </a:solidFill>
                <a:highlight>
                  <a:srgbClr val="FFFFFF"/>
                </a:highlight>
                <a:latin typeface="Cascadia Mono" panose="020B0609020000020004" pitchFamily="49" charset="0"/>
              </a:rPr>
              <a:t> / </a:t>
            </a:r>
            <a:r>
              <a:rPr lang="de-CH" sz="1000" dirty="0">
                <a:solidFill>
                  <a:srgbClr val="808080"/>
                </a:solidFill>
                <a:highlight>
                  <a:srgbClr val="FFFFFF"/>
                </a:highlight>
                <a:latin typeface="Cascadia Mono" panose="020B0609020000020004" pitchFamily="49" charset="0"/>
              </a:rPr>
              <a:t>b</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p>
          <a:p>
            <a:r>
              <a:rPr lang="de-CH" sz="1000" dirty="0">
                <a:solidFill>
                  <a:srgbClr val="0000FF"/>
                </a:solidFill>
                <a:highlight>
                  <a:srgbClr val="FFFFFF"/>
                </a:highlight>
                <a:latin typeface="Cascadia Mono" panose="020B0609020000020004" pitchFamily="49" charset="0"/>
              </a:rPr>
              <a:t>int</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main</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try</a:t>
            </a:r>
            <a:endParaRPr lang="de-CH" sz="1000" dirty="0">
              <a:solidFill>
                <a:srgbClr val="000000"/>
              </a:solidFill>
              <a:highlight>
                <a:srgbClr val="FFFFFF"/>
              </a:highlight>
              <a:latin typeface="Cascadia Mono" panose="020B0609020000020004" pitchFamily="49" charset="0"/>
            </a:endParaRP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try</a:t>
            </a:r>
            <a:endParaRPr lang="de-CH" sz="1000" dirty="0">
              <a:solidFill>
                <a:srgbClr val="000000"/>
              </a:solidFill>
              <a:highlight>
                <a:srgbClr val="FFFFFF"/>
              </a:highlight>
              <a:latin typeface="Cascadia Mono" panose="020B0609020000020004" pitchFamily="49" charset="0"/>
            </a:endParaRP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a:solidFill>
                  <a:srgbClr val="0000FF"/>
                </a:solidFill>
                <a:highlight>
                  <a:srgbClr val="FFFFFF"/>
                </a:highlight>
                <a:latin typeface="Cascadia Mono" panose="020B0609020000020004" pitchFamily="49" charset="0"/>
              </a:rPr>
              <a:t>int</a:t>
            </a:r>
            <a:r>
              <a:rPr lang="de-CH" sz="1000" dirty="0">
                <a:solidFill>
                  <a:srgbClr val="000000"/>
                </a:solidFill>
                <a:highlight>
                  <a:srgbClr val="FFFFFF"/>
                </a:highlight>
                <a:latin typeface="Cascadia Mono" panose="020B0609020000020004" pitchFamily="49" charset="0"/>
              </a:rPr>
              <a:t> a{ 10 }, b{};</a:t>
            </a:r>
          </a:p>
          <a:p>
            <a:r>
              <a:rPr lang="de-CH" sz="1000" dirty="0">
                <a:solidFill>
                  <a:srgbClr val="000000"/>
                </a:solidFill>
                <a:highlight>
                  <a:srgbClr val="FFFFFF"/>
                </a:highlight>
                <a:latin typeface="Cascadia Mono" panose="020B0609020000020004" pitchFamily="49" charset="0"/>
              </a:rPr>
              <a:t>            </a:t>
            </a:r>
            <a:r>
              <a:rPr lang="de-CH" sz="1000" dirty="0">
                <a:solidFill>
                  <a:srgbClr val="0000FF"/>
                </a:solidFill>
                <a:highlight>
                  <a:srgbClr val="FFFFFF"/>
                </a:highlight>
                <a:latin typeface="Cascadia Mono" panose="020B0609020000020004" pitchFamily="49" charset="0"/>
              </a:rPr>
              <a:t>double</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result</a:t>
            </a:r>
            <a:r>
              <a:rPr lang="de-CH" sz="1000" dirty="0">
                <a:solidFill>
                  <a:srgbClr val="000000"/>
                </a:solidFill>
                <a:highlight>
                  <a:srgbClr val="FFFFFF"/>
                </a:highlight>
                <a:latin typeface="Cascadia Mono" panose="020B0609020000020004" pitchFamily="49" charset="0"/>
              </a:rPr>
              <a:t>{ divide(a, b) };</a:t>
            </a:r>
          </a:p>
          <a:p>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cout</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result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endl</a:t>
            </a:r>
            <a:r>
              <a:rPr lang="en-US"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a:solidFill>
                  <a:srgbClr val="0000FF"/>
                </a:solidFill>
                <a:highlight>
                  <a:srgbClr val="FFFFFF"/>
                </a:highlight>
                <a:latin typeface="Cascadia Mono" panose="020B0609020000020004" pitchFamily="49" charset="0"/>
              </a:rPr>
              <a:t>catch</a:t>
            </a:r>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const</a:t>
            </a:r>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char</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error</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std</a:t>
            </a:r>
            <a:r>
              <a:rPr lang="de-CH" sz="1000" dirty="0">
                <a:solidFill>
                  <a:srgbClr val="000000"/>
                </a:solidFill>
                <a:highlight>
                  <a:srgbClr val="FFFFFF"/>
                </a:highlight>
                <a:latin typeface="Cascadia Mono" panose="020B0609020000020004" pitchFamily="49" charset="0"/>
              </a:rPr>
              <a:t>::</a:t>
            </a:r>
            <a:r>
              <a:rPr lang="de-CH" sz="1000" dirty="0" err="1">
                <a:solidFill>
                  <a:srgbClr val="000000"/>
                </a:solidFill>
                <a:highlight>
                  <a:srgbClr val="FFFFFF"/>
                </a:highlight>
                <a:latin typeface="Cascadia Mono" panose="020B0609020000020004" pitchFamily="49" charset="0"/>
              </a:rPr>
              <a:t>cout</a:t>
            </a:r>
            <a:r>
              <a:rPr lang="de-CH" sz="1000" dirty="0">
                <a:solidFill>
                  <a:srgbClr val="000000"/>
                </a:solidFill>
                <a:highlight>
                  <a:srgbClr val="FFFFFF"/>
                </a:highlight>
                <a:latin typeface="Cascadia Mono" panose="020B0609020000020004" pitchFamily="49" charset="0"/>
              </a:rPr>
              <a:t> </a:t>
            </a:r>
            <a:r>
              <a:rPr lang="de-CH" sz="1000" dirty="0">
                <a:solidFill>
                  <a:srgbClr val="008080"/>
                </a:solidFill>
                <a:highlight>
                  <a:srgbClr val="FFFFFF"/>
                </a:highlight>
                <a:latin typeface="Cascadia Mono" panose="020B0609020000020004" pitchFamily="49" charset="0"/>
              </a:rPr>
              <a:t>&lt;&lt;</a:t>
            </a:r>
            <a:r>
              <a:rPr lang="de-CH" sz="1000" dirty="0">
                <a:solidFill>
                  <a:srgbClr val="000000"/>
                </a:solidFill>
                <a:highlight>
                  <a:srgbClr val="FFFFFF"/>
                </a:highlight>
                <a:latin typeface="Cascadia Mono" panose="020B0609020000020004" pitchFamily="49" charset="0"/>
              </a:rPr>
              <a:t> </a:t>
            </a:r>
            <a:r>
              <a:rPr lang="de-CH" sz="1000" dirty="0">
                <a:solidFill>
                  <a:srgbClr val="A31515"/>
                </a:solidFill>
                <a:highlight>
                  <a:srgbClr val="FFFFFF"/>
                </a:highlight>
                <a:latin typeface="Cascadia Mono" panose="020B0609020000020004" pitchFamily="49" charset="0"/>
              </a:rPr>
              <a:t>"</a:t>
            </a:r>
            <a:r>
              <a:rPr lang="de-CH" sz="1000" dirty="0" err="1">
                <a:solidFill>
                  <a:srgbClr val="A31515"/>
                </a:solidFill>
                <a:highlight>
                  <a:srgbClr val="FFFFFF"/>
                </a:highlight>
                <a:latin typeface="Cascadia Mono" panose="020B0609020000020004" pitchFamily="49" charset="0"/>
              </a:rPr>
              <a:t>Inner</a:t>
            </a:r>
            <a:r>
              <a:rPr lang="de-CH" sz="1000" dirty="0">
                <a:solidFill>
                  <a:srgbClr val="A31515"/>
                </a:solidFill>
                <a:highlight>
                  <a:srgbClr val="FFFFFF"/>
                </a:highlight>
                <a:latin typeface="Cascadia Mono" panose="020B0609020000020004" pitchFamily="49" charset="0"/>
              </a:rPr>
              <a:t> </a:t>
            </a:r>
            <a:r>
              <a:rPr lang="de-CH" sz="1000" dirty="0" err="1">
                <a:solidFill>
                  <a:srgbClr val="A31515"/>
                </a:solidFill>
                <a:highlight>
                  <a:srgbClr val="FFFFFF"/>
                </a:highlight>
                <a:latin typeface="Cascadia Mono" panose="020B0609020000020004" pitchFamily="49" charset="0"/>
              </a:rPr>
              <a:t>execption</a:t>
            </a:r>
            <a:r>
              <a:rPr lang="de-CH" sz="1000" dirty="0">
                <a:solidFill>
                  <a:srgbClr val="A31515"/>
                </a:solidFill>
                <a:highlight>
                  <a:srgbClr val="FFFFFF"/>
                </a:highlight>
                <a:latin typeface="Cascadia Mono" panose="020B0609020000020004" pitchFamily="49" charset="0"/>
              </a:rPr>
              <a:t>: "</a:t>
            </a:r>
            <a:r>
              <a:rPr lang="de-CH" sz="1000" dirty="0">
                <a:solidFill>
                  <a:srgbClr val="000000"/>
                </a:solidFill>
                <a:highlight>
                  <a:srgbClr val="FFFFFF"/>
                </a:highlight>
                <a:latin typeface="Cascadia Mono" panose="020B0609020000020004" pitchFamily="49" charset="0"/>
              </a:rPr>
              <a:t> </a:t>
            </a:r>
            <a:r>
              <a:rPr lang="de-CH" sz="1000" dirty="0">
                <a:solidFill>
                  <a:srgbClr val="008080"/>
                </a:solidFill>
                <a:highlight>
                  <a:srgbClr val="FFFFFF"/>
                </a:highlight>
                <a:latin typeface="Cascadia Mono" panose="020B0609020000020004" pitchFamily="49" charset="0"/>
              </a:rPr>
              <a:t>&lt;&lt;</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error</a:t>
            </a:r>
            <a:r>
              <a:rPr lang="de-CH" sz="1000" dirty="0">
                <a:solidFill>
                  <a:srgbClr val="000000"/>
                </a:solidFill>
                <a:highlight>
                  <a:srgbClr val="FFFFFF"/>
                </a:highlight>
                <a:latin typeface="Cascadia Mono" panose="020B0609020000020004" pitchFamily="49" charset="0"/>
              </a:rPr>
              <a:t> </a:t>
            </a:r>
            <a:r>
              <a:rPr lang="de-CH" sz="1000" dirty="0">
                <a:solidFill>
                  <a:srgbClr val="008080"/>
                </a:solidFill>
                <a:highlight>
                  <a:srgbClr val="FFFFFF"/>
                </a:highlight>
                <a:latin typeface="Cascadia Mono" panose="020B0609020000020004" pitchFamily="49" charset="0"/>
              </a:rPr>
              <a:t>&lt;&lt;</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std</a:t>
            </a:r>
            <a:r>
              <a:rPr lang="de-CH" sz="1000" dirty="0">
                <a:solidFill>
                  <a:srgbClr val="000000"/>
                </a:solidFill>
                <a:highlight>
                  <a:srgbClr val="FFFFFF"/>
                </a:highlight>
                <a:latin typeface="Cascadia Mono" panose="020B0609020000020004" pitchFamily="49" charset="0"/>
              </a:rPr>
              <a:t>::</a:t>
            </a:r>
            <a:r>
              <a:rPr lang="de-CH" sz="1000" dirty="0" err="1">
                <a:solidFill>
                  <a:srgbClr val="000000"/>
                </a:solidFill>
                <a:highlight>
                  <a:srgbClr val="FFFFFF"/>
                </a:highlight>
                <a:latin typeface="Cascadia Mono" panose="020B0609020000020004" pitchFamily="49" charset="0"/>
              </a:rPr>
              <a:t>endl</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cout</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a:t>
            </a:r>
            <a:r>
              <a:rPr lang="en-US" sz="1000" dirty="0">
                <a:solidFill>
                  <a:srgbClr val="A31515"/>
                </a:solidFill>
                <a:highlight>
                  <a:srgbClr val="FFFFFF"/>
                </a:highlight>
                <a:latin typeface="Cascadia Mono" panose="020B0609020000020004" pitchFamily="49" charset="0"/>
              </a:rPr>
              <a:t>"Inner try-catch finished"</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endl</a:t>
            </a:r>
            <a:r>
              <a:rPr lang="en-US"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a:solidFill>
                  <a:srgbClr val="0000FF"/>
                </a:solidFill>
                <a:highlight>
                  <a:srgbClr val="FFFFFF"/>
                </a:highlight>
                <a:latin typeface="Cascadia Mono" panose="020B0609020000020004" pitchFamily="49" charset="0"/>
              </a:rPr>
              <a:t>catch</a:t>
            </a:r>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const</a:t>
            </a:r>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char</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error</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cout</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a:t>
            </a:r>
            <a:r>
              <a:rPr lang="en-US" sz="1000" dirty="0">
                <a:solidFill>
                  <a:srgbClr val="A31515"/>
                </a:solidFill>
                <a:highlight>
                  <a:srgbClr val="FFFFFF"/>
                </a:highlight>
                <a:latin typeface="Cascadia Mono" panose="020B0609020000020004" pitchFamily="49" charset="0"/>
              </a:rPr>
              <a:t>"External </a:t>
            </a:r>
            <a:r>
              <a:rPr lang="en-US" sz="1000" dirty="0" err="1">
                <a:solidFill>
                  <a:srgbClr val="A31515"/>
                </a:solidFill>
                <a:highlight>
                  <a:srgbClr val="FFFFFF"/>
                </a:highlight>
                <a:latin typeface="Cascadia Mono" panose="020B0609020000020004" pitchFamily="49" charset="0"/>
              </a:rPr>
              <a:t>execption</a:t>
            </a:r>
            <a:r>
              <a:rPr lang="en-US" sz="1000" dirty="0">
                <a:solidFill>
                  <a:srgbClr val="A31515"/>
                </a:solidFill>
                <a:highlight>
                  <a:srgbClr val="FFFFFF"/>
                </a:highlight>
                <a:latin typeface="Cascadia Mono" panose="020B0609020000020004" pitchFamily="49" charset="0"/>
              </a:rPr>
              <a:t>: "</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error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endl</a:t>
            </a:r>
            <a:r>
              <a:rPr lang="en-US"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cout</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a:t>
            </a:r>
            <a:r>
              <a:rPr lang="en-US" sz="1000" dirty="0">
                <a:solidFill>
                  <a:srgbClr val="A31515"/>
                </a:solidFill>
                <a:highlight>
                  <a:srgbClr val="FFFFFF"/>
                </a:highlight>
                <a:latin typeface="Cascadia Mono" panose="020B0609020000020004" pitchFamily="49" charset="0"/>
              </a:rPr>
              <a:t>"External try-catch finished"</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endl</a:t>
            </a:r>
            <a:r>
              <a:rPr lang="en-US"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2810914816"/>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3D4940-F5EE-B4B6-C976-DA86A5EAE3E1}"/>
              </a:ext>
            </a:extLst>
          </p:cNvPr>
          <p:cNvSpPr>
            <a:spLocks noGrp="1"/>
          </p:cNvSpPr>
          <p:nvPr>
            <p:ph type="title"/>
          </p:nvPr>
        </p:nvSpPr>
        <p:spPr/>
        <p:txBody>
          <a:bodyPr/>
          <a:lstStyle/>
          <a:p>
            <a:r>
              <a:rPr lang="ru-RU" b="1" dirty="0"/>
              <a:t>Вложенные </a:t>
            </a:r>
            <a:r>
              <a:rPr lang="de-CH" b="1" dirty="0" err="1"/>
              <a:t>try</a:t>
            </a:r>
            <a:r>
              <a:rPr lang="de-CH" b="1" dirty="0"/>
              <a:t>-catch</a:t>
            </a:r>
            <a:endParaRPr lang="ru-RU" dirty="0"/>
          </a:p>
        </p:txBody>
      </p:sp>
      <p:sp>
        <p:nvSpPr>
          <p:cNvPr id="3" name="Объект 2">
            <a:extLst>
              <a:ext uri="{FF2B5EF4-FFF2-40B4-BE49-F238E27FC236}">
                <a16:creationId xmlns:a16="http://schemas.microsoft.com/office/drawing/2014/main" id="{3366B26A-40FA-4B7F-5392-D7E2F7DD0740}"/>
              </a:ext>
            </a:extLst>
          </p:cNvPr>
          <p:cNvSpPr>
            <a:spLocks noGrp="1"/>
          </p:cNvSpPr>
          <p:nvPr>
            <p:ph idx="1"/>
          </p:nvPr>
        </p:nvSpPr>
        <p:spPr/>
        <p:txBody>
          <a:bodyPr/>
          <a:lstStyle/>
          <a:p>
            <a:r>
              <a:rPr lang="ru-RU" sz="1000" dirty="0">
                <a:solidFill>
                  <a:srgbClr val="3B9D3B"/>
                </a:solidFill>
                <a:highlight>
                  <a:srgbClr val="FFFFFF"/>
                </a:highlight>
                <a:latin typeface="Cascadia Mono" panose="020B0609020000020004" pitchFamily="49" charset="0"/>
              </a:rPr>
              <a:t>//если во вложенном </a:t>
            </a:r>
            <a:r>
              <a:rPr lang="en-US" sz="1000" dirty="0">
                <a:solidFill>
                  <a:srgbClr val="3B9D3B"/>
                </a:solidFill>
                <a:highlight>
                  <a:srgbClr val="FFFFFF"/>
                </a:highlight>
                <a:latin typeface="Cascadia Mono" panose="020B0609020000020004" pitchFamily="49" charset="0"/>
              </a:rPr>
              <a:t>catch </a:t>
            </a:r>
            <a:r>
              <a:rPr lang="ru-RU" sz="1000" dirty="0">
                <a:solidFill>
                  <a:srgbClr val="3B9D3B"/>
                </a:solidFill>
                <a:highlight>
                  <a:srgbClr val="FFFFFF"/>
                </a:highlight>
                <a:latin typeface="Cascadia Mono" panose="020B0609020000020004" pitchFamily="49" charset="0"/>
              </a:rPr>
              <a:t>нет соответствующего блока</a:t>
            </a:r>
            <a:endParaRPr lang="fr-FR" sz="1000" dirty="0">
              <a:solidFill>
                <a:srgbClr val="3B9D3B"/>
              </a:solidFill>
              <a:highlight>
                <a:srgbClr val="FFFFFF"/>
              </a:highlight>
              <a:latin typeface="Cascadia Mono" panose="020B0609020000020004" pitchFamily="49" charset="0"/>
            </a:endParaRPr>
          </a:p>
          <a:p>
            <a:r>
              <a:rPr lang="fr-FR" sz="1000" dirty="0">
                <a:solidFill>
                  <a:srgbClr val="0000FF"/>
                </a:solidFill>
                <a:highlight>
                  <a:srgbClr val="FFFFFF"/>
                </a:highlight>
                <a:latin typeface="Cascadia Mono" panose="020B0609020000020004" pitchFamily="49" charset="0"/>
              </a:rPr>
              <a:t>double</a:t>
            </a:r>
            <a:r>
              <a:rPr lang="fr-FR" sz="1000" dirty="0">
                <a:solidFill>
                  <a:srgbClr val="000000"/>
                </a:solidFill>
                <a:highlight>
                  <a:srgbClr val="FFFFFF"/>
                </a:highlight>
                <a:latin typeface="Cascadia Mono" panose="020B0609020000020004" pitchFamily="49" charset="0"/>
              </a:rPr>
              <a:t> </a:t>
            </a:r>
            <a:r>
              <a:rPr lang="fr-FR" sz="1000" dirty="0" err="1">
                <a:solidFill>
                  <a:srgbClr val="000000"/>
                </a:solidFill>
                <a:highlight>
                  <a:srgbClr val="FFFFFF"/>
                </a:highlight>
                <a:latin typeface="Cascadia Mono" panose="020B0609020000020004" pitchFamily="49" charset="0"/>
              </a:rPr>
              <a:t>divide</a:t>
            </a:r>
            <a:r>
              <a:rPr lang="fr-FR" sz="1000" dirty="0">
                <a:solidFill>
                  <a:srgbClr val="000000"/>
                </a:solidFill>
                <a:highlight>
                  <a:srgbClr val="FFFFFF"/>
                </a:highlight>
                <a:latin typeface="Cascadia Mono" panose="020B0609020000020004" pitchFamily="49" charset="0"/>
              </a:rPr>
              <a:t>(</a:t>
            </a:r>
            <a:r>
              <a:rPr lang="fr-FR" sz="1000" dirty="0">
                <a:solidFill>
                  <a:srgbClr val="0000FF"/>
                </a:solidFill>
                <a:highlight>
                  <a:srgbClr val="FFFFFF"/>
                </a:highlight>
                <a:latin typeface="Cascadia Mono" panose="020B0609020000020004" pitchFamily="49" charset="0"/>
              </a:rPr>
              <a:t>int</a:t>
            </a:r>
            <a:r>
              <a:rPr lang="fr-FR" sz="1000" dirty="0">
                <a:solidFill>
                  <a:srgbClr val="000000"/>
                </a:solidFill>
                <a:highlight>
                  <a:srgbClr val="FFFFFF"/>
                </a:highlight>
                <a:latin typeface="Cascadia Mono" panose="020B0609020000020004" pitchFamily="49" charset="0"/>
              </a:rPr>
              <a:t> </a:t>
            </a:r>
            <a:r>
              <a:rPr lang="fr-FR" sz="1000" dirty="0">
                <a:solidFill>
                  <a:srgbClr val="808080"/>
                </a:solidFill>
                <a:highlight>
                  <a:srgbClr val="FFFFFF"/>
                </a:highlight>
                <a:latin typeface="Cascadia Mono" panose="020B0609020000020004" pitchFamily="49" charset="0"/>
              </a:rPr>
              <a:t>a</a:t>
            </a:r>
            <a:r>
              <a:rPr lang="fr-FR" sz="1000" dirty="0">
                <a:solidFill>
                  <a:srgbClr val="000000"/>
                </a:solidFill>
                <a:highlight>
                  <a:srgbClr val="FFFFFF"/>
                </a:highlight>
                <a:latin typeface="Cascadia Mono" panose="020B0609020000020004" pitchFamily="49" charset="0"/>
              </a:rPr>
              <a:t>, </a:t>
            </a:r>
            <a:r>
              <a:rPr lang="fr-FR" sz="1000" dirty="0">
                <a:solidFill>
                  <a:srgbClr val="0000FF"/>
                </a:solidFill>
                <a:highlight>
                  <a:srgbClr val="FFFFFF"/>
                </a:highlight>
                <a:latin typeface="Cascadia Mono" panose="020B0609020000020004" pitchFamily="49" charset="0"/>
              </a:rPr>
              <a:t>int</a:t>
            </a:r>
            <a:r>
              <a:rPr lang="fr-FR" sz="1000" dirty="0">
                <a:solidFill>
                  <a:srgbClr val="000000"/>
                </a:solidFill>
                <a:highlight>
                  <a:srgbClr val="FFFFFF"/>
                </a:highlight>
                <a:latin typeface="Cascadia Mono" panose="020B0609020000020004" pitchFamily="49" charset="0"/>
              </a:rPr>
              <a:t> </a:t>
            </a:r>
            <a:r>
              <a:rPr lang="fr-FR" sz="1000" dirty="0">
                <a:solidFill>
                  <a:srgbClr val="808080"/>
                </a:solidFill>
                <a:highlight>
                  <a:srgbClr val="FFFFFF"/>
                </a:highlight>
                <a:latin typeface="Cascadia Mono" panose="020B0609020000020004" pitchFamily="49" charset="0"/>
              </a:rPr>
              <a:t>b</a:t>
            </a:r>
            <a:r>
              <a:rPr lang="fr-FR"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p>
          <a:p>
            <a:r>
              <a:rPr lang="en-US" sz="1000" dirty="0">
                <a:solidFill>
                  <a:srgbClr val="000000"/>
                </a:solidFill>
                <a:highlight>
                  <a:srgbClr val="FFFFFF"/>
                </a:highlight>
                <a:latin typeface="Cascadia Mono" panose="020B0609020000020004" pitchFamily="49" charset="0"/>
              </a:rPr>
              <a:t>    </a:t>
            </a:r>
            <a:r>
              <a:rPr lang="en-US" sz="1000" dirty="0">
                <a:solidFill>
                  <a:srgbClr val="0000FF"/>
                </a:solidFill>
                <a:highlight>
                  <a:srgbClr val="FFFFFF"/>
                </a:highlight>
                <a:latin typeface="Cascadia Mono" panose="020B0609020000020004" pitchFamily="49" charset="0"/>
              </a:rPr>
              <a:t>if</a:t>
            </a:r>
            <a:r>
              <a:rPr lang="en-US" sz="1000" dirty="0">
                <a:solidFill>
                  <a:srgbClr val="000000"/>
                </a:solidFill>
                <a:highlight>
                  <a:srgbClr val="FFFFFF"/>
                </a:highlight>
                <a:latin typeface="Cascadia Mono" panose="020B0609020000020004" pitchFamily="49" charset="0"/>
              </a:rPr>
              <a:t> (!</a:t>
            </a:r>
            <a:r>
              <a:rPr lang="en-US" sz="1000" dirty="0">
                <a:solidFill>
                  <a:srgbClr val="808080"/>
                </a:solidFill>
                <a:highlight>
                  <a:srgbClr val="FFFFFF"/>
                </a:highlight>
                <a:latin typeface="Cascadia Mono" panose="020B0609020000020004" pitchFamily="49" charset="0"/>
              </a:rPr>
              <a:t>b</a:t>
            </a:r>
            <a:r>
              <a:rPr lang="en-US" sz="1000" dirty="0">
                <a:solidFill>
                  <a:srgbClr val="000000"/>
                </a:solidFill>
                <a:highlight>
                  <a:srgbClr val="FFFFFF"/>
                </a:highlight>
                <a:latin typeface="Cascadia Mono" panose="020B0609020000020004" pitchFamily="49" charset="0"/>
              </a:rPr>
              <a:t>)  </a:t>
            </a:r>
            <a:r>
              <a:rPr lang="en-US" sz="1000" dirty="0">
                <a:solidFill>
                  <a:srgbClr val="008000"/>
                </a:solidFill>
                <a:highlight>
                  <a:srgbClr val="FFFFFF"/>
                </a:highlight>
                <a:latin typeface="Cascadia Mono" panose="020B0609020000020004" pitchFamily="49" charset="0"/>
              </a:rPr>
              <a:t>// </a:t>
            </a:r>
            <a:r>
              <a:rPr lang="en-US" sz="1000" dirty="0" err="1">
                <a:solidFill>
                  <a:srgbClr val="008000"/>
                </a:solidFill>
                <a:highlight>
                  <a:srgbClr val="FFFFFF"/>
                </a:highlight>
                <a:latin typeface="Cascadia Mono" panose="020B0609020000020004" pitchFamily="49" charset="0"/>
              </a:rPr>
              <a:t>если</a:t>
            </a:r>
            <a:r>
              <a:rPr lang="en-US" sz="1000" dirty="0">
                <a:solidFill>
                  <a:srgbClr val="008000"/>
                </a:solidFill>
                <a:highlight>
                  <a:srgbClr val="FFFFFF"/>
                </a:highlight>
                <a:latin typeface="Cascadia Mono" panose="020B0609020000020004" pitchFamily="49" charset="0"/>
              </a:rPr>
              <a:t> b </a:t>
            </a:r>
            <a:r>
              <a:rPr lang="en-US" sz="1000" dirty="0">
                <a:solidFill>
                  <a:srgbClr val="3B9D3B"/>
                </a:solidFill>
                <a:highlight>
                  <a:srgbClr val="FFFFFF"/>
                </a:highlight>
                <a:latin typeface="Cascadia Mono" panose="020B0609020000020004" pitchFamily="49" charset="0"/>
              </a:rPr>
              <a:t>==</a:t>
            </a:r>
            <a:r>
              <a:rPr lang="en-US" sz="1000" dirty="0">
                <a:solidFill>
                  <a:srgbClr val="008000"/>
                </a:solidFill>
                <a:highlight>
                  <a:srgbClr val="FFFFFF"/>
                </a:highlight>
                <a:latin typeface="Cascadia Mono" panose="020B0609020000020004" pitchFamily="49" charset="0"/>
              </a:rPr>
              <a:t> 0</a:t>
            </a:r>
            <a:endParaRPr lang="en-US" sz="1000" dirty="0">
              <a:solidFill>
                <a:srgbClr val="000000"/>
              </a:solidFill>
              <a:highlight>
                <a:srgbClr val="FFFFFF"/>
              </a:highlight>
              <a:latin typeface="Cascadia Mono" panose="020B0609020000020004" pitchFamily="49" charset="0"/>
            </a:endParaRP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throw</a:t>
            </a:r>
            <a:r>
              <a:rPr lang="de-CH" sz="1000" dirty="0">
                <a:solidFill>
                  <a:srgbClr val="000000"/>
                </a:solidFill>
                <a:highlight>
                  <a:srgbClr val="FFFFFF"/>
                </a:highlight>
                <a:latin typeface="Cascadia Mono" panose="020B0609020000020004" pitchFamily="49" charset="0"/>
              </a:rPr>
              <a:t> </a:t>
            </a:r>
            <a:r>
              <a:rPr lang="de-CH" sz="1000" dirty="0">
                <a:solidFill>
                  <a:srgbClr val="A31515"/>
                </a:solidFill>
                <a:highlight>
                  <a:srgbClr val="FFFFFF"/>
                </a:highlight>
                <a:latin typeface="Cascadia Mono" panose="020B0609020000020004" pitchFamily="49" charset="0"/>
              </a:rPr>
              <a:t>"Division </a:t>
            </a:r>
            <a:r>
              <a:rPr lang="de-CH" sz="1000" dirty="0" err="1">
                <a:solidFill>
                  <a:srgbClr val="A31515"/>
                </a:solidFill>
                <a:highlight>
                  <a:srgbClr val="FFFFFF"/>
                </a:highlight>
                <a:latin typeface="Cascadia Mono" panose="020B0609020000020004" pitchFamily="49" charset="0"/>
              </a:rPr>
              <a:t>by</a:t>
            </a:r>
            <a:r>
              <a:rPr lang="de-CH" sz="1000" dirty="0">
                <a:solidFill>
                  <a:srgbClr val="A31515"/>
                </a:solidFill>
                <a:highlight>
                  <a:srgbClr val="FFFFFF"/>
                </a:highlight>
                <a:latin typeface="Cascadia Mono" panose="020B0609020000020004" pitchFamily="49" charset="0"/>
              </a:rPr>
              <a:t> </a:t>
            </a:r>
            <a:r>
              <a:rPr lang="de-CH" sz="1000" dirty="0" err="1">
                <a:solidFill>
                  <a:srgbClr val="A31515"/>
                </a:solidFill>
                <a:highlight>
                  <a:srgbClr val="FFFFFF"/>
                </a:highlight>
                <a:latin typeface="Cascadia Mono" panose="020B0609020000020004" pitchFamily="49" charset="0"/>
              </a:rPr>
              <a:t>zero</a:t>
            </a:r>
            <a:r>
              <a:rPr lang="de-CH" sz="1000" dirty="0">
                <a:solidFill>
                  <a:srgbClr val="A31515"/>
                </a:solidFill>
                <a:highlight>
                  <a:srgbClr val="FFFFFF"/>
                </a:highlight>
                <a:latin typeface="Cascadia Mono" panose="020B0609020000020004" pitchFamily="49" charset="0"/>
              </a:rPr>
              <a:t>"</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return</a:t>
            </a:r>
            <a:r>
              <a:rPr lang="de-CH" sz="1000" dirty="0">
                <a:solidFill>
                  <a:srgbClr val="000000"/>
                </a:solidFill>
                <a:highlight>
                  <a:srgbClr val="FFFFFF"/>
                </a:highlight>
                <a:latin typeface="Cascadia Mono" panose="020B0609020000020004" pitchFamily="49" charset="0"/>
              </a:rPr>
              <a:t> </a:t>
            </a:r>
            <a:r>
              <a:rPr lang="de-CH" sz="1000" dirty="0">
                <a:solidFill>
                  <a:srgbClr val="808080"/>
                </a:solidFill>
                <a:highlight>
                  <a:srgbClr val="FFFFFF"/>
                </a:highlight>
                <a:latin typeface="Cascadia Mono" panose="020B0609020000020004" pitchFamily="49" charset="0"/>
              </a:rPr>
              <a:t>a</a:t>
            </a:r>
            <a:r>
              <a:rPr lang="de-CH" sz="1000" dirty="0">
                <a:solidFill>
                  <a:srgbClr val="000000"/>
                </a:solidFill>
                <a:highlight>
                  <a:srgbClr val="FFFFFF"/>
                </a:highlight>
                <a:latin typeface="Cascadia Mono" panose="020B0609020000020004" pitchFamily="49" charset="0"/>
              </a:rPr>
              <a:t> / </a:t>
            </a:r>
            <a:r>
              <a:rPr lang="de-CH" sz="1000" dirty="0">
                <a:solidFill>
                  <a:srgbClr val="808080"/>
                </a:solidFill>
                <a:highlight>
                  <a:srgbClr val="FFFFFF"/>
                </a:highlight>
                <a:latin typeface="Cascadia Mono" panose="020B0609020000020004" pitchFamily="49" charset="0"/>
              </a:rPr>
              <a:t>b</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p>
          <a:p>
            <a:r>
              <a:rPr lang="de-CH" sz="1000" dirty="0">
                <a:solidFill>
                  <a:srgbClr val="0000FF"/>
                </a:solidFill>
                <a:highlight>
                  <a:srgbClr val="FFFFFF"/>
                </a:highlight>
                <a:latin typeface="Cascadia Mono" panose="020B0609020000020004" pitchFamily="49" charset="0"/>
              </a:rPr>
              <a:t>int</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main</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try</a:t>
            </a:r>
            <a:endParaRPr lang="de-CH" sz="1000" dirty="0">
              <a:solidFill>
                <a:srgbClr val="000000"/>
              </a:solidFill>
              <a:highlight>
                <a:srgbClr val="FFFFFF"/>
              </a:highlight>
              <a:latin typeface="Cascadia Mono" panose="020B0609020000020004" pitchFamily="49" charset="0"/>
            </a:endParaRP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try</a:t>
            </a:r>
            <a:endParaRPr lang="de-CH" sz="1000" dirty="0">
              <a:solidFill>
                <a:srgbClr val="000000"/>
              </a:solidFill>
              <a:highlight>
                <a:srgbClr val="FFFFFF"/>
              </a:highlight>
              <a:latin typeface="Cascadia Mono" panose="020B0609020000020004" pitchFamily="49" charset="0"/>
            </a:endParaRP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a:solidFill>
                  <a:srgbClr val="0000FF"/>
                </a:solidFill>
                <a:highlight>
                  <a:srgbClr val="FFFFFF"/>
                </a:highlight>
                <a:latin typeface="Cascadia Mono" panose="020B0609020000020004" pitchFamily="49" charset="0"/>
              </a:rPr>
              <a:t>int</a:t>
            </a:r>
            <a:r>
              <a:rPr lang="de-CH" sz="1000" dirty="0">
                <a:solidFill>
                  <a:srgbClr val="000000"/>
                </a:solidFill>
                <a:highlight>
                  <a:srgbClr val="FFFFFF"/>
                </a:highlight>
                <a:latin typeface="Cascadia Mono" panose="020B0609020000020004" pitchFamily="49" charset="0"/>
              </a:rPr>
              <a:t> a{ 10 }, b{};</a:t>
            </a:r>
          </a:p>
          <a:p>
            <a:r>
              <a:rPr lang="de-CH" sz="1000" dirty="0">
                <a:solidFill>
                  <a:srgbClr val="000000"/>
                </a:solidFill>
                <a:highlight>
                  <a:srgbClr val="FFFFFF"/>
                </a:highlight>
                <a:latin typeface="Cascadia Mono" panose="020B0609020000020004" pitchFamily="49" charset="0"/>
              </a:rPr>
              <a:t>            </a:t>
            </a:r>
            <a:r>
              <a:rPr lang="de-CH" sz="1000" dirty="0">
                <a:solidFill>
                  <a:srgbClr val="0000FF"/>
                </a:solidFill>
                <a:highlight>
                  <a:srgbClr val="FFFFFF"/>
                </a:highlight>
                <a:latin typeface="Cascadia Mono" panose="020B0609020000020004" pitchFamily="49" charset="0"/>
              </a:rPr>
              <a:t>double</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result</a:t>
            </a:r>
            <a:r>
              <a:rPr lang="de-CH" sz="1000" dirty="0">
                <a:solidFill>
                  <a:srgbClr val="000000"/>
                </a:solidFill>
                <a:highlight>
                  <a:srgbClr val="FFFFFF"/>
                </a:highlight>
                <a:latin typeface="Cascadia Mono" panose="020B0609020000020004" pitchFamily="49" charset="0"/>
              </a:rPr>
              <a:t>{ divide(a, b) };</a:t>
            </a:r>
          </a:p>
          <a:p>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cout</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result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endl</a:t>
            </a:r>
            <a:r>
              <a:rPr lang="en-US"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a:solidFill>
                  <a:srgbClr val="0000FF"/>
                </a:solidFill>
                <a:highlight>
                  <a:srgbClr val="FFFFFF"/>
                </a:highlight>
                <a:latin typeface="Cascadia Mono" panose="020B0609020000020004" pitchFamily="49" charset="0"/>
              </a:rPr>
              <a:t>catch</a:t>
            </a:r>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unsigned</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error</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std</a:t>
            </a:r>
            <a:r>
              <a:rPr lang="de-CH" sz="1000" dirty="0">
                <a:solidFill>
                  <a:srgbClr val="000000"/>
                </a:solidFill>
                <a:highlight>
                  <a:srgbClr val="FFFFFF"/>
                </a:highlight>
                <a:latin typeface="Cascadia Mono" panose="020B0609020000020004" pitchFamily="49" charset="0"/>
              </a:rPr>
              <a:t>::</a:t>
            </a:r>
            <a:r>
              <a:rPr lang="de-CH" sz="1000" dirty="0" err="1">
                <a:solidFill>
                  <a:srgbClr val="000000"/>
                </a:solidFill>
                <a:highlight>
                  <a:srgbClr val="FFFFFF"/>
                </a:highlight>
                <a:latin typeface="Cascadia Mono" panose="020B0609020000020004" pitchFamily="49" charset="0"/>
              </a:rPr>
              <a:t>cout</a:t>
            </a:r>
            <a:r>
              <a:rPr lang="de-CH" sz="1000" dirty="0">
                <a:solidFill>
                  <a:srgbClr val="000000"/>
                </a:solidFill>
                <a:highlight>
                  <a:srgbClr val="FFFFFF"/>
                </a:highlight>
                <a:latin typeface="Cascadia Mono" panose="020B0609020000020004" pitchFamily="49" charset="0"/>
              </a:rPr>
              <a:t> </a:t>
            </a:r>
            <a:r>
              <a:rPr lang="de-CH" sz="1000" dirty="0">
                <a:solidFill>
                  <a:srgbClr val="008080"/>
                </a:solidFill>
                <a:highlight>
                  <a:srgbClr val="FFFFFF"/>
                </a:highlight>
                <a:latin typeface="Cascadia Mono" panose="020B0609020000020004" pitchFamily="49" charset="0"/>
              </a:rPr>
              <a:t>&lt;&lt;</a:t>
            </a:r>
            <a:r>
              <a:rPr lang="de-CH" sz="1000" dirty="0">
                <a:solidFill>
                  <a:srgbClr val="000000"/>
                </a:solidFill>
                <a:highlight>
                  <a:srgbClr val="FFFFFF"/>
                </a:highlight>
                <a:latin typeface="Cascadia Mono" panose="020B0609020000020004" pitchFamily="49" charset="0"/>
              </a:rPr>
              <a:t> </a:t>
            </a:r>
            <a:r>
              <a:rPr lang="de-CH" sz="1000" dirty="0">
                <a:solidFill>
                  <a:srgbClr val="A31515"/>
                </a:solidFill>
                <a:highlight>
                  <a:srgbClr val="FFFFFF"/>
                </a:highlight>
                <a:latin typeface="Cascadia Mono" panose="020B0609020000020004" pitchFamily="49" charset="0"/>
              </a:rPr>
              <a:t>"</a:t>
            </a:r>
            <a:r>
              <a:rPr lang="de-CH" sz="1000" dirty="0" err="1">
                <a:solidFill>
                  <a:srgbClr val="A31515"/>
                </a:solidFill>
                <a:highlight>
                  <a:srgbClr val="FFFFFF"/>
                </a:highlight>
                <a:latin typeface="Cascadia Mono" panose="020B0609020000020004" pitchFamily="49" charset="0"/>
              </a:rPr>
              <a:t>Inner</a:t>
            </a:r>
            <a:r>
              <a:rPr lang="de-CH" sz="1000" dirty="0">
                <a:solidFill>
                  <a:srgbClr val="A31515"/>
                </a:solidFill>
                <a:highlight>
                  <a:srgbClr val="FFFFFF"/>
                </a:highlight>
                <a:latin typeface="Cascadia Mono" panose="020B0609020000020004" pitchFamily="49" charset="0"/>
              </a:rPr>
              <a:t> </a:t>
            </a:r>
            <a:r>
              <a:rPr lang="de-CH" sz="1000" dirty="0" err="1">
                <a:solidFill>
                  <a:srgbClr val="A31515"/>
                </a:solidFill>
                <a:highlight>
                  <a:srgbClr val="FFFFFF"/>
                </a:highlight>
                <a:latin typeface="Cascadia Mono" panose="020B0609020000020004" pitchFamily="49" charset="0"/>
              </a:rPr>
              <a:t>execption</a:t>
            </a:r>
            <a:r>
              <a:rPr lang="de-CH" sz="1000" dirty="0">
                <a:solidFill>
                  <a:srgbClr val="A31515"/>
                </a:solidFill>
                <a:highlight>
                  <a:srgbClr val="FFFFFF"/>
                </a:highlight>
                <a:latin typeface="Cascadia Mono" panose="020B0609020000020004" pitchFamily="49" charset="0"/>
              </a:rPr>
              <a:t>: "</a:t>
            </a:r>
            <a:r>
              <a:rPr lang="de-CH" sz="1000" dirty="0">
                <a:solidFill>
                  <a:srgbClr val="000000"/>
                </a:solidFill>
                <a:highlight>
                  <a:srgbClr val="FFFFFF"/>
                </a:highlight>
                <a:latin typeface="Cascadia Mono" panose="020B0609020000020004" pitchFamily="49" charset="0"/>
              </a:rPr>
              <a:t> </a:t>
            </a:r>
            <a:r>
              <a:rPr lang="de-CH" sz="1000" dirty="0">
                <a:solidFill>
                  <a:srgbClr val="008080"/>
                </a:solidFill>
                <a:highlight>
                  <a:srgbClr val="FFFFFF"/>
                </a:highlight>
                <a:latin typeface="Cascadia Mono" panose="020B0609020000020004" pitchFamily="49" charset="0"/>
              </a:rPr>
              <a:t>&lt;&lt;</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error</a:t>
            </a:r>
            <a:r>
              <a:rPr lang="de-CH" sz="1000" dirty="0">
                <a:solidFill>
                  <a:srgbClr val="000000"/>
                </a:solidFill>
                <a:highlight>
                  <a:srgbClr val="FFFFFF"/>
                </a:highlight>
                <a:latin typeface="Cascadia Mono" panose="020B0609020000020004" pitchFamily="49" charset="0"/>
              </a:rPr>
              <a:t> </a:t>
            </a:r>
            <a:r>
              <a:rPr lang="de-CH" sz="1000" dirty="0">
                <a:solidFill>
                  <a:srgbClr val="008080"/>
                </a:solidFill>
                <a:highlight>
                  <a:srgbClr val="FFFFFF"/>
                </a:highlight>
                <a:latin typeface="Cascadia Mono" panose="020B0609020000020004" pitchFamily="49" charset="0"/>
              </a:rPr>
              <a:t>&lt;&lt;</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std</a:t>
            </a:r>
            <a:r>
              <a:rPr lang="de-CH" sz="1000" dirty="0">
                <a:solidFill>
                  <a:srgbClr val="000000"/>
                </a:solidFill>
                <a:highlight>
                  <a:srgbClr val="FFFFFF"/>
                </a:highlight>
                <a:latin typeface="Cascadia Mono" panose="020B0609020000020004" pitchFamily="49" charset="0"/>
              </a:rPr>
              <a:t>::</a:t>
            </a:r>
            <a:r>
              <a:rPr lang="de-CH" sz="1000" dirty="0" err="1">
                <a:solidFill>
                  <a:srgbClr val="000000"/>
                </a:solidFill>
                <a:highlight>
                  <a:srgbClr val="FFFFFF"/>
                </a:highlight>
                <a:latin typeface="Cascadia Mono" panose="020B0609020000020004" pitchFamily="49" charset="0"/>
              </a:rPr>
              <a:t>endl</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std</a:t>
            </a:r>
            <a:r>
              <a:rPr lang="de-CH" sz="1000" dirty="0">
                <a:solidFill>
                  <a:srgbClr val="000000"/>
                </a:solidFill>
                <a:highlight>
                  <a:srgbClr val="FFFFFF"/>
                </a:highlight>
                <a:latin typeface="Cascadia Mono" panose="020B0609020000020004" pitchFamily="49" charset="0"/>
              </a:rPr>
              <a:t>::</a:t>
            </a:r>
            <a:r>
              <a:rPr lang="de-CH" sz="1000" dirty="0" err="1">
                <a:solidFill>
                  <a:srgbClr val="000000"/>
                </a:solidFill>
                <a:highlight>
                  <a:srgbClr val="FFFFFF"/>
                </a:highlight>
                <a:latin typeface="Cascadia Mono" panose="020B0609020000020004" pitchFamily="49" charset="0"/>
              </a:rPr>
              <a:t>cout</a:t>
            </a:r>
            <a:r>
              <a:rPr lang="de-CH" sz="1000" dirty="0">
                <a:solidFill>
                  <a:srgbClr val="000000"/>
                </a:solidFill>
                <a:highlight>
                  <a:srgbClr val="FFFFFF"/>
                </a:highlight>
                <a:latin typeface="Cascadia Mono" panose="020B0609020000020004" pitchFamily="49" charset="0"/>
              </a:rPr>
              <a:t> </a:t>
            </a:r>
            <a:r>
              <a:rPr lang="de-CH" sz="1000" dirty="0">
                <a:solidFill>
                  <a:srgbClr val="008080"/>
                </a:solidFill>
                <a:highlight>
                  <a:srgbClr val="FFFFFF"/>
                </a:highlight>
                <a:latin typeface="Cascadia Mono" panose="020B0609020000020004" pitchFamily="49" charset="0"/>
              </a:rPr>
              <a:t>&lt;&lt;</a:t>
            </a:r>
            <a:r>
              <a:rPr lang="de-CH" sz="1000" dirty="0">
                <a:solidFill>
                  <a:srgbClr val="000000"/>
                </a:solidFill>
                <a:highlight>
                  <a:srgbClr val="FFFFFF"/>
                </a:highlight>
                <a:latin typeface="Cascadia Mono" panose="020B0609020000020004" pitchFamily="49" charset="0"/>
              </a:rPr>
              <a:t> </a:t>
            </a:r>
            <a:r>
              <a:rPr lang="de-CH" sz="1000" dirty="0">
                <a:solidFill>
                  <a:srgbClr val="A31515"/>
                </a:solidFill>
                <a:highlight>
                  <a:srgbClr val="FFFFFF"/>
                </a:highlight>
                <a:latin typeface="Cascadia Mono" panose="020B0609020000020004" pitchFamily="49" charset="0"/>
              </a:rPr>
              <a:t>"</a:t>
            </a:r>
            <a:r>
              <a:rPr lang="de-CH" sz="1000" dirty="0" err="1">
                <a:solidFill>
                  <a:srgbClr val="A31515"/>
                </a:solidFill>
                <a:highlight>
                  <a:srgbClr val="FFFFFF"/>
                </a:highlight>
                <a:latin typeface="Cascadia Mono" panose="020B0609020000020004" pitchFamily="49" charset="0"/>
              </a:rPr>
              <a:t>Inner</a:t>
            </a:r>
            <a:r>
              <a:rPr lang="de-CH" sz="1000" dirty="0">
                <a:solidFill>
                  <a:srgbClr val="A31515"/>
                </a:solidFill>
                <a:highlight>
                  <a:srgbClr val="FFFFFF"/>
                </a:highlight>
                <a:latin typeface="Cascadia Mono" panose="020B0609020000020004" pitchFamily="49" charset="0"/>
              </a:rPr>
              <a:t> </a:t>
            </a:r>
            <a:r>
              <a:rPr lang="de-CH" sz="1000" dirty="0" err="1">
                <a:solidFill>
                  <a:srgbClr val="A31515"/>
                </a:solidFill>
                <a:highlight>
                  <a:srgbClr val="FFFFFF"/>
                </a:highlight>
                <a:latin typeface="Cascadia Mono" panose="020B0609020000020004" pitchFamily="49" charset="0"/>
              </a:rPr>
              <a:t>try</a:t>
            </a:r>
            <a:r>
              <a:rPr lang="de-CH" sz="1000" dirty="0">
                <a:solidFill>
                  <a:srgbClr val="A31515"/>
                </a:solidFill>
                <a:highlight>
                  <a:srgbClr val="FFFFFF"/>
                </a:highlight>
                <a:latin typeface="Cascadia Mono" panose="020B0609020000020004" pitchFamily="49" charset="0"/>
              </a:rPr>
              <a:t>-catch </a:t>
            </a:r>
            <a:r>
              <a:rPr lang="de-CH" sz="1000" dirty="0" err="1">
                <a:solidFill>
                  <a:srgbClr val="A31515"/>
                </a:solidFill>
                <a:highlight>
                  <a:srgbClr val="FFFFFF"/>
                </a:highlight>
                <a:latin typeface="Cascadia Mono" panose="020B0609020000020004" pitchFamily="49" charset="0"/>
              </a:rPr>
              <a:t>finished</a:t>
            </a:r>
            <a:r>
              <a:rPr lang="de-CH" sz="1000" dirty="0">
                <a:solidFill>
                  <a:srgbClr val="A31515"/>
                </a:solidFill>
                <a:highlight>
                  <a:srgbClr val="FFFFFF"/>
                </a:highlight>
                <a:latin typeface="Cascadia Mono" panose="020B0609020000020004" pitchFamily="49" charset="0"/>
              </a:rPr>
              <a:t>"</a:t>
            </a:r>
            <a:r>
              <a:rPr lang="de-CH" sz="1000" dirty="0">
                <a:solidFill>
                  <a:srgbClr val="000000"/>
                </a:solidFill>
                <a:highlight>
                  <a:srgbClr val="FFFFFF"/>
                </a:highlight>
                <a:latin typeface="Cascadia Mono" panose="020B0609020000020004" pitchFamily="49" charset="0"/>
              </a:rPr>
              <a:t> </a:t>
            </a:r>
            <a:r>
              <a:rPr lang="de-CH" sz="1000" dirty="0">
                <a:solidFill>
                  <a:srgbClr val="008080"/>
                </a:solidFill>
                <a:highlight>
                  <a:srgbClr val="FFFFFF"/>
                </a:highlight>
                <a:latin typeface="Cascadia Mono" panose="020B0609020000020004" pitchFamily="49" charset="0"/>
              </a:rPr>
              <a:t>&lt;&lt;</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std</a:t>
            </a:r>
            <a:r>
              <a:rPr lang="de-CH" sz="1000" dirty="0">
                <a:solidFill>
                  <a:srgbClr val="000000"/>
                </a:solidFill>
                <a:highlight>
                  <a:srgbClr val="FFFFFF"/>
                </a:highlight>
                <a:latin typeface="Cascadia Mono" panose="020B0609020000020004" pitchFamily="49" charset="0"/>
              </a:rPr>
              <a:t>::</a:t>
            </a:r>
            <a:r>
              <a:rPr lang="de-CH" sz="1000" dirty="0" err="1">
                <a:solidFill>
                  <a:srgbClr val="000000"/>
                </a:solidFill>
                <a:highlight>
                  <a:srgbClr val="FFFFFF"/>
                </a:highlight>
                <a:latin typeface="Cascadia Mono" panose="020B0609020000020004" pitchFamily="49" charset="0"/>
              </a:rPr>
              <a:t>endl</a:t>
            </a:r>
            <a:r>
              <a:rPr lang="de-CH" sz="1000" dirty="0">
                <a:solidFill>
                  <a:srgbClr val="000000"/>
                </a:solidFill>
                <a:highlight>
                  <a:srgbClr val="FFFFFF"/>
                </a:highlight>
                <a:latin typeface="Cascadia Mono" panose="020B0609020000020004" pitchFamily="49" charset="0"/>
              </a:rPr>
              <a:t>;   </a:t>
            </a:r>
            <a:r>
              <a:rPr lang="de-CH" sz="1000" dirty="0">
                <a:solidFill>
                  <a:srgbClr val="008000"/>
                </a:solidFill>
                <a:highlight>
                  <a:srgbClr val="FFFFFF"/>
                </a:highlight>
                <a:latin typeface="Cascadia Mono" panose="020B0609020000020004" pitchFamily="49" charset="0"/>
              </a:rPr>
              <a:t>// </a:t>
            </a:r>
            <a:r>
              <a:rPr lang="ru-RU" sz="1000" dirty="0">
                <a:solidFill>
                  <a:srgbClr val="008000"/>
                </a:solidFill>
                <a:highlight>
                  <a:srgbClr val="FFFFFF"/>
                </a:highlight>
                <a:latin typeface="Cascadia Mono" panose="020B0609020000020004" pitchFamily="49" charset="0"/>
              </a:rPr>
              <a:t>эта строка не выполняется</a:t>
            </a:r>
            <a:endParaRPr lang="ru-RU" sz="1000" dirty="0">
              <a:solidFill>
                <a:srgbClr val="000000"/>
              </a:solidFill>
              <a:highlight>
                <a:srgbClr val="FFFFFF"/>
              </a:highlight>
              <a:latin typeface="Cascadia Mono" panose="020B0609020000020004" pitchFamily="49" charset="0"/>
            </a:endParaRP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a:solidFill>
                  <a:srgbClr val="0000FF"/>
                </a:solidFill>
                <a:highlight>
                  <a:srgbClr val="FFFFFF"/>
                </a:highlight>
                <a:latin typeface="Cascadia Mono" panose="020B0609020000020004" pitchFamily="49" charset="0"/>
              </a:rPr>
              <a:t>catch</a:t>
            </a:r>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const</a:t>
            </a:r>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char</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error</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cout</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a:t>
            </a:r>
            <a:r>
              <a:rPr lang="en-US" sz="1000" dirty="0">
                <a:solidFill>
                  <a:srgbClr val="A31515"/>
                </a:solidFill>
                <a:highlight>
                  <a:srgbClr val="FFFFFF"/>
                </a:highlight>
                <a:latin typeface="Cascadia Mono" panose="020B0609020000020004" pitchFamily="49" charset="0"/>
              </a:rPr>
              <a:t>"External </a:t>
            </a:r>
            <a:r>
              <a:rPr lang="en-US" sz="1000" dirty="0" err="1">
                <a:solidFill>
                  <a:srgbClr val="A31515"/>
                </a:solidFill>
                <a:highlight>
                  <a:srgbClr val="FFFFFF"/>
                </a:highlight>
                <a:latin typeface="Cascadia Mono" panose="020B0609020000020004" pitchFamily="49" charset="0"/>
              </a:rPr>
              <a:t>execption</a:t>
            </a:r>
            <a:r>
              <a:rPr lang="en-US" sz="1000" dirty="0">
                <a:solidFill>
                  <a:srgbClr val="A31515"/>
                </a:solidFill>
                <a:highlight>
                  <a:srgbClr val="FFFFFF"/>
                </a:highlight>
                <a:latin typeface="Cascadia Mono" panose="020B0609020000020004" pitchFamily="49" charset="0"/>
              </a:rPr>
              <a:t>: "</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error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endl</a:t>
            </a:r>
            <a:r>
              <a:rPr lang="en-US"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p>
          <a:p>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cout</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a:t>
            </a:r>
            <a:r>
              <a:rPr lang="en-US" sz="1000" dirty="0">
                <a:solidFill>
                  <a:srgbClr val="A31515"/>
                </a:solidFill>
                <a:highlight>
                  <a:srgbClr val="FFFFFF"/>
                </a:highlight>
                <a:latin typeface="Cascadia Mono" panose="020B0609020000020004" pitchFamily="49" charset="0"/>
              </a:rPr>
              <a:t>"External try-catch finished"</a:t>
            </a:r>
            <a:r>
              <a:rPr lang="en-US" sz="1000" dirty="0">
                <a:solidFill>
                  <a:srgbClr val="000000"/>
                </a:solidFill>
                <a:highlight>
                  <a:srgbClr val="FFFFFF"/>
                </a:highlight>
                <a:latin typeface="Cascadia Mono" panose="020B0609020000020004" pitchFamily="49" charset="0"/>
              </a:rPr>
              <a:t> </a:t>
            </a:r>
            <a:r>
              <a:rPr lang="en-US" sz="1000" dirty="0">
                <a:solidFill>
                  <a:srgbClr val="008080"/>
                </a:solidFill>
                <a:highlight>
                  <a:srgbClr val="FFFFFF"/>
                </a:highlight>
                <a:latin typeface="Cascadia Mono" panose="020B0609020000020004" pitchFamily="49" charset="0"/>
              </a:rPr>
              <a:t>&lt;&lt;</a:t>
            </a:r>
            <a:r>
              <a:rPr lang="en-US" sz="1000" dirty="0">
                <a:solidFill>
                  <a:srgbClr val="000000"/>
                </a:solidFill>
                <a:highlight>
                  <a:srgbClr val="FFFFFF"/>
                </a:highlight>
                <a:latin typeface="Cascadia Mono" panose="020B0609020000020004" pitchFamily="49" charset="0"/>
              </a:rPr>
              <a:t> std::</a:t>
            </a:r>
            <a:r>
              <a:rPr lang="en-US" sz="1000" dirty="0" err="1">
                <a:solidFill>
                  <a:srgbClr val="000000"/>
                </a:solidFill>
                <a:highlight>
                  <a:srgbClr val="FFFFFF"/>
                </a:highlight>
                <a:latin typeface="Cascadia Mono" panose="020B0609020000020004" pitchFamily="49" charset="0"/>
              </a:rPr>
              <a:t>endl</a:t>
            </a:r>
            <a:r>
              <a:rPr lang="en-US"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endParaRPr lang="ru-RU" sz="1000" dirty="0"/>
          </a:p>
        </p:txBody>
      </p:sp>
    </p:spTree>
    <p:extLst>
      <p:ext uri="{BB962C8B-B14F-4D97-AF65-F5344CB8AC3E}">
        <p14:creationId xmlns:p14="http://schemas.microsoft.com/office/powerpoint/2010/main" val="2513678815"/>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0AEB22-72E7-D20C-BB90-0FF7FFFBC7EC}"/>
              </a:ext>
            </a:extLst>
          </p:cNvPr>
          <p:cNvSpPr>
            <a:spLocks noGrp="1"/>
          </p:cNvSpPr>
          <p:nvPr>
            <p:ph type="title"/>
          </p:nvPr>
        </p:nvSpPr>
        <p:spPr/>
        <p:txBody>
          <a:bodyPr/>
          <a:lstStyle/>
          <a:p>
            <a:r>
              <a:rPr lang="ru-RU" b="1" dirty="0"/>
              <a:t>Вложенные </a:t>
            </a:r>
            <a:r>
              <a:rPr lang="de-CH" b="1" dirty="0" err="1"/>
              <a:t>try</a:t>
            </a:r>
            <a:r>
              <a:rPr lang="de-CH" b="1" dirty="0"/>
              <a:t>-catch</a:t>
            </a:r>
            <a:endParaRPr lang="ru-RU" dirty="0"/>
          </a:p>
        </p:txBody>
      </p:sp>
      <p:sp>
        <p:nvSpPr>
          <p:cNvPr id="3" name="Объект 2">
            <a:extLst>
              <a:ext uri="{FF2B5EF4-FFF2-40B4-BE49-F238E27FC236}">
                <a16:creationId xmlns:a16="http://schemas.microsoft.com/office/drawing/2014/main" id="{49975B4B-9EF4-42BC-539A-6DEA90B1FF12}"/>
              </a:ext>
            </a:extLst>
          </p:cNvPr>
          <p:cNvSpPr>
            <a:spLocks noGrp="1"/>
          </p:cNvSpPr>
          <p:nvPr>
            <p:ph idx="1"/>
          </p:nvPr>
        </p:nvSpPr>
        <p:spPr/>
        <p:txBody>
          <a:bodyPr/>
          <a:lstStyle/>
          <a:p>
            <a:r>
              <a:rPr lang="ru-RU" dirty="0"/>
              <a:t>Фактически это тот же самый пример, только теперь блок </a:t>
            </a:r>
            <a:r>
              <a:rPr lang="ru-RU" dirty="0" err="1"/>
              <a:t>catch</a:t>
            </a:r>
            <a:r>
              <a:rPr lang="ru-RU" dirty="0"/>
              <a:t> во вложенной конструкции обрабатывает исключения типа </a:t>
            </a:r>
            <a:r>
              <a:rPr lang="ru-RU" dirty="0" err="1"/>
              <a:t>unsigned</a:t>
            </a:r>
            <a:r>
              <a:rPr lang="ru-RU" dirty="0"/>
              <a:t>. В итоге, когда будет сгенерировано исключение, вложенная конструкция не сможет найти нужный блок </a:t>
            </a:r>
            <a:r>
              <a:rPr lang="ru-RU" dirty="0" err="1"/>
              <a:t>catch</a:t>
            </a:r>
            <a:r>
              <a:rPr lang="ru-RU" dirty="0"/>
              <a:t> для обработки исключения типа </a:t>
            </a:r>
            <a:r>
              <a:rPr lang="ru-RU" dirty="0" err="1"/>
              <a:t>const</a:t>
            </a:r>
            <a:r>
              <a:rPr lang="ru-RU" dirty="0"/>
              <a:t> </a:t>
            </a:r>
            <a:r>
              <a:rPr lang="ru-RU" dirty="0" err="1"/>
              <a:t>char</a:t>
            </a:r>
            <a:r>
              <a:rPr lang="ru-RU" dirty="0"/>
              <a:t>*. Поэтому выполнение </a:t>
            </a:r>
            <a:r>
              <a:rPr lang="ru-RU" dirty="0" err="1"/>
              <a:t>выполнение</a:t>
            </a:r>
            <a:r>
              <a:rPr lang="ru-RU" dirty="0"/>
              <a:t> программы переходит в блок </a:t>
            </a:r>
            <a:r>
              <a:rPr lang="ru-RU" dirty="0" err="1"/>
              <a:t>catch</a:t>
            </a:r>
            <a:r>
              <a:rPr lang="ru-RU" dirty="0"/>
              <a:t> внешней конструкции </a:t>
            </a:r>
            <a:r>
              <a:rPr lang="ru-RU" dirty="0" err="1"/>
              <a:t>try-catch</a:t>
            </a:r>
            <a:r>
              <a:rPr lang="ru-RU" dirty="0"/>
              <a:t>, который обрабатывает исключения типа </a:t>
            </a:r>
            <a:r>
              <a:rPr lang="ru-RU" dirty="0" err="1"/>
              <a:t>const</a:t>
            </a:r>
            <a:r>
              <a:rPr lang="ru-RU" dirty="0"/>
              <a:t> </a:t>
            </a:r>
            <a:r>
              <a:rPr lang="ru-RU" dirty="0" err="1"/>
              <a:t>char</a:t>
            </a:r>
            <a:r>
              <a:rPr lang="ru-RU" dirty="0"/>
              <a:t>*. Поэтому консольный вывод будет другим</a:t>
            </a:r>
          </a:p>
        </p:txBody>
      </p:sp>
    </p:spTree>
    <p:extLst>
      <p:ext uri="{BB962C8B-B14F-4D97-AF65-F5344CB8AC3E}">
        <p14:creationId xmlns:p14="http://schemas.microsoft.com/office/powerpoint/2010/main" val="2086192803"/>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BC2328-0A49-3FC4-025D-B329A79A0BD2}"/>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0A6149DE-6302-F933-6A8F-E0EC359A4EBC}"/>
              </a:ext>
            </a:extLst>
          </p:cNvPr>
          <p:cNvSpPr>
            <a:spLocks noGrp="1"/>
          </p:cNvSpPr>
          <p:nvPr>
            <p:ph idx="1"/>
          </p:nvPr>
        </p:nvSpPr>
        <p:spPr/>
        <p:txBody>
          <a:bodyPr/>
          <a:lstStyle/>
          <a:p>
            <a:r>
              <a:rPr lang="ru-RU" dirty="0"/>
              <a:t>Препроцессор является обязательным компонентом компилятора языка С++. </a:t>
            </a:r>
          </a:p>
          <a:p>
            <a:endParaRPr lang="ru-RU" dirty="0"/>
          </a:p>
          <a:p>
            <a:r>
              <a:rPr lang="ru-RU" dirty="0"/>
              <a:t>Препроцессор обрабатывает исходный текст программы до ее непосредственной компиляции. Результатом работы препроцессора является полный текст программы, который передается на компиляцию в исполняемый файл.</a:t>
            </a:r>
          </a:p>
          <a:p>
            <a:r>
              <a:rPr lang="ru-RU" dirty="0"/>
              <a:t>Затем компилятор компилирует обработанный препроцессором исходный код в объектные файлы.</a:t>
            </a:r>
          </a:p>
          <a:p>
            <a:r>
              <a:rPr lang="ru-RU" dirty="0"/>
              <a:t>И на последнем этапе линкер (линковщик) объединяет (линкует) объектные файлы в один исполняемый файл или файл динамической библиотеки.</a:t>
            </a:r>
          </a:p>
          <a:p>
            <a:endParaRPr lang="ru-RU" dirty="0"/>
          </a:p>
          <a:p>
            <a:endParaRPr lang="ru-RU" dirty="0"/>
          </a:p>
        </p:txBody>
      </p:sp>
    </p:spTree>
    <p:extLst>
      <p:ext uri="{BB962C8B-B14F-4D97-AF65-F5344CB8AC3E}">
        <p14:creationId xmlns:p14="http://schemas.microsoft.com/office/powerpoint/2010/main" val="2952637778"/>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B54471-58BF-32BF-CC7B-26A7B3728688}"/>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D2EF0382-D280-0829-D087-30055861E091}"/>
              </a:ext>
            </a:extLst>
          </p:cNvPr>
          <p:cNvSpPr>
            <a:spLocks noGrp="1"/>
          </p:cNvSpPr>
          <p:nvPr>
            <p:ph idx="1"/>
          </p:nvPr>
        </p:nvSpPr>
        <p:spPr/>
        <p:txBody>
          <a:bodyPr/>
          <a:lstStyle/>
          <a:p>
            <a:r>
              <a:rPr lang="ru-RU" sz="1600" dirty="0"/>
              <a:t>Для управления препроцессором применяются директивы, каждая из которых начинается с символа решетки # и располагается на отдельной строке. </a:t>
            </a:r>
            <a:endParaRPr lang="ru-RU" dirty="0"/>
          </a:p>
        </p:txBody>
      </p:sp>
      <p:sp>
        <p:nvSpPr>
          <p:cNvPr id="5" name="TextBox 4">
            <a:extLst>
              <a:ext uri="{FF2B5EF4-FFF2-40B4-BE49-F238E27FC236}">
                <a16:creationId xmlns:a16="http://schemas.microsoft.com/office/drawing/2014/main" id="{130FD8DA-F617-E3B3-8C69-BCA4E26798DB}"/>
              </a:ext>
            </a:extLst>
          </p:cNvPr>
          <p:cNvSpPr txBox="1"/>
          <p:nvPr/>
        </p:nvSpPr>
        <p:spPr>
          <a:xfrm>
            <a:off x="842256" y="1916832"/>
            <a:ext cx="7459488" cy="4940327"/>
          </a:xfrm>
          <a:prstGeom prst="rect">
            <a:avLst/>
          </a:prstGeom>
          <a:noFill/>
        </p:spPr>
        <p:txBody>
          <a:bodyPr wrap="square" rtlCol="0">
            <a:spAutoFit/>
          </a:bodyPr>
          <a:lstStyle/>
          <a:p>
            <a:pPr>
              <a:lnSpc>
                <a:spcPct val="150000"/>
              </a:lnSpc>
            </a:pPr>
            <a:r>
              <a:rPr lang="ru-RU" sz="1400" b="1" dirty="0"/>
              <a:t>#define</a:t>
            </a:r>
            <a:r>
              <a:rPr lang="ru-RU" sz="1400" dirty="0"/>
              <a:t>: определяет макрос или препроцессорный идентификатор</a:t>
            </a:r>
          </a:p>
          <a:p>
            <a:pPr>
              <a:lnSpc>
                <a:spcPct val="150000"/>
              </a:lnSpc>
            </a:pPr>
            <a:r>
              <a:rPr lang="ru-RU" sz="1400" b="1" dirty="0"/>
              <a:t>#undef</a:t>
            </a:r>
            <a:r>
              <a:rPr lang="ru-RU" sz="1400" dirty="0"/>
              <a:t>: отменяет определение макроса или идентификатора</a:t>
            </a:r>
          </a:p>
          <a:p>
            <a:pPr>
              <a:lnSpc>
                <a:spcPct val="150000"/>
              </a:lnSpc>
            </a:pPr>
            <a:r>
              <a:rPr lang="ru-RU" sz="1400" b="1" dirty="0"/>
              <a:t>#ifdef</a:t>
            </a:r>
            <a:r>
              <a:rPr lang="ru-RU" sz="1400" dirty="0"/>
              <a:t>: проверяет, определен ли идентификатор</a:t>
            </a:r>
          </a:p>
          <a:p>
            <a:pPr>
              <a:lnSpc>
                <a:spcPct val="150000"/>
              </a:lnSpc>
            </a:pPr>
            <a:r>
              <a:rPr lang="ru-RU" sz="1400" b="1" dirty="0"/>
              <a:t>#ifndef</a:t>
            </a:r>
            <a:r>
              <a:rPr lang="ru-RU" sz="1400" dirty="0"/>
              <a:t>: проверяет неопределенности идентификатор</a:t>
            </a:r>
          </a:p>
          <a:p>
            <a:pPr>
              <a:lnSpc>
                <a:spcPct val="150000"/>
              </a:lnSpc>
            </a:pPr>
            <a:r>
              <a:rPr lang="ru-RU" sz="1400" b="1" dirty="0"/>
              <a:t>#include</a:t>
            </a:r>
            <a:r>
              <a:rPr lang="ru-RU" sz="1400" dirty="0"/>
              <a:t>: включает текст из файла</a:t>
            </a:r>
          </a:p>
          <a:p>
            <a:pPr>
              <a:lnSpc>
                <a:spcPct val="150000"/>
              </a:lnSpc>
            </a:pPr>
            <a:r>
              <a:rPr lang="ru-RU" sz="1400" b="1" dirty="0"/>
              <a:t>#if</a:t>
            </a:r>
            <a:r>
              <a:rPr lang="ru-RU" sz="1400" dirty="0"/>
              <a:t>: проверяет условие выражение (как условная конструкция </a:t>
            </a:r>
            <a:r>
              <a:rPr lang="ru-RU" sz="1400" dirty="0" err="1"/>
              <a:t>if</a:t>
            </a:r>
            <a:r>
              <a:rPr lang="ru-RU" sz="1400" dirty="0"/>
              <a:t>)</a:t>
            </a:r>
          </a:p>
          <a:p>
            <a:pPr>
              <a:lnSpc>
                <a:spcPct val="150000"/>
              </a:lnSpc>
            </a:pPr>
            <a:r>
              <a:rPr lang="ru-RU" sz="1400" b="1" dirty="0"/>
              <a:t>#else</a:t>
            </a:r>
            <a:r>
              <a:rPr lang="ru-RU" sz="1400" dirty="0"/>
              <a:t>: задает альтернативное условие для #if</a:t>
            </a:r>
          </a:p>
          <a:p>
            <a:pPr>
              <a:lnSpc>
                <a:spcPct val="150000"/>
              </a:lnSpc>
            </a:pPr>
            <a:r>
              <a:rPr lang="ru-RU" sz="1400" b="1" dirty="0"/>
              <a:t>#endif</a:t>
            </a:r>
            <a:r>
              <a:rPr lang="ru-RU" sz="1400" dirty="0"/>
              <a:t>: окончание условной директивы #if</a:t>
            </a:r>
          </a:p>
          <a:p>
            <a:pPr>
              <a:lnSpc>
                <a:spcPct val="150000"/>
              </a:lnSpc>
            </a:pPr>
            <a:r>
              <a:rPr lang="ru-RU" sz="1400" b="1" dirty="0"/>
              <a:t>#elif</a:t>
            </a:r>
            <a:r>
              <a:rPr lang="ru-RU" sz="1400" dirty="0"/>
              <a:t>: задает альтернативное условие для #if</a:t>
            </a:r>
          </a:p>
          <a:p>
            <a:pPr>
              <a:lnSpc>
                <a:spcPct val="150000"/>
              </a:lnSpc>
            </a:pPr>
            <a:r>
              <a:rPr lang="ru-RU" sz="1400" b="1" dirty="0"/>
              <a:t>#line</a:t>
            </a:r>
            <a:r>
              <a:rPr lang="ru-RU" sz="1400" dirty="0"/>
              <a:t>: меняет номер следующей ниже строки</a:t>
            </a:r>
          </a:p>
          <a:p>
            <a:pPr>
              <a:lnSpc>
                <a:spcPct val="150000"/>
              </a:lnSpc>
            </a:pPr>
            <a:r>
              <a:rPr lang="ru-RU" sz="1400" b="1" dirty="0"/>
              <a:t>#error</a:t>
            </a:r>
            <a:r>
              <a:rPr lang="ru-RU" sz="1400" dirty="0"/>
              <a:t>: формирует текст сообщения об ошибке трансляции</a:t>
            </a:r>
          </a:p>
          <a:p>
            <a:pPr>
              <a:lnSpc>
                <a:spcPct val="150000"/>
              </a:lnSpc>
            </a:pPr>
            <a:r>
              <a:rPr lang="ru-RU" sz="1400" b="1" dirty="0"/>
              <a:t>#pragma</a:t>
            </a:r>
            <a:r>
              <a:rPr lang="ru-RU" sz="1400" dirty="0"/>
              <a:t>: определяет действия, которые зависят от конкретной реализации компилятора</a:t>
            </a:r>
          </a:p>
          <a:p>
            <a:pPr>
              <a:lnSpc>
                <a:spcPct val="150000"/>
              </a:lnSpc>
            </a:pPr>
            <a:r>
              <a:rPr lang="ru-RU" sz="1400" b="1" dirty="0"/>
              <a:t>#</a:t>
            </a:r>
            <a:r>
              <a:rPr lang="ru-RU" sz="1400" dirty="0"/>
              <a:t>: пустая директива, по сути ничего не делает</a:t>
            </a:r>
          </a:p>
          <a:p>
            <a:pPr>
              <a:lnSpc>
                <a:spcPct val="150000"/>
              </a:lnSpc>
            </a:pPr>
            <a:endParaRPr lang="ru-RU" sz="1600" dirty="0"/>
          </a:p>
        </p:txBody>
      </p:sp>
    </p:spTree>
    <p:extLst>
      <p:ext uri="{BB962C8B-B14F-4D97-AF65-F5344CB8AC3E}">
        <p14:creationId xmlns:p14="http://schemas.microsoft.com/office/powerpoint/2010/main" val="1764985093"/>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562ACE-5F19-676B-B738-B628C8159FF9}"/>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9AD4B1F8-46B9-7AD2-C4FF-DCD8D7C14FC9}"/>
              </a:ext>
            </a:extLst>
          </p:cNvPr>
          <p:cNvSpPr>
            <a:spLocks noGrp="1"/>
          </p:cNvSpPr>
          <p:nvPr>
            <p:ph idx="1"/>
          </p:nvPr>
        </p:nvSpPr>
        <p:spPr/>
        <p:txBody>
          <a:bodyPr/>
          <a:lstStyle/>
          <a:p>
            <a:r>
              <a:rPr lang="ru-RU" b="1" dirty="0"/>
              <a:t>Директива #</a:t>
            </a:r>
            <a:r>
              <a:rPr lang="de-CH" b="1" dirty="0" err="1"/>
              <a:t>include</a:t>
            </a:r>
            <a:r>
              <a:rPr lang="de-CH" b="1" dirty="0"/>
              <a:t>. </a:t>
            </a:r>
            <a:r>
              <a:rPr lang="ru-RU" b="1" dirty="0"/>
              <a:t>Включение файлов</a:t>
            </a:r>
          </a:p>
          <a:p>
            <a:endParaRPr lang="ru-RU" b="1" dirty="0"/>
          </a:p>
          <a:p>
            <a:r>
              <a:rPr lang="de-CH" dirty="0"/>
              <a:t>#include &lt;</a:t>
            </a:r>
            <a:r>
              <a:rPr lang="ru-RU" dirty="0" err="1"/>
              <a:t>имя_файла</a:t>
            </a:r>
            <a:r>
              <a:rPr lang="ru-RU" dirty="0"/>
              <a:t>&gt;  // имя файла в угловых скобках</a:t>
            </a:r>
            <a:endParaRPr lang="en-US" dirty="0"/>
          </a:p>
          <a:p>
            <a:r>
              <a:rPr lang="ru-RU" dirty="0"/>
              <a:t>В данном случае будет выполняться поиск файла в системных путях</a:t>
            </a:r>
            <a:endParaRPr lang="en-US" dirty="0"/>
          </a:p>
          <a:p>
            <a:endParaRPr lang="ru-RU" dirty="0"/>
          </a:p>
          <a:p>
            <a:r>
              <a:rPr lang="ru-RU" dirty="0"/>
              <a:t>#</a:t>
            </a:r>
            <a:r>
              <a:rPr lang="de-CH" dirty="0" err="1"/>
              <a:t>include</a:t>
            </a:r>
            <a:r>
              <a:rPr lang="de-CH" dirty="0"/>
              <a:t> "</a:t>
            </a:r>
            <a:r>
              <a:rPr lang="ru-RU" dirty="0" err="1"/>
              <a:t>имя_файла</a:t>
            </a:r>
            <a:r>
              <a:rPr lang="ru-RU" dirty="0"/>
              <a:t>"        // имя файла в кавычках</a:t>
            </a:r>
          </a:p>
          <a:p>
            <a:r>
              <a:rPr lang="ru-RU" dirty="0"/>
              <a:t>Ищем сначала в текущем каталоге, а потом в системных</a:t>
            </a:r>
            <a:endParaRPr lang="ru-RU" b="1" dirty="0"/>
          </a:p>
          <a:p>
            <a:endParaRPr lang="ru-RU" dirty="0"/>
          </a:p>
        </p:txBody>
      </p:sp>
    </p:spTree>
    <p:extLst>
      <p:ext uri="{BB962C8B-B14F-4D97-AF65-F5344CB8AC3E}">
        <p14:creationId xmlns:p14="http://schemas.microsoft.com/office/powerpoint/2010/main" val="3974479191"/>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A6FC64-260C-72DB-E92D-8C88E7CC803F}"/>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3799AEE3-3C2E-B05D-33C8-BB8243CB838E}"/>
              </a:ext>
            </a:extLst>
          </p:cNvPr>
          <p:cNvSpPr>
            <a:spLocks noGrp="1"/>
          </p:cNvSpPr>
          <p:nvPr>
            <p:ph idx="1"/>
          </p:nvPr>
        </p:nvSpPr>
        <p:spPr/>
        <p:txBody>
          <a:bodyPr/>
          <a:lstStyle/>
          <a:p>
            <a:r>
              <a:rPr lang="ru-RU" b="1" dirty="0" err="1"/>
              <a:t>assert.h</a:t>
            </a:r>
            <a:r>
              <a:rPr lang="ru-RU" dirty="0"/>
              <a:t>: отвечает за диагностику программ</a:t>
            </a:r>
          </a:p>
          <a:p>
            <a:r>
              <a:rPr lang="ru-RU" b="1" dirty="0" err="1"/>
              <a:t>complex.h</a:t>
            </a:r>
            <a:r>
              <a:rPr lang="ru-RU" dirty="0"/>
              <a:t>: для работы с комплексными числами</a:t>
            </a:r>
          </a:p>
          <a:p>
            <a:r>
              <a:rPr lang="ru-RU" b="1" dirty="0" err="1"/>
              <a:t>ctype.h</a:t>
            </a:r>
            <a:r>
              <a:rPr lang="ru-RU" dirty="0"/>
              <a:t>: отвечает за преобразование и проверку символов</a:t>
            </a:r>
          </a:p>
          <a:p>
            <a:r>
              <a:rPr lang="ru-RU" b="1" dirty="0" err="1"/>
              <a:t>errno.h</a:t>
            </a:r>
            <a:r>
              <a:rPr lang="ru-RU" dirty="0"/>
              <a:t>: отвечает за проверку ошибок</a:t>
            </a:r>
          </a:p>
          <a:p>
            <a:r>
              <a:rPr lang="ru-RU" b="1" dirty="0" err="1"/>
              <a:t>fenv.h</a:t>
            </a:r>
            <a:r>
              <a:rPr lang="ru-RU" dirty="0"/>
              <a:t>: для доступа к окружению, которое управляет операциями с числами с плавающей точкой</a:t>
            </a:r>
          </a:p>
          <a:p>
            <a:r>
              <a:rPr lang="ru-RU" b="1" dirty="0" err="1"/>
              <a:t>float.h</a:t>
            </a:r>
            <a:r>
              <a:rPr lang="ru-RU" dirty="0"/>
              <a:t>: отвечает за работу с числами с плавающей точкой</a:t>
            </a:r>
          </a:p>
          <a:p>
            <a:r>
              <a:rPr lang="ru-RU" b="1" dirty="0" err="1"/>
              <a:t>inttypes.h</a:t>
            </a:r>
            <a:r>
              <a:rPr lang="ru-RU" dirty="0"/>
              <a:t>: для работы с большими целыми числами</a:t>
            </a:r>
          </a:p>
          <a:p>
            <a:r>
              <a:rPr lang="ru-RU" b="1" dirty="0"/>
              <a:t>iso646.h</a:t>
            </a:r>
            <a:r>
              <a:rPr lang="ru-RU" dirty="0"/>
              <a:t>: содержит ряд определений, которые расширяют ряд логических операций</a:t>
            </a:r>
          </a:p>
          <a:p>
            <a:r>
              <a:rPr lang="ru-RU" b="1" dirty="0" err="1"/>
              <a:t>limits.h</a:t>
            </a:r>
            <a:r>
              <a:rPr lang="ru-RU" dirty="0"/>
              <a:t>: содержит предельные значения целочисленных типов</a:t>
            </a:r>
          </a:p>
          <a:p>
            <a:r>
              <a:rPr lang="ru-RU" b="1" dirty="0" err="1"/>
              <a:t>locale.h</a:t>
            </a:r>
            <a:r>
              <a:rPr lang="ru-RU" dirty="0"/>
              <a:t>: отвечает за работу с локальной культурой</a:t>
            </a:r>
          </a:p>
          <a:p>
            <a:r>
              <a:rPr lang="ru-RU" b="1" dirty="0" err="1"/>
              <a:t>math.h</a:t>
            </a:r>
            <a:r>
              <a:rPr lang="ru-RU" dirty="0"/>
              <a:t>: для работы с математическими выражениями</a:t>
            </a:r>
          </a:p>
          <a:p>
            <a:r>
              <a:rPr lang="ru-RU" b="1" dirty="0" err="1"/>
              <a:t>setjmp.h</a:t>
            </a:r>
            <a:r>
              <a:rPr lang="ru-RU" dirty="0"/>
              <a:t>: определяет возможности нелокальных переходов</a:t>
            </a:r>
          </a:p>
          <a:p>
            <a:endParaRPr lang="ru-RU" dirty="0"/>
          </a:p>
        </p:txBody>
      </p:sp>
    </p:spTree>
    <p:extLst>
      <p:ext uri="{BB962C8B-B14F-4D97-AF65-F5344CB8AC3E}">
        <p14:creationId xmlns:p14="http://schemas.microsoft.com/office/powerpoint/2010/main" val="2639455247"/>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07C9A-3586-120A-EC1D-82D3CAE662C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57E47A-C33D-23EF-7670-B6B9F5D59FCE}"/>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1501A6DE-06F4-FC26-B9B2-519A8BDF4A8B}"/>
              </a:ext>
            </a:extLst>
          </p:cNvPr>
          <p:cNvSpPr>
            <a:spLocks noGrp="1"/>
          </p:cNvSpPr>
          <p:nvPr>
            <p:ph idx="1"/>
          </p:nvPr>
        </p:nvSpPr>
        <p:spPr>
          <a:xfrm>
            <a:off x="564356" y="1268760"/>
            <a:ext cx="8229600" cy="5248275"/>
          </a:xfrm>
        </p:spPr>
        <p:txBody>
          <a:bodyPr/>
          <a:lstStyle/>
          <a:p>
            <a:r>
              <a:rPr lang="ru-RU" b="1" dirty="0" err="1"/>
              <a:t>signal.h</a:t>
            </a:r>
            <a:r>
              <a:rPr lang="ru-RU" dirty="0"/>
              <a:t>: для обработки исключительных ситуаций</a:t>
            </a:r>
          </a:p>
          <a:p>
            <a:r>
              <a:rPr lang="ru-RU" b="1" dirty="0" err="1"/>
              <a:t>stdalign.h</a:t>
            </a:r>
            <a:r>
              <a:rPr lang="ru-RU" dirty="0"/>
              <a:t>: для выравнивания типов</a:t>
            </a:r>
          </a:p>
          <a:p>
            <a:r>
              <a:rPr lang="ru-RU" b="1" dirty="0" err="1"/>
              <a:t>stdarg.h</a:t>
            </a:r>
            <a:r>
              <a:rPr lang="ru-RU" dirty="0"/>
              <a:t>: обеспечивает поддержку переменного числа параметров</a:t>
            </a:r>
          </a:p>
          <a:p>
            <a:r>
              <a:rPr lang="ru-RU" b="1" dirty="0" err="1"/>
              <a:t>stdatomic.h</a:t>
            </a:r>
            <a:r>
              <a:rPr lang="ru-RU" dirty="0"/>
              <a:t>: для выполнения атомарных операций по разделяемым данным между потоками</a:t>
            </a:r>
          </a:p>
          <a:p>
            <a:r>
              <a:rPr lang="ru-RU" b="1" dirty="0" err="1"/>
              <a:t>stdbool.h</a:t>
            </a:r>
            <a:r>
              <a:rPr lang="ru-RU" dirty="0"/>
              <a:t>: для работы с типом _</a:t>
            </a:r>
            <a:r>
              <a:rPr lang="ru-RU" dirty="0" err="1"/>
              <a:t>Bool</a:t>
            </a:r>
            <a:endParaRPr lang="ru-RU" dirty="0"/>
          </a:p>
          <a:p>
            <a:r>
              <a:rPr lang="ru-RU" b="1" dirty="0" err="1"/>
              <a:t>stddef.h</a:t>
            </a:r>
            <a:r>
              <a:rPr lang="ru-RU" dirty="0"/>
              <a:t>: содержит ряд вспомогательных определений</a:t>
            </a:r>
          </a:p>
          <a:p>
            <a:r>
              <a:rPr lang="ru-RU" b="1" dirty="0" err="1"/>
              <a:t>stdint.h</a:t>
            </a:r>
            <a:r>
              <a:rPr lang="ru-RU" dirty="0"/>
              <a:t>: для работы с целыми числами</a:t>
            </a:r>
          </a:p>
          <a:p>
            <a:r>
              <a:rPr lang="ru-RU" b="1" dirty="0" err="1"/>
              <a:t>stdio.h</a:t>
            </a:r>
            <a:r>
              <a:rPr lang="ru-RU" dirty="0"/>
              <a:t>: для работы со средствами ввода-вывода</a:t>
            </a:r>
          </a:p>
          <a:p>
            <a:r>
              <a:rPr lang="ru-RU" b="1" dirty="0" err="1"/>
              <a:t>stdlib.h</a:t>
            </a:r>
            <a:r>
              <a:rPr lang="ru-RU" dirty="0"/>
              <a:t>: содержит определения и прототипы функций общего пользования</a:t>
            </a:r>
          </a:p>
          <a:p>
            <a:r>
              <a:rPr lang="ru-RU" b="1" dirty="0" err="1"/>
              <a:t>stdnoreturn.h</a:t>
            </a:r>
            <a:r>
              <a:rPr lang="ru-RU" dirty="0"/>
              <a:t>: содержит макрос </a:t>
            </a:r>
            <a:r>
              <a:rPr lang="ru-RU" dirty="0" err="1"/>
              <a:t>noreturn</a:t>
            </a:r>
            <a:endParaRPr lang="ru-RU" dirty="0"/>
          </a:p>
          <a:p>
            <a:r>
              <a:rPr lang="ru-RU" b="1" dirty="0" err="1"/>
              <a:t>string.h</a:t>
            </a:r>
            <a:r>
              <a:rPr lang="ru-RU" dirty="0"/>
              <a:t>: для работы со строками</a:t>
            </a:r>
          </a:p>
          <a:p>
            <a:endParaRPr lang="ru-RU" dirty="0"/>
          </a:p>
        </p:txBody>
      </p:sp>
    </p:spTree>
    <p:extLst>
      <p:ext uri="{BB962C8B-B14F-4D97-AF65-F5344CB8AC3E}">
        <p14:creationId xmlns:p14="http://schemas.microsoft.com/office/powerpoint/2010/main" val="3748538098"/>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EFC59-C7BB-5D11-8E7F-1207E01F764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D439B7-5F3A-B216-F0DE-E44A15CEC61D}"/>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E5E5FE3A-472E-60AF-F9D0-B79352C0CCD3}"/>
              </a:ext>
            </a:extLst>
          </p:cNvPr>
          <p:cNvSpPr>
            <a:spLocks noGrp="1"/>
          </p:cNvSpPr>
          <p:nvPr>
            <p:ph idx="1"/>
          </p:nvPr>
        </p:nvSpPr>
        <p:spPr/>
        <p:txBody>
          <a:bodyPr/>
          <a:lstStyle/>
          <a:p>
            <a:r>
              <a:rPr lang="ru-RU" b="1" dirty="0" err="1"/>
              <a:t>tgmath.h</a:t>
            </a:r>
            <a:r>
              <a:rPr lang="ru-RU" dirty="0"/>
              <a:t>: подключает </a:t>
            </a:r>
            <a:r>
              <a:rPr lang="ru-RU" dirty="0" err="1"/>
              <a:t>math.h</a:t>
            </a:r>
            <a:r>
              <a:rPr lang="ru-RU" dirty="0"/>
              <a:t> и </a:t>
            </a:r>
            <a:r>
              <a:rPr lang="ru-RU" dirty="0" err="1"/>
              <a:t>complex.h</a:t>
            </a:r>
            <a:r>
              <a:rPr lang="ru-RU" dirty="0"/>
              <a:t> плюс добавляет дополнительные возможности по работе с математическими вычислениями</a:t>
            </a:r>
          </a:p>
          <a:p>
            <a:r>
              <a:rPr lang="ru-RU" b="1" dirty="0" err="1"/>
              <a:t>threads.h</a:t>
            </a:r>
            <a:r>
              <a:rPr lang="ru-RU" dirty="0"/>
              <a:t>: для работы с потоками</a:t>
            </a:r>
          </a:p>
          <a:p>
            <a:r>
              <a:rPr lang="ru-RU" b="1" dirty="0" err="1"/>
              <a:t>time.h</a:t>
            </a:r>
            <a:r>
              <a:rPr lang="ru-RU" dirty="0"/>
              <a:t>: для работы с датами и временем</a:t>
            </a:r>
          </a:p>
          <a:p>
            <a:r>
              <a:rPr lang="ru-RU" b="1" dirty="0" err="1"/>
              <a:t>uchar.h</a:t>
            </a:r>
            <a:r>
              <a:rPr lang="ru-RU" dirty="0"/>
              <a:t>: для работы с символами в кодировке </a:t>
            </a:r>
            <a:r>
              <a:rPr lang="ru-RU" dirty="0" err="1"/>
              <a:t>Unicode</a:t>
            </a:r>
            <a:endParaRPr lang="ru-RU" dirty="0"/>
          </a:p>
          <a:p>
            <a:r>
              <a:rPr lang="ru-RU" b="1" dirty="0" err="1"/>
              <a:t>wchar.h</a:t>
            </a:r>
            <a:r>
              <a:rPr lang="ru-RU" dirty="0"/>
              <a:t>: для работы с символами</a:t>
            </a:r>
          </a:p>
          <a:p>
            <a:r>
              <a:rPr lang="ru-RU" b="1" dirty="0" err="1"/>
              <a:t>wctype.h</a:t>
            </a:r>
            <a:r>
              <a:rPr lang="ru-RU" dirty="0"/>
              <a:t>: содержит дополнительные возможности для работы с символами</a:t>
            </a:r>
          </a:p>
          <a:p>
            <a:endParaRPr lang="ru-RU" dirty="0"/>
          </a:p>
          <a:p>
            <a:endParaRPr lang="ru-RU" dirty="0"/>
          </a:p>
          <a:p>
            <a:r>
              <a:rPr lang="ru-RU" dirty="0">
                <a:solidFill>
                  <a:srgbClr val="FF0000"/>
                </a:solidFill>
              </a:rPr>
              <a:t>Однако стоит отметить, что в различных средах к этому набору могут добавляться дополнительные встроенные заголовочные файлы для тех или иных целей, например, для работы с графикой.</a:t>
            </a:r>
          </a:p>
          <a:p>
            <a:endParaRPr lang="ru-RU" dirty="0"/>
          </a:p>
        </p:txBody>
      </p:sp>
    </p:spTree>
    <p:extLst>
      <p:ext uri="{BB962C8B-B14F-4D97-AF65-F5344CB8AC3E}">
        <p14:creationId xmlns:p14="http://schemas.microsoft.com/office/powerpoint/2010/main" val="2472417803"/>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A4F3E-2AE7-54B5-BF57-38A1F8D2AF7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D612E3-3B98-7423-E844-4E7A77090034}"/>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4C666423-2966-0D01-DF57-720BD4E905CE}"/>
              </a:ext>
            </a:extLst>
          </p:cNvPr>
          <p:cNvSpPr>
            <a:spLocks noGrp="1"/>
          </p:cNvSpPr>
          <p:nvPr>
            <p:ph idx="1"/>
          </p:nvPr>
        </p:nvSpPr>
        <p:spPr/>
        <p:txBody>
          <a:bodyPr/>
          <a:lstStyle/>
          <a:p>
            <a:r>
              <a:rPr lang="ru-RU" b="1" dirty="0"/>
              <a:t>Директива #</a:t>
            </a:r>
            <a:r>
              <a:rPr lang="de-CH" b="1" dirty="0" err="1"/>
              <a:t>define</a:t>
            </a:r>
            <a:endParaRPr lang="de-CH" b="1" dirty="0"/>
          </a:p>
          <a:p>
            <a:r>
              <a:rPr lang="ru-RU" dirty="0"/>
              <a:t>Директива </a:t>
            </a:r>
            <a:r>
              <a:rPr lang="ru-RU" b="1" dirty="0"/>
              <a:t>#define</a:t>
            </a:r>
            <a:r>
              <a:rPr lang="ru-RU" dirty="0"/>
              <a:t> определяет идентификатор и последовательность символов, которые будут подставляться вместо идентификатора каждый раз, когда он встретится в исходном файле. Формальное определение директивы:</a:t>
            </a:r>
          </a:p>
          <a:p>
            <a:endParaRPr lang="ru-RU" dirty="0"/>
          </a:p>
          <a:p>
            <a:r>
              <a:rPr lang="de-CH" dirty="0"/>
              <a:t>#define </a:t>
            </a:r>
            <a:r>
              <a:rPr lang="ru-RU" dirty="0"/>
              <a:t>идентификатор </a:t>
            </a:r>
            <a:r>
              <a:rPr lang="ru-RU" dirty="0" err="1"/>
              <a:t>последовательность_символов</a:t>
            </a:r>
            <a:endParaRPr lang="ru-RU" dirty="0"/>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#define</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N</a:t>
            </a:r>
            <a:r>
              <a:rPr lang="de-CH" sz="1600" dirty="0">
                <a:solidFill>
                  <a:srgbClr val="000000"/>
                </a:solidFill>
                <a:highlight>
                  <a:srgbClr val="FFFFFF"/>
                </a:highlight>
                <a:latin typeface="Cascadia Mono" panose="020B0609020000020004" pitchFamily="49" charset="0"/>
              </a:rPr>
              <a:t> 23</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x = </a:t>
            </a:r>
            <a:r>
              <a:rPr lang="de-CH" sz="1600" dirty="0">
                <a:solidFill>
                  <a:srgbClr val="6F008A"/>
                </a:solidFill>
                <a:highlight>
                  <a:srgbClr val="FFFFFF"/>
                </a:highlight>
                <a:latin typeface="Cascadia Mono" panose="020B0609020000020004" pitchFamily="49" charset="0"/>
              </a:rPr>
              <a:t>N</a:t>
            </a:r>
            <a:r>
              <a:rPr lang="de-CH" sz="1600" dirty="0">
                <a:solidFill>
                  <a:srgbClr val="000000"/>
                </a:solidFill>
                <a:highlight>
                  <a:srgbClr val="FFFFFF"/>
                </a:highlight>
                <a:latin typeface="Cascadia Mono" panose="020B0609020000020004" pitchFamily="49" charset="0"/>
              </a:rPr>
              <a:t>;</a:t>
            </a:r>
          </a:p>
          <a:p>
            <a:r>
              <a:rPr lang="en-US" sz="1600" dirty="0">
                <a:solidFill>
                  <a:srgbClr val="000000"/>
                </a:solidFill>
                <a:highlight>
                  <a:srgbClr val="FFFFFF"/>
                </a:highlight>
                <a:latin typeface="Cascadia Mono" panose="020B0609020000020004" pitchFamily="49" charset="0"/>
              </a:rPr>
              <a:t>    </a:t>
            </a:r>
            <a:r>
              <a:rPr lang="en-US" sz="1600" dirty="0" err="1">
                <a:solidFill>
                  <a:srgbClr val="000000"/>
                </a:solidFill>
                <a:highlight>
                  <a:srgbClr val="FFFFFF"/>
                </a:highlight>
                <a:latin typeface="Cascadia Mono" panose="020B0609020000020004" pitchFamily="49" charset="0"/>
              </a:rPr>
              <a:t>printf</a:t>
            </a:r>
            <a:r>
              <a:rPr lang="en-US" sz="1600" dirty="0">
                <a:solidFill>
                  <a:srgbClr val="000000"/>
                </a:solidFill>
                <a:highlight>
                  <a:srgbClr val="FFFFFF"/>
                </a:highlight>
                <a:latin typeface="Cascadia Mono" panose="020B0609020000020004" pitchFamily="49" charset="0"/>
              </a:rPr>
              <a:t>(</a:t>
            </a:r>
            <a:r>
              <a:rPr lang="en-US" sz="1600" dirty="0">
                <a:solidFill>
                  <a:srgbClr val="A31515"/>
                </a:solidFill>
                <a:highlight>
                  <a:srgbClr val="FFFFFF"/>
                </a:highlight>
                <a:latin typeface="Cascadia Mono" panose="020B0609020000020004" pitchFamily="49" charset="0"/>
              </a:rPr>
              <a:t>"Number: %d"</a:t>
            </a:r>
            <a:r>
              <a:rPr lang="en-US" sz="1600" dirty="0">
                <a:solidFill>
                  <a:srgbClr val="000000"/>
                </a:solidFill>
                <a:highlight>
                  <a:srgbClr val="FFFFFF"/>
                </a:highlight>
                <a:latin typeface="Cascadia Mono" panose="020B0609020000020004" pitchFamily="49" charset="0"/>
              </a:rPr>
              <a:t>, x);   </a:t>
            </a:r>
            <a:r>
              <a:rPr lang="en-US" sz="1600" dirty="0">
                <a:solidFill>
                  <a:srgbClr val="008000"/>
                </a:solidFill>
                <a:highlight>
                  <a:srgbClr val="FFFFFF"/>
                </a:highlight>
                <a:latin typeface="Cascadia Mono" panose="020B0609020000020004" pitchFamily="49" charset="0"/>
              </a:rPr>
              <a:t>// Number: 23</a:t>
            </a:r>
            <a:endParaRPr lang="en-US"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3358630291"/>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C9E6B-BB2D-622E-89F6-4000D27D9D3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E595AA-27AE-E167-93DD-D108B5DBBDC3}"/>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BE1E47C7-4292-993F-4C8E-AEC8EB2C3718}"/>
              </a:ext>
            </a:extLst>
          </p:cNvPr>
          <p:cNvSpPr>
            <a:spLocks noGrp="1"/>
          </p:cNvSpPr>
          <p:nvPr>
            <p:ph idx="1"/>
          </p:nvPr>
        </p:nvSpPr>
        <p:spPr/>
        <p:txBody>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stdio.h</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BEGIN</a:t>
            </a:r>
            <a:r>
              <a:rPr lang="de-CH" sz="2000" dirty="0">
                <a:solidFill>
                  <a:srgbClr val="000000"/>
                </a:solidFill>
                <a:highlight>
                  <a:srgbClr val="FFFFFF"/>
                </a:highlight>
                <a:latin typeface="Cascadia Mono" panose="020B0609020000020004" pitchFamily="49" charset="0"/>
              </a:rPr>
              <a:t> {</a:t>
            </a: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END</a:t>
            </a:r>
            <a:r>
              <a:rPr lang="de-CH" sz="2000" dirty="0">
                <a:solidFill>
                  <a:srgbClr val="000000"/>
                </a:solidFill>
                <a:highlight>
                  <a:srgbClr val="FFFFFF"/>
                </a:highlight>
                <a:latin typeface="Cascadia Mono" panose="020B0609020000020004" pitchFamily="49" charset="0"/>
              </a:rPr>
              <a:t> }</a:t>
            </a: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N</a:t>
            </a:r>
            <a:r>
              <a:rPr lang="de-CH" sz="2000" dirty="0">
                <a:solidFill>
                  <a:srgbClr val="000000"/>
                </a:solidFill>
                <a:highlight>
                  <a:srgbClr val="FFFFFF"/>
                </a:highlight>
                <a:latin typeface="Cascadia Mono" panose="020B0609020000020004" pitchFamily="49" charset="0"/>
              </a:rPr>
              <a:t> 23</a:t>
            </a: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r>
              <a:rPr lang="de-CH" sz="2000" dirty="0" err="1">
                <a:solidFill>
                  <a:srgbClr val="0000FF"/>
                </a:solidFill>
                <a:highlight>
                  <a:srgbClr val="FFFFFF"/>
                </a:highlight>
                <a:latin typeface="Cascadia Mono" panose="020B0609020000020004" pitchFamily="49" charset="0"/>
              </a:rPr>
              <a:t>void</a:t>
            </a:r>
            <a:r>
              <a:rPr lang="de-CH" sz="2000" dirty="0">
                <a:solidFill>
                  <a:srgbClr val="000000"/>
                </a:solidFill>
                <a:highlight>
                  <a:srgbClr val="FFFFFF"/>
                </a:highlight>
                <a:latin typeface="Cascadia Mono" panose="020B0609020000020004" pitchFamily="49" charset="0"/>
              </a:rPr>
              <a:t>)</a:t>
            </a:r>
          </a:p>
          <a:p>
            <a:r>
              <a:rPr lang="de-CH" sz="2000" dirty="0">
                <a:solidFill>
                  <a:srgbClr val="6F008A"/>
                </a:solidFill>
                <a:highlight>
                  <a:srgbClr val="FFFFFF"/>
                </a:highlight>
                <a:latin typeface="Cascadia Mono" panose="020B0609020000020004" pitchFamily="49" charset="0"/>
              </a:rPr>
              <a:t>BEGIN</a:t>
            </a:r>
            <a:endParaRPr lang="de-CH"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x = </a:t>
            </a:r>
            <a:r>
              <a:rPr lang="de-CH" sz="2000" dirty="0">
                <a:solidFill>
                  <a:srgbClr val="6F008A"/>
                </a:solidFill>
                <a:highlight>
                  <a:srgbClr val="FFFFFF"/>
                </a:highlight>
                <a:latin typeface="Cascadia Mono" panose="020B0609020000020004" pitchFamily="49" charset="0"/>
              </a:rPr>
              <a:t>N</a:t>
            </a:r>
            <a:r>
              <a:rPr lang="de-CH" sz="2000" dirty="0">
                <a:solidFill>
                  <a:srgbClr val="000000"/>
                </a:solidFill>
                <a:highlight>
                  <a:srgbClr val="FFFFFF"/>
                </a:highlight>
                <a:latin typeface="Cascadia Mono" panose="020B0609020000020004" pitchFamily="49" charset="0"/>
              </a:rPr>
              <a:t>;</a:t>
            </a:r>
          </a:p>
          <a:p>
            <a:r>
              <a:rPr lang="en-US" sz="2000" dirty="0" err="1">
                <a:solidFill>
                  <a:srgbClr val="000000"/>
                </a:solidFill>
                <a:highlight>
                  <a:srgbClr val="FFFFFF"/>
                </a:highlight>
                <a:latin typeface="Cascadia Mono" panose="020B0609020000020004" pitchFamily="49" charset="0"/>
              </a:rPr>
              <a:t>printf</a:t>
            </a:r>
            <a:r>
              <a:rPr lang="en-US" sz="2000" dirty="0">
                <a:solidFill>
                  <a:srgbClr val="000000"/>
                </a:solidFill>
                <a:highlight>
                  <a:srgbClr val="FFFFFF"/>
                </a:highlight>
                <a:latin typeface="Cascadia Mono" panose="020B0609020000020004" pitchFamily="49" charset="0"/>
              </a:rPr>
              <a:t>(</a:t>
            </a:r>
            <a:r>
              <a:rPr lang="en-US" sz="2000" dirty="0">
                <a:solidFill>
                  <a:srgbClr val="A31515"/>
                </a:solidFill>
                <a:highlight>
                  <a:srgbClr val="FFFFFF"/>
                </a:highlight>
                <a:latin typeface="Cascadia Mono" panose="020B0609020000020004" pitchFamily="49" charset="0"/>
              </a:rPr>
              <a:t>"Number: %d"</a:t>
            </a:r>
            <a:r>
              <a:rPr lang="en-US" sz="2000" dirty="0">
                <a:solidFill>
                  <a:srgbClr val="000000"/>
                </a:solidFill>
                <a:highlight>
                  <a:srgbClr val="FFFFFF"/>
                </a:highlight>
                <a:latin typeface="Cascadia Mono" panose="020B0609020000020004" pitchFamily="49" charset="0"/>
              </a:rPr>
              <a:t>, x);   </a:t>
            </a:r>
            <a:r>
              <a:rPr lang="en-US" sz="2000" dirty="0">
                <a:solidFill>
                  <a:srgbClr val="008000"/>
                </a:solidFill>
                <a:highlight>
                  <a:srgbClr val="FFFFFF"/>
                </a:highlight>
                <a:latin typeface="Cascadia Mono" panose="020B0609020000020004" pitchFamily="49" charset="0"/>
              </a:rPr>
              <a:t>// Number: 23</a:t>
            </a:r>
            <a:endParaRPr lang="en-US" sz="2000" dirty="0">
              <a:solidFill>
                <a:srgbClr val="000000"/>
              </a:solidFill>
              <a:highlight>
                <a:srgbClr val="FFFFFF"/>
              </a:highlight>
              <a:latin typeface="Cascadia Mono" panose="020B0609020000020004" pitchFamily="49" charset="0"/>
            </a:endParaRPr>
          </a:p>
          <a:p>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0;</a:t>
            </a:r>
          </a:p>
          <a:p>
            <a:r>
              <a:rPr lang="de-CH" sz="2000" dirty="0">
                <a:solidFill>
                  <a:srgbClr val="6F008A"/>
                </a:solidFill>
                <a:highlight>
                  <a:srgbClr val="FFFFFF"/>
                </a:highlight>
                <a:latin typeface="Cascadia Mono" panose="020B0609020000020004" pitchFamily="49" charset="0"/>
              </a:rPr>
              <a:t>END</a:t>
            </a:r>
            <a:endParaRPr lang="ru-RU" dirty="0"/>
          </a:p>
        </p:txBody>
      </p:sp>
    </p:spTree>
    <p:extLst>
      <p:ext uri="{BB962C8B-B14F-4D97-AF65-F5344CB8AC3E}">
        <p14:creationId xmlns:p14="http://schemas.microsoft.com/office/powerpoint/2010/main" val="2120769426"/>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FC918-FF9E-1E02-CE2D-785080D3ACC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EA7F21-0956-BE23-3154-AF17D7396D92}"/>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FCF4D4D7-99AB-84ED-DF1D-0D1F04386FFC}"/>
              </a:ext>
            </a:extLst>
          </p:cNvPr>
          <p:cNvSpPr>
            <a:spLocks noGrp="1"/>
          </p:cNvSpPr>
          <p:nvPr>
            <p:ph idx="1"/>
          </p:nvPr>
        </p:nvSpPr>
        <p:spPr/>
        <p:txBody>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stdio.h</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it-IT" sz="2000" dirty="0">
                <a:solidFill>
                  <a:srgbClr val="808080"/>
                </a:solidFill>
                <a:highlight>
                  <a:srgbClr val="FFFFFF"/>
                </a:highlight>
                <a:latin typeface="Cascadia Mono" panose="020B0609020000020004" pitchFamily="49" charset="0"/>
              </a:rPr>
              <a:t>#define</a:t>
            </a:r>
            <a:r>
              <a:rPr lang="it-IT" sz="2000" dirty="0">
                <a:solidFill>
                  <a:srgbClr val="000000"/>
                </a:solidFill>
                <a:highlight>
                  <a:srgbClr val="FFFFFF"/>
                </a:highlight>
                <a:latin typeface="Cascadia Mono" panose="020B0609020000020004" pitchFamily="49" charset="0"/>
              </a:rPr>
              <a:t> </a:t>
            </a:r>
            <a:r>
              <a:rPr lang="it-IT" sz="2000" dirty="0">
                <a:solidFill>
                  <a:srgbClr val="6F008A"/>
                </a:solidFill>
                <a:highlight>
                  <a:srgbClr val="FFFFFF"/>
                </a:highlight>
                <a:latin typeface="Cascadia Mono" panose="020B0609020000020004" pitchFamily="49" charset="0"/>
              </a:rPr>
              <a:t>ADD</a:t>
            </a:r>
            <a:r>
              <a:rPr lang="it-IT" sz="2000" dirty="0">
                <a:solidFill>
                  <a:srgbClr val="000000"/>
                </a:solidFill>
                <a:highlight>
                  <a:srgbClr val="FFFFFF"/>
                </a:highlight>
                <a:latin typeface="Cascadia Mono" panose="020B0609020000020004" pitchFamily="49" charset="0"/>
              </a:rPr>
              <a:t>(a,b) (a+b)</a:t>
            </a: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r>
              <a:rPr lang="de-CH" sz="2000" dirty="0" err="1">
                <a:solidFill>
                  <a:srgbClr val="0000FF"/>
                </a:solidFill>
                <a:highlight>
                  <a:srgbClr val="FFFFFF"/>
                </a:highlight>
                <a:latin typeface="Cascadia Mono" panose="020B0609020000020004" pitchFamily="49" charset="0"/>
              </a:rPr>
              <a:t>void</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n1 = 10;</a:t>
            </a:r>
          </a:p>
          <a:p>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n2 = 5;</a:t>
            </a:r>
          </a:p>
          <a:p>
            <a:r>
              <a:rPr lang="pt-BR" sz="2000" dirty="0">
                <a:solidFill>
                  <a:srgbClr val="000000"/>
                </a:solidFill>
                <a:highlight>
                  <a:srgbClr val="FFFFFF"/>
                </a:highlight>
                <a:latin typeface="Cascadia Mono" panose="020B0609020000020004" pitchFamily="49" charset="0"/>
              </a:rPr>
              <a:t>    printf(</a:t>
            </a:r>
            <a:r>
              <a:rPr lang="pt-BR" sz="2000" dirty="0">
                <a:solidFill>
                  <a:srgbClr val="A31515"/>
                </a:solidFill>
                <a:highlight>
                  <a:srgbClr val="FFFFFF"/>
                </a:highlight>
                <a:latin typeface="Cascadia Mono" panose="020B0609020000020004" pitchFamily="49" charset="0"/>
              </a:rPr>
              <a:t>"%d + %d = %d"</a:t>
            </a:r>
            <a:r>
              <a:rPr lang="pt-BR" sz="2000" dirty="0">
                <a:solidFill>
                  <a:srgbClr val="000000"/>
                </a:solidFill>
                <a:highlight>
                  <a:srgbClr val="FFFFFF"/>
                </a:highlight>
                <a:latin typeface="Cascadia Mono" panose="020B0609020000020004" pitchFamily="49" charset="0"/>
              </a:rPr>
              <a:t>, n1, n2, </a:t>
            </a:r>
            <a:r>
              <a:rPr lang="pt-BR" sz="2000" dirty="0">
                <a:solidFill>
                  <a:srgbClr val="6F008A"/>
                </a:solidFill>
                <a:highlight>
                  <a:srgbClr val="FFFFFF"/>
                </a:highlight>
                <a:latin typeface="Cascadia Mono" panose="020B0609020000020004" pitchFamily="49" charset="0"/>
              </a:rPr>
              <a:t>ADD</a:t>
            </a:r>
            <a:r>
              <a:rPr lang="pt-BR" sz="2000" dirty="0">
                <a:solidFill>
                  <a:srgbClr val="000000"/>
                </a:solidFill>
                <a:highlight>
                  <a:srgbClr val="FFFFFF"/>
                </a:highlight>
                <a:latin typeface="Cascadia Mono" panose="020B0609020000020004" pitchFamily="49" charset="0"/>
              </a:rPr>
              <a:t>(n1, n2));  </a:t>
            </a:r>
            <a:r>
              <a:rPr lang="pt-BR" sz="2000" dirty="0">
                <a:solidFill>
                  <a:srgbClr val="008000"/>
                </a:solidFill>
                <a:highlight>
                  <a:srgbClr val="FFFFFF"/>
                </a:highlight>
                <a:latin typeface="Cascadia Mono" panose="020B0609020000020004" pitchFamily="49" charset="0"/>
              </a:rPr>
              <a:t>// 10 + 5 = 15</a:t>
            </a:r>
            <a:endParaRPr lang="pt-BR"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a:t>
            </a:r>
          </a:p>
          <a:p>
            <a:endParaRPr lang="ru-RU" dirty="0">
              <a:solidFill>
                <a:srgbClr val="000000"/>
              </a:solidFill>
              <a:highlight>
                <a:srgbClr val="FFFFFF"/>
              </a:highlight>
              <a:latin typeface="Cascadia Mono" panose="020B0609020000020004" pitchFamily="49" charset="0"/>
            </a:endParaRPr>
          </a:p>
          <a:p>
            <a:r>
              <a:rPr lang="ru-RU" dirty="0"/>
              <a:t>В данном случае выражение ADD(</a:t>
            </a:r>
            <a:r>
              <a:rPr lang="ru-RU" dirty="0" err="1"/>
              <a:t>a,b</a:t>
            </a:r>
            <a:r>
              <a:rPr lang="ru-RU" dirty="0"/>
              <a:t>) будет заменяться операцией сложения двух чисел (a + b)</a:t>
            </a:r>
          </a:p>
        </p:txBody>
      </p:sp>
    </p:spTree>
    <p:extLst>
      <p:ext uri="{BB962C8B-B14F-4D97-AF65-F5344CB8AC3E}">
        <p14:creationId xmlns:p14="http://schemas.microsoft.com/office/powerpoint/2010/main" val="1854150234"/>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B8B28-87FA-5E92-675E-AEF0A4EAC19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5CF842-753F-BBB9-76E6-D1138B4AC89A}"/>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BB0EE6C2-2126-4369-902B-E2B129DE2A99}"/>
              </a:ext>
            </a:extLst>
          </p:cNvPr>
          <p:cNvSpPr>
            <a:spLocks noGrp="1"/>
          </p:cNvSpPr>
          <p:nvPr>
            <p:ph idx="1"/>
          </p:nvPr>
        </p:nvSpPr>
        <p:spPr/>
        <p:txBody>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stdio.h</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N</a:t>
            </a:r>
            <a:r>
              <a:rPr lang="de-CH" sz="2000" dirty="0">
                <a:solidFill>
                  <a:srgbClr val="000000"/>
                </a:solidFill>
                <a:highlight>
                  <a:srgbClr val="FFFFFF"/>
                </a:highlight>
                <a:latin typeface="Cascadia Mono" panose="020B0609020000020004" pitchFamily="49" charset="0"/>
              </a:rPr>
              <a:t> 4</a:t>
            </a: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r>
              <a:rPr lang="de-CH" sz="2000" dirty="0" err="1">
                <a:solidFill>
                  <a:srgbClr val="0000FF"/>
                </a:solidFill>
                <a:highlight>
                  <a:srgbClr val="FFFFFF"/>
                </a:highlight>
                <a:latin typeface="Cascadia Mono" panose="020B0609020000020004" pitchFamily="49" charset="0"/>
              </a:rPr>
              <a:t>void</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en-US" sz="2000" dirty="0">
                <a:solidFill>
                  <a:srgbClr val="000000"/>
                </a:solidFill>
                <a:highlight>
                  <a:srgbClr val="FFFFFF"/>
                </a:highlight>
                <a:latin typeface="Cascadia Mono" panose="020B0609020000020004" pitchFamily="49" charset="0"/>
              </a:rPr>
              <a:t>    </a:t>
            </a:r>
            <a:r>
              <a:rPr lang="en-US" sz="2000" dirty="0">
                <a:solidFill>
                  <a:srgbClr val="0000FF"/>
                </a:solidFill>
                <a:highlight>
                  <a:srgbClr val="FFFFFF"/>
                </a:highlight>
                <a:latin typeface="Cascadia Mono" panose="020B0609020000020004" pitchFamily="49" charset="0"/>
              </a:rPr>
              <a:t>int</a:t>
            </a:r>
            <a:r>
              <a:rPr lang="en-US" sz="2000" dirty="0">
                <a:solidFill>
                  <a:srgbClr val="000000"/>
                </a:solidFill>
                <a:highlight>
                  <a:srgbClr val="FFFFFF"/>
                </a:highlight>
                <a:latin typeface="Cascadia Mono" panose="020B0609020000020004" pitchFamily="49" charset="0"/>
              </a:rPr>
              <a:t> numbers[</a:t>
            </a:r>
            <a:r>
              <a:rPr lang="en-US" sz="2000" dirty="0">
                <a:solidFill>
                  <a:srgbClr val="6F008A"/>
                </a:solidFill>
                <a:highlight>
                  <a:srgbClr val="FFFFFF"/>
                </a:highlight>
                <a:latin typeface="Cascadia Mono" panose="020B0609020000020004" pitchFamily="49" charset="0"/>
              </a:rPr>
              <a:t>N</a:t>
            </a:r>
            <a:r>
              <a:rPr lang="en-US" sz="2000" dirty="0">
                <a:solidFill>
                  <a:srgbClr val="000000"/>
                </a:solidFill>
                <a:highlight>
                  <a:srgbClr val="FFFFFF"/>
                </a:highlight>
                <a:latin typeface="Cascadia Mono" panose="020B0609020000020004" pitchFamily="49" charset="0"/>
              </a:rPr>
              <a:t>] = { 1, 2, 3, 4 };</a:t>
            </a:r>
          </a:p>
          <a:p>
            <a:r>
              <a:rPr lang="nn-NO" sz="2000" dirty="0">
                <a:solidFill>
                  <a:srgbClr val="000000"/>
                </a:solidFill>
                <a:highlight>
                  <a:srgbClr val="FFFFFF"/>
                </a:highlight>
                <a:latin typeface="Cascadia Mono" panose="020B0609020000020004" pitchFamily="49" charset="0"/>
              </a:rPr>
              <a:t>    </a:t>
            </a:r>
            <a:r>
              <a:rPr lang="nn-NO" sz="2000" dirty="0">
                <a:solidFill>
                  <a:srgbClr val="0000FF"/>
                </a:solidFill>
                <a:highlight>
                  <a:srgbClr val="FFFFFF"/>
                </a:highlight>
                <a:latin typeface="Cascadia Mono" panose="020B0609020000020004" pitchFamily="49" charset="0"/>
              </a:rPr>
              <a:t>for</a:t>
            </a:r>
            <a:r>
              <a:rPr lang="nn-NO" sz="2000" dirty="0">
                <a:solidFill>
                  <a:srgbClr val="000000"/>
                </a:solidFill>
                <a:highlight>
                  <a:srgbClr val="FFFFFF"/>
                </a:highlight>
                <a:latin typeface="Cascadia Mono" panose="020B0609020000020004" pitchFamily="49" charset="0"/>
              </a:rPr>
              <a:t> (</a:t>
            </a:r>
            <a:r>
              <a:rPr lang="nn-NO" sz="2000" dirty="0">
                <a:solidFill>
                  <a:srgbClr val="0000FF"/>
                </a:solidFill>
                <a:highlight>
                  <a:srgbClr val="FFFFFF"/>
                </a:highlight>
                <a:latin typeface="Cascadia Mono" panose="020B0609020000020004" pitchFamily="49" charset="0"/>
              </a:rPr>
              <a:t>int</a:t>
            </a:r>
            <a:r>
              <a:rPr lang="nn-NO" sz="2000" dirty="0">
                <a:solidFill>
                  <a:srgbClr val="000000"/>
                </a:solidFill>
                <a:highlight>
                  <a:srgbClr val="FFFFFF"/>
                </a:highlight>
                <a:latin typeface="Cascadia Mono" panose="020B0609020000020004" pitchFamily="49" charset="0"/>
              </a:rPr>
              <a:t> i = 0; i &lt; </a:t>
            </a:r>
            <a:r>
              <a:rPr lang="nn-NO" sz="2000" dirty="0">
                <a:solidFill>
                  <a:srgbClr val="6F008A"/>
                </a:solidFill>
                <a:highlight>
                  <a:srgbClr val="FFFFFF"/>
                </a:highlight>
                <a:latin typeface="Cascadia Mono" panose="020B0609020000020004" pitchFamily="49" charset="0"/>
              </a:rPr>
              <a:t>N</a:t>
            </a:r>
            <a:r>
              <a:rPr lang="nn-NO" sz="2000" dirty="0">
                <a:solidFill>
                  <a:srgbClr val="000000"/>
                </a:solidFill>
                <a:highlight>
                  <a:srgbClr val="FFFFFF"/>
                </a:highlight>
                <a:latin typeface="Cascadia Mono" panose="020B0609020000020004" pitchFamily="49" charset="0"/>
              </a:rPr>
              <a:t>; i++)</a:t>
            </a:r>
          </a:p>
          <a:p>
            <a:r>
              <a:rPr lang="ru-RU" sz="2000" dirty="0">
                <a:solidFill>
                  <a:srgbClr val="000000"/>
                </a:solidFill>
                <a:highlight>
                  <a:srgbClr val="FFFFFF"/>
                </a:highlight>
                <a:latin typeface="Cascadia Mono" panose="020B0609020000020004" pitchFamily="49" charset="0"/>
              </a:rPr>
              <a:t>    {</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printf</a:t>
            </a:r>
            <a:r>
              <a:rPr lang="de-CH" sz="2000" dirty="0">
                <a:solidFill>
                  <a:srgbClr val="000000"/>
                </a:solidFill>
                <a:highlight>
                  <a:srgbClr val="FFFFFF"/>
                </a:highlight>
                <a:latin typeface="Cascadia Mono" panose="020B0609020000020004" pitchFamily="49" charset="0"/>
              </a:rPr>
              <a:t>(</a:t>
            </a:r>
            <a:r>
              <a:rPr lang="de-CH" sz="2000" dirty="0">
                <a:solidFill>
                  <a:srgbClr val="A31515"/>
                </a:solidFill>
                <a:highlight>
                  <a:srgbClr val="FFFFFF"/>
                </a:highlight>
                <a:latin typeface="Cascadia Mono" panose="020B0609020000020004" pitchFamily="49" charset="0"/>
              </a:rPr>
              <a:t>"%d "</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numbers</a:t>
            </a:r>
            <a:r>
              <a:rPr lang="de-CH" sz="2000" dirty="0">
                <a:solidFill>
                  <a:srgbClr val="000000"/>
                </a:solidFill>
                <a:highlight>
                  <a:srgbClr val="FFFFFF"/>
                </a:highlight>
                <a:latin typeface="Cascadia Mono" panose="020B0609020000020004" pitchFamily="49" charset="0"/>
              </a:rPr>
              <a:t>[i]);</a:t>
            </a:r>
          </a:p>
          <a:p>
            <a:r>
              <a:rPr lang="ru-RU" sz="2000" dirty="0">
                <a:solidFill>
                  <a:srgbClr val="000000"/>
                </a:solidFill>
                <a:highlight>
                  <a:srgbClr val="FFFFFF"/>
                </a:highlight>
                <a:latin typeface="Cascadia Mono" panose="020B0609020000020004" pitchFamily="49" charset="0"/>
              </a:rPr>
              <a:t>    }</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0;</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043676425"/>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BDB7E-97C2-E165-B61A-C9FC2351FE1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A9FC94-CE48-0418-CAD4-75DD2BED9776}"/>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018D98BB-8D37-E569-1A30-38DE07159977}"/>
              </a:ext>
            </a:extLst>
          </p:cNvPr>
          <p:cNvSpPr>
            <a:spLocks noGrp="1"/>
          </p:cNvSpPr>
          <p:nvPr>
            <p:ph idx="1"/>
          </p:nvPr>
        </p:nvSpPr>
        <p:spPr/>
        <p:txBody>
          <a:bodyPr/>
          <a:lstStyle/>
          <a:p>
            <a:r>
              <a:rPr lang="ru-RU" dirty="0"/>
              <a:t>Причем если идентификатор должен представлять одно слово, то его последовательность символов может состоять из нескольких слов или символов, разделенных пробелами:</a:t>
            </a:r>
          </a:p>
          <a:p>
            <a:endParaRPr lang="ru-RU" dirty="0"/>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REAL</a:t>
            </a:r>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long</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double</a:t>
            </a:r>
            <a:endParaRPr lang="ru-RU" dirty="0"/>
          </a:p>
        </p:txBody>
      </p:sp>
    </p:spTree>
    <p:extLst>
      <p:ext uri="{BB962C8B-B14F-4D97-AF65-F5344CB8AC3E}">
        <p14:creationId xmlns:p14="http://schemas.microsoft.com/office/powerpoint/2010/main" val="1561722737"/>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22716-11D8-9F92-7C59-4287C051F69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0962D0-A23D-3A50-201A-C867B314D04A}"/>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E150517C-A1E5-531C-3A24-BC650388BEE5}"/>
              </a:ext>
            </a:extLst>
          </p:cNvPr>
          <p:cNvSpPr>
            <a:spLocks noGrp="1"/>
          </p:cNvSpPr>
          <p:nvPr>
            <p:ph idx="1"/>
          </p:nvPr>
        </p:nvSpPr>
        <p:spPr/>
        <p:txBody>
          <a:bodyPr/>
          <a:lstStyle/>
          <a:p>
            <a:r>
              <a:rPr lang="ru-RU" b="1" dirty="0"/>
              <a:t>Директива #</a:t>
            </a:r>
            <a:r>
              <a:rPr lang="de-CH" b="1" dirty="0" err="1"/>
              <a:t>undef</a:t>
            </a:r>
            <a:endParaRPr lang="de-CH" b="1" dirty="0"/>
          </a:p>
          <a:p>
            <a:r>
              <a:rPr lang="ru-RU" dirty="0"/>
              <a:t>В процессе работы мы можем многократно определять новое значение для одного идентификатора:</a:t>
            </a:r>
          </a:p>
          <a:p>
            <a:br>
              <a:rPr lang="ru-RU" dirty="0"/>
            </a:br>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N</a:t>
            </a:r>
            <a:r>
              <a:rPr lang="de-CH" sz="2000" dirty="0">
                <a:solidFill>
                  <a:srgbClr val="000000"/>
                </a:solidFill>
                <a:highlight>
                  <a:srgbClr val="FFFFFF"/>
                </a:highlight>
                <a:latin typeface="Cascadia Mono" panose="020B0609020000020004" pitchFamily="49" charset="0"/>
              </a:rPr>
              <a:t> 23</a:t>
            </a: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N</a:t>
            </a:r>
            <a:r>
              <a:rPr lang="de-CH" sz="2000" dirty="0">
                <a:solidFill>
                  <a:srgbClr val="000000"/>
                </a:solidFill>
                <a:highlight>
                  <a:srgbClr val="FFFFFF"/>
                </a:highlight>
                <a:latin typeface="Cascadia Mono" panose="020B0609020000020004" pitchFamily="49" charset="0"/>
              </a:rPr>
              <a:t> 32</a:t>
            </a: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N</a:t>
            </a:r>
            <a:r>
              <a:rPr lang="de-CH" sz="2000" dirty="0">
                <a:solidFill>
                  <a:srgbClr val="000000"/>
                </a:solidFill>
                <a:highlight>
                  <a:srgbClr val="FFFFFF"/>
                </a:highlight>
                <a:latin typeface="Cascadia Mono" panose="020B0609020000020004" pitchFamily="49" charset="0"/>
              </a:rPr>
              <a:t> 55</a:t>
            </a:r>
            <a:endParaRPr lang="ru-RU" sz="2000" dirty="0">
              <a:solidFill>
                <a:srgbClr val="000000"/>
              </a:solidFill>
              <a:highlight>
                <a:srgbClr val="FFFFFF"/>
              </a:highlight>
              <a:latin typeface="Cascadia Mono" panose="020B0609020000020004" pitchFamily="49" charset="0"/>
            </a:endParaRPr>
          </a:p>
          <a:p>
            <a:endParaRPr lang="ru-RU" dirty="0">
              <a:solidFill>
                <a:srgbClr val="000000"/>
              </a:solidFill>
              <a:highlight>
                <a:srgbClr val="FFFFFF"/>
              </a:highlight>
              <a:latin typeface="Cascadia Mono" panose="020B0609020000020004" pitchFamily="49" charset="0"/>
            </a:endParaRPr>
          </a:p>
          <a:p>
            <a:r>
              <a:rPr lang="ru-RU" dirty="0"/>
              <a:t>Но некоторые компиляторы, в частности, </a:t>
            </a:r>
            <a:r>
              <a:rPr lang="ru-RU" dirty="0" err="1"/>
              <a:t>gcc</a:t>
            </a:r>
            <a:r>
              <a:rPr lang="ru-RU" dirty="0"/>
              <a:t>, могут выдавать предупреждения при повторном определении идентификатора, и чтобы выйти из этой ситуации, мы можем использовать директиву #undef для отмены действия макроса. Эта директива имеет следующее определение:</a:t>
            </a:r>
          </a:p>
          <a:p>
            <a:r>
              <a:rPr lang="de-CH" dirty="0"/>
              <a:t>	</a:t>
            </a:r>
          </a:p>
          <a:p>
            <a:r>
              <a:rPr lang="de-CH" dirty="0"/>
              <a:t>#undef </a:t>
            </a:r>
            <a:r>
              <a:rPr lang="ru-RU" dirty="0"/>
              <a:t>идентификатор</a:t>
            </a:r>
          </a:p>
        </p:txBody>
      </p:sp>
    </p:spTree>
    <p:extLst>
      <p:ext uri="{BB962C8B-B14F-4D97-AF65-F5344CB8AC3E}">
        <p14:creationId xmlns:p14="http://schemas.microsoft.com/office/powerpoint/2010/main" val="2814843046"/>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E1C09-DD94-57A5-A7B6-AEE92FCBBDB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E5258C-EB18-BB69-5BE3-99E68665E0E3}"/>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FA6D38D8-5EF3-802F-AD0B-4796AB91D5A1}"/>
              </a:ext>
            </a:extLst>
          </p:cNvPr>
          <p:cNvSpPr>
            <a:spLocks noGrp="1"/>
          </p:cNvSpPr>
          <p:nvPr>
            <p:ph idx="1"/>
          </p:nvPr>
        </p:nvSpPr>
        <p:spPr>
          <a:xfrm>
            <a:off x="564356" y="1268760"/>
            <a:ext cx="8229600" cy="5248275"/>
          </a:xfrm>
        </p:spPr>
        <p:txBody>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stdio.h</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r>
              <a:rPr lang="en-US" sz="2000" dirty="0">
                <a:solidFill>
                  <a:srgbClr val="808080"/>
                </a:solidFill>
                <a:highlight>
                  <a:srgbClr val="FFFFFF"/>
                </a:highlight>
                <a:latin typeface="Cascadia Mono" panose="020B0609020000020004" pitchFamily="49" charset="0"/>
              </a:rPr>
              <a:t>#define</a:t>
            </a:r>
            <a:r>
              <a:rPr lang="en-US" sz="2000" dirty="0">
                <a:solidFill>
                  <a:srgbClr val="000000"/>
                </a:solidFill>
                <a:highlight>
                  <a:srgbClr val="FFFFFF"/>
                </a:highlight>
                <a:latin typeface="Cascadia Mono" panose="020B0609020000020004" pitchFamily="49" charset="0"/>
              </a:rPr>
              <a:t> </a:t>
            </a:r>
            <a:r>
              <a:rPr lang="en-US" sz="2000" dirty="0">
                <a:solidFill>
                  <a:srgbClr val="6F008A"/>
                </a:solidFill>
                <a:highlight>
                  <a:srgbClr val="FFFFFF"/>
                </a:highlight>
                <a:latin typeface="Cascadia Mono" panose="020B0609020000020004" pitchFamily="49" charset="0"/>
              </a:rPr>
              <a:t>STRING</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"Good morning \n"</a:t>
            </a:r>
            <a:endParaRPr lang="en-US"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r>
              <a:rPr lang="de-CH" sz="2000" dirty="0" err="1">
                <a:solidFill>
                  <a:srgbClr val="0000FF"/>
                </a:solidFill>
                <a:highlight>
                  <a:srgbClr val="FFFFFF"/>
                </a:highlight>
                <a:latin typeface="Cascadia Mono" panose="020B0609020000020004" pitchFamily="49" charset="0"/>
              </a:rPr>
              <a:t>void</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printf</a:t>
            </a:r>
            <a:r>
              <a:rPr lang="de-CH" sz="2000" dirty="0">
                <a:solidFill>
                  <a:srgbClr val="000000"/>
                </a:solidFill>
                <a:highlight>
                  <a:srgbClr val="FFFFFF"/>
                </a:highlight>
                <a:latin typeface="Cascadia Mono" panose="020B0609020000020004" pitchFamily="49" charset="0"/>
              </a:rPr>
              <a:t>(</a:t>
            </a:r>
            <a:r>
              <a:rPr lang="de-CH" sz="2000" dirty="0">
                <a:solidFill>
                  <a:srgbClr val="6F008A"/>
                </a:solidFill>
                <a:highlight>
                  <a:srgbClr val="FFFFFF"/>
                </a:highlight>
                <a:latin typeface="Cascadia Mono" panose="020B0609020000020004" pitchFamily="49" charset="0"/>
              </a:rPr>
              <a:t>STRING</a:t>
            </a:r>
            <a:r>
              <a:rPr lang="de-CH" sz="2000" dirty="0">
                <a:solidFill>
                  <a:srgbClr val="000000"/>
                </a:solidFill>
                <a:highlight>
                  <a:srgbClr val="FFFFFF"/>
                </a:highlight>
                <a:latin typeface="Cascadia Mono" panose="020B0609020000020004" pitchFamily="49" charset="0"/>
              </a:rPr>
              <a:t>);</a:t>
            </a:r>
          </a:p>
          <a:p>
            <a:r>
              <a:rPr lang="de-CH" sz="2000" dirty="0">
                <a:solidFill>
                  <a:srgbClr val="808080"/>
                </a:solidFill>
                <a:highlight>
                  <a:srgbClr val="FFFFFF"/>
                </a:highlight>
                <a:latin typeface="Cascadia Mono" panose="020B0609020000020004" pitchFamily="49" charset="0"/>
              </a:rPr>
              <a:t>#undef</a:t>
            </a:r>
            <a:r>
              <a:rPr lang="de-CH" sz="2000" dirty="0">
                <a:solidFill>
                  <a:srgbClr val="000000"/>
                </a:solidFill>
                <a:highlight>
                  <a:srgbClr val="FFFFFF"/>
                </a:highlight>
                <a:latin typeface="Cascadia Mono" panose="020B0609020000020004" pitchFamily="49" charset="0"/>
              </a:rPr>
              <a:t> STRING</a:t>
            </a:r>
          </a:p>
          <a:p>
            <a:r>
              <a:rPr lang="en-US" sz="2000" dirty="0">
                <a:solidFill>
                  <a:srgbClr val="808080"/>
                </a:solidFill>
                <a:highlight>
                  <a:srgbClr val="FFFFFF"/>
                </a:highlight>
                <a:latin typeface="Cascadia Mono" panose="020B0609020000020004" pitchFamily="49" charset="0"/>
              </a:rPr>
              <a:t>#define</a:t>
            </a:r>
            <a:r>
              <a:rPr lang="en-US" sz="2000" dirty="0">
                <a:solidFill>
                  <a:srgbClr val="000000"/>
                </a:solidFill>
                <a:highlight>
                  <a:srgbClr val="FFFFFF"/>
                </a:highlight>
                <a:latin typeface="Cascadia Mono" panose="020B0609020000020004" pitchFamily="49" charset="0"/>
              </a:rPr>
              <a:t> </a:t>
            </a:r>
            <a:r>
              <a:rPr lang="en-US" sz="2000" dirty="0">
                <a:solidFill>
                  <a:srgbClr val="6F008A"/>
                </a:solidFill>
                <a:highlight>
                  <a:srgbClr val="FFFFFF"/>
                </a:highlight>
                <a:latin typeface="Cascadia Mono" panose="020B0609020000020004" pitchFamily="49" charset="0"/>
              </a:rPr>
              <a:t>STRING</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"Good afternoon \n"</a:t>
            </a:r>
            <a:endParaRPr lang="en-US"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printf</a:t>
            </a:r>
            <a:r>
              <a:rPr lang="de-CH" sz="2000" dirty="0">
                <a:solidFill>
                  <a:srgbClr val="000000"/>
                </a:solidFill>
                <a:highlight>
                  <a:srgbClr val="FFFFFF"/>
                </a:highlight>
                <a:latin typeface="Cascadia Mono" panose="020B0609020000020004" pitchFamily="49" charset="0"/>
              </a:rPr>
              <a:t>(</a:t>
            </a:r>
            <a:r>
              <a:rPr lang="de-CH" sz="2000" dirty="0">
                <a:solidFill>
                  <a:srgbClr val="6F008A"/>
                </a:solidFill>
                <a:highlight>
                  <a:srgbClr val="FFFFFF"/>
                </a:highlight>
                <a:latin typeface="Cascadia Mono" panose="020B0609020000020004" pitchFamily="49" charset="0"/>
              </a:rPr>
              <a:t>STRING</a:t>
            </a:r>
            <a:r>
              <a:rPr lang="de-CH" sz="2000" dirty="0">
                <a:solidFill>
                  <a:srgbClr val="000000"/>
                </a:solidFill>
                <a:highlight>
                  <a:srgbClr val="FFFFFF"/>
                </a:highlight>
                <a:latin typeface="Cascadia Mono" panose="020B0609020000020004" pitchFamily="49" charset="0"/>
              </a:rPr>
              <a:t>);</a:t>
            </a:r>
          </a:p>
          <a:p>
            <a:r>
              <a:rPr lang="de-CH" sz="2000" dirty="0">
                <a:solidFill>
                  <a:srgbClr val="808080"/>
                </a:solidFill>
                <a:highlight>
                  <a:srgbClr val="FFFFFF"/>
                </a:highlight>
                <a:latin typeface="Cascadia Mono" panose="020B0609020000020004" pitchFamily="49" charset="0"/>
              </a:rPr>
              <a:t>#undef</a:t>
            </a:r>
            <a:r>
              <a:rPr lang="de-CH" sz="2000" dirty="0">
                <a:solidFill>
                  <a:srgbClr val="000000"/>
                </a:solidFill>
                <a:highlight>
                  <a:srgbClr val="FFFFFF"/>
                </a:highlight>
                <a:latin typeface="Cascadia Mono" panose="020B0609020000020004" pitchFamily="49" charset="0"/>
              </a:rPr>
              <a:t> STRING</a:t>
            </a:r>
          </a:p>
          <a:p>
            <a:r>
              <a:rPr lang="en-US" sz="2000" dirty="0">
                <a:solidFill>
                  <a:srgbClr val="808080"/>
                </a:solidFill>
                <a:highlight>
                  <a:srgbClr val="FFFFFF"/>
                </a:highlight>
                <a:latin typeface="Cascadia Mono" panose="020B0609020000020004" pitchFamily="49" charset="0"/>
              </a:rPr>
              <a:t>#define</a:t>
            </a:r>
            <a:r>
              <a:rPr lang="en-US" sz="2000" dirty="0">
                <a:solidFill>
                  <a:srgbClr val="000000"/>
                </a:solidFill>
                <a:highlight>
                  <a:srgbClr val="FFFFFF"/>
                </a:highlight>
                <a:latin typeface="Cascadia Mono" panose="020B0609020000020004" pitchFamily="49" charset="0"/>
              </a:rPr>
              <a:t> </a:t>
            </a:r>
            <a:r>
              <a:rPr lang="en-US" sz="2000" dirty="0">
                <a:solidFill>
                  <a:srgbClr val="6F008A"/>
                </a:solidFill>
                <a:highlight>
                  <a:srgbClr val="FFFFFF"/>
                </a:highlight>
                <a:latin typeface="Cascadia Mono" panose="020B0609020000020004" pitchFamily="49" charset="0"/>
              </a:rPr>
              <a:t>STRING</a:t>
            </a:r>
            <a:r>
              <a:rPr lang="en-US" sz="2000" dirty="0">
                <a:solidFill>
                  <a:srgbClr val="000000"/>
                </a:solidFill>
                <a:highlight>
                  <a:srgbClr val="FFFFFF"/>
                </a:highlight>
                <a:latin typeface="Cascadia Mono" panose="020B0609020000020004" pitchFamily="49" charset="0"/>
              </a:rPr>
              <a:t> </a:t>
            </a:r>
            <a:r>
              <a:rPr lang="en-US" sz="2000" dirty="0">
                <a:solidFill>
                  <a:srgbClr val="A31515"/>
                </a:solidFill>
                <a:highlight>
                  <a:srgbClr val="FFFFFF"/>
                </a:highlight>
                <a:latin typeface="Cascadia Mono" panose="020B0609020000020004" pitchFamily="49" charset="0"/>
              </a:rPr>
              <a:t>"Good evening \n"</a:t>
            </a:r>
            <a:endParaRPr lang="en-US"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printf</a:t>
            </a:r>
            <a:r>
              <a:rPr lang="de-CH" sz="2000" dirty="0">
                <a:solidFill>
                  <a:srgbClr val="000000"/>
                </a:solidFill>
                <a:highlight>
                  <a:srgbClr val="FFFFFF"/>
                </a:highlight>
                <a:latin typeface="Cascadia Mono" panose="020B0609020000020004" pitchFamily="49" charset="0"/>
              </a:rPr>
              <a:t>(</a:t>
            </a:r>
            <a:r>
              <a:rPr lang="de-CH" sz="2000" dirty="0">
                <a:solidFill>
                  <a:srgbClr val="6F008A"/>
                </a:solidFill>
                <a:highlight>
                  <a:srgbClr val="FFFFFF"/>
                </a:highlight>
                <a:latin typeface="Cascadia Mono" panose="020B0609020000020004" pitchFamily="49" charset="0"/>
              </a:rPr>
              <a:t>STRING</a:t>
            </a:r>
            <a:r>
              <a:rPr lang="de-CH"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0;</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349404188"/>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52839-A18C-4146-44B4-41641C03379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8B7A89-0FC8-294D-7705-7FE6A6DA1EB9}"/>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691642B2-A187-B9FF-9002-49D43D706923}"/>
              </a:ext>
            </a:extLst>
          </p:cNvPr>
          <p:cNvSpPr>
            <a:spLocks noGrp="1"/>
          </p:cNvSpPr>
          <p:nvPr>
            <p:ph idx="1"/>
          </p:nvPr>
        </p:nvSpPr>
        <p:spPr/>
        <p:txBody>
          <a:bodyPr/>
          <a:lstStyle/>
          <a:p>
            <a:r>
              <a:rPr lang="ru-RU" b="1" dirty="0"/>
              <a:t>Определение </a:t>
            </a:r>
            <a:r>
              <a:rPr lang="ru-RU" b="1" dirty="0" err="1"/>
              <a:t>крнстанты</a:t>
            </a:r>
            <a:r>
              <a:rPr lang="ru-RU" b="1" dirty="0"/>
              <a:t> в командной строке</a:t>
            </a:r>
          </a:p>
          <a:p>
            <a:endParaRPr lang="ru-RU" b="1" dirty="0"/>
          </a:p>
          <a:p>
            <a:r>
              <a:rPr lang="ru-RU" dirty="0"/>
              <a:t>При использовании компилятора GCC мы можем с помощью флага </a:t>
            </a:r>
            <a:r>
              <a:rPr lang="ru-RU" b="1" dirty="0"/>
              <a:t>-D</a:t>
            </a:r>
            <a:r>
              <a:rPr lang="ru-RU" dirty="0"/>
              <a:t> определить константу аналогично, как это делается с помощью директивы </a:t>
            </a:r>
            <a:r>
              <a:rPr lang="ru-RU" b="1" dirty="0"/>
              <a:t>%</a:t>
            </a:r>
            <a:r>
              <a:rPr lang="ru-RU" b="1" dirty="0" err="1"/>
              <a:t>define</a:t>
            </a:r>
            <a:r>
              <a:rPr lang="ru-RU" dirty="0"/>
              <a:t>. Для этого применяется выражение</a:t>
            </a:r>
          </a:p>
          <a:p>
            <a:endParaRPr lang="ru-RU" b="1" dirty="0"/>
          </a:p>
          <a:p>
            <a:r>
              <a:rPr lang="de-CH" dirty="0" err="1"/>
              <a:t>gcc</a:t>
            </a:r>
            <a:r>
              <a:rPr lang="de-CH" dirty="0"/>
              <a:t> -D </a:t>
            </a:r>
            <a:r>
              <a:rPr lang="ru-RU" dirty="0"/>
              <a:t>ИДЕНТИФКАТОР=ЗНАЧЕНИЕ</a:t>
            </a:r>
            <a:endParaRPr lang="ru-RU" b="1" dirty="0"/>
          </a:p>
          <a:p>
            <a:endParaRPr lang="ru-RU" dirty="0"/>
          </a:p>
        </p:txBody>
      </p:sp>
    </p:spTree>
    <p:extLst>
      <p:ext uri="{BB962C8B-B14F-4D97-AF65-F5344CB8AC3E}">
        <p14:creationId xmlns:p14="http://schemas.microsoft.com/office/powerpoint/2010/main" val="3826725159"/>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9E5E8-A449-8F6F-FB7A-90DDEE0899C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A5ED94-CD00-1A48-1D76-492DA2A9B328}"/>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67F7AC25-FD73-ADBC-FA96-73CD1C0944E9}"/>
              </a:ext>
            </a:extLst>
          </p:cNvPr>
          <p:cNvSpPr>
            <a:spLocks noGrp="1"/>
          </p:cNvSpPr>
          <p:nvPr>
            <p:ph idx="1"/>
          </p:nvPr>
        </p:nvSpPr>
        <p:spPr>
          <a:xfrm>
            <a:off x="381000" y="1345530"/>
            <a:ext cx="8229600" cy="5248275"/>
          </a:xfrm>
        </p:spPr>
        <p:txBody>
          <a:bodyPr/>
          <a:lstStyle/>
          <a:p>
            <a:r>
              <a:rPr lang="ru-RU" b="1" dirty="0"/>
              <a:t>Макросы</a:t>
            </a:r>
          </a:p>
          <a:p>
            <a:r>
              <a:rPr lang="ru-RU" dirty="0"/>
              <a:t>Все идентификаторы, определяемые с помощью директив #define, которые предполагают замену на определенную последовательность символов, еще называют </a:t>
            </a:r>
            <a:r>
              <a:rPr lang="ru-RU" b="1" dirty="0"/>
              <a:t>макросами</a:t>
            </a:r>
            <a:r>
              <a:rPr lang="ru-RU" dirty="0"/>
              <a:t>.</a:t>
            </a:r>
          </a:p>
          <a:p>
            <a:r>
              <a:rPr lang="ru-RU" dirty="0"/>
              <a:t>Макросы позволяют определять замену не только для отдельных символов, но и для целых выражений:</a:t>
            </a:r>
          </a:p>
          <a:p>
            <a:endParaRPr lang="en-US" dirty="0"/>
          </a:p>
          <a:p>
            <a:r>
              <a:rPr lang="de-CH" sz="1400" dirty="0">
                <a:solidFill>
                  <a:srgbClr val="808080"/>
                </a:solidFill>
                <a:highlight>
                  <a:srgbClr val="FFFFFF"/>
                </a:highlight>
                <a:latin typeface="Cascadia Mono" panose="020B0609020000020004" pitchFamily="49" charset="0"/>
              </a:rPr>
              <a:t>#include</a:t>
            </a:r>
            <a:r>
              <a:rPr lang="de-CH" sz="1400" dirty="0">
                <a:solidFill>
                  <a:srgbClr val="000000"/>
                </a:solidFill>
                <a:highlight>
                  <a:srgbClr val="FFFFFF"/>
                </a:highlight>
                <a:latin typeface="Cascadia Mono" panose="020B0609020000020004" pitchFamily="49" charset="0"/>
              </a:rPr>
              <a:t> </a:t>
            </a:r>
            <a:r>
              <a:rPr lang="de-CH" sz="1400" dirty="0">
                <a:solidFill>
                  <a:srgbClr val="0000FF"/>
                </a:solidFill>
                <a:highlight>
                  <a:srgbClr val="FFFFFF"/>
                </a:highlight>
                <a:latin typeface="Cascadia Mono" panose="020B0609020000020004" pitchFamily="49" charset="0"/>
              </a:rPr>
              <a:t>&lt;</a:t>
            </a:r>
            <a:r>
              <a:rPr lang="de-CH" sz="1400" dirty="0" err="1">
                <a:solidFill>
                  <a:srgbClr val="0000FF"/>
                </a:solidFill>
                <a:highlight>
                  <a:srgbClr val="FFFFFF"/>
                </a:highlight>
                <a:latin typeface="Cascadia Mono" panose="020B0609020000020004" pitchFamily="49" charset="0"/>
              </a:rPr>
              <a:t>stdio.h</a:t>
            </a:r>
            <a:r>
              <a:rPr lang="de-CH" sz="1400" dirty="0">
                <a:solidFill>
                  <a:srgbClr val="0000FF"/>
                </a:solidFill>
                <a:highlight>
                  <a:srgbClr val="FFFFFF"/>
                </a:highlight>
                <a:latin typeface="Cascadia Mono" panose="020B0609020000020004" pitchFamily="49" charset="0"/>
              </a:rPr>
              <a:t>&gt;</a:t>
            </a:r>
            <a:endParaRPr lang="de-CH" sz="1400" dirty="0">
              <a:solidFill>
                <a:srgbClr val="000000"/>
              </a:solidFill>
              <a:highlight>
                <a:srgbClr val="FFFFFF"/>
              </a:highlight>
              <a:latin typeface="Cascadia Mono" panose="020B0609020000020004" pitchFamily="49" charset="0"/>
            </a:endParaRPr>
          </a:p>
          <a:p>
            <a:endParaRPr lang="ru-RU" sz="1400" dirty="0">
              <a:solidFill>
                <a:srgbClr val="000000"/>
              </a:solidFill>
              <a:highlight>
                <a:srgbClr val="FFFFFF"/>
              </a:highlight>
              <a:latin typeface="Cascadia Mono" panose="020B0609020000020004" pitchFamily="49" charset="0"/>
            </a:endParaRPr>
          </a:p>
          <a:p>
            <a:r>
              <a:rPr lang="de-CH" sz="1400" dirty="0">
                <a:solidFill>
                  <a:srgbClr val="808080"/>
                </a:solidFill>
                <a:highlight>
                  <a:srgbClr val="FFFFFF"/>
                </a:highlight>
                <a:latin typeface="Cascadia Mono" panose="020B0609020000020004" pitchFamily="49" charset="0"/>
              </a:rPr>
              <a:t>#define</a:t>
            </a:r>
            <a:r>
              <a:rPr lang="de-CH" sz="1400" dirty="0">
                <a:solidFill>
                  <a:srgbClr val="000000"/>
                </a:solidFill>
                <a:highlight>
                  <a:srgbClr val="FFFFFF"/>
                </a:highlight>
                <a:latin typeface="Cascadia Mono" panose="020B0609020000020004" pitchFamily="49" charset="0"/>
              </a:rPr>
              <a:t> </a:t>
            </a:r>
            <a:r>
              <a:rPr lang="de-CH" sz="1400" dirty="0">
                <a:solidFill>
                  <a:srgbClr val="6F008A"/>
                </a:solidFill>
                <a:highlight>
                  <a:srgbClr val="FFFFFF"/>
                </a:highlight>
                <a:latin typeface="Cascadia Mono" panose="020B0609020000020004" pitchFamily="49" charset="0"/>
              </a:rPr>
              <a:t>HELLO</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printf</a:t>
            </a:r>
            <a:r>
              <a:rPr lang="de-CH" sz="1400" dirty="0">
                <a:solidFill>
                  <a:srgbClr val="000000"/>
                </a:solidFill>
                <a:highlight>
                  <a:srgbClr val="FFFFFF"/>
                </a:highlight>
                <a:latin typeface="Cascadia Mono" panose="020B0609020000020004" pitchFamily="49" charset="0"/>
              </a:rPr>
              <a:t>(</a:t>
            </a:r>
            <a:r>
              <a:rPr lang="de-CH" sz="1400" dirty="0">
                <a:solidFill>
                  <a:srgbClr val="A31515"/>
                </a:solidFill>
                <a:highlight>
                  <a:srgbClr val="FFFFFF"/>
                </a:highlight>
                <a:latin typeface="Cascadia Mono" panose="020B0609020000020004" pitchFamily="49" charset="0"/>
              </a:rPr>
              <a:t>"Hello World! \n"</a:t>
            </a:r>
            <a:r>
              <a:rPr lang="de-CH" sz="1400" dirty="0">
                <a:solidFill>
                  <a:srgbClr val="000000"/>
                </a:solidFill>
                <a:highlight>
                  <a:srgbClr val="FFFFFF"/>
                </a:highlight>
                <a:latin typeface="Cascadia Mono" panose="020B0609020000020004" pitchFamily="49" charset="0"/>
              </a:rPr>
              <a:t>)</a:t>
            </a:r>
          </a:p>
          <a:p>
            <a:r>
              <a:rPr lang="de-CH" sz="1400" dirty="0">
                <a:solidFill>
                  <a:srgbClr val="808080"/>
                </a:solidFill>
                <a:highlight>
                  <a:srgbClr val="FFFFFF"/>
                </a:highlight>
                <a:latin typeface="Cascadia Mono" panose="020B0609020000020004" pitchFamily="49" charset="0"/>
              </a:rPr>
              <a:t>#define</a:t>
            </a:r>
            <a:r>
              <a:rPr lang="de-CH" sz="1400" dirty="0">
                <a:solidFill>
                  <a:srgbClr val="000000"/>
                </a:solidFill>
                <a:highlight>
                  <a:srgbClr val="FFFFFF"/>
                </a:highlight>
                <a:latin typeface="Cascadia Mono" panose="020B0609020000020004" pitchFamily="49" charset="0"/>
              </a:rPr>
              <a:t> </a:t>
            </a:r>
            <a:r>
              <a:rPr lang="de-CH" sz="1400" dirty="0">
                <a:solidFill>
                  <a:srgbClr val="6F008A"/>
                </a:solidFill>
                <a:highlight>
                  <a:srgbClr val="FFFFFF"/>
                </a:highlight>
                <a:latin typeface="Cascadia Mono" panose="020B0609020000020004" pitchFamily="49" charset="0"/>
              </a:rPr>
              <a:t>FOR</a:t>
            </a:r>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for</a:t>
            </a:r>
            <a:r>
              <a:rPr lang="de-CH" sz="1400" dirty="0">
                <a:solidFill>
                  <a:srgbClr val="000000"/>
                </a:solidFill>
                <a:highlight>
                  <a:srgbClr val="FFFFFF"/>
                </a:highlight>
                <a:latin typeface="Cascadia Mono" panose="020B0609020000020004" pitchFamily="49" charset="0"/>
              </a:rPr>
              <a:t>(</a:t>
            </a:r>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i=0; i&lt;4; i++)</a:t>
            </a:r>
          </a:p>
          <a:p>
            <a:endParaRPr lang="ru-RU" sz="1400" dirty="0">
              <a:solidFill>
                <a:srgbClr val="000000"/>
              </a:solidFill>
              <a:highlight>
                <a:srgbClr val="FFFFFF"/>
              </a:highlight>
              <a:latin typeface="Cascadia Mono" panose="020B0609020000020004" pitchFamily="49" charset="0"/>
            </a:endParaRP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r>
              <a:rPr lang="de-CH" sz="1400" dirty="0" err="1">
                <a:solidFill>
                  <a:srgbClr val="0000FF"/>
                </a:solidFill>
                <a:highlight>
                  <a:srgbClr val="FFFFFF"/>
                </a:highlight>
                <a:latin typeface="Cascadia Mono" panose="020B0609020000020004" pitchFamily="49" charset="0"/>
              </a:rPr>
              <a:t>void</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r>
              <a:rPr lang="de-CH" sz="1400" dirty="0">
                <a:solidFill>
                  <a:srgbClr val="000000"/>
                </a:solidFill>
                <a:highlight>
                  <a:srgbClr val="FFFFFF"/>
                </a:highlight>
                <a:latin typeface="Cascadia Mono" panose="020B0609020000020004" pitchFamily="49" charset="0"/>
              </a:rPr>
              <a:t>    </a:t>
            </a:r>
            <a:r>
              <a:rPr lang="de-CH" sz="1400" dirty="0">
                <a:solidFill>
                  <a:srgbClr val="6F008A"/>
                </a:solidFill>
                <a:highlight>
                  <a:srgbClr val="FFFFFF"/>
                </a:highlight>
                <a:latin typeface="Cascadia Mono" panose="020B0609020000020004" pitchFamily="49" charset="0"/>
              </a:rPr>
              <a:t>FOR</a:t>
            </a:r>
            <a:r>
              <a:rPr lang="de-CH" sz="1400" dirty="0">
                <a:solidFill>
                  <a:srgbClr val="000000"/>
                </a:solidFill>
                <a:highlight>
                  <a:srgbClr val="FFFFFF"/>
                </a:highlight>
                <a:latin typeface="Cascadia Mono" panose="020B0609020000020004" pitchFamily="49" charset="0"/>
              </a:rPr>
              <a:t> </a:t>
            </a:r>
            <a:r>
              <a:rPr lang="de-CH" sz="1400" dirty="0">
                <a:solidFill>
                  <a:srgbClr val="6F008A"/>
                </a:solidFill>
                <a:highlight>
                  <a:srgbClr val="FFFFFF"/>
                </a:highlight>
                <a:latin typeface="Cascadia Mono" panose="020B0609020000020004" pitchFamily="49" charset="0"/>
              </a:rPr>
              <a:t>HELLO</a:t>
            </a:r>
            <a:r>
              <a:rPr lang="de-CH" sz="1400" dirty="0">
                <a:solidFill>
                  <a:srgbClr val="000000"/>
                </a:solidFill>
                <a:highlight>
                  <a:srgbClr val="FFFFFF"/>
                </a:highlight>
                <a:latin typeface="Cascadia Mono" panose="020B0609020000020004" pitchFamily="49" charset="0"/>
              </a:rPr>
              <a:t>;</a:t>
            </a:r>
          </a:p>
          <a:p>
            <a:r>
              <a:rPr lang="de-CH" sz="1400" dirty="0">
                <a:solidFill>
                  <a:srgbClr val="000000"/>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return</a:t>
            </a:r>
            <a:r>
              <a:rPr lang="de-CH" sz="1400" dirty="0">
                <a:solidFill>
                  <a:srgbClr val="000000"/>
                </a:solidFill>
                <a:highlight>
                  <a:srgbClr val="FFFFFF"/>
                </a:highlight>
                <a:latin typeface="Cascadia Mono" panose="020B0609020000020004" pitchFamily="49" charset="0"/>
              </a:rPr>
              <a:t> 0;</a:t>
            </a:r>
          </a:p>
          <a:p>
            <a:r>
              <a:rPr lang="ru-RU" sz="1400" dirty="0">
                <a:solidFill>
                  <a:srgbClr val="000000"/>
                </a:solidFill>
                <a:highlight>
                  <a:srgbClr val="FFFFFF"/>
                </a:highlight>
                <a:latin typeface="Cascadia Mono" panose="020B0609020000020004" pitchFamily="49" charset="0"/>
              </a:rPr>
              <a:t>}</a:t>
            </a:r>
            <a:endParaRPr lang="ru-RU" sz="1400" dirty="0"/>
          </a:p>
        </p:txBody>
      </p:sp>
    </p:spTree>
    <p:extLst>
      <p:ext uri="{BB962C8B-B14F-4D97-AF65-F5344CB8AC3E}">
        <p14:creationId xmlns:p14="http://schemas.microsoft.com/office/powerpoint/2010/main" val="4270637647"/>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AFC33-3036-5E3C-3D8F-4C9D2BE0191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538D922-7BA6-2A6A-B311-647207B359AA}"/>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E7C635D4-EC34-B6D6-46B3-4678341D58EC}"/>
              </a:ext>
            </a:extLst>
          </p:cNvPr>
          <p:cNvSpPr>
            <a:spLocks noGrp="1"/>
          </p:cNvSpPr>
          <p:nvPr>
            <p:ph idx="1"/>
          </p:nvPr>
        </p:nvSpPr>
        <p:spPr/>
        <p:txBody>
          <a:bodyPr/>
          <a:lstStyle/>
          <a:p>
            <a:r>
              <a:rPr lang="ru-RU" sz="1800" dirty="0"/>
              <a:t>Макроподстановка с параметрами</a:t>
            </a:r>
          </a:p>
          <a:p>
            <a:endParaRPr lang="en-US" sz="1800" dirty="0"/>
          </a:p>
          <a:p>
            <a:r>
              <a:rPr lang="ru-RU" sz="1800" dirty="0"/>
              <a:t> Определение макроса с параметрами</a:t>
            </a:r>
            <a:endParaRPr lang="en-US" sz="1800" dirty="0"/>
          </a:p>
          <a:p>
            <a:r>
              <a:rPr lang="ru-RU" sz="1800" dirty="0"/>
              <a:t>#define </a:t>
            </a:r>
            <a:r>
              <a:rPr lang="ru-RU" sz="1800" dirty="0" err="1"/>
              <a:t>имя_макроса</a:t>
            </a:r>
            <a:r>
              <a:rPr lang="ru-RU" sz="1800" dirty="0"/>
              <a:t>(</a:t>
            </a:r>
            <a:r>
              <a:rPr lang="ru-RU" sz="1800" dirty="0" err="1"/>
              <a:t>список_параметров</a:t>
            </a:r>
            <a:r>
              <a:rPr lang="ru-RU" sz="1800" dirty="0"/>
              <a:t>) </a:t>
            </a:r>
            <a:r>
              <a:rPr lang="ru-RU" sz="1800" dirty="0" err="1"/>
              <a:t>последовательность_символов</a:t>
            </a:r>
            <a:endParaRPr lang="ru-RU" sz="1800" dirty="0"/>
          </a:p>
          <a:p>
            <a:endParaRPr lang="ru-RU" sz="1800" dirty="0"/>
          </a:p>
          <a:p>
            <a:r>
              <a:rPr lang="ru-RU" sz="1800" dirty="0"/>
              <a:t>Обращение к макросу с параметрами.</a:t>
            </a:r>
          </a:p>
          <a:p>
            <a:endParaRPr lang="ru-RU" sz="1800" dirty="0"/>
          </a:p>
          <a:p>
            <a:r>
              <a:rPr lang="ru-RU" sz="1800" dirty="0"/>
              <a:t>	</a:t>
            </a:r>
          </a:p>
          <a:p>
            <a:r>
              <a:rPr lang="ru-RU" sz="1800" dirty="0" err="1"/>
              <a:t>имя_макроса</a:t>
            </a:r>
            <a:r>
              <a:rPr lang="ru-RU" sz="1800" dirty="0"/>
              <a:t>(</a:t>
            </a:r>
            <a:r>
              <a:rPr lang="ru-RU" sz="1800" dirty="0" err="1"/>
              <a:t>список_аргументов</a:t>
            </a:r>
            <a:r>
              <a:rPr lang="ru-RU" sz="1800" dirty="0"/>
              <a:t>)</a:t>
            </a:r>
          </a:p>
        </p:txBody>
      </p:sp>
    </p:spTree>
    <p:extLst>
      <p:ext uri="{BB962C8B-B14F-4D97-AF65-F5344CB8AC3E}">
        <p14:creationId xmlns:p14="http://schemas.microsoft.com/office/powerpoint/2010/main" val="4201027957"/>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29AF7-D8E1-0E47-F545-EDDC35A9ECE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600876-5518-6F55-C654-A2E68F2038E8}"/>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3C9C357B-3D22-1A69-2CB2-D656F5B4126D}"/>
              </a:ext>
            </a:extLst>
          </p:cNvPr>
          <p:cNvSpPr>
            <a:spLocks noGrp="1"/>
          </p:cNvSpPr>
          <p:nvPr>
            <p:ph idx="1"/>
          </p:nvPr>
        </p:nvSpPr>
        <p:spPr/>
        <p:txBody>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&lt;</a:t>
            </a:r>
            <a:r>
              <a:rPr lang="de-CH" sz="2000" dirty="0" err="1">
                <a:solidFill>
                  <a:srgbClr val="0000FF"/>
                </a:solidFill>
                <a:highlight>
                  <a:srgbClr val="FFFFFF"/>
                </a:highlight>
                <a:latin typeface="Cascadia Mono" panose="020B0609020000020004" pitchFamily="49" charset="0"/>
              </a:rPr>
              <a:t>stdio.h</a:t>
            </a:r>
            <a:r>
              <a:rPr lang="de-CH" sz="2000" dirty="0">
                <a:solidFill>
                  <a:srgbClr val="0000FF"/>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err="1">
                <a:solidFill>
                  <a:srgbClr val="6F008A"/>
                </a:solidFill>
                <a:highlight>
                  <a:srgbClr val="FFFFFF"/>
                </a:highlight>
                <a:latin typeface="Cascadia Mono" panose="020B0609020000020004" pitchFamily="49" charset="0"/>
              </a:rPr>
              <a:t>print</a:t>
            </a:r>
            <a:r>
              <a:rPr lang="de-CH" sz="2000" dirty="0">
                <a:solidFill>
                  <a:srgbClr val="000000"/>
                </a:solidFill>
                <a:highlight>
                  <a:srgbClr val="FFFFFF"/>
                </a:highlight>
                <a:latin typeface="Cascadia Mono" panose="020B0609020000020004" pitchFamily="49" charset="0"/>
              </a:rPr>
              <a:t>(a) </a:t>
            </a:r>
            <a:r>
              <a:rPr lang="de-CH" sz="2000" dirty="0" err="1">
                <a:solidFill>
                  <a:srgbClr val="000000"/>
                </a:solidFill>
                <a:highlight>
                  <a:srgbClr val="FFFFFF"/>
                </a:highlight>
                <a:latin typeface="Cascadia Mono" panose="020B0609020000020004" pitchFamily="49" charset="0"/>
              </a:rPr>
              <a:t>printf</a:t>
            </a:r>
            <a:r>
              <a:rPr lang="de-CH" sz="2000" dirty="0">
                <a:solidFill>
                  <a:srgbClr val="000000"/>
                </a:solidFill>
                <a:highlight>
                  <a:srgbClr val="FFFFFF"/>
                </a:highlight>
                <a:latin typeface="Cascadia Mono" panose="020B0609020000020004" pitchFamily="49" charset="0"/>
              </a:rPr>
              <a:t>(</a:t>
            </a:r>
            <a:r>
              <a:rPr lang="de-CH" sz="2000" dirty="0">
                <a:solidFill>
                  <a:srgbClr val="A31515"/>
                </a:solidFill>
                <a:highlight>
                  <a:srgbClr val="FFFFFF"/>
                </a:highlight>
                <a:latin typeface="Cascadia Mono" panose="020B0609020000020004" pitchFamily="49" charset="0"/>
              </a:rPr>
              <a:t>"%d \n"</a:t>
            </a:r>
            <a:r>
              <a:rPr lang="de-CH" sz="2000" dirty="0">
                <a:solidFill>
                  <a:srgbClr val="000000"/>
                </a:solidFill>
                <a:highlight>
                  <a:srgbClr val="FFFFFF"/>
                </a:highlight>
                <a:latin typeface="Cascadia Mono" panose="020B0609020000020004" pitchFamily="49" charset="0"/>
              </a:rPr>
              <a:t>, a)</a:t>
            </a: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r>
              <a:rPr lang="de-CH" sz="2000" dirty="0" err="1">
                <a:solidFill>
                  <a:srgbClr val="0000FF"/>
                </a:solidFill>
                <a:highlight>
                  <a:srgbClr val="FFFFFF"/>
                </a:highlight>
                <a:latin typeface="Cascadia Mono" panose="020B0609020000020004" pitchFamily="49" charset="0"/>
              </a:rPr>
              <a:t>void</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x = 10;</a:t>
            </a:r>
          </a:p>
          <a:p>
            <a:r>
              <a:rPr lang="de-CH" sz="2000" dirty="0">
                <a:solidFill>
                  <a:srgbClr val="000000"/>
                </a:solidFill>
                <a:highlight>
                  <a:srgbClr val="FFFFFF"/>
                </a:highlight>
                <a:latin typeface="Cascadia Mono" panose="020B0609020000020004" pitchFamily="49" charset="0"/>
              </a:rPr>
              <a:t>    </a:t>
            </a:r>
            <a:r>
              <a:rPr lang="de-CH" sz="2000" dirty="0" err="1">
                <a:solidFill>
                  <a:srgbClr val="6F008A"/>
                </a:solidFill>
                <a:highlight>
                  <a:srgbClr val="FFFFFF"/>
                </a:highlight>
                <a:latin typeface="Cascadia Mono" panose="020B0609020000020004" pitchFamily="49" charset="0"/>
              </a:rPr>
              <a:t>print</a:t>
            </a:r>
            <a:r>
              <a:rPr lang="de-CH" sz="2000" dirty="0">
                <a:solidFill>
                  <a:srgbClr val="000000"/>
                </a:solidFill>
                <a:highlight>
                  <a:srgbClr val="FFFFFF"/>
                </a:highlight>
                <a:latin typeface="Cascadia Mono" panose="020B0609020000020004" pitchFamily="49" charset="0"/>
              </a:rPr>
              <a:t>(x);</a:t>
            </a:r>
          </a:p>
          <a:p>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y = 20;</a:t>
            </a:r>
          </a:p>
          <a:p>
            <a:r>
              <a:rPr lang="de-CH" sz="2000" dirty="0">
                <a:solidFill>
                  <a:srgbClr val="000000"/>
                </a:solidFill>
                <a:highlight>
                  <a:srgbClr val="FFFFFF"/>
                </a:highlight>
                <a:latin typeface="Cascadia Mono" panose="020B0609020000020004" pitchFamily="49" charset="0"/>
              </a:rPr>
              <a:t>    </a:t>
            </a:r>
            <a:r>
              <a:rPr lang="de-CH" sz="2000" dirty="0" err="1">
                <a:solidFill>
                  <a:srgbClr val="6F008A"/>
                </a:solidFill>
                <a:highlight>
                  <a:srgbClr val="FFFFFF"/>
                </a:highlight>
                <a:latin typeface="Cascadia Mono" panose="020B0609020000020004" pitchFamily="49" charset="0"/>
              </a:rPr>
              <a:t>print</a:t>
            </a:r>
            <a:r>
              <a:rPr lang="de-CH" sz="2000" dirty="0">
                <a:solidFill>
                  <a:srgbClr val="000000"/>
                </a:solidFill>
                <a:highlight>
                  <a:srgbClr val="FFFFFF"/>
                </a:highlight>
                <a:latin typeface="Cascadia Mono" panose="020B0609020000020004" pitchFamily="49" charset="0"/>
              </a:rPr>
              <a:t>(y);</a:t>
            </a:r>
          </a:p>
          <a:p>
            <a:r>
              <a:rPr lang="de-CH" sz="2000" dirty="0">
                <a:solidFill>
                  <a:srgbClr val="000000"/>
                </a:solidFill>
                <a:highlight>
                  <a:srgbClr val="FFFFFF"/>
                </a:highlight>
                <a:latin typeface="Cascadia Mono" panose="020B0609020000020004" pitchFamily="49" charset="0"/>
              </a:rPr>
              <a:t>    </a:t>
            </a:r>
            <a:r>
              <a:rPr lang="de-CH" sz="2000" dirty="0" err="1">
                <a:solidFill>
                  <a:srgbClr val="6F008A"/>
                </a:solidFill>
                <a:highlight>
                  <a:srgbClr val="FFFFFF"/>
                </a:highlight>
                <a:latin typeface="Cascadia Mono" panose="020B0609020000020004" pitchFamily="49" charset="0"/>
              </a:rPr>
              <a:t>print</a:t>
            </a:r>
            <a:r>
              <a:rPr lang="de-CH" sz="2000" dirty="0">
                <a:solidFill>
                  <a:srgbClr val="000000"/>
                </a:solidFill>
                <a:highlight>
                  <a:srgbClr val="FFFFFF"/>
                </a:highlight>
                <a:latin typeface="Cascadia Mono" panose="020B0609020000020004" pitchFamily="49" charset="0"/>
              </a:rPr>
              <a:t>(22);</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0;</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366287450"/>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304A1-0A32-FF9D-AC7C-DE232E62D53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B3504F-E170-3B7D-5F7D-A5210B217159}"/>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E974A2B6-23C6-DBA2-BBC8-807D4C578CC2}"/>
              </a:ext>
            </a:extLst>
          </p:cNvPr>
          <p:cNvSpPr>
            <a:spLocks noGrp="1"/>
          </p:cNvSpPr>
          <p:nvPr>
            <p:ph idx="1"/>
          </p:nvPr>
        </p:nvSpPr>
        <p:spPr/>
        <p:txBody>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stdio.h</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t</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endParaRPr lang="de-CH"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err="1">
                <a:solidFill>
                  <a:srgbClr val="6F008A"/>
                </a:solidFill>
                <a:highlight>
                  <a:srgbClr val="FFFFFF"/>
                </a:highlight>
                <a:latin typeface="Cascadia Mono" panose="020B0609020000020004" pitchFamily="49" charset="0"/>
              </a:rPr>
              <a:t>swap</a:t>
            </a:r>
            <a:r>
              <a:rPr lang="de-CH" sz="2000" dirty="0">
                <a:solidFill>
                  <a:srgbClr val="000000"/>
                </a:solidFill>
                <a:highlight>
                  <a:srgbClr val="FFFFFF"/>
                </a:highlight>
                <a:latin typeface="Cascadia Mono" panose="020B0609020000020004" pitchFamily="49" charset="0"/>
              </a:rPr>
              <a:t>(t, x, y) { </a:t>
            </a:r>
            <a:r>
              <a:rPr lang="de-CH" sz="2000" dirty="0">
                <a:solidFill>
                  <a:srgbClr val="6F008A"/>
                </a:solidFill>
                <a:highlight>
                  <a:srgbClr val="FFFFFF"/>
                </a:highlight>
                <a:latin typeface="Cascadia Mono" panose="020B0609020000020004" pitchFamily="49" charset="0"/>
              </a:rPr>
              <a:t>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temp</a:t>
            </a:r>
            <a:r>
              <a:rPr lang="de-CH" sz="2000" dirty="0">
                <a:solidFill>
                  <a:srgbClr val="000000"/>
                </a:solidFill>
                <a:highlight>
                  <a:srgbClr val="FFFFFF"/>
                </a:highlight>
                <a:latin typeface="Cascadia Mono" panose="020B0609020000020004" pitchFamily="49" charset="0"/>
              </a:rPr>
              <a:t> = x; x = y; y=</a:t>
            </a:r>
            <a:r>
              <a:rPr lang="de-CH" sz="2000" dirty="0" err="1">
                <a:solidFill>
                  <a:srgbClr val="000000"/>
                </a:solidFill>
                <a:highlight>
                  <a:srgbClr val="FFFFFF"/>
                </a:highlight>
                <a:latin typeface="Cascadia Mono" panose="020B0609020000020004" pitchFamily="49" charset="0"/>
              </a:rPr>
              <a:t>temp</a:t>
            </a:r>
            <a:r>
              <a:rPr lang="de-CH" sz="2000" dirty="0">
                <a:solidFill>
                  <a:srgbClr val="000000"/>
                </a:solidFill>
                <a:highlight>
                  <a:srgbClr val="FFFFFF"/>
                </a:highlight>
                <a:latin typeface="Cascadia Mono" panose="020B0609020000020004" pitchFamily="49" charset="0"/>
              </a:rPr>
              <a:t>;}</a:t>
            </a: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r>
              <a:rPr lang="de-CH" sz="2000" dirty="0" err="1">
                <a:solidFill>
                  <a:srgbClr val="0000FF"/>
                </a:solidFill>
                <a:highlight>
                  <a:srgbClr val="FFFFFF"/>
                </a:highlight>
                <a:latin typeface="Cascadia Mono" panose="020B0609020000020004" pitchFamily="49" charset="0"/>
              </a:rPr>
              <a:t>void</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t</a:t>
            </a:r>
            <a:r>
              <a:rPr lang="de-CH" sz="2000" dirty="0">
                <a:solidFill>
                  <a:srgbClr val="000000"/>
                </a:solidFill>
                <a:highlight>
                  <a:srgbClr val="FFFFFF"/>
                </a:highlight>
                <a:latin typeface="Cascadia Mono" panose="020B0609020000020004" pitchFamily="49" charset="0"/>
              </a:rPr>
              <a:t> x = 4;</a:t>
            </a:r>
          </a:p>
          <a:p>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t</a:t>
            </a:r>
            <a:r>
              <a:rPr lang="de-CH" sz="2000" dirty="0">
                <a:solidFill>
                  <a:srgbClr val="000000"/>
                </a:solidFill>
                <a:highlight>
                  <a:srgbClr val="FFFFFF"/>
                </a:highlight>
                <a:latin typeface="Cascadia Mono" panose="020B0609020000020004" pitchFamily="49" charset="0"/>
              </a:rPr>
              <a:t> y = 10;</a:t>
            </a:r>
          </a:p>
          <a:p>
            <a:r>
              <a:rPr lang="de-CH" sz="2000" dirty="0">
                <a:solidFill>
                  <a:srgbClr val="000000"/>
                </a:solidFill>
                <a:highlight>
                  <a:srgbClr val="FFFFFF"/>
                </a:highlight>
                <a:latin typeface="Cascadia Mono" panose="020B0609020000020004" pitchFamily="49" charset="0"/>
              </a:rPr>
              <a:t>    </a:t>
            </a:r>
            <a:r>
              <a:rPr lang="de-CH" sz="2000" dirty="0" err="1">
                <a:solidFill>
                  <a:srgbClr val="6F008A"/>
                </a:solidFill>
                <a:highlight>
                  <a:srgbClr val="FFFFFF"/>
                </a:highlight>
                <a:latin typeface="Cascadia Mono" panose="020B0609020000020004" pitchFamily="49" charset="0"/>
              </a:rPr>
              <a:t>swap</a:t>
            </a:r>
            <a:r>
              <a:rPr lang="de-CH" sz="2000" dirty="0">
                <a:solidFill>
                  <a:srgbClr val="000000"/>
                </a:solidFill>
                <a:highlight>
                  <a:srgbClr val="FFFFFF"/>
                </a:highlight>
                <a:latin typeface="Cascadia Mono" panose="020B0609020000020004" pitchFamily="49" charset="0"/>
              </a:rPr>
              <a:t>(</a:t>
            </a:r>
            <a:r>
              <a:rPr lang="de-CH" sz="2000" dirty="0">
                <a:solidFill>
                  <a:srgbClr val="6F008A"/>
                </a:solidFill>
                <a:highlight>
                  <a:srgbClr val="FFFFFF"/>
                </a:highlight>
                <a:latin typeface="Cascadia Mono" panose="020B0609020000020004" pitchFamily="49" charset="0"/>
              </a:rPr>
              <a:t>t</a:t>
            </a:r>
            <a:r>
              <a:rPr lang="de-CH" sz="2000" dirty="0">
                <a:solidFill>
                  <a:srgbClr val="000000"/>
                </a:solidFill>
                <a:highlight>
                  <a:srgbClr val="FFFFFF"/>
                </a:highlight>
                <a:latin typeface="Cascadia Mono" panose="020B0609020000020004" pitchFamily="49" charset="0"/>
              </a:rPr>
              <a:t>, x, y)</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printf</a:t>
            </a:r>
            <a:r>
              <a:rPr lang="de-CH" sz="2000" dirty="0">
                <a:solidFill>
                  <a:srgbClr val="000000"/>
                </a:solidFill>
                <a:highlight>
                  <a:srgbClr val="FFFFFF"/>
                </a:highlight>
                <a:latin typeface="Cascadia Mono" panose="020B0609020000020004" pitchFamily="49" charset="0"/>
              </a:rPr>
              <a:t>(</a:t>
            </a:r>
            <a:r>
              <a:rPr lang="de-CH" sz="2000" dirty="0">
                <a:solidFill>
                  <a:srgbClr val="A31515"/>
                </a:solidFill>
                <a:highlight>
                  <a:srgbClr val="FFFFFF"/>
                </a:highlight>
                <a:latin typeface="Cascadia Mono" panose="020B0609020000020004" pitchFamily="49" charset="0"/>
              </a:rPr>
              <a:t>"x=%d \t y=%d"</a:t>
            </a:r>
            <a:r>
              <a:rPr lang="de-CH" sz="2000" dirty="0">
                <a:solidFill>
                  <a:srgbClr val="000000"/>
                </a:solidFill>
                <a:highlight>
                  <a:srgbClr val="FFFFFF"/>
                </a:highlight>
                <a:latin typeface="Cascadia Mono" panose="020B0609020000020004" pitchFamily="49" charset="0"/>
              </a:rPr>
              <a:t>, x, y);</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0;</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046820131"/>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D0A8E-1515-DE84-FD31-92C210F57F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DCF71E-1730-E7E1-0B81-B98F2B52B28A}"/>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6993A0CE-1E9C-4BE4-93A4-2C30438D242F}"/>
              </a:ext>
            </a:extLst>
          </p:cNvPr>
          <p:cNvSpPr>
            <a:spLocks noGrp="1"/>
          </p:cNvSpPr>
          <p:nvPr>
            <p:ph idx="1"/>
          </p:nvPr>
        </p:nvSpPr>
        <p:spPr/>
        <p:txBody>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stdio.h</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r>
              <a:rPr lang="de-CH" sz="2000" dirty="0">
                <a:solidFill>
                  <a:srgbClr val="808080"/>
                </a:solidFill>
                <a:highlight>
                  <a:srgbClr val="FFFFFF"/>
                </a:highlight>
                <a:latin typeface="Cascadia Mono" panose="020B0609020000020004" pitchFamily="49" charset="0"/>
              </a:rPr>
              <a:t>#define</a:t>
            </a:r>
            <a:r>
              <a:rPr lang="de-CH" sz="2000" dirty="0">
                <a:solidFill>
                  <a:srgbClr val="000000"/>
                </a:solidFill>
                <a:highlight>
                  <a:srgbClr val="FFFFFF"/>
                </a:highlight>
                <a:latin typeface="Cascadia Mono" panose="020B0609020000020004" pitchFamily="49" charset="0"/>
              </a:rPr>
              <a:t> </a:t>
            </a:r>
            <a:r>
              <a:rPr lang="de-CH" sz="2000" dirty="0">
                <a:solidFill>
                  <a:srgbClr val="6F008A"/>
                </a:solidFill>
                <a:highlight>
                  <a:srgbClr val="FFFFFF"/>
                </a:highlight>
                <a:latin typeface="Cascadia Mono" panose="020B0609020000020004" pitchFamily="49" charset="0"/>
              </a:rPr>
              <a:t>min</a:t>
            </a:r>
            <a:r>
              <a:rPr lang="de-CH" sz="2000" dirty="0">
                <a:solidFill>
                  <a:srgbClr val="000000"/>
                </a:solidFill>
                <a:highlight>
                  <a:srgbClr val="FFFFFF"/>
                </a:highlight>
                <a:latin typeface="Cascadia Mono" panose="020B0609020000020004" pitchFamily="49" charset="0"/>
              </a:rPr>
              <a:t>(</a:t>
            </a:r>
            <a:r>
              <a:rPr lang="de-CH" sz="2000" dirty="0" err="1">
                <a:solidFill>
                  <a:srgbClr val="000000"/>
                </a:solidFill>
                <a:highlight>
                  <a:srgbClr val="FFFFFF"/>
                </a:highlight>
                <a:latin typeface="Cascadia Mono" panose="020B0609020000020004" pitchFamily="49" charset="0"/>
              </a:rPr>
              <a:t>a,b</a:t>
            </a:r>
            <a:r>
              <a:rPr lang="de-CH" sz="2000" dirty="0">
                <a:solidFill>
                  <a:srgbClr val="000000"/>
                </a:solidFill>
                <a:highlight>
                  <a:srgbClr val="FFFFFF"/>
                </a:highlight>
                <a:latin typeface="Cascadia Mono" panose="020B0609020000020004" pitchFamily="49" charset="0"/>
              </a:rPr>
              <a:t>) (a &lt; b ? a : b)</a:t>
            </a: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r>
              <a:rPr lang="de-CH" sz="2000" dirty="0" err="1">
                <a:solidFill>
                  <a:srgbClr val="0000FF"/>
                </a:solidFill>
                <a:highlight>
                  <a:srgbClr val="FFFFFF"/>
                </a:highlight>
                <a:latin typeface="Cascadia Mono" panose="020B0609020000020004" pitchFamily="49" charset="0"/>
              </a:rPr>
              <a:t>void</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x = 23;</a:t>
            </a:r>
          </a:p>
          <a:p>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y = 14;</a:t>
            </a:r>
          </a:p>
          <a:p>
            <a:r>
              <a:rPr lang="pl-PL" sz="2000" dirty="0">
                <a:solidFill>
                  <a:srgbClr val="000000"/>
                </a:solidFill>
                <a:highlight>
                  <a:srgbClr val="FFFFFF"/>
                </a:highlight>
                <a:latin typeface="Cascadia Mono" panose="020B0609020000020004" pitchFamily="49" charset="0"/>
              </a:rPr>
              <a:t>    </a:t>
            </a:r>
            <a:r>
              <a:rPr lang="pl-PL" sz="2000" dirty="0">
                <a:solidFill>
                  <a:srgbClr val="0000FF"/>
                </a:solidFill>
                <a:highlight>
                  <a:srgbClr val="FFFFFF"/>
                </a:highlight>
                <a:latin typeface="Cascadia Mono" panose="020B0609020000020004" pitchFamily="49" charset="0"/>
              </a:rPr>
              <a:t>int</a:t>
            </a:r>
            <a:r>
              <a:rPr lang="pl-PL" sz="2000" dirty="0">
                <a:solidFill>
                  <a:srgbClr val="000000"/>
                </a:solidFill>
                <a:highlight>
                  <a:srgbClr val="FFFFFF"/>
                </a:highlight>
                <a:latin typeface="Cascadia Mono" panose="020B0609020000020004" pitchFamily="49" charset="0"/>
              </a:rPr>
              <a:t> z = </a:t>
            </a:r>
            <a:r>
              <a:rPr lang="pl-PL" sz="2000" dirty="0">
                <a:solidFill>
                  <a:srgbClr val="6F008A"/>
                </a:solidFill>
                <a:highlight>
                  <a:srgbClr val="FFFFFF"/>
                </a:highlight>
                <a:latin typeface="Cascadia Mono" panose="020B0609020000020004" pitchFamily="49" charset="0"/>
              </a:rPr>
              <a:t>min</a:t>
            </a:r>
            <a:r>
              <a:rPr lang="pl-PL" sz="2000" dirty="0">
                <a:solidFill>
                  <a:srgbClr val="000000"/>
                </a:solidFill>
                <a:highlight>
                  <a:srgbClr val="FFFFFF"/>
                </a:highlight>
                <a:latin typeface="Cascadia Mono" panose="020B0609020000020004" pitchFamily="49" charset="0"/>
              </a:rPr>
              <a:t>(x, y);</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printf</a:t>
            </a:r>
            <a:r>
              <a:rPr lang="de-CH" sz="2000" dirty="0">
                <a:solidFill>
                  <a:srgbClr val="000000"/>
                </a:solidFill>
                <a:highlight>
                  <a:srgbClr val="FFFFFF"/>
                </a:highlight>
                <a:latin typeface="Cascadia Mono" panose="020B0609020000020004" pitchFamily="49" charset="0"/>
              </a:rPr>
              <a:t>(</a:t>
            </a:r>
            <a:r>
              <a:rPr lang="de-CH" sz="2000" dirty="0">
                <a:solidFill>
                  <a:srgbClr val="A31515"/>
                </a:solidFill>
                <a:highlight>
                  <a:srgbClr val="FFFFFF"/>
                </a:highlight>
                <a:latin typeface="Cascadia Mono" panose="020B0609020000020004" pitchFamily="49" charset="0"/>
              </a:rPr>
              <a:t>"min = %d"</a:t>
            </a:r>
            <a:r>
              <a:rPr lang="de-CH" sz="2000" dirty="0">
                <a:solidFill>
                  <a:srgbClr val="000000"/>
                </a:solidFill>
                <a:highlight>
                  <a:srgbClr val="FFFFFF"/>
                </a:highlight>
                <a:latin typeface="Cascadia Mono" panose="020B0609020000020004" pitchFamily="49" charset="0"/>
              </a:rPr>
              <a:t>, z);  </a:t>
            </a:r>
            <a:r>
              <a:rPr lang="de-CH" sz="2000" dirty="0">
                <a:solidFill>
                  <a:srgbClr val="008000"/>
                </a:solidFill>
                <a:highlight>
                  <a:srgbClr val="FFFFFF"/>
                </a:highlight>
                <a:latin typeface="Cascadia Mono" panose="020B0609020000020004" pitchFamily="49" charset="0"/>
              </a:rPr>
              <a:t>// min = 14</a:t>
            </a:r>
            <a:endParaRPr lang="de-CH"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0;</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862784541"/>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5F9E5-8A67-2451-6317-E0BA19A45A0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A22470-4886-4999-CDDB-400A3DF52199}"/>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B9C6C977-AB4F-FF17-48F4-C9DE01AAC9FC}"/>
              </a:ext>
            </a:extLst>
          </p:cNvPr>
          <p:cNvSpPr>
            <a:spLocks noGrp="1"/>
          </p:cNvSpPr>
          <p:nvPr>
            <p:ph idx="1"/>
          </p:nvPr>
        </p:nvSpPr>
        <p:spPr>
          <a:xfrm>
            <a:off x="401359" y="1196752"/>
            <a:ext cx="8229600" cy="5248275"/>
          </a:xfrm>
        </p:spPr>
        <p:txBody>
          <a:bodyPr/>
          <a:lstStyle/>
          <a:p>
            <a:r>
              <a:rPr lang="de-CH" sz="2000" dirty="0">
                <a:solidFill>
                  <a:srgbClr val="808080"/>
                </a:solidFill>
                <a:highlight>
                  <a:srgbClr val="FFFFFF"/>
                </a:highlight>
                <a:latin typeface="Cascadia Mono" panose="020B0609020000020004" pitchFamily="49" charset="0"/>
              </a:rPr>
              <a:t>#include</a:t>
            </a:r>
            <a:r>
              <a:rPr lang="de-CH" sz="2000" dirty="0">
                <a:solidFill>
                  <a:srgbClr val="000000"/>
                </a:solidFill>
                <a:highlight>
                  <a:srgbClr val="FFFFFF"/>
                </a:highlight>
                <a:latin typeface="Cascadia Mono" panose="020B0609020000020004" pitchFamily="49" charset="0"/>
              </a:rPr>
              <a:t> </a:t>
            </a:r>
            <a:r>
              <a:rPr lang="de-CH" sz="2000" dirty="0">
                <a:solidFill>
                  <a:srgbClr val="A31515"/>
                </a:solidFill>
                <a:highlight>
                  <a:srgbClr val="FFFFFF"/>
                </a:highlight>
                <a:latin typeface="Cascadia Mono" panose="020B0609020000020004" pitchFamily="49" charset="0"/>
              </a:rPr>
              <a:t>&lt;</a:t>
            </a:r>
            <a:r>
              <a:rPr lang="de-CH" sz="2000" dirty="0" err="1">
                <a:solidFill>
                  <a:srgbClr val="A31515"/>
                </a:solidFill>
                <a:highlight>
                  <a:srgbClr val="FFFFFF"/>
                </a:highlight>
                <a:latin typeface="Cascadia Mono" panose="020B0609020000020004" pitchFamily="49" charset="0"/>
              </a:rPr>
              <a:t>stdio.h</a:t>
            </a:r>
            <a:r>
              <a:rPr lang="de-CH" sz="2000" dirty="0">
                <a:solidFill>
                  <a:srgbClr val="A31515"/>
                </a:solidFill>
                <a:highlight>
                  <a:srgbClr val="FFFFFF"/>
                </a:highlight>
                <a:latin typeface="Cascadia Mono" panose="020B0609020000020004" pitchFamily="49" charset="0"/>
              </a:rPr>
              <a:t>&gt;</a:t>
            </a:r>
            <a:endParaRPr lang="de-CH"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pt-BR" sz="2000" dirty="0">
                <a:solidFill>
                  <a:srgbClr val="808080"/>
                </a:solidFill>
                <a:highlight>
                  <a:srgbClr val="FFFFFF"/>
                </a:highlight>
                <a:latin typeface="Cascadia Mono" panose="020B0609020000020004" pitchFamily="49" charset="0"/>
              </a:rPr>
              <a:t>#define</a:t>
            </a:r>
            <a:r>
              <a:rPr lang="pt-BR" sz="2000" dirty="0">
                <a:solidFill>
                  <a:srgbClr val="000000"/>
                </a:solidFill>
                <a:highlight>
                  <a:srgbClr val="FFFFFF"/>
                </a:highlight>
                <a:latin typeface="Cascadia Mono" panose="020B0609020000020004" pitchFamily="49" charset="0"/>
              </a:rPr>
              <a:t> </a:t>
            </a:r>
            <a:r>
              <a:rPr lang="pt-BR" sz="2000" dirty="0">
                <a:solidFill>
                  <a:srgbClr val="6F008A"/>
                </a:solidFill>
                <a:highlight>
                  <a:srgbClr val="FFFFFF"/>
                </a:highlight>
                <a:latin typeface="Cascadia Mono" panose="020B0609020000020004" pitchFamily="49" charset="0"/>
              </a:rPr>
              <a:t>SQUARE</a:t>
            </a:r>
            <a:r>
              <a:rPr lang="pt-BR" sz="2000" dirty="0">
                <a:solidFill>
                  <a:srgbClr val="000000"/>
                </a:solidFill>
                <a:highlight>
                  <a:srgbClr val="FFFFFF"/>
                </a:highlight>
                <a:latin typeface="Cascadia Mono" panose="020B0609020000020004" pitchFamily="49" charset="0"/>
              </a:rPr>
              <a:t>(n) n*n</a:t>
            </a: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r>
              <a:rPr lang="de-CH" sz="2000" dirty="0" err="1">
                <a:solidFill>
                  <a:srgbClr val="0000FF"/>
                </a:solidFill>
                <a:highlight>
                  <a:srgbClr val="FFFFFF"/>
                </a:highlight>
                <a:latin typeface="Cascadia Mono" panose="020B0609020000020004" pitchFamily="49" charset="0"/>
              </a:rPr>
              <a:t>void</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en-US" sz="2000" dirty="0">
                <a:solidFill>
                  <a:srgbClr val="000000"/>
                </a:solidFill>
                <a:highlight>
                  <a:srgbClr val="FFFFFF"/>
                </a:highlight>
                <a:latin typeface="Cascadia Mono" panose="020B0609020000020004" pitchFamily="49" charset="0"/>
              </a:rPr>
              <a:t>    </a:t>
            </a:r>
            <a:r>
              <a:rPr lang="en-US" sz="2000" dirty="0">
                <a:solidFill>
                  <a:srgbClr val="0000FF"/>
                </a:solidFill>
                <a:highlight>
                  <a:srgbClr val="FFFFFF"/>
                </a:highlight>
                <a:latin typeface="Cascadia Mono" panose="020B0609020000020004" pitchFamily="49" charset="0"/>
              </a:rPr>
              <a:t>int</a:t>
            </a:r>
            <a:r>
              <a:rPr lang="en-US" sz="2000" dirty="0">
                <a:solidFill>
                  <a:srgbClr val="000000"/>
                </a:solidFill>
                <a:highlight>
                  <a:srgbClr val="FFFFFF"/>
                </a:highlight>
                <a:latin typeface="Cascadia Mono" panose="020B0609020000020004" pitchFamily="49" charset="0"/>
              </a:rPr>
              <a:t> x = </a:t>
            </a:r>
            <a:r>
              <a:rPr lang="en-US" sz="2000" dirty="0">
                <a:solidFill>
                  <a:srgbClr val="6F008A"/>
                </a:solidFill>
                <a:highlight>
                  <a:srgbClr val="FFFFFF"/>
                </a:highlight>
                <a:latin typeface="Cascadia Mono" panose="020B0609020000020004" pitchFamily="49" charset="0"/>
              </a:rPr>
              <a:t>SQUARE</a:t>
            </a:r>
            <a:r>
              <a:rPr lang="en-US" sz="2000" dirty="0">
                <a:solidFill>
                  <a:srgbClr val="000000"/>
                </a:solidFill>
                <a:highlight>
                  <a:srgbClr val="FFFFFF"/>
                </a:highlight>
                <a:latin typeface="Cascadia Mono" panose="020B0609020000020004" pitchFamily="49" charset="0"/>
              </a:rPr>
              <a:t>(4 + 2);</a:t>
            </a:r>
          </a:p>
          <a:p>
            <a:endParaRPr lang="ru-RU" sz="2000" dirty="0">
              <a:solidFill>
                <a:srgbClr val="000000"/>
              </a:solidFill>
              <a:highlight>
                <a:srgbClr val="FFFFFF"/>
              </a:highlight>
              <a:latin typeface="Cascadia Mono" panose="020B0609020000020004" pitchFamily="49" charset="0"/>
            </a:endParaRPr>
          </a:p>
          <a:p>
            <a:r>
              <a:rPr lang="pt-BR" sz="2000" dirty="0">
                <a:solidFill>
                  <a:srgbClr val="000000"/>
                </a:solidFill>
                <a:highlight>
                  <a:srgbClr val="FFFFFF"/>
                </a:highlight>
                <a:latin typeface="Cascadia Mono" panose="020B0609020000020004" pitchFamily="49" charset="0"/>
              </a:rPr>
              <a:t>    printf(</a:t>
            </a:r>
            <a:r>
              <a:rPr lang="pt-BR" sz="2000" dirty="0">
                <a:solidFill>
                  <a:srgbClr val="A31515"/>
                </a:solidFill>
                <a:highlight>
                  <a:srgbClr val="FFFFFF"/>
                </a:highlight>
                <a:latin typeface="Cascadia Mono" panose="020B0609020000020004" pitchFamily="49" charset="0"/>
              </a:rPr>
              <a:t>"x = %d\n"</a:t>
            </a:r>
            <a:r>
              <a:rPr lang="pt-BR" sz="2000" dirty="0">
                <a:solidFill>
                  <a:srgbClr val="000000"/>
                </a:solidFill>
                <a:highlight>
                  <a:srgbClr val="FFFFFF"/>
                </a:highlight>
                <a:latin typeface="Cascadia Mono" panose="020B0609020000020004" pitchFamily="49" charset="0"/>
              </a:rPr>
              <a:t>, x);      </a:t>
            </a:r>
            <a:r>
              <a:rPr lang="pt-BR" sz="2000" dirty="0">
                <a:solidFill>
                  <a:srgbClr val="008000"/>
                </a:solidFill>
                <a:highlight>
                  <a:srgbClr val="FFFFFF"/>
                </a:highlight>
                <a:latin typeface="Cascadia Mono" panose="020B0609020000020004" pitchFamily="49" charset="0"/>
              </a:rPr>
              <a:t>// x = 14</a:t>
            </a:r>
            <a:endParaRPr lang="pt-BR"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0;</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4230405605"/>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C620A-8384-071A-5D17-33B96985E70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332591-B776-D84C-1970-1171CFC0A5A4}"/>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8DAA4C91-59A7-7C80-3C7F-E6BCFF494008}"/>
              </a:ext>
            </a:extLst>
          </p:cNvPr>
          <p:cNvSpPr>
            <a:spLocks noGrp="1"/>
          </p:cNvSpPr>
          <p:nvPr>
            <p:ph idx="1"/>
          </p:nvPr>
        </p:nvSpPr>
        <p:spPr/>
        <p:txBody>
          <a:bodyPr/>
          <a:lstStyle/>
          <a:p>
            <a:r>
              <a:rPr lang="ru-RU" b="1" dirty="0"/>
              <a:t>Препроцессорные операции</a:t>
            </a:r>
          </a:p>
          <a:p>
            <a:r>
              <a:rPr lang="ru-RU" sz="1400" dirty="0"/>
              <a:t>При обработки исходного кода препроцессор может выполнять две операции: </a:t>
            </a:r>
            <a:r>
              <a:rPr lang="ru-RU" sz="1400" b="1" dirty="0"/>
              <a:t>#</a:t>
            </a:r>
            <a:r>
              <a:rPr lang="ru-RU" sz="1400" dirty="0"/>
              <a:t> и </a:t>
            </a:r>
            <a:r>
              <a:rPr lang="ru-RU" sz="1400" b="1" dirty="0"/>
              <a:t>##</a:t>
            </a:r>
            <a:r>
              <a:rPr lang="ru-RU" sz="1400" dirty="0"/>
              <a:t>.</a:t>
            </a:r>
          </a:p>
          <a:p>
            <a:r>
              <a:rPr lang="ru-RU" sz="1400" dirty="0"/>
              <a:t>Операция </a:t>
            </a:r>
            <a:r>
              <a:rPr lang="ru-RU" sz="1400" b="1" dirty="0"/>
              <a:t>#</a:t>
            </a:r>
            <a:r>
              <a:rPr lang="ru-RU" sz="1400" dirty="0"/>
              <a:t> позволяет заключать текст параметра, который следует после операции, в кавычки:</a:t>
            </a:r>
          </a:p>
          <a:p>
            <a:endParaRPr lang="ru-RU" dirty="0"/>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pt-BR" sz="1600" dirty="0">
                <a:solidFill>
                  <a:srgbClr val="808080"/>
                </a:solidFill>
                <a:highlight>
                  <a:srgbClr val="FFFFFF"/>
                </a:highlight>
                <a:latin typeface="Cascadia Mono" panose="020B0609020000020004" pitchFamily="49" charset="0"/>
              </a:rPr>
              <a:t>#define</a:t>
            </a:r>
            <a:r>
              <a:rPr lang="pt-BR" sz="1600" dirty="0">
                <a:solidFill>
                  <a:srgbClr val="000000"/>
                </a:solidFill>
                <a:highlight>
                  <a:srgbClr val="FFFFFF"/>
                </a:highlight>
                <a:latin typeface="Cascadia Mono" panose="020B0609020000020004" pitchFamily="49" charset="0"/>
              </a:rPr>
              <a:t> </a:t>
            </a:r>
            <a:r>
              <a:rPr lang="pt-BR" sz="1600" dirty="0">
                <a:solidFill>
                  <a:srgbClr val="6F008A"/>
                </a:solidFill>
                <a:highlight>
                  <a:srgbClr val="FFFFFF"/>
                </a:highlight>
                <a:latin typeface="Cascadia Mono" panose="020B0609020000020004" pitchFamily="49" charset="0"/>
              </a:rPr>
              <a:t>print_int</a:t>
            </a:r>
            <a:r>
              <a:rPr lang="pt-BR" sz="1600" dirty="0">
                <a:solidFill>
                  <a:srgbClr val="000000"/>
                </a:solidFill>
                <a:highlight>
                  <a:srgbClr val="FFFFFF"/>
                </a:highlight>
                <a:latin typeface="Cascadia Mono" panose="020B0609020000020004" pitchFamily="49" charset="0"/>
              </a:rPr>
              <a:t>(n) printf(#n</a:t>
            </a:r>
            <a:r>
              <a:rPr lang="pt-BR" sz="1600" dirty="0">
                <a:solidFill>
                  <a:srgbClr val="A31515"/>
                </a:solidFill>
                <a:highlight>
                  <a:srgbClr val="FFFFFF"/>
                </a:highlight>
                <a:latin typeface="Cascadia Mono" panose="020B0609020000020004" pitchFamily="49" charset="0"/>
              </a:rPr>
              <a:t>"=%d \n"</a:t>
            </a:r>
            <a:r>
              <a:rPr lang="pt-BR" sz="1600" dirty="0">
                <a:solidFill>
                  <a:srgbClr val="000000"/>
                </a:solidFill>
                <a:highlight>
                  <a:srgbClr val="FFFFFF"/>
                </a:highlight>
                <a:latin typeface="Cascadia Mono" panose="020B0609020000020004" pitchFamily="49" charset="0"/>
              </a:rPr>
              <a:t>,n);</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x = 23;</a:t>
            </a:r>
          </a:p>
          <a:p>
            <a:r>
              <a:rPr lang="de-CH" sz="1600" dirty="0">
                <a:solidFill>
                  <a:srgbClr val="000000"/>
                </a:solidFill>
                <a:highlight>
                  <a:srgbClr val="FFFFFF"/>
                </a:highlight>
                <a:latin typeface="Cascadia Mono" panose="020B0609020000020004" pitchFamily="49" charset="0"/>
              </a:rPr>
              <a:t>    </a:t>
            </a:r>
            <a:r>
              <a:rPr lang="de-CH" sz="1600" dirty="0" err="1">
                <a:solidFill>
                  <a:srgbClr val="6F008A"/>
                </a:solidFill>
                <a:highlight>
                  <a:srgbClr val="FFFFFF"/>
                </a:highlight>
                <a:latin typeface="Cascadia Mono" panose="020B0609020000020004" pitchFamily="49" charset="0"/>
              </a:rPr>
              <a:t>print_int</a:t>
            </a:r>
            <a:r>
              <a:rPr lang="de-CH" sz="1600" dirty="0">
                <a:solidFill>
                  <a:srgbClr val="000000"/>
                </a:solidFill>
                <a:highlight>
                  <a:srgbClr val="FFFFFF"/>
                </a:highlight>
                <a:latin typeface="Cascadia Mono" panose="020B0609020000020004" pitchFamily="49" charset="0"/>
              </a:rPr>
              <a:t>(x);       </a:t>
            </a:r>
            <a:r>
              <a:rPr lang="de-CH" sz="1600" dirty="0">
                <a:solidFill>
                  <a:srgbClr val="008000"/>
                </a:solidFill>
                <a:highlight>
                  <a:srgbClr val="FFFFFF"/>
                </a:highlight>
                <a:latin typeface="Cascadia Mono" panose="020B0609020000020004" pitchFamily="49" charset="0"/>
              </a:rPr>
              <a:t>// x=23</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y = 14;</a:t>
            </a:r>
          </a:p>
          <a:p>
            <a:r>
              <a:rPr lang="de-CH" sz="1600" dirty="0">
                <a:solidFill>
                  <a:srgbClr val="000000"/>
                </a:solidFill>
                <a:highlight>
                  <a:srgbClr val="FFFFFF"/>
                </a:highlight>
                <a:latin typeface="Cascadia Mono" panose="020B0609020000020004" pitchFamily="49" charset="0"/>
              </a:rPr>
              <a:t>    </a:t>
            </a:r>
            <a:r>
              <a:rPr lang="de-CH" sz="1600" dirty="0" err="1">
                <a:solidFill>
                  <a:srgbClr val="6F008A"/>
                </a:solidFill>
                <a:highlight>
                  <a:srgbClr val="FFFFFF"/>
                </a:highlight>
                <a:latin typeface="Cascadia Mono" panose="020B0609020000020004" pitchFamily="49" charset="0"/>
              </a:rPr>
              <a:t>print_int</a:t>
            </a:r>
            <a:r>
              <a:rPr lang="de-CH" sz="1600" dirty="0">
                <a:solidFill>
                  <a:srgbClr val="000000"/>
                </a:solidFill>
                <a:highlight>
                  <a:srgbClr val="FFFFFF"/>
                </a:highlight>
                <a:latin typeface="Cascadia Mono" panose="020B0609020000020004" pitchFamily="49" charset="0"/>
              </a:rPr>
              <a:t>(y);       </a:t>
            </a:r>
            <a:r>
              <a:rPr lang="de-CH" sz="1600" dirty="0">
                <a:solidFill>
                  <a:srgbClr val="008000"/>
                </a:solidFill>
                <a:highlight>
                  <a:srgbClr val="FFFFFF"/>
                </a:highlight>
                <a:latin typeface="Cascadia Mono" panose="020B0609020000020004" pitchFamily="49" charset="0"/>
              </a:rPr>
              <a:t>// y=14</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number</a:t>
            </a:r>
            <a:r>
              <a:rPr lang="de-CH" sz="1600" dirty="0">
                <a:solidFill>
                  <a:srgbClr val="000000"/>
                </a:solidFill>
                <a:highlight>
                  <a:srgbClr val="FFFFFF"/>
                </a:highlight>
                <a:latin typeface="Cascadia Mono" panose="020B0609020000020004" pitchFamily="49" charset="0"/>
              </a:rPr>
              <a:t> = 203;</a:t>
            </a:r>
          </a:p>
          <a:p>
            <a:r>
              <a:rPr lang="en-US" sz="1600" dirty="0">
                <a:solidFill>
                  <a:srgbClr val="000000"/>
                </a:solidFill>
                <a:highlight>
                  <a:srgbClr val="FFFFFF"/>
                </a:highlight>
                <a:latin typeface="Cascadia Mono" panose="020B0609020000020004" pitchFamily="49" charset="0"/>
              </a:rPr>
              <a:t>    </a:t>
            </a:r>
            <a:r>
              <a:rPr lang="en-US" sz="1600" dirty="0" err="1">
                <a:solidFill>
                  <a:srgbClr val="6F008A"/>
                </a:solidFill>
                <a:highlight>
                  <a:srgbClr val="FFFFFF"/>
                </a:highlight>
                <a:latin typeface="Cascadia Mono" panose="020B0609020000020004" pitchFamily="49" charset="0"/>
              </a:rPr>
              <a:t>print_int</a:t>
            </a:r>
            <a:r>
              <a:rPr lang="en-US" sz="1600" dirty="0">
                <a:solidFill>
                  <a:srgbClr val="000000"/>
                </a:solidFill>
                <a:highlight>
                  <a:srgbClr val="FFFFFF"/>
                </a:highlight>
                <a:latin typeface="Cascadia Mono" panose="020B0609020000020004" pitchFamily="49" charset="0"/>
              </a:rPr>
              <a:t>(number);  </a:t>
            </a:r>
            <a:r>
              <a:rPr lang="en-US" sz="1600" dirty="0">
                <a:solidFill>
                  <a:srgbClr val="008000"/>
                </a:solidFill>
                <a:highlight>
                  <a:srgbClr val="FFFFFF"/>
                </a:highlight>
                <a:latin typeface="Cascadia Mono" panose="020B0609020000020004" pitchFamily="49" charset="0"/>
              </a:rPr>
              <a:t>// number=203</a:t>
            </a:r>
            <a:endParaRPr lang="en-US"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537969716"/>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0F0BD-01BE-902B-2855-82538B4752A3}"/>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F55CA8-5BCE-791F-2FA7-37FC88D6D046}"/>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471575EB-257C-2DBF-26FD-56BE72B4F39F}"/>
              </a:ext>
            </a:extLst>
          </p:cNvPr>
          <p:cNvSpPr>
            <a:spLocks noGrp="1"/>
          </p:cNvSpPr>
          <p:nvPr>
            <p:ph idx="1"/>
          </p:nvPr>
        </p:nvSpPr>
        <p:spPr/>
        <p:txBody>
          <a:bodyPr/>
          <a:lstStyle/>
          <a:p>
            <a:r>
              <a:rPr lang="ru-RU" dirty="0"/>
              <a:t>Директива </a:t>
            </a:r>
            <a:r>
              <a:rPr lang="ru-RU" b="1" dirty="0"/>
              <a:t>##</a:t>
            </a:r>
            <a:r>
              <a:rPr lang="ru-RU" dirty="0"/>
              <a:t> позволяет объединять две лексемы:</a:t>
            </a:r>
          </a:p>
          <a:p>
            <a:endParaRPr lang="ru-RU" dirty="0"/>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#define</a:t>
            </a:r>
            <a:r>
              <a:rPr lang="de-CH" sz="1600" dirty="0">
                <a:solidFill>
                  <a:srgbClr val="000000"/>
                </a:solidFill>
                <a:highlight>
                  <a:srgbClr val="FFFFFF"/>
                </a:highlight>
                <a:latin typeface="Cascadia Mono" panose="020B0609020000020004" pitchFamily="49" charset="0"/>
              </a:rPr>
              <a:t> </a:t>
            </a:r>
            <a:r>
              <a:rPr lang="de-CH" sz="1600" dirty="0" err="1">
                <a:solidFill>
                  <a:srgbClr val="6F008A"/>
                </a:solidFill>
                <a:highlight>
                  <a:srgbClr val="FFFFFF"/>
                </a:highlight>
                <a:latin typeface="Cascadia Mono" panose="020B0609020000020004" pitchFamily="49" charset="0"/>
              </a:rPr>
              <a:t>print</a:t>
            </a:r>
            <a:r>
              <a:rPr lang="de-CH" sz="1600" dirty="0">
                <a:solidFill>
                  <a:srgbClr val="000000"/>
                </a:solidFill>
                <a:highlight>
                  <a:srgbClr val="FFFFFF"/>
                </a:highlight>
                <a:latin typeface="Cascadia Mono" panose="020B0609020000020004" pitchFamily="49" charset="0"/>
              </a:rPr>
              <a:t>(</a:t>
            </a:r>
            <a:r>
              <a:rPr lang="de-CH" sz="1600" dirty="0" err="1">
                <a:solidFill>
                  <a:srgbClr val="000000"/>
                </a:solidFill>
                <a:highlight>
                  <a:srgbClr val="FFFFFF"/>
                </a:highlight>
                <a:latin typeface="Cascadia Mono" panose="020B0609020000020004" pitchFamily="49" charset="0"/>
              </a:rPr>
              <a:t>a,b,c</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printf</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"%d"</a:t>
            </a:r>
            <a:r>
              <a:rPr lang="de-CH" sz="1600" dirty="0">
                <a:solidFill>
                  <a:srgbClr val="000000"/>
                </a:solidFill>
                <a:highlight>
                  <a:srgbClr val="FFFFFF"/>
                </a:highlight>
                <a:latin typeface="Cascadia Mono" panose="020B0609020000020004" pitchFamily="49" charset="0"/>
              </a:rPr>
              <a:t>, a##b##c);</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err="1">
                <a:solidFill>
                  <a:srgbClr val="6F008A"/>
                </a:solidFill>
                <a:highlight>
                  <a:srgbClr val="FFFFFF"/>
                </a:highlight>
                <a:latin typeface="Cascadia Mono" panose="020B0609020000020004" pitchFamily="49" charset="0"/>
              </a:rPr>
              <a:t>print</a:t>
            </a:r>
            <a:r>
              <a:rPr lang="de-CH" sz="1600" dirty="0">
                <a:solidFill>
                  <a:srgbClr val="000000"/>
                </a:solidFill>
                <a:highlight>
                  <a:srgbClr val="FFFFFF"/>
                </a:highlight>
                <a:latin typeface="Cascadia Mono" panose="020B0609020000020004" pitchFamily="49" charset="0"/>
              </a:rPr>
              <a:t>(2, 81, 34);   </a:t>
            </a:r>
            <a:r>
              <a:rPr lang="de-CH" sz="1600" dirty="0">
                <a:solidFill>
                  <a:srgbClr val="008000"/>
                </a:solidFill>
                <a:highlight>
                  <a:srgbClr val="FFFFFF"/>
                </a:highlight>
                <a:latin typeface="Cascadia Mono" panose="020B0609020000020004" pitchFamily="49" charset="0"/>
              </a:rPr>
              <a:t>// 28134</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2124115427"/>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DC699-1281-E663-04A7-DF9CCE1BB24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AA0724-3F7E-FED1-3C4A-26E53C9DCA66}"/>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926DDE4A-503D-5708-AF45-F8626B9023D3}"/>
              </a:ext>
            </a:extLst>
          </p:cNvPr>
          <p:cNvSpPr>
            <a:spLocks noGrp="1"/>
          </p:cNvSpPr>
          <p:nvPr>
            <p:ph idx="1"/>
          </p:nvPr>
        </p:nvSpPr>
        <p:spPr/>
        <p:txBody>
          <a:bodyPr/>
          <a:lstStyle/>
          <a:p>
            <a:r>
              <a:rPr lang="ru-RU" b="1" dirty="0"/>
              <a:t>Условная компиляция</a:t>
            </a:r>
          </a:p>
          <a:p>
            <a:r>
              <a:rPr lang="ru-RU" dirty="0"/>
              <a:t>Директивы условной компиляции позволяют в зависимости от условий добавить </a:t>
            </a:r>
            <a:r>
              <a:rPr lang="ru-RU" dirty="0" err="1"/>
              <a:t>добавить</a:t>
            </a:r>
            <a:r>
              <a:rPr lang="ru-RU" dirty="0"/>
              <a:t> в файл определенный код.</a:t>
            </a:r>
          </a:p>
          <a:p>
            <a:endParaRPr lang="ru-RU" sz="1600" dirty="0"/>
          </a:p>
          <a:p>
            <a:r>
              <a:rPr lang="de-CH" b="1" dirty="0"/>
              <a:t>#if/#else/#endif</a:t>
            </a:r>
            <a:endParaRPr lang="ru-RU" b="1" dirty="0"/>
          </a:p>
          <a:p>
            <a:endParaRPr lang="ru-RU" sz="1600" b="1" dirty="0"/>
          </a:p>
          <a:p>
            <a:pPr lvl="1"/>
            <a:r>
              <a:rPr lang="ru-RU" sz="2000" dirty="0"/>
              <a:t>#if условие</a:t>
            </a:r>
          </a:p>
          <a:p>
            <a:pPr lvl="1"/>
            <a:r>
              <a:rPr lang="ru-RU" sz="2000" dirty="0" err="1"/>
              <a:t>исходный_код</a:t>
            </a:r>
            <a:endParaRPr lang="ru-RU" sz="2000" dirty="0"/>
          </a:p>
          <a:p>
            <a:pPr lvl="1"/>
            <a:r>
              <a:rPr lang="ru-RU" sz="2000" dirty="0"/>
              <a:t>#endif</a:t>
            </a:r>
          </a:p>
          <a:p>
            <a:endParaRPr lang="ru-RU" sz="1600" dirty="0"/>
          </a:p>
        </p:txBody>
      </p:sp>
    </p:spTree>
    <p:extLst>
      <p:ext uri="{BB962C8B-B14F-4D97-AF65-F5344CB8AC3E}">
        <p14:creationId xmlns:p14="http://schemas.microsoft.com/office/powerpoint/2010/main" val="3364351959"/>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DF3F6-772D-89F1-6169-853543885FD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2115EA-9595-FBAB-CA04-C42E7997491A}"/>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3D892435-81ED-910A-4C34-C1D3D1139BA6}"/>
              </a:ext>
            </a:extLst>
          </p:cNvPr>
          <p:cNvSpPr>
            <a:spLocks noGrp="1"/>
          </p:cNvSpPr>
          <p:nvPr>
            <p:ph idx="1"/>
          </p:nvPr>
        </p:nvSpPr>
        <p:spPr/>
        <p:txBody>
          <a:bodyPr/>
          <a:lstStyle/>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#define</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N</a:t>
            </a:r>
            <a:r>
              <a:rPr lang="de-CH" sz="1600" dirty="0">
                <a:solidFill>
                  <a:srgbClr val="000000"/>
                </a:solidFill>
                <a:highlight>
                  <a:srgbClr val="FFFFFF"/>
                </a:highlight>
                <a:latin typeface="Cascadia Mono" panose="020B0609020000020004" pitchFamily="49" charset="0"/>
              </a:rPr>
              <a:t> 24</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#if</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N</a:t>
            </a:r>
            <a:r>
              <a:rPr lang="de-CH" sz="1600" dirty="0">
                <a:solidFill>
                  <a:srgbClr val="000000"/>
                </a:solidFill>
                <a:highlight>
                  <a:srgbClr val="FFFFFF"/>
                </a:highlight>
                <a:latin typeface="Cascadia Mono" panose="020B0609020000020004" pitchFamily="49" charset="0"/>
              </a:rPr>
              <a:t>==22</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printf</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"N = 22"</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#elif</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N</a:t>
            </a:r>
            <a:r>
              <a:rPr lang="de-CH" sz="1600" dirty="0">
                <a:solidFill>
                  <a:srgbClr val="000000"/>
                </a:solidFill>
                <a:highlight>
                  <a:srgbClr val="FFFFFF"/>
                </a:highlight>
                <a:latin typeface="Cascadia Mono" panose="020B0609020000020004" pitchFamily="49" charset="0"/>
              </a:rPr>
              <a:t>==24</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printf</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"N=24"</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#else</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printf</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"N </a:t>
            </a:r>
            <a:r>
              <a:rPr lang="de-CH" sz="1600" dirty="0" err="1">
                <a:solidFill>
                  <a:srgbClr val="A31515"/>
                </a:solidFill>
                <a:highlight>
                  <a:srgbClr val="FFFFFF"/>
                </a:highlight>
                <a:latin typeface="Cascadia Mono" panose="020B0609020000020004" pitchFamily="49" charset="0"/>
              </a:rPr>
              <a:t>is</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undefined</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#endif</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2835693972"/>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5F884-D510-C985-9224-CB114969978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C03A9A-7372-6AC7-2E02-2A4696442961}"/>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89EB966A-E48D-71E4-0A63-4AD7D7BD8234}"/>
              </a:ext>
            </a:extLst>
          </p:cNvPr>
          <p:cNvSpPr>
            <a:spLocks noGrp="1"/>
          </p:cNvSpPr>
          <p:nvPr>
            <p:ph idx="1"/>
          </p:nvPr>
        </p:nvSpPr>
        <p:spPr/>
        <p:txBody>
          <a:bodyPr/>
          <a:lstStyle/>
          <a:p>
            <a:r>
              <a:rPr lang="de-CH" b="1" dirty="0"/>
              <a:t>#ifdef</a:t>
            </a:r>
          </a:p>
          <a:p>
            <a:r>
              <a:rPr lang="ru-RU" dirty="0"/>
              <a:t>С помощью директивы </a:t>
            </a:r>
            <a:r>
              <a:rPr lang="ru-RU" b="1" dirty="0"/>
              <a:t>#ifdef</a:t>
            </a:r>
            <a:r>
              <a:rPr lang="ru-RU" dirty="0"/>
              <a:t> можно проверять, определен ли идентификатор, и если он определен, вставлять в исходный код определенный текст:</a:t>
            </a:r>
          </a:p>
          <a:p>
            <a:endParaRPr lang="ru-RU" sz="1600" dirty="0"/>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#define</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DEBUG</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#ifdef</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DEBUG</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printf</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a:t>
            </a:r>
            <a:r>
              <a:rPr lang="de-CH" sz="1600" dirty="0" err="1">
                <a:solidFill>
                  <a:srgbClr val="A31515"/>
                </a:solidFill>
                <a:highlight>
                  <a:srgbClr val="FFFFFF"/>
                </a:highlight>
                <a:latin typeface="Cascadia Mono" panose="020B0609020000020004" pitchFamily="49" charset="0"/>
              </a:rPr>
              <a:t>Debug</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mode</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#endif</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551354166"/>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34900-6710-AA3E-0AF5-8561C3E2B71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862BF9-1022-8B9C-EE41-9EE63936C47F}"/>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32331890-BE4A-41FC-DD96-DE53BBC217EA}"/>
              </a:ext>
            </a:extLst>
          </p:cNvPr>
          <p:cNvSpPr>
            <a:spLocks noGrp="1"/>
          </p:cNvSpPr>
          <p:nvPr>
            <p:ph idx="1"/>
          </p:nvPr>
        </p:nvSpPr>
        <p:spPr/>
        <p:txBody>
          <a:bodyPr/>
          <a:lstStyle/>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#define</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BETA</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#define</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DEBUG</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en-US" sz="1600" dirty="0">
                <a:solidFill>
                  <a:srgbClr val="000000"/>
                </a:solidFill>
                <a:highlight>
                  <a:srgbClr val="FFFFFF"/>
                </a:highlight>
                <a:latin typeface="Cascadia Mono" panose="020B0609020000020004" pitchFamily="49" charset="0"/>
              </a:rPr>
              <a:t>    </a:t>
            </a:r>
            <a:r>
              <a:rPr lang="en-US" sz="1600" dirty="0">
                <a:solidFill>
                  <a:srgbClr val="808080"/>
                </a:solidFill>
                <a:highlight>
                  <a:srgbClr val="FFFFFF"/>
                </a:highlight>
                <a:latin typeface="Cascadia Mono" panose="020B0609020000020004" pitchFamily="49" charset="0"/>
              </a:rPr>
              <a:t>#if</a:t>
            </a:r>
            <a:r>
              <a:rPr lang="en-US" sz="1600" dirty="0">
                <a:solidFill>
                  <a:srgbClr val="000000"/>
                </a:solidFill>
                <a:highlight>
                  <a:srgbClr val="FFFFFF"/>
                </a:highlight>
                <a:latin typeface="Cascadia Mono" panose="020B0609020000020004" pitchFamily="49" charset="0"/>
              </a:rPr>
              <a:t> </a:t>
            </a:r>
            <a:r>
              <a:rPr lang="en-US" sz="1600" dirty="0">
                <a:solidFill>
                  <a:srgbClr val="808080"/>
                </a:solidFill>
                <a:highlight>
                  <a:srgbClr val="FFFFFF"/>
                </a:highlight>
                <a:latin typeface="Cascadia Mono" panose="020B0609020000020004" pitchFamily="49" charset="0"/>
              </a:rPr>
              <a:t>defined</a:t>
            </a:r>
            <a:r>
              <a:rPr lang="en-US" sz="1600" dirty="0">
                <a:solidFill>
                  <a:srgbClr val="000000"/>
                </a:solidFill>
                <a:highlight>
                  <a:srgbClr val="FFFFFF"/>
                </a:highlight>
                <a:latin typeface="Cascadia Mono" panose="020B0609020000020004" pitchFamily="49" charset="0"/>
              </a:rPr>
              <a:t> </a:t>
            </a:r>
            <a:r>
              <a:rPr lang="en-US" sz="1600" dirty="0">
                <a:solidFill>
                  <a:srgbClr val="6F008A"/>
                </a:solidFill>
                <a:highlight>
                  <a:srgbClr val="FFFFFF"/>
                </a:highlight>
                <a:latin typeface="Cascadia Mono" panose="020B0609020000020004" pitchFamily="49" charset="0"/>
              </a:rPr>
              <a:t>DEBUG</a:t>
            </a:r>
            <a:r>
              <a:rPr lang="en-US" sz="1600" dirty="0">
                <a:solidFill>
                  <a:srgbClr val="000000"/>
                </a:solidFill>
                <a:highlight>
                  <a:srgbClr val="FFFFFF"/>
                </a:highlight>
                <a:latin typeface="Cascadia Mono" panose="020B0609020000020004" pitchFamily="49" charset="0"/>
              </a:rPr>
              <a:t> &amp;&amp; !</a:t>
            </a:r>
            <a:r>
              <a:rPr lang="en-US" sz="1600" dirty="0">
                <a:solidFill>
                  <a:srgbClr val="808080"/>
                </a:solidFill>
                <a:highlight>
                  <a:srgbClr val="FFFFFF"/>
                </a:highlight>
                <a:latin typeface="Cascadia Mono" panose="020B0609020000020004" pitchFamily="49" charset="0"/>
              </a:rPr>
              <a:t>defined</a:t>
            </a:r>
            <a:r>
              <a:rPr lang="en-US" sz="1600" dirty="0">
                <a:solidFill>
                  <a:srgbClr val="000000"/>
                </a:solidFill>
                <a:highlight>
                  <a:srgbClr val="FFFFFF"/>
                </a:highlight>
                <a:latin typeface="Cascadia Mono" panose="020B0609020000020004" pitchFamily="49" charset="0"/>
              </a:rPr>
              <a:t> </a:t>
            </a:r>
            <a:r>
              <a:rPr lang="en-US" sz="1600" dirty="0">
                <a:solidFill>
                  <a:srgbClr val="6F008A"/>
                </a:solidFill>
                <a:highlight>
                  <a:srgbClr val="FFFFFF"/>
                </a:highlight>
                <a:latin typeface="Cascadia Mono" panose="020B0609020000020004" pitchFamily="49" charset="0"/>
              </a:rPr>
              <a:t>BETA</a:t>
            </a:r>
            <a:endParaRPr lang="en-US" sz="1600" dirty="0">
              <a:solidFill>
                <a:srgbClr val="000000"/>
              </a:solidFill>
              <a:highlight>
                <a:srgbClr val="FFFFFF"/>
              </a:highlight>
              <a:latin typeface="Cascadia Mono" panose="020B0609020000020004" pitchFamily="49" charset="0"/>
            </a:endParaRPr>
          </a:p>
          <a:p>
            <a:r>
              <a:rPr lang="fr-FR" sz="1600" dirty="0">
                <a:solidFill>
                  <a:srgbClr val="000000"/>
                </a:solidFill>
                <a:highlight>
                  <a:srgbClr val="FFFFFF"/>
                </a:highlight>
                <a:latin typeface="Cascadia Mono" panose="020B0609020000020004" pitchFamily="49" charset="0"/>
              </a:rPr>
              <a:t>        printf(</a:t>
            </a:r>
            <a:r>
              <a:rPr lang="fr-FR" sz="1600" dirty="0">
                <a:solidFill>
                  <a:srgbClr val="A31515"/>
                </a:solidFill>
                <a:highlight>
                  <a:srgbClr val="FFFFFF"/>
                </a:highlight>
                <a:latin typeface="Cascadia Mono" panose="020B0609020000020004" pitchFamily="49" charset="0"/>
              </a:rPr>
              <a:t>"</a:t>
            </a:r>
            <a:r>
              <a:rPr lang="fr-FR" sz="1600" dirty="0" err="1">
                <a:solidFill>
                  <a:srgbClr val="A31515"/>
                </a:solidFill>
                <a:highlight>
                  <a:srgbClr val="FFFFFF"/>
                </a:highlight>
                <a:latin typeface="Cascadia Mono" panose="020B0609020000020004" pitchFamily="49" charset="0"/>
              </a:rPr>
              <a:t>debug</a:t>
            </a:r>
            <a:r>
              <a:rPr lang="fr-FR" sz="1600" dirty="0">
                <a:solidFill>
                  <a:srgbClr val="A31515"/>
                </a:solidFill>
                <a:highlight>
                  <a:srgbClr val="FFFFFF"/>
                </a:highlight>
                <a:latin typeface="Cascadia Mono" panose="020B0609020000020004" pitchFamily="49" charset="0"/>
              </a:rPr>
              <a:t> mode; final version"</a:t>
            </a:r>
            <a:r>
              <a:rPr lang="fr-FR"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#elif</a:t>
            </a:r>
            <a:r>
              <a:rPr lang="de-CH" sz="1600" dirty="0">
                <a:solidFill>
                  <a:srgbClr val="000000"/>
                </a:solidFill>
                <a:highlight>
                  <a:srgbClr val="FFFFFF"/>
                </a:highlight>
                <a:latin typeface="Cascadia Mono" panose="020B0609020000020004" pitchFamily="49" charset="0"/>
              </a:rPr>
              <a:t> </a:t>
            </a:r>
            <a:r>
              <a:rPr lang="de-CH" sz="1600" dirty="0" err="1">
                <a:solidFill>
                  <a:srgbClr val="808080"/>
                </a:solidFill>
                <a:highlight>
                  <a:srgbClr val="FFFFFF"/>
                </a:highlight>
                <a:latin typeface="Cascadia Mono" panose="020B0609020000020004" pitchFamily="49" charset="0"/>
              </a:rPr>
              <a:t>defined</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DEBUG</a:t>
            </a:r>
            <a:r>
              <a:rPr lang="de-CH" sz="1600" dirty="0">
                <a:solidFill>
                  <a:srgbClr val="000000"/>
                </a:solidFill>
                <a:highlight>
                  <a:srgbClr val="FFFFFF"/>
                </a:highlight>
                <a:latin typeface="Cascadia Mono" panose="020B0609020000020004" pitchFamily="49" charset="0"/>
              </a:rPr>
              <a:t> &amp;&amp; </a:t>
            </a:r>
            <a:r>
              <a:rPr lang="de-CH" sz="1600" dirty="0" err="1">
                <a:solidFill>
                  <a:srgbClr val="808080"/>
                </a:solidFill>
                <a:highlight>
                  <a:srgbClr val="FFFFFF"/>
                </a:highlight>
                <a:latin typeface="Cascadia Mono" panose="020B0609020000020004" pitchFamily="49" charset="0"/>
              </a:rPr>
              <a:t>defined</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BETA</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printf</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a:t>
            </a:r>
            <a:r>
              <a:rPr lang="de-CH" sz="1600" dirty="0" err="1">
                <a:solidFill>
                  <a:srgbClr val="A31515"/>
                </a:solidFill>
                <a:highlight>
                  <a:srgbClr val="FFFFFF"/>
                </a:highlight>
                <a:latin typeface="Cascadia Mono" panose="020B0609020000020004" pitchFamily="49" charset="0"/>
              </a:rPr>
              <a:t>debug</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mode</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beta</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version</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#else</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printf</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a:t>
            </a:r>
            <a:r>
              <a:rPr lang="de-CH" sz="1600" dirty="0" err="1">
                <a:solidFill>
                  <a:srgbClr val="A31515"/>
                </a:solidFill>
                <a:highlight>
                  <a:srgbClr val="FFFFFF"/>
                </a:highlight>
                <a:latin typeface="Cascadia Mono" panose="020B0609020000020004" pitchFamily="49" charset="0"/>
              </a:rPr>
              <a:t>undefined</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mode</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#endif</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962550660"/>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C2FAA-5EB5-D066-5DB8-7DE2DF048E0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2CD0DD-ACB5-B52A-1735-7E6FE88945B3}"/>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4689D277-59D5-0409-878B-07A212E4215C}"/>
              </a:ext>
            </a:extLst>
          </p:cNvPr>
          <p:cNvSpPr>
            <a:spLocks noGrp="1"/>
          </p:cNvSpPr>
          <p:nvPr>
            <p:ph idx="1"/>
          </p:nvPr>
        </p:nvSpPr>
        <p:spPr/>
        <p:txBody>
          <a:bodyPr/>
          <a:lstStyle/>
          <a:p>
            <a:r>
              <a:rPr lang="ru-RU" b="1" dirty="0"/>
              <a:t>Встроенные макросы</a:t>
            </a:r>
          </a:p>
          <a:p>
            <a:endParaRPr lang="ru-RU" sz="1600" dirty="0"/>
          </a:p>
          <a:p>
            <a:r>
              <a:rPr lang="ru-RU" sz="1600" dirty="0"/>
              <a:t>Различные архитектуры, операционные системы и компиляторы могут определять ряд макросов, которые мы можем использовать, например, для определения особенностей окружения. Например, с помощью предопределенных макросов мы можем компилировать некоторые части программы только под Linux или только под Windows, мы можем узнать, какой компилятор применяется и так далее.</a:t>
            </a:r>
          </a:p>
          <a:p>
            <a:endParaRPr lang="ru-RU" sz="1600" dirty="0"/>
          </a:p>
          <a:p>
            <a:endParaRPr lang="ru-RU" sz="1600" dirty="0"/>
          </a:p>
        </p:txBody>
      </p:sp>
    </p:spTree>
    <p:extLst>
      <p:ext uri="{BB962C8B-B14F-4D97-AF65-F5344CB8AC3E}">
        <p14:creationId xmlns:p14="http://schemas.microsoft.com/office/powerpoint/2010/main" val="1073956019"/>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564D5-E479-3C82-4AA5-B6CF0804211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3A1DC0-60F0-24AD-5560-748AE2948498}"/>
              </a:ext>
            </a:extLst>
          </p:cNvPr>
          <p:cNvSpPr>
            <a:spLocks noGrp="1"/>
          </p:cNvSpPr>
          <p:nvPr>
            <p:ph type="title"/>
          </p:nvPr>
        </p:nvSpPr>
        <p:spPr/>
        <p:txBody>
          <a:bodyPr/>
          <a:lstStyle/>
          <a:p>
            <a:r>
              <a:rPr lang="ru-RU" dirty="0"/>
              <a:t>ПРЕПРОЦЕССОР</a:t>
            </a:r>
          </a:p>
        </p:txBody>
      </p:sp>
      <p:graphicFrame>
        <p:nvGraphicFramePr>
          <p:cNvPr id="4" name="Объект 3">
            <a:extLst>
              <a:ext uri="{FF2B5EF4-FFF2-40B4-BE49-F238E27FC236}">
                <a16:creationId xmlns:a16="http://schemas.microsoft.com/office/drawing/2014/main" id="{497D0BEF-F230-443F-350D-5319572DF824}"/>
              </a:ext>
            </a:extLst>
          </p:cNvPr>
          <p:cNvGraphicFramePr>
            <a:graphicFrameLocks noGrp="1"/>
          </p:cNvGraphicFramePr>
          <p:nvPr>
            <p:ph idx="1"/>
            <p:extLst>
              <p:ext uri="{D42A27DB-BD31-4B8C-83A1-F6EECF244321}">
                <p14:modId xmlns:p14="http://schemas.microsoft.com/office/powerpoint/2010/main" val="537581882"/>
              </p:ext>
            </p:extLst>
          </p:nvPr>
        </p:nvGraphicFramePr>
        <p:xfrm>
          <a:off x="457200" y="2274570"/>
          <a:ext cx="8229600" cy="3223260"/>
        </p:xfrm>
        <a:graphic>
          <a:graphicData uri="http://schemas.openxmlformats.org/drawingml/2006/table">
            <a:tbl>
              <a:tblPr/>
              <a:tblGrid>
                <a:gridCol w="4114800">
                  <a:extLst>
                    <a:ext uri="{9D8B030D-6E8A-4147-A177-3AD203B41FA5}">
                      <a16:colId xmlns:a16="http://schemas.microsoft.com/office/drawing/2014/main" val="2674836758"/>
                    </a:ext>
                  </a:extLst>
                </a:gridCol>
                <a:gridCol w="4114800">
                  <a:extLst>
                    <a:ext uri="{9D8B030D-6E8A-4147-A177-3AD203B41FA5}">
                      <a16:colId xmlns:a16="http://schemas.microsoft.com/office/drawing/2014/main" val="2623864428"/>
                    </a:ext>
                  </a:extLst>
                </a:gridCol>
              </a:tblGrid>
              <a:tr h="0">
                <a:tc>
                  <a:txBody>
                    <a:bodyPr/>
                    <a:lstStyle/>
                    <a:p>
                      <a:pPr fontAlgn="t">
                        <a:lnSpc>
                          <a:spcPts val="1920"/>
                        </a:lnSpc>
                        <a:buNone/>
                      </a:pPr>
                      <a:r>
                        <a:rPr lang="ru-RU" dirty="0">
                          <a:effectLst/>
                        </a:rPr>
                        <a:t>Компилятор</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5"/>
                    </a:solidFill>
                  </a:tcPr>
                </a:tc>
                <a:tc>
                  <a:txBody>
                    <a:bodyPr/>
                    <a:lstStyle/>
                    <a:p>
                      <a:pPr fontAlgn="t">
                        <a:lnSpc>
                          <a:spcPts val="1920"/>
                        </a:lnSpc>
                        <a:buNone/>
                      </a:pPr>
                      <a:r>
                        <a:rPr lang="ru-RU" dirty="0">
                          <a:effectLst/>
                        </a:rPr>
                        <a:t>Макрос</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accent5"/>
                    </a:solidFill>
                  </a:tcPr>
                </a:tc>
                <a:extLst>
                  <a:ext uri="{0D108BD9-81ED-4DB2-BD59-A6C34878D82A}">
                    <a16:rowId xmlns:a16="http://schemas.microsoft.com/office/drawing/2014/main" val="3668233584"/>
                  </a:ext>
                </a:extLst>
              </a:tr>
              <a:tr h="0">
                <a:tc>
                  <a:txBody>
                    <a:bodyPr/>
                    <a:lstStyle/>
                    <a:p>
                      <a:pPr fontAlgn="t">
                        <a:lnSpc>
                          <a:spcPts val="1920"/>
                        </a:lnSpc>
                        <a:buNone/>
                      </a:pPr>
                      <a:r>
                        <a:rPr lang="de-CH" dirty="0">
                          <a:effectLst/>
                        </a:rPr>
                        <a:t>Borland</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__BORLANDC__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3494175156"/>
                  </a:ext>
                </a:extLst>
              </a:tr>
              <a:tr h="0">
                <a:tc>
                  <a:txBody>
                    <a:bodyPr/>
                    <a:lstStyle/>
                    <a:p>
                      <a:pPr fontAlgn="t">
                        <a:lnSpc>
                          <a:spcPts val="1920"/>
                        </a:lnSpc>
                        <a:buNone/>
                      </a:pPr>
                      <a:r>
                        <a:rPr lang="de-CH">
                          <a:effectLst/>
                        </a:rPr>
                        <a:t>Clang</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__clang__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785370295"/>
                  </a:ext>
                </a:extLst>
              </a:tr>
              <a:tr h="0">
                <a:tc>
                  <a:txBody>
                    <a:bodyPr/>
                    <a:lstStyle/>
                    <a:p>
                      <a:pPr fontAlgn="t">
                        <a:lnSpc>
                          <a:spcPts val="1920"/>
                        </a:lnSpc>
                        <a:buNone/>
                      </a:pPr>
                      <a:r>
                        <a:rPr lang="de-CH">
                          <a:effectLst/>
                        </a:rPr>
                        <a:t>Codeplay VectorC</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__VECTORC__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718562183"/>
                  </a:ext>
                </a:extLst>
              </a:tr>
              <a:tr h="0">
                <a:tc>
                  <a:txBody>
                    <a:bodyPr/>
                    <a:lstStyle/>
                    <a:p>
                      <a:pPr fontAlgn="t">
                        <a:lnSpc>
                          <a:spcPts val="1920"/>
                        </a:lnSpc>
                        <a:buNone/>
                      </a:pPr>
                      <a:r>
                        <a:rPr lang="de-CH">
                          <a:effectLst/>
                        </a:rPr>
                        <a:t>Digital Mars</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__DMC__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2742915526"/>
                  </a:ext>
                </a:extLst>
              </a:tr>
              <a:tr h="0">
                <a:tc>
                  <a:txBody>
                    <a:bodyPr/>
                    <a:lstStyle/>
                    <a:p>
                      <a:pPr fontAlgn="t">
                        <a:lnSpc>
                          <a:spcPts val="1920"/>
                        </a:lnSpc>
                        <a:buNone/>
                      </a:pPr>
                      <a:r>
                        <a:rPr lang="de-CH">
                          <a:effectLst/>
                        </a:rPr>
                        <a:t>Gnu</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__GNUC__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98555047"/>
                  </a:ext>
                </a:extLst>
              </a:tr>
              <a:tr h="0">
                <a:tc>
                  <a:txBody>
                    <a:bodyPr/>
                    <a:lstStyle/>
                    <a:p>
                      <a:pPr fontAlgn="t">
                        <a:lnSpc>
                          <a:spcPts val="1920"/>
                        </a:lnSpc>
                        <a:buNone/>
                      </a:pPr>
                      <a:r>
                        <a:rPr lang="de-CH">
                          <a:effectLst/>
                        </a:rPr>
                        <a:t>Intel legacy “Classic”</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__INTEL_COMPILER</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2102334552"/>
                  </a:ext>
                </a:extLst>
              </a:tr>
              <a:tr h="0">
                <a:tc>
                  <a:txBody>
                    <a:bodyPr/>
                    <a:lstStyle/>
                    <a:p>
                      <a:pPr fontAlgn="t">
                        <a:lnSpc>
                          <a:spcPts val="1920"/>
                        </a:lnSpc>
                        <a:buNone/>
                      </a:pPr>
                      <a:r>
                        <a:rPr lang="de-CH">
                          <a:effectLst/>
                        </a:rPr>
                        <a:t>Intel LLVM based</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__INTEL_LLVM_COMPILER</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143163969"/>
                  </a:ext>
                </a:extLst>
              </a:tr>
              <a:tr h="0">
                <a:tc>
                  <a:txBody>
                    <a:bodyPr/>
                    <a:lstStyle/>
                    <a:p>
                      <a:pPr fontAlgn="t">
                        <a:lnSpc>
                          <a:spcPts val="1920"/>
                        </a:lnSpc>
                        <a:buNone/>
                      </a:pPr>
                      <a:r>
                        <a:rPr lang="de-CH">
                          <a:effectLst/>
                        </a:rPr>
                        <a:t>Microsoft</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_MSC_VER</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2870100034"/>
                  </a:ext>
                </a:extLst>
              </a:tr>
              <a:tr h="0">
                <a:tc>
                  <a:txBody>
                    <a:bodyPr/>
                    <a:lstStyle/>
                    <a:p>
                      <a:pPr fontAlgn="t">
                        <a:lnSpc>
                          <a:spcPts val="1920"/>
                        </a:lnSpc>
                        <a:buNone/>
                      </a:pPr>
                      <a:r>
                        <a:rPr lang="de-CH">
                          <a:effectLst/>
                        </a:rPr>
                        <a:t>Pathscale</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__PATHSCALE__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1926845710"/>
                  </a:ext>
                </a:extLst>
              </a:tr>
              <a:tr h="0">
                <a:tc>
                  <a:txBody>
                    <a:bodyPr/>
                    <a:lstStyle/>
                    <a:p>
                      <a:pPr fontAlgn="t">
                        <a:lnSpc>
                          <a:spcPts val="1920"/>
                        </a:lnSpc>
                        <a:buNone/>
                      </a:pPr>
                      <a:r>
                        <a:rPr lang="de-CH">
                          <a:effectLst/>
                        </a:rPr>
                        <a:t>Symantec</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__SYMANTECC__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1375118446"/>
                  </a:ext>
                </a:extLst>
              </a:tr>
              <a:tr h="0">
                <a:tc>
                  <a:txBody>
                    <a:bodyPr/>
                    <a:lstStyle/>
                    <a:p>
                      <a:pPr fontAlgn="t">
                        <a:lnSpc>
                          <a:spcPts val="1920"/>
                        </a:lnSpc>
                        <a:buNone/>
                      </a:pPr>
                      <a:r>
                        <a:rPr lang="de-CH">
                          <a:effectLst/>
                        </a:rPr>
                        <a:t>Watcom</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__WATCOMC__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4244792808"/>
                  </a:ext>
                </a:extLst>
              </a:tr>
            </a:tbl>
          </a:graphicData>
        </a:graphic>
      </p:graphicFrame>
    </p:spTree>
    <p:extLst>
      <p:ext uri="{BB962C8B-B14F-4D97-AF65-F5344CB8AC3E}">
        <p14:creationId xmlns:p14="http://schemas.microsoft.com/office/powerpoint/2010/main" val="1432842462"/>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81668-C5C2-BE89-4752-E6E8F2961D2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AC6153-1FD2-ABBC-E849-DDDC69A863D7}"/>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0EF4BAB3-1C8B-1ED0-1200-3B38CBBC9809}"/>
              </a:ext>
            </a:extLst>
          </p:cNvPr>
          <p:cNvSpPr>
            <a:spLocks noGrp="1"/>
          </p:cNvSpPr>
          <p:nvPr>
            <p:ph idx="1"/>
          </p:nvPr>
        </p:nvSpPr>
        <p:spPr/>
        <p:txBody>
          <a:bodyPr/>
          <a:lstStyle/>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 {</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#ifdef</a:t>
            </a:r>
            <a:r>
              <a:rPr lang="de-CH" sz="1600" dirty="0">
                <a:solidFill>
                  <a:srgbClr val="000000"/>
                </a:solidFill>
                <a:highlight>
                  <a:srgbClr val="FFFFFF"/>
                </a:highlight>
                <a:latin typeface="Cascadia Mono" panose="020B0609020000020004" pitchFamily="49" charset="0"/>
              </a:rPr>
              <a:t> __</a:t>
            </a:r>
            <a:r>
              <a:rPr lang="de-CH" sz="1600" dirty="0" err="1">
                <a:solidFill>
                  <a:srgbClr val="000000"/>
                </a:solidFill>
                <a:highlight>
                  <a:srgbClr val="FFFFFF"/>
                </a:highlight>
                <a:latin typeface="Cascadia Mono" panose="020B0609020000020004" pitchFamily="49" charset="0"/>
              </a:rPr>
              <a:t>clang</a:t>
            </a:r>
            <a:r>
              <a:rPr lang="de-CH" sz="1600" dirty="0">
                <a:solidFill>
                  <a:srgbClr val="000000"/>
                </a:solidFill>
                <a:highlight>
                  <a:srgbClr val="FFFFFF"/>
                </a:highlight>
                <a:latin typeface="Cascadia Mono" panose="020B0609020000020004" pitchFamily="49" charset="0"/>
              </a:rPr>
              <a:t>__</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a:t>
            </a:r>
            <a:r>
              <a:rPr lang="de-CH" sz="1600" dirty="0" err="1">
                <a:solidFill>
                  <a:srgbClr val="A31515"/>
                </a:solidFill>
                <a:highlight>
                  <a:srgbClr val="FFFFFF"/>
                </a:highlight>
                <a:latin typeface="Cascadia Mono" panose="020B0609020000020004" pitchFamily="49" charset="0"/>
              </a:rPr>
              <a:t>Clang</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compiler</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#elif</a:t>
            </a:r>
            <a:r>
              <a:rPr lang="de-CH" sz="1600" dirty="0">
                <a:solidFill>
                  <a:srgbClr val="000000"/>
                </a:solidFill>
                <a:highlight>
                  <a:srgbClr val="FFFFFF"/>
                </a:highlight>
                <a:latin typeface="Cascadia Mono" panose="020B0609020000020004" pitchFamily="49" charset="0"/>
              </a:rPr>
              <a:t> __GNUC__</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"GCC </a:t>
            </a:r>
            <a:r>
              <a:rPr lang="de-CH" sz="1600" dirty="0" err="1">
                <a:solidFill>
                  <a:srgbClr val="A31515"/>
                </a:solidFill>
                <a:highlight>
                  <a:srgbClr val="FFFFFF"/>
                </a:highlight>
                <a:latin typeface="Cascadia Mono" panose="020B0609020000020004" pitchFamily="49" charset="0"/>
              </a:rPr>
              <a:t>compiler</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#elif</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_MSC_VER</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"Microsoft"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#else</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a:t>
            </a:r>
            <a:r>
              <a:rPr lang="de-CH" sz="1600" dirty="0" err="1">
                <a:solidFill>
                  <a:srgbClr val="A31515"/>
                </a:solidFill>
                <a:highlight>
                  <a:srgbClr val="FFFFFF"/>
                </a:highlight>
                <a:latin typeface="Cascadia Mono" panose="020B0609020000020004" pitchFamily="49" charset="0"/>
              </a:rPr>
              <a:t>Undefined</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compiler</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#endif</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1745129189"/>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20C7D-9C51-0F20-7E0C-526C5BEA117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A2E2A9-D1B5-EAED-BD52-CDD59C5A567D}"/>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79A7A1AC-5746-BAB0-FA7A-26F3E76A53A3}"/>
              </a:ext>
            </a:extLst>
          </p:cNvPr>
          <p:cNvSpPr>
            <a:spLocks noGrp="1"/>
          </p:cNvSpPr>
          <p:nvPr>
            <p:ph idx="1"/>
          </p:nvPr>
        </p:nvSpPr>
        <p:spPr>
          <a:xfrm>
            <a:off x="395536" y="1262063"/>
            <a:ext cx="8291264" cy="5248275"/>
          </a:xfrm>
        </p:spPr>
        <p:txBody>
          <a:bodyPr/>
          <a:lstStyle/>
          <a:p>
            <a:r>
              <a:rPr lang="ru-RU" b="1" dirty="0"/>
              <a:t>Макросы архитектур</a:t>
            </a:r>
          </a:p>
          <a:p>
            <a:endParaRPr lang="ru-RU" sz="1600" dirty="0"/>
          </a:p>
        </p:txBody>
      </p:sp>
      <p:graphicFrame>
        <p:nvGraphicFramePr>
          <p:cNvPr id="4" name="Таблица 3">
            <a:extLst>
              <a:ext uri="{FF2B5EF4-FFF2-40B4-BE49-F238E27FC236}">
                <a16:creationId xmlns:a16="http://schemas.microsoft.com/office/drawing/2014/main" id="{34FC6C1B-C23D-C487-61D7-43A446A44719}"/>
              </a:ext>
            </a:extLst>
          </p:cNvPr>
          <p:cNvGraphicFramePr>
            <a:graphicFrameLocks noGrp="1"/>
          </p:cNvGraphicFramePr>
          <p:nvPr>
            <p:extLst>
              <p:ext uri="{D42A27DB-BD31-4B8C-83A1-F6EECF244321}">
                <p14:modId xmlns:p14="http://schemas.microsoft.com/office/powerpoint/2010/main" val="457930581"/>
              </p:ext>
            </p:extLst>
          </p:nvPr>
        </p:nvGraphicFramePr>
        <p:xfrm>
          <a:off x="683568" y="3080385"/>
          <a:ext cx="7776864" cy="1611630"/>
        </p:xfrm>
        <a:graphic>
          <a:graphicData uri="http://schemas.openxmlformats.org/drawingml/2006/table">
            <a:tbl>
              <a:tblPr/>
              <a:tblGrid>
                <a:gridCol w="3240360">
                  <a:extLst>
                    <a:ext uri="{9D8B030D-6E8A-4147-A177-3AD203B41FA5}">
                      <a16:colId xmlns:a16="http://schemas.microsoft.com/office/drawing/2014/main" val="115972640"/>
                    </a:ext>
                  </a:extLst>
                </a:gridCol>
                <a:gridCol w="4536504">
                  <a:extLst>
                    <a:ext uri="{9D8B030D-6E8A-4147-A177-3AD203B41FA5}">
                      <a16:colId xmlns:a16="http://schemas.microsoft.com/office/drawing/2014/main" val="2359741102"/>
                    </a:ext>
                  </a:extLst>
                </a:gridCol>
              </a:tblGrid>
              <a:tr h="0">
                <a:tc>
                  <a:txBody>
                    <a:bodyPr/>
                    <a:lstStyle/>
                    <a:p>
                      <a:pPr fontAlgn="t">
                        <a:lnSpc>
                          <a:spcPts val="1920"/>
                        </a:lnSpc>
                        <a:buNone/>
                      </a:pPr>
                      <a:r>
                        <a:rPr lang="ru-RU" dirty="0">
                          <a:effectLst/>
                        </a:rPr>
                        <a:t>Архитектура</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lumMod val="40000"/>
                        <a:lumOff val="60000"/>
                      </a:schemeClr>
                    </a:solidFill>
                  </a:tcPr>
                </a:tc>
                <a:tc>
                  <a:txBody>
                    <a:bodyPr/>
                    <a:lstStyle/>
                    <a:p>
                      <a:pPr fontAlgn="t">
                        <a:lnSpc>
                          <a:spcPts val="1920"/>
                        </a:lnSpc>
                        <a:buNone/>
                      </a:pPr>
                      <a:r>
                        <a:rPr lang="ru-RU" dirty="0">
                          <a:effectLst/>
                        </a:rPr>
                        <a:t>Макрос</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190508699"/>
                  </a:ext>
                </a:extLst>
              </a:tr>
              <a:tr h="0">
                <a:tc>
                  <a:txBody>
                    <a:bodyPr/>
                    <a:lstStyle/>
                    <a:p>
                      <a:pPr fontAlgn="t">
                        <a:lnSpc>
                          <a:spcPts val="1920"/>
                        </a:lnSpc>
                        <a:buNone/>
                      </a:pPr>
                      <a:r>
                        <a:rPr lang="de-CH">
                          <a:effectLst/>
                        </a:rPr>
                        <a:t>x86</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_M_IX86, __INTEL__, __i386__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3888757405"/>
                  </a:ext>
                </a:extLst>
              </a:tr>
              <a:tr h="0">
                <a:tc>
                  <a:txBody>
                    <a:bodyPr/>
                    <a:lstStyle/>
                    <a:p>
                      <a:pPr fontAlgn="t">
                        <a:lnSpc>
                          <a:spcPts val="1920"/>
                        </a:lnSpc>
                        <a:buNone/>
                      </a:pPr>
                      <a:r>
                        <a:rPr lang="de-CH">
                          <a:effectLst/>
                        </a:rPr>
                        <a:t>x86-64</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_M_X64, __x86_64__, __amd64</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3503894523"/>
                  </a:ext>
                </a:extLst>
              </a:tr>
              <a:tr h="0">
                <a:tc>
                  <a:txBody>
                    <a:bodyPr/>
                    <a:lstStyle/>
                    <a:p>
                      <a:pPr fontAlgn="t">
                        <a:lnSpc>
                          <a:spcPts val="1920"/>
                        </a:lnSpc>
                        <a:buNone/>
                      </a:pPr>
                      <a:r>
                        <a:rPr lang="de-CH">
                          <a:effectLst/>
                        </a:rPr>
                        <a:t>IA64</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__IA64__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3000719241"/>
                  </a:ext>
                </a:extLst>
              </a:tr>
              <a:tr h="0">
                <a:tc>
                  <a:txBody>
                    <a:bodyPr/>
                    <a:lstStyle/>
                    <a:p>
                      <a:pPr fontAlgn="t">
                        <a:lnSpc>
                          <a:spcPts val="1920"/>
                        </a:lnSpc>
                        <a:buNone/>
                      </a:pPr>
                      <a:r>
                        <a:rPr lang="de-CH">
                          <a:effectLst/>
                        </a:rPr>
                        <a:t>DEC Alpha</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__ALPHA__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4170131302"/>
                  </a:ext>
                </a:extLst>
              </a:tr>
              <a:tr h="0">
                <a:tc>
                  <a:txBody>
                    <a:bodyPr/>
                    <a:lstStyle/>
                    <a:p>
                      <a:pPr fontAlgn="t">
                        <a:lnSpc>
                          <a:spcPts val="1920"/>
                        </a:lnSpc>
                        <a:buNone/>
                      </a:pPr>
                      <a:r>
                        <a:rPr lang="de-CH">
                          <a:effectLst/>
                        </a:rPr>
                        <a:t>Motorola Power PC</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__POWERPC__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3150300537"/>
                  </a:ext>
                </a:extLst>
              </a:tr>
            </a:tbl>
          </a:graphicData>
        </a:graphic>
      </p:graphicFrame>
      <p:sp>
        <p:nvSpPr>
          <p:cNvPr id="5" name="Rectangle 1">
            <a:extLst>
              <a:ext uri="{FF2B5EF4-FFF2-40B4-BE49-F238E27FC236}">
                <a16:creationId xmlns:a16="http://schemas.microsoft.com/office/drawing/2014/main" id="{CA1903AB-91C2-4E64-1BE8-52994D0CBB23}"/>
              </a:ext>
            </a:extLst>
          </p:cNvPr>
          <p:cNvSpPr>
            <a:spLocks noChangeArrowheads="1"/>
          </p:cNvSpPr>
          <p:nvPr/>
        </p:nvSpPr>
        <p:spPr bwMode="auto">
          <a:xfrm>
            <a:off x="457200" y="3079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23625127"/>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1E077-DEAA-C14E-B40A-F8163FA3969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C683E8-003A-6500-A599-7CC95A6DB08E}"/>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42534ADD-7B05-0013-4461-FF26D0590261}"/>
              </a:ext>
            </a:extLst>
          </p:cNvPr>
          <p:cNvSpPr>
            <a:spLocks noGrp="1"/>
          </p:cNvSpPr>
          <p:nvPr>
            <p:ph idx="1"/>
          </p:nvPr>
        </p:nvSpPr>
        <p:spPr/>
        <p:txBody>
          <a:bodyPr/>
          <a:lstStyle/>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 {</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#ifdef</a:t>
            </a:r>
            <a:r>
              <a:rPr lang="de-CH" sz="1600" dirty="0">
                <a:solidFill>
                  <a:srgbClr val="000000"/>
                </a:solidFill>
                <a:highlight>
                  <a:srgbClr val="FFFFFF"/>
                </a:highlight>
                <a:latin typeface="Cascadia Mono" panose="020B0609020000020004" pitchFamily="49" charset="0"/>
              </a:rPr>
              <a:t> __x86_64__</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"Intel x86 64bit"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#elif</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_M_X64</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"Intel x86 64bit"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#elif</a:t>
            </a:r>
            <a:r>
              <a:rPr lang="de-CH" sz="1600" dirty="0">
                <a:solidFill>
                  <a:srgbClr val="000000"/>
                </a:solidFill>
                <a:highlight>
                  <a:srgbClr val="FFFFFF"/>
                </a:highlight>
                <a:latin typeface="Cascadia Mono" panose="020B0609020000020004" pitchFamily="49" charset="0"/>
              </a:rPr>
              <a:t> __i386__</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"Intel x86 32bit"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#else</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a:t>
            </a:r>
            <a:r>
              <a:rPr lang="de-CH" sz="1600" dirty="0" err="1">
                <a:solidFill>
                  <a:srgbClr val="A31515"/>
                </a:solidFill>
                <a:highlight>
                  <a:srgbClr val="FFFFFF"/>
                </a:highlight>
                <a:latin typeface="Cascadia Mono" panose="020B0609020000020004" pitchFamily="49" charset="0"/>
              </a:rPr>
              <a:t>Undefined</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hardware</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t>
            </a:r>
            <a:r>
              <a:rPr lang="de-CH" sz="1600" dirty="0">
                <a:solidFill>
                  <a:srgbClr val="808080"/>
                </a:solidFill>
                <a:highlight>
                  <a:srgbClr val="FFFFFF"/>
                </a:highlight>
                <a:latin typeface="Cascadia Mono" panose="020B0609020000020004" pitchFamily="49" charset="0"/>
              </a:rPr>
              <a:t>#endif</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734717938"/>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04A2E-ABBF-5E0F-3C4C-403656612AF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F8AAB4F-B2B1-EC91-F10B-0A369F2A8203}"/>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1F7C1DA4-B012-88CB-81C2-870DD77DC048}"/>
              </a:ext>
            </a:extLst>
          </p:cNvPr>
          <p:cNvSpPr>
            <a:spLocks noGrp="1"/>
          </p:cNvSpPr>
          <p:nvPr>
            <p:ph idx="1"/>
          </p:nvPr>
        </p:nvSpPr>
        <p:spPr>
          <a:xfrm>
            <a:off x="455374" y="1213369"/>
            <a:ext cx="8229600" cy="5248275"/>
          </a:xfrm>
        </p:spPr>
        <p:txBody>
          <a:bodyPr/>
          <a:lstStyle/>
          <a:p>
            <a:r>
              <a:rPr lang="ru-RU" b="1" dirty="0"/>
              <a:t>Порядок байтов</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ru-RU" dirty="0" err="1"/>
              <a:t>ОДнако</a:t>
            </a:r>
            <a:r>
              <a:rPr lang="ru-RU" dirty="0"/>
              <a:t> в GCC для определения порядка байтов применяется предопределенный макрос </a:t>
            </a:r>
            <a:r>
              <a:rPr lang="ru-RU" b="1" dirty="0"/>
              <a:t>BYTE_ORDER</a:t>
            </a:r>
            <a:r>
              <a:rPr lang="ru-RU" dirty="0"/>
              <a:t>, который сравнивается с двумя константами: </a:t>
            </a:r>
            <a:r>
              <a:rPr lang="ru-RU" b="1" dirty="0"/>
              <a:t>LITTLE_ENDIAN</a:t>
            </a:r>
            <a:r>
              <a:rPr lang="ru-RU" dirty="0"/>
              <a:t> и </a:t>
            </a:r>
            <a:r>
              <a:rPr lang="ru-RU" b="1" dirty="0"/>
              <a:t>BIG_ENDIAN</a:t>
            </a:r>
            <a:r>
              <a:rPr lang="ru-RU" dirty="0"/>
              <a:t>:</a:t>
            </a:r>
            <a:endParaRPr lang="ru-RU" sz="1600" dirty="0"/>
          </a:p>
        </p:txBody>
      </p:sp>
      <p:graphicFrame>
        <p:nvGraphicFramePr>
          <p:cNvPr id="4" name="Таблица 3">
            <a:extLst>
              <a:ext uri="{FF2B5EF4-FFF2-40B4-BE49-F238E27FC236}">
                <a16:creationId xmlns:a16="http://schemas.microsoft.com/office/drawing/2014/main" id="{10611642-13F6-2A46-93FA-3145B7C9F9A3}"/>
              </a:ext>
            </a:extLst>
          </p:cNvPr>
          <p:cNvGraphicFramePr>
            <a:graphicFrameLocks noGrp="1"/>
          </p:cNvGraphicFramePr>
          <p:nvPr>
            <p:extLst>
              <p:ext uri="{D42A27DB-BD31-4B8C-83A1-F6EECF244321}">
                <p14:modId xmlns:p14="http://schemas.microsoft.com/office/powerpoint/2010/main" val="2531916504"/>
              </p:ext>
            </p:extLst>
          </p:nvPr>
        </p:nvGraphicFramePr>
        <p:xfrm>
          <a:off x="564356" y="2214679"/>
          <a:ext cx="8229600" cy="805815"/>
        </p:xfrm>
        <a:graphic>
          <a:graphicData uri="http://schemas.openxmlformats.org/drawingml/2006/table">
            <a:tbl>
              <a:tblPr/>
              <a:tblGrid>
                <a:gridCol w="4114800">
                  <a:extLst>
                    <a:ext uri="{9D8B030D-6E8A-4147-A177-3AD203B41FA5}">
                      <a16:colId xmlns:a16="http://schemas.microsoft.com/office/drawing/2014/main" val="3648117770"/>
                    </a:ext>
                  </a:extLst>
                </a:gridCol>
                <a:gridCol w="4114800">
                  <a:extLst>
                    <a:ext uri="{9D8B030D-6E8A-4147-A177-3AD203B41FA5}">
                      <a16:colId xmlns:a16="http://schemas.microsoft.com/office/drawing/2014/main" val="516750359"/>
                    </a:ext>
                  </a:extLst>
                </a:gridCol>
              </a:tblGrid>
              <a:tr h="0">
                <a:tc>
                  <a:txBody>
                    <a:bodyPr/>
                    <a:lstStyle/>
                    <a:p>
                      <a:pPr fontAlgn="t">
                        <a:lnSpc>
                          <a:spcPts val="1920"/>
                        </a:lnSpc>
                        <a:buNone/>
                      </a:pPr>
                      <a:r>
                        <a:rPr lang="ru-RU" dirty="0">
                          <a:effectLst/>
                        </a:rPr>
                        <a:t>Архитектура</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ru-RU" dirty="0">
                          <a:effectLst/>
                        </a:rPr>
                        <a:t>Макрос</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2927975690"/>
                  </a:ext>
                </a:extLst>
              </a:tr>
              <a:tr h="0">
                <a:tc>
                  <a:txBody>
                    <a:bodyPr/>
                    <a:lstStyle/>
                    <a:p>
                      <a:pPr fontAlgn="t">
                        <a:lnSpc>
                          <a:spcPts val="1920"/>
                        </a:lnSpc>
                        <a:buNone/>
                      </a:pPr>
                      <a:r>
                        <a:rPr lang="de-CH">
                          <a:effectLst/>
                        </a:rPr>
                        <a:t>Any little endian</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__LITTLE_ENDIAN__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2125627312"/>
                  </a:ext>
                </a:extLst>
              </a:tr>
              <a:tr h="0">
                <a:tc>
                  <a:txBody>
                    <a:bodyPr/>
                    <a:lstStyle/>
                    <a:p>
                      <a:pPr fontAlgn="t">
                        <a:lnSpc>
                          <a:spcPts val="1920"/>
                        </a:lnSpc>
                        <a:buNone/>
                      </a:pPr>
                      <a:r>
                        <a:rPr lang="de-CH">
                          <a:effectLst/>
                        </a:rPr>
                        <a:t>Any big endian</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__BIG_ENDIAN__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189667997"/>
                  </a:ext>
                </a:extLst>
              </a:tr>
            </a:tbl>
          </a:graphicData>
        </a:graphic>
      </p:graphicFrame>
    </p:spTree>
    <p:extLst>
      <p:ext uri="{BB962C8B-B14F-4D97-AF65-F5344CB8AC3E}">
        <p14:creationId xmlns:p14="http://schemas.microsoft.com/office/powerpoint/2010/main" val="2948460232"/>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41052-79EF-BF13-C978-54AE92288EC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0493F0-DBAA-3325-D4E7-8EDE7EDCEBCB}"/>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27E0F29F-381D-1798-F641-B4C29B8AF44F}"/>
              </a:ext>
            </a:extLst>
          </p:cNvPr>
          <p:cNvSpPr>
            <a:spLocks noGrp="1"/>
          </p:cNvSpPr>
          <p:nvPr>
            <p:ph idx="1"/>
          </p:nvPr>
        </p:nvSpPr>
        <p:spPr/>
        <p:txBody>
          <a:bodyPr/>
          <a:lstStyle/>
          <a:p>
            <a:r>
              <a:rPr lang="ru-RU" b="1" dirty="0"/>
              <a:t>Макросы операционных систем</a:t>
            </a:r>
          </a:p>
          <a:p>
            <a:endParaRPr lang="ru-RU" sz="1600" dirty="0"/>
          </a:p>
        </p:txBody>
      </p:sp>
      <p:graphicFrame>
        <p:nvGraphicFramePr>
          <p:cNvPr id="4" name="Таблица 3">
            <a:extLst>
              <a:ext uri="{FF2B5EF4-FFF2-40B4-BE49-F238E27FC236}">
                <a16:creationId xmlns:a16="http://schemas.microsoft.com/office/drawing/2014/main" id="{354F9F4E-80CD-7D88-D39E-8F4EE5BFAD3E}"/>
              </a:ext>
            </a:extLst>
          </p:cNvPr>
          <p:cNvGraphicFramePr>
            <a:graphicFrameLocks noGrp="1"/>
          </p:cNvGraphicFramePr>
          <p:nvPr>
            <p:extLst>
              <p:ext uri="{D42A27DB-BD31-4B8C-83A1-F6EECF244321}">
                <p14:modId xmlns:p14="http://schemas.microsoft.com/office/powerpoint/2010/main" val="1261144725"/>
              </p:ext>
            </p:extLst>
          </p:nvPr>
        </p:nvGraphicFramePr>
        <p:xfrm>
          <a:off x="467544" y="1916832"/>
          <a:ext cx="8219256" cy="3947160"/>
        </p:xfrm>
        <a:graphic>
          <a:graphicData uri="http://schemas.openxmlformats.org/drawingml/2006/table">
            <a:tbl>
              <a:tblPr/>
              <a:tblGrid>
                <a:gridCol w="4104456">
                  <a:extLst>
                    <a:ext uri="{9D8B030D-6E8A-4147-A177-3AD203B41FA5}">
                      <a16:colId xmlns:a16="http://schemas.microsoft.com/office/drawing/2014/main" val="4078495082"/>
                    </a:ext>
                  </a:extLst>
                </a:gridCol>
                <a:gridCol w="4114800">
                  <a:extLst>
                    <a:ext uri="{9D8B030D-6E8A-4147-A177-3AD203B41FA5}">
                      <a16:colId xmlns:a16="http://schemas.microsoft.com/office/drawing/2014/main" val="1814526857"/>
                    </a:ext>
                  </a:extLst>
                </a:gridCol>
              </a:tblGrid>
              <a:tr h="0">
                <a:tc>
                  <a:txBody>
                    <a:bodyPr/>
                    <a:lstStyle/>
                    <a:p>
                      <a:pPr fontAlgn="t">
                        <a:lnSpc>
                          <a:spcPts val="1920"/>
                        </a:lnSpc>
                        <a:buNone/>
                      </a:pPr>
                      <a:r>
                        <a:rPr lang="ru-RU" dirty="0">
                          <a:effectLst/>
                        </a:rPr>
                        <a:t>Операционная система</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lumMod val="20000"/>
                        <a:lumOff val="80000"/>
                      </a:schemeClr>
                    </a:solidFill>
                  </a:tcPr>
                </a:tc>
                <a:tc>
                  <a:txBody>
                    <a:bodyPr/>
                    <a:lstStyle/>
                    <a:p>
                      <a:pPr fontAlgn="t">
                        <a:lnSpc>
                          <a:spcPts val="1920"/>
                        </a:lnSpc>
                        <a:buNone/>
                      </a:pPr>
                      <a:r>
                        <a:rPr lang="ru-RU" dirty="0">
                          <a:effectLst/>
                        </a:rPr>
                        <a:t>Макрос</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159444388"/>
                  </a:ext>
                </a:extLst>
              </a:tr>
              <a:tr h="0">
                <a:tc>
                  <a:txBody>
                    <a:bodyPr/>
                    <a:lstStyle/>
                    <a:p>
                      <a:pPr fontAlgn="t">
                        <a:lnSpc>
                          <a:spcPts val="1920"/>
                        </a:lnSpc>
                        <a:buNone/>
                      </a:pPr>
                      <a:r>
                        <a:rPr lang="de-CH" dirty="0">
                          <a:effectLst/>
                        </a:rPr>
                        <a:t>DOS 16 </a:t>
                      </a:r>
                      <a:r>
                        <a:rPr lang="de-CH" dirty="0" err="1">
                          <a:effectLst/>
                        </a:rPr>
                        <a:t>bit</a:t>
                      </a:r>
                      <a:endParaRPr lang="de-CH" dirty="0">
                        <a:effectLst/>
                      </a:endParaRP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__MSDOS__, _MSDOS</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2073491719"/>
                  </a:ext>
                </a:extLst>
              </a:tr>
              <a:tr h="0">
                <a:tc>
                  <a:txBody>
                    <a:bodyPr/>
                    <a:lstStyle/>
                    <a:p>
                      <a:pPr fontAlgn="t">
                        <a:lnSpc>
                          <a:spcPts val="1920"/>
                        </a:lnSpc>
                        <a:buNone/>
                      </a:pPr>
                      <a:r>
                        <a:rPr lang="de-CH" dirty="0">
                          <a:effectLst/>
                        </a:rPr>
                        <a:t>Windows 16 </a:t>
                      </a:r>
                      <a:r>
                        <a:rPr lang="de-CH" dirty="0" err="1">
                          <a:effectLst/>
                        </a:rPr>
                        <a:t>bit</a:t>
                      </a:r>
                      <a:endParaRPr lang="de-CH" dirty="0">
                        <a:effectLst/>
                      </a:endParaRP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_WIN16</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4217320282"/>
                  </a:ext>
                </a:extLst>
              </a:tr>
              <a:tr h="0">
                <a:tc>
                  <a:txBody>
                    <a:bodyPr/>
                    <a:lstStyle/>
                    <a:p>
                      <a:pPr fontAlgn="t">
                        <a:lnSpc>
                          <a:spcPts val="1920"/>
                        </a:lnSpc>
                        <a:buNone/>
                      </a:pPr>
                      <a:r>
                        <a:rPr lang="de-CH" dirty="0">
                          <a:effectLst/>
                        </a:rPr>
                        <a:t>Windows 32 </a:t>
                      </a:r>
                      <a:r>
                        <a:rPr lang="de-CH" dirty="0" err="1">
                          <a:effectLst/>
                        </a:rPr>
                        <a:t>bit</a:t>
                      </a:r>
                      <a:endParaRPr lang="de-CH" dirty="0">
                        <a:effectLst/>
                      </a:endParaRP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_WIN32, __WINDOWS__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4292305032"/>
                  </a:ext>
                </a:extLst>
              </a:tr>
              <a:tr h="0">
                <a:tc>
                  <a:txBody>
                    <a:bodyPr/>
                    <a:lstStyle/>
                    <a:p>
                      <a:pPr fontAlgn="t">
                        <a:lnSpc>
                          <a:spcPts val="1920"/>
                        </a:lnSpc>
                        <a:buNone/>
                      </a:pPr>
                      <a:r>
                        <a:rPr lang="de-CH" dirty="0">
                          <a:effectLst/>
                        </a:rPr>
                        <a:t>Windows 64 </a:t>
                      </a:r>
                      <a:r>
                        <a:rPr lang="de-CH" dirty="0" err="1">
                          <a:effectLst/>
                        </a:rPr>
                        <a:t>bit</a:t>
                      </a:r>
                      <a:endParaRPr lang="de-CH" dirty="0">
                        <a:effectLst/>
                      </a:endParaRP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_WIN64, _WIN32</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638494781"/>
                  </a:ext>
                </a:extLst>
              </a:tr>
              <a:tr h="0">
                <a:tc>
                  <a:txBody>
                    <a:bodyPr/>
                    <a:lstStyle/>
                    <a:p>
                      <a:pPr fontAlgn="t">
                        <a:lnSpc>
                          <a:spcPts val="1920"/>
                        </a:lnSpc>
                        <a:buNone/>
                      </a:pPr>
                      <a:r>
                        <a:rPr lang="de-CH" dirty="0" err="1">
                          <a:effectLst/>
                        </a:rPr>
                        <a:t>Cygwin</a:t>
                      </a:r>
                      <a:endParaRPr lang="de-CH" dirty="0">
                        <a:effectLst/>
                      </a:endParaRP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__CYGWIN__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1601641883"/>
                  </a:ext>
                </a:extLst>
              </a:tr>
              <a:tr h="0">
                <a:tc>
                  <a:txBody>
                    <a:bodyPr/>
                    <a:lstStyle/>
                    <a:p>
                      <a:pPr fontAlgn="t">
                        <a:lnSpc>
                          <a:spcPts val="1920"/>
                        </a:lnSpc>
                        <a:buNone/>
                      </a:pPr>
                      <a:r>
                        <a:rPr lang="de-CH" dirty="0" err="1">
                          <a:effectLst/>
                        </a:rPr>
                        <a:t>Mingw</a:t>
                      </a:r>
                      <a:endParaRPr lang="de-CH" dirty="0">
                        <a:effectLst/>
                      </a:endParaRP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__MINGW32__, __MINGW64__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1172436066"/>
                  </a:ext>
                </a:extLst>
              </a:tr>
              <a:tr h="0">
                <a:tc>
                  <a:txBody>
                    <a:bodyPr/>
                    <a:lstStyle/>
                    <a:p>
                      <a:pPr fontAlgn="t">
                        <a:lnSpc>
                          <a:spcPts val="1920"/>
                        </a:lnSpc>
                        <a:buNone/>
                      </a:pPr>
                      <a:r>
                        <a:rPr lang="de-CH">
                          <a:effectLst/>
                        </a:rPr>
                        <a:t>Linux 32 bit</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__unix__, __linux__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506095016"/>
                  </a:ext>
                </a:extLst>
              </a:tr>
              <a:tr h="0">
                <a:tc>
                  <a:txBody>
                    <a:bodyPr/>
                    <a:lstStyle/>
                    <a:p>
                      <a:pPr fontAlgn="t">
                        <a:lnSpc>
                          <a:spcPts val="1920"/>
                        </a:lnSpc>
                        <a:buNone/>
                      </a:pPr>
                      <a:r>
                        <a:rPr lang="de-CH">
                          <a:effectLst/>
                        </a:rPr>
                        <a:t>Linux 64 bit</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__unix__, __linux__, __LP64__, __amd64</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24001751"/>
                  </a:ext>
                </a:extLst>
              </a:tr>
              <a:tr h="0">
                <a:tc>
                  <a:txBody>
                    <a:bodyPr/>
                    <a:lstStyle/>
                    <a:p>
                      <a:pPr fontAlgn="t">
                        <a:lnSpc>
                          <a:spcPts val="1920"/>
                        </a:lnSpc>
                        <a:buNone/>
                      </a:pPr>
                      <a:r>
                        <a:rPr lang="de-CH">
                          <a:effectLst/>
                        </a:rPr>
                        <a:t>BSD</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__unix__, __BSD__, __FREEBSD__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4060626297"/>
                  </a:ext>
                </a:extLst>
              </a:tr>
              <a:tr h="0">
                <a:tc>
                  <a:txBody>
                    <a:bodyPr/>
                    <a:lstStyle/>
                    <a:p>
                      <a:pPr fontAlgn="t">
                        <a:lnSpc>
                          <a:spcPts val="1920"/>
                        </a:lnSpc>
                        <a:buNone/>
                      </a:pPr>
                      <a:r>
                        <a:rPr lang="de-CH">
                          <a:effectLst/>
                        </a:rPr>
                        <a:t>Mac OS</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a:effectLst/>
                        </a:rPr>
                        <a:t>__APPLE__, (__DARWIN__, __MACH__)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3915416764"/>
                  </a:ext>
                </a:extLst>
              </a:tr>
              <a:tr h="0">
                <a:tc>
                  <a:txBody>
                    <a:bodyPr/>
                    <a:lstStyle/>
                    <a:p>
                      <a:pPr fontAlgn="t">
                        <a:lnSpc>
                          <a:spcPts val="1920"/>
                        </a:lnSpc>
                        <a:buNone/>
                      </a:pPr>
                      <a:r>
                        <a:rPr lang="de-CH">
                          <a:effectLst/>
                        </a:rPr>
                        <a:t>OS/2</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tc>
                  <a:txBody>
                    <a:bodyPr/>
                    <a:lstStyle/>
                    <a:p>
                      <a:pPr fontAlgn="t">
                        <a:lnSpc>
                          <a:spcPts val="1920"/>
                        </a:lnSpc>
                        <a:buNone/>
                      </a:pPr>
                      <a:r>
                        <a:rPr lang="de-CH" dirty="0">
                          <a:effectLst/>
                        </a:rPr>
                        <a:t>__OS2__</a:t>
                      </a:r>
                    </a:p>
                  </a:txBody>
                  <a:tcPr marL="47625" marR="28575" marT="9525" marB="95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7F7FA"/>
                    </a:solidFill>
                  </a:tcPr>
                </a:tc>
                <a:extLst>
                  <a:ext uri="{0D108BD9-81ED-4DB2-BD59-A6C34878D82A}">
                    <a16:rowId xmlns:a16="http://schemas.microsoft.com/office/drawing/2014/main" val="4094177333"/>
                  </a:ext>
                </a:extLst>
              </a:tr>
            </a:tbl>
          </a:graphicData>
        </a:graphic>
      </p:graphicFrame>
    </p:spTree>
    <p:extLst>
      <p:ext uri="{BB962C8B-B14F-4D97-AF65-F5344CB8AC3E}">
        <p14:creationId xmlns:p14="http://schemas.microsoft.com/office/powerpoint/2010/main" val="828005313"/>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6B505-A862-61DD-6E0B-DB43DFAB988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415FD0-7D1E-B37C-77A3-F48EEC5CBA92}"/>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9B50D583-9F4D-B1DD-39DE-F6C178E044B0}"/>
              </a:ext>
            </a:extLst>
          </p:cNvPr>
          <p:cNvSpPr>
            <a:spLocks noGrp="1"/>
          </p:cNvSpPr>
          <p:nvPr>
            <p:ph idx="1"/>
          </p:nvPr>
        </p:nvSpPr>
        <p:spPr/>
        <p:txBody>
          <a:bodyPr/>
          <a:lstStyle/>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 {</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#ifdef</a:t>
            </a:r>
            <a:r>
              <a:rPr lang="de-CH" sz="1600" dirty="0">
                <a:solidFill>
                  <a:srgbClr val="000000"/>
                </a:solidFill>
                <a:highlight>
                  <a:srgbClr val="FFFFFF"/>
                </a:highlight>
                <a:latin typeface="Cascadia Mono" panose="020B0609020000020004" pitchFamily="49" charset="0"/>
              </a:rPr>
              <a:t> </a:t>
            </a:r>
            <a:r>
              <a:rPr lang="de-CH" sz="1600" dirty="0">
                <a:solidFill>
                  <a:srgbClr val="6F008A"/>
                </a:solidFill>
                <a:highlight>
                  <a:srgbClr val="FFFFFF"/>
                </a:highlight>
                <a:latin typeface="Cascadia Mono" panose="020B0609020000020004" pitchFamily="49" charset="0"/>
              </a:rPr>
              <a:t>_WIN64</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"Windows"</a:t>
            </a:r>
            <a:r>
              <a:rPr lang="de-CH" sz="1600" dirty="0">
                <a:solidFill>
                  <a:srgbClr val="000000"/>
                </a:solidFill>
                <a:highlight>
                  <a:srgbClr val="FFFFFF"/>
                </a:highlight>
                <a:latin typeface="Cascadia Mono" panose="020B0609020000020004" pitchFamily="49" charset="0"/>
              </a:rPr>
              <a:t>);</a:t>
            </a:r>
          </a:p>
          <a:p>
            <a:r>
              <a:rPr lang="de-CH" sz="1600" dirty="0">
                <a:solidFill>
                  <a:srgbClr val="808080"/>
                </a:solidFill>
                <a:highlight>
                  <a:srgbClr val="FFFFFF"/>
                </a:highlight>
                <a:latin typeface="Cascadia Mono" panose="020B0609020000020004" pitchFamily="49" charset="0"/>
              </a:rPr>
              <a:t>#elif</a:t>
            </a:r>
            <a:r>
              <a:rPr lang="de-CH" sz="1600" dirty="0">
                <a:solidFill>
                  <a:srgbClr val="000000"/>
                </a:solidFill>
                <a:highlight>
                  <a:srgbClr val="FFFFFF"/>
                </a:highlight>
                <a:latin typeface="Cascadia Mono" panose="020B0609020000020004" pitchFamily="49" charset="0"/>
              </a:rPr>
              <a:t> __APPLE__</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"Mac OS"</a:t>
            </a:r>
            <a:r>
              <a:rPr lang="de-CH" sz="1600" dirty="0">
                <a:solidFill>
                  <a:srgbClr val="000000"/>
                </a:solidFill>
                <a:highlight>
                  <a:srgbClr val="FFFFFF"/>
                </a:highlight>
                <a:latin typeface="Cascadia Mono" panose="020B0609020000020004" pitchFamily="49" charset="0"/>
              </a:rPr>
              <a:t>);</a:t>
            </a:r>
          </a:p>
          <a:p>
            <a:r>
              <a:rPr lang="de-CH" sz="1600" dirty="0">
                <a:solidFill>
                  <a:srgbClr val="808080"/>
                </a:solidFill>
                <a:highlight>
                  <a:srgbClr val="FFFFFF"/>
                </a:highlight>
                <a:latin typeface="Cascadia Mono" panose="020B0609020000020004" pitchFamily="49" charset="0"/>
              </a:rPr>
              <a:t>#elif</a:t>
            </a:r>
            <a:r>
              <a:rPr lang="de-CH" sz="1600" dirty="0">
                <a:solidFill>
                  <a:srgbClr val="000000"/>
                </a:solidFill>
                <a:highlight>
                  <a:srgbClr val="FFFFFF"/>
                </a:highlight>
                <a:latin typeface="Cascadia Mono" panose="020B0609020000020004" pitchFamily="49" charset="0"/>
              </a:rPr>
              <a:t> __</a:t>
            </a:r>
            <a:r>
              <a:rPr lang="de-CH" sz="1600" dirty="0" err="1">
                <a:solidFill>
                  <a:srgbClr val="000000"/>
                </a:solidFill>
                <a:highlight>
                  <a:srgbClr val="FFFFFF"/>
                </a:highlight>
                <a:latin typeface="Cascadia Mono" panose="020B0609020000020004" pitchFamily="49" charset="0"/>
              </a:rPr>
              <a:t>linux</a:t>
            </a:r>
            <a:r>
              <a:rPr lang="de-CH" sz="1600" dirty="0">
                <a:solidFill>
                  <a:srgbClr val="000000"/>
                </a:solidFill>
                <a:highlight>
                  <a:srgbClr val="FFFFFF"/>
                </a:highlight>
                <a:latin typeface="Cascadia Mono" panose="020B0609020000020004" pitchFamily="49" charset="0"/>
              </a:rPr>
              <a:t>__</a:t>
            </a: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"Linux"</a:t>
            </a:r>
            <a:r>
              <a:rPr lang="de-CH" sz="1600" dirty="0">
                <a:solidFill>
                  <a:srgbClr val="000000"/>
                </a:solidFill>
                <a:highlight>
                  <a:srgbClr val="FFFFFF"/>
                </a:highlight>
                <a:latin typeface="Cascadia Mono" panose="020B0609020000020004" pitchFamily="49" charset="0"/>
              </a:rPr>
              <a:t>);</a:t>
            </a:r>
          </a:p>
          <a:p>
            <a:r>
              <a:rPr lang="de-CH" sz="1600" dirty="0">
                <a:solidFill>
                  <a:srgbClr val="808080"/>
                </a:solidFill>
                <a:highlight>
                  <a:srgbClr val="FFFFFF"/>
                </a:highlight>
                <a:latin typeface="Cascadia Mono" panose="020B0609020000020004" pitchFamily="49" charset="0"/>
              </a:rPr>
              <a:t>#else</a:t>
            </a:r>
            <a:endParaRPr lang="de-CH"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puts</a:t>
            </a:r>
            <a:r>
              <a:rPr lang="de-CH" sz="1600" dirty="0">
                <a:solidFill>
                  <a:srgbClr val="000000"/>
                </a:solidFill>
                <a:highlight>
                  <a:srgbClr val="FFFFFF"/>
                </a:highlight>
                <a:latin typeface="Cascadia Mono" panose="020B0609020000020004" pitchFamily="49" charset="0"/>
              </a:rPr>
              <a:t>(</a:t>
            </a:r>
            <a:r>
              <a:rPr lang="de-CH" sz="1600" dirty="0">
                <a:solidFill>
                  <a:srgbClr val="A31515"/>
                </a:solidFill>
                <a:highlight>
                  <a:srgbClr val="FFFFFF"/>
                </a:highlight>
                <a:latin typeface="Cascadia Mono" panose="020B0609020000020004" pitchFamily="49" charset="0"/>
              </a:rPr>
              <a:t>"</a:t>
            </a:r>
            <a:r>
              <a:rPr lang="de-CH" sz="1600" dirty="0" err="1">
                <a:solidFill>
                  <a:srgbClr val="A31515"/>
                </a:solidFill>
                <a:highlight>
                  <a:srgbClr val="FFFFFF"/>
                </a:highlight>
                <a:latin typeface="Cascadia Mono" panose="020B0609020000020004" pitchFamily="49" charset="0"/>
              </a:rPr>
              <a:t>Undefined</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operation</a:t>
            </a:r>
            <a:r>
              <a:rPr lang="de-CH" sz="1600" dirty="0">
                <a:solidFill>
                  <a:srgbClr val="A31515"/>
                </a:solidFill>
                <a:highlight>
                  <a:srgbClr val="FFFFFF"/>
                </a:highlight>
                <a:latin typeface="Cascadia Mono" panose="020B0609020000020004" pitchFamily="49" charset="0"/>
              </a:rPr>
              <a:t> </a:t>
            </a:r>
            <a:r>
              <a:rPr lang="de-CH" sz="1600" dirty="0" err="1">
                <a:solidFill>
                  <a:srgbClr val="A31515"/>
                </a:solidFill>
                <a:highlight>
                  <a:srgbClr val="FFFFFF"/>
                </a:highlight>
                <a:latin typeface="Cascadia Mono" panose="020B0609020000020004" pitchFamily="49" charset="0"/>
              </a:rPr>
              <a:t>system</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a:solidFill>
                  <a:srgbClr val="808080"/>
                </a:solidFill>
                <a:highlight>
                  <a:srgbClr val="FFFFFF"/>
                </a:highlight>
                <a:latin typeface="Cascadia Mono" panose="020B0609020000020004" pitchFamily="49" charset="0"/>
              </a:rPr>
              <a:t>#endif</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809372259"/>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0DD28-DD8B-02B3-61E9-7235E487A52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570651-D426-79FA-AA97-028D81D9734F}"/>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74012346-2CC5-3A03-9C75-1D1E1744BD36}"/>
              </a:ext>
            </a:extLst>
          </p:cNvPr>
          <p:cNvSpPr>
            <a:spLocks noGrp="1"/>
          </p:cNvSpPr>
          <p:nvPr>
            <p:ph idx="1"/>
          </p:nvPr>
        </p:nvSpPr>
        <p:spPr/>
        <p:txBody>
          <a:bodyPr/>
          <a:lstStyle/>
          <a:p>
            <a:r>
              <a:rPr lang="ru-RU" b="1" dirty="0"/>
              <a:t> Предопределенные макросы</a:t>
            </a:r>
          </a:p>
          <a:p>
            <a:endParaRPr lang="ru-RU" b="1" dirty="0"/>
          </a:p>
          <a:p>
            <a:pPr marL="285750" indent="-285750">
              <a:lnSpc>
                <a:spcPct val="150000"/>
              </a:lnSpc>
              <a:buFont typeface="Arial" panose="020B0604020202020204" pitchFamily="34" charset="0"/>
              <a:buChar char="•"/>
            </a:pPr>
            <a:r>
              <a:rPr lang="ru-RU" sz="1600" b="1" dirty="0"/>
              <a:t>__</a:t>
            </a:r>
            <a:r>
              <a:rPr lang="ru-RU" sz="1600" b="1" dirty="0" err="1"/>
              <a:t>cplusplus</a:t>
            </a:r>
            <a:r>
              <a:rPr lang="ru-RU" sz="1600" dirty="0"/>
              <a:t>: Определен, если код компилируется как C++ (часто с числовым значением, отражающим стандарт C++), </a:t>
            </a:r>
            <a:r>
              <a:rPr lang="ru-RU" sz="1600" dirty="0">
                <a:hlinkClick r:id="rId2"/>
              </a:rPr>
              <a:t>как указано в ресурсе Microsoft </a:t>
            </a:r>
            <a:r>
              <a:rPr lang="ru-RU" sz="1600" dirty="0" err="1">
                <a:hlinkClick r:id="rId2"/>
              </a:rPr>
              <a:t>Learn</a:t>
            </a:r>
            <a:r>
              <a:rPr lang="ru-RU" sz="1600" dirty="0"/>
              <a:t>.</a:t>
            </a:r>
          </a:p>
          <a:p>
            <a:pPr marL="285750" indent="-285750">
              <a:lnSpc>
                <a:spcPct val="150000"/>
              </a:lnSpc>
              <a:buFont typeface="Arial" panose="020B0604020202020204" pitchFamily="34" charset="0"/>
              <a:buChar char="•"/>
            </a:pPr>
            <a:r>
              <a:rPr lang="ru-RU" sz="1600" b="1" dirty="0"/>
              <a:t>__DATE__</a:t>
            </a:r>
            <a:r>
              <a:rPr lang="ru-RU" sz="1600" dirty="0"/>
              <a:t>: Строка, содержащая текущую дату компиляции.</a:t>
            </a:r>
          </a:p>
          <a:p>
            <a:pPr marL="285750" indent="-285750">
              <a:lnSpc>
                <a:spcPct val="150000"/>
              </a:lnSpc>
              <a:buFont typeface="Arial" panose="020B0604020202020204" pitchFamily="34" charset="0"/>
              <a:buChar char="•"/>
            </a:pPr>
            <a:r>
              <a:rPr lang="ru-RU" sz="1600" b="1" dirty="0"/>
              <a:t>__FILE__</a:t>
            </a:r>
            <a:r>
              <a:rPr lang="ru-RU" sz="1600" dirty="0"/>
              <a:t>: Строка с именем текущего файла исходного кода.</a:t>
            </a:r>
          </a:p>
          <a:p>
            <a:pPr marL="285750" indent="-285750">
              <a:lnSpc>
                <a:spcPct val="150000"/>
              </a:lnSpc>
              <a:buFont typeface="Arial" panose="020B0604020202020204" pitchFamily="34" charset="0"/>
              <a:buChar char="•"/>
            </a:pPr>
            <a:r>
              <a:rPr lang="ru-RU" sz="1600" b="1" dirty="0"/>
              <a:t>__LINE__</a:t>
            </a:r>
            <a:r>
              <a:rPr lang="ru-RU" sz="1600" dirty="0"/>
              <a:t>: Целочисленное значение, представляющее номер текущей строки.</a:t>
            </a:r>
          </a:p>
          <a:p>
            <a:pPr marL="285750" indent="-285750">
              <a:lnSpc>
                <a:spcPct val="150000"/>
              </a:lnSpc>
              <a:buFont typeface="Arial" panose="020B0604020202020204" pitchFamily="34" charset="0"/>
              <a:buChar char="•"/>
            </a:pPr>
            <a:r>
              <a:rPr lang="ru-RU" sz="1600" b="1" dirty="0"/>
              <a:t>__STDC__</a:t>
            </a:r>
            <a:r>
              <a:rPr lang="ru-RU" sz="1600" dirty="0"/>
              <a:t>: Определен (часто как 1), если компиляция происходит в режиме C.</a:t>
            </a:r>
          </a:p>
          <a:p>
            <a:pPr marL="285750" indent="-285750">
              <a:lnSpc>
                <a:spcPct val="150000"/>
              </a:lnSpc>
              <a:buFont typeface="Arial" panose="020B0604020202020204" pitchFamily="34" charset="0"/>
              <a:buChar char="•"/>
            </a:pPr>
            <a:r>
              <a:rPr lang="ru-RU" sz="1600" b="1" dirty="0"/>
              <a:t>__STDC_VERSION__</a:t>
            </a:r>
            <a:r>
              <a:rPr lang="ru-RU" sz="1600" dirty="0"/>
              <a:t>: Версия стандарта C, если компиляция идет в режиме C (например, C11, C17).</a:t>
            </a:r>
          </a:p>
          <a:p>
            <a:endParaRPr lang="ru-RU" sz="1600" dirty="0"/>
          </a:p>
        </p:txBody>
      </p:sp>
    </p:spTree>
    <p:extLst>
      <p:ext uri="{BB962C8B-B14F-4D97-AF65-F5344CB8AC3E}">
        <p14:creationId xmlns:p14="http://schemas.microsoft.com/office/powerpoint/2010/main" val="965391131"/>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3D3FE-FB46-5050-C7B0-94BF526B234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7354AB-556A-B3A6-ABC4-AF68BF94DF08}"/>
              </a:ext>
            </a:extLst>
          </p:cNvPr>
          <p:cNvSpPr>
            <a:spLocks noGrp="1"/>
          </p:cNvSpPr>
          <p:nvPr>
            <p:ph type="title"/>
          </p:nvPr>
        </p:nvSpPr>
        <p:spPr/>
        <p:txBody>
          <a:bodyPr/>
          <a:lstStyle/>
          <a:p>
            <a:r>
              <a:rPr lang="ru-RU" dirty="0"/>
              <a:t>ПРЕПРОЦЕССОР</a:t>
            </a:r>
          </a:p>
        </p:txBody>
      </p:sp>
      <p:sp>
        <p:nvSpPr>
          <p:cNvPr id="3" name="Объект 2">
            <a:extLst>
              <a:ext uri="{FF2B5EF4-FFF2-40B4-BE49-F238E27FC236}">
                <a16:creationId xmlns:a16="http://schemas.microsoft.com/office/drawing/2014/main" id="{BB581C61-0F2B-3E62-0ECF-16BB7E497CFD}"/>
              </a:ext>
            </a:extLst>
          </p:cNvPr>
          <p:cNvSpPr>
            <a:spLocks noGrp="1"/>
          </p:cNvSpPr>
          <p:nvPr>
            <p:ph idx="1"/>
          </p:nvPr>
        </p:nvSpPr>
        <p:spPr/>
        <p:txBody>
          <a:bodyPr/>
          <a:lstStyle/>
          <a:p>
            <a:endParaRPr lang="ru-RU"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stdio.h</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r>
              <a:rPr lang="de-CH" sz="1600" dirty="0">
                <a:solidFill>
                  <a:srgbClr val="808080"/>
                </a:solidFill>
                <a:highlight>
                  <a:srgbClr val="FFFFFF"/>
                </a:highlight>
                <a:latin typeface="Cascadia Mono" panose="020B0609020000020004" pitchFamily="49" charset="0"/>
              </a:rPr>
              <a:t>#include</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&lt;</a:t>
            </a:r>
            <a:r>
              <a:rPr lang="de-CH" sz="1600" dirty="0" err="1">
                <a:solidFill>
                  <a:srgbClr val="A31515"/>
                </a:solidFill>
                <a:highlight>
                  <a:srgbClr val="FFFFFF"/>
                </a:highlight>
                <a:latin typeface="Cascadia Mono" panose="020B0609020000020004" pitchFamily="49" charset="0"/>
              </a:rPr>
              <a:t>iostream</a:t>
            </a:r>
            <a:r>
              <a:rPr lang="de-CH" sz="1600" dirty="0">
                <a:solidFill>
                  <a:srgbClr val="A31515"/>
                </a:solidFill>
                <a:highlight>
                  <a:srgbClr val="FFFFFF"/>
                </a:highlight>
                <a:latin typeface="Cascadia Mono" panose="020B0609020000020004" pitchFamily="49" charset="0"/>
              </a:rPr>
              <a:t>&gt;</a:t>
            </a:r>
            <a:endParaRPr lang="de-CH" sz="1600" dirty="0">
              <a:solidFill>
                <a:srgbClr val="000000"/>
              </a:solidFill>
              <a:highlight>
                <a:srgbClr val="FFFFFF"/>
              </a:highlight>
              <a:latin typeface="Cascadia Mono" panose="020B0609020000020004" pitchFamily="49" charset="0"/>
            </a:endParaRPr>
          </a:p>
          <a:p>
            <a:endParaRPr lang="ru-RU" sz="1600" dirty="0">
              <a:solidFill>
                <a:srgbClr val="000000"/>
              </a:solidFill>
              <a:highlight>
                <a:srgbClr val="FFFFFF"/>
              </a:highlight>
              <a:latin typeface="Cascadia Mono" panose="020B0609020000020004" pitchFamily="49" charset="0"/>
            </a:endParaRPr>
          </a:p>
          <a:p>
            <a:r>
              <a:rPr lang="de-CH" sz="1600" dirty="0" err="1">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r>
              <a:rPr lang="de-CH" sz="1600" dirty="0" err="1">
                <a:solidFill>
                  <a:srgbClr val="0000FF"/>
                </a:solidFill>
                <a:highlight>
                  <a:srgbClr val="FFFFFF"/>
                </a:highlight>
                <a:latin typeface="Cascadia Mono" panose="020B0609020000020004" pitchFamily="49" charset="0"/>
              </a:rPr>
              <a:t>void</a:t>
            </a:r>
            <a:r>
              <a:rPr lang="de-CH" sz="1600" dirty="0">
                <a:solidFill>
                  <a:srgbClr val="000000"/>
                </a:solidFill>
                <a:highlight>
                  <a:srgbClr val="FFFFFF"/>
                </a:highlight>
                <a:latin typeface="Cascadia Mono" panose="020B0609020000020004" pitchFamily="49" charset="0"/>
              </a:rPr>
              <a:t>) {</a:t>
            </a: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6F008A"/>
                </a:solidFill>
                <a:highlight>
                  <a:srgbClr val="FFFFFF"/>
                </a:highlight>
                <a:latin typeface="Cascadia Mono" panose="020B0609020000020004" pitchFamily="49" charset="0"/>
              </a:rPr>
              <a:t>__DATE__</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a:t>
            </a: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6F008A"/>
                </a:solidFill>
                <a:highlight>
                  <a:srgbClr val="FFFFFF"/>
                </a:highlight>
                <a:latin typeface="Cascadia Mono" panose="020B0609020000020004" pitchFamily="49" charset="0"/>
              </a:rPr>
              <a:t>__FILE__</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a:t>
            </a:r>
          </a:p>
          <a:p>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cout</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a:t>
            </a:r>
            <a:r>
              <a:rPr lang="en-US" sz="1600" dirty="0">
                <a:solidFill>
                  <a:srgbClr val="6F008A"/>
                </a:solidFill>
                <a:highlight>
                  <a:srgbClr val="FFFFFF"/>
                </a:highlight>
                <a:latin typeface="Cascadia Mono" panose="020B0609020000020004" pitchFamily="49" charset="0"/>
              </a:rPr>
              <a:t>__LINE__</a:t>
            </a:r>
            <a:r>
              <a:rPr lang="en-US" sz="1600" dirty="0">
                <a:solidFill>
                  <a:srgbClr val="000000"/>
                </a:solidFill>
                <a:highlight>
                  <a:srgbClr val="FFFFFF"/>
                </a:highlight>
                <a:latin typeface="Cascadia Mono" panose="020B0609020000020004" pitchFamily="49" charset="0"/>
              </a:rPr>
              <a:t> </a:t>
            </a:r>
            <a:r>
              <a:rPr lang="en-US" sz="1600" dirty="0">
                <a:solidFill>
                  <a:srgbClr val="008080"/>
                </a:solidFill>
                <a:highlight>
                  <a:srgbClr val="FFFFFF"/>
                </a:highlight>
                <a:latin typeface="Cascadia Mono" panose="020B0609020000020004" pitchFamily="49" charset="0"/>
              </a:rPr>
              <a:t>&lt;&lt;</a:t>
            </a:r>
            <a:r>
              <a:rPr lang="en-US" sz="1600" dirty="0">
                <a:solidFill>
                  <a:srgbClr val="000000"/>
                </a:solidFill>
                <a:highlight>
                  <a:srgbClr val="FFFFFF"/>
                </a:highlight>
                <a:latin typeface="Cascadia Mono" panose="020B0609020000020004" pitchFamily="49" charset="0"/>
              </a:rPr>
              <a:t> std::</a:t>
            </a:r>
            <a:r>
              <a:rPr lang="en-US" sz="1600" dirty="0" err="1">
                <a:solidFill>
                  <a:srgbClr val="000000"/>
                </a:solidFill>
                <a:highlight>
                  <a:srgbClr val="FFFFFF"/>
                </a:highlight>
                <a:latin typeface="Cascadia Mono" panose="020B0609020000020004" pitchFamily="49" charset="0"/>
              </a:rPr>
              <a:t>endl</a:t>
            </a:r>
            <a:r>
              <a:rPr lang="en-US" sz="1600" dirty="0">
                <a:solidFill>
                  <a:srgbClr val="000000"/>
                </a:solidFill>
                <a:highlight>
                  <a:srgbClr val="FFFFFF"/>
                </a:highlight>
                <a:latin typeface="Cascadia Mono" panose="020B0609020000020004" pitchFamily="49" charset="0"/>
              </a:rPr>
              <a:t>;</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t>
            </a:r>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3482450439"/>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38CD4A4-FBDA-A94F-08B1-7C11F7D4C343}"/>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5222A50-A5D5-228F-7488-B5FCED867E34}"/>
              </a:ext>
            </a:extLst>
          </p:cNvPr>
          <p:cNvSpPr>
            <a:spLocks noGrp="1"/>
          </p:cNvSpPr>
          <p:nvPr>
            <p:ph idx="1"/>
          </p:nvPr>
        </p:nvSpPr>
        <p:spPr/>
        <p:txBody>
          <a:bodyPr/>
          <a:lstStyle/>
          <a:p>
            <a:r>
              <a:rPr lang="ru-RU" dirty="0"/>
              <a:t> </a:t>
            </a:r>
            <a:r>
              <a:rPr lang="ru-RU" b="1" dirty="0" err="1"/>
              <a:t>Assert</a:t>
            </a:r>
            <a:r>
              <a:rPr lang="ru-RU" b="1" dirty="0"/>
              <a:t> </a:t>
            </a:r>
            <a:endParaRPr lang="en-US" b="1" dirty="0"/>
          </a:p>
          <a:p>
            <a:endParaRPr lang="en-US" dirty="0"/>
          </a:p>
          <a:p>
            <a:r>
              <a:rPr lang="ru-RU" dirty="0"/>
              <a:t>Макрос </a:t>
            </a:r>
            <a:r>
              <a:rPr lang="ru-RU" dirty="0" err="1"/>
              <a:t>assert</a:t>
            </a:r>
            <a:r>
              <a:rPr lang="ru-RU" dirty="0"/>
              <a:t> в C++ используется для </a:t>
            </a:r>
            <a:r>
              <a:rPr lang="ru-RU" b="1" dirty="0"/>
              <a:t>проверки предположений (утверждений) программиста</a:t>
            </a:r>
            <a:r>
              <a:rPr lang="ru-RU" dirty="0"/>
              <a:t> во время выполнения программы на этапе разработки. Он помогает выявить логические ошибки. </a:t>
            </a:r>
            <a:endParaRPr lang="en-US" dirty="0"/>
          </a:p>
          <a:p>
            <a:endParaRPr lang="en-US" dirty="0"/>
          </a:p>
          <a:p>
            <a:r>
              <a:rPr lang="ru-RU" b="1" dirty="0"/>
              <a:t>Логика выполнения:</a:t>
            </a:r>
            <a:endParaRPr lang="ru-RU" dirty="0"/>
          </a:p>
          <a:p>
            <a:pPr lvl="1"/>
            <a:r>
              <a:rPr lang="ru-RU" dirty="0"/>
              <a:t>Если выражение истинно (ненулевое значение), </a:t>
            </a:r>
            <a:r>
              <a:rPr lang="ru-RU" dirty="0" err="1"/>
              <a:t>assert</a:t>
            </a:r>
            <a:r>
              <a:rPr lang="ru-RU" dirty="0"/>
              <a:t> ничего не делает, и выполнение программы продолжается в обычном режиме.</a:t>
            </a:r>
          </a:p>
          <a:p>
            <a:pPr lvl="1"/>
            <a:r>
              <a:rPr lang="ru-RU" dirty="0"/>
              <a:t>Если выражение ложно (равно нулю), </a:t>
            </a:r>
            <a:r>
              <a:rPr lang="ru-RU" dirty="0" err="1"/>
              <a:t>assert</a:t>
            </a:r>
            <a:r>
              <a:rPr lang="ru-RU" dirty="0"/>
              <a:t> выводит в стандартный поток ошибок сообщение, содержащее текст выражения, имя исходного файла и номер строки, где произошел сбой, а затем экстренно завершает программу с помощью функции </a:t>
            </a:r>
            <a:r>
              <a:rPr lang="ru-RU" dirty="0" err="1"/>
              <a:t>abort</a:t>
            </a:r>
            <a:r>
              <a:rPr lang="ru-RU" dirty="0"/>
              <a:t>().</a:t>
            </a:r>
            <a:endParaRPr lang="en-US" dirty="0"/>
          </a:p>
          <a:p>
            <a:endParaRPr lang="ru-RU" dirty="0"/>
          </a:p>
          <a:p>
            <a:endParaRPr lang="ru-RU" dirty="0"/>
          </a:p>
        </p:txBody>
      </p:sp>
    </p:spTree>
    <p:extLst>
      <p:ext uri="{BB962C8B-B14F-4D97-AF65-F5344CB8AC3E}">
        <p14:creationId xmlns:p14="http://schemas.microsoft.com/office/powerpoint/2010/main" val="1768891186"/>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FC1E4-194B-16A3-F84C-B487BEA0BF3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4965F3-21DA-2C85-C10A-51EC61A8808E}"/>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616075BF-B45F-9BB8-E56D-3422B43C1134}"/>
              </a:ext>
            </a:extLst>
          </p:cNvPr>
          <p:cNvSpPr>
            <a:spLocks noGrp="1"/>
          </p:cNvSpPr>
          <p:nvPr>
            <p:ph idx="1"/>
          </p:nvPr>
        </p:nvSpPr>
        <p:spPr/>
        <p:txBody>
          <a:bodyPr/>
          <a:lstStyle/>
          <a:p>
            <a:r>
              <a:rPr lang="de-CH" sz="1000" dirty="0">
                <a:solidFill>
                  <a:srgbClr val="808080"/>
                </a:solidFill>
                <a:highlight>
                  <a:srgbClr val="FFFFFF"/>
                </a:highlight>
                <a:latin typeface="Cascadia Mono" panose="020B0609020000020004" pitchFamily="49" charset="0"/>
              </a:rPr>
              <a:t>#include</a:t>
            </a:r>
            <a:r>
              <a:rPr lang="de-CH" sz="1000" dirty="0">
                <a:solidFill>
                  <a:srgbClr val="000000"/>
                </a:solidFill>
                <a:highlight>
                  <a:srgbClr val="FFFFFF"/>
                </a:highlight>
                <a:latin typeface="Cascadia Mono" panose="020B0609020000020004" pitchFamily="49" charset="0"/>
              </a:rPr>
              <a:t> </a:t>
            </a:r>
            <a:r>
              <a:rPr lang="de-CH" sz="1000" dirty="0">
                <a:solidFill>
                  <a:srgbClr val="A31515"/>
                </a:solidFill>
                <a:highlight>
                  <a:srgbClr val="FFFFFF"/>
                </a:highlight>
                <a:latin typeface="Cascadia Mono" panose="020B0609020000020004" pitchFamily="49" charset="0"/>
              </a:rPr>
              <a:t>&lt;</a:t>
            </a:r>
            <a:r>
              <a:rPr lang="de-CH" sz="1000" dirty="0" err="1">
                <a:solidFill>
                  <a:srgbClr val="A31515"/>
                </a:solidFill>
                <a:highlight>
                  <a:srgbClr val="FFFFFF"/>
                </a:highlight>
                <a:latin typeface="Cascadia Mono" panose="020B0609020000020004" pitchFamily="49" charset="0"/>
              </a:rPr>
              <a:t>stdio.h</a:t>
            </a:r>
            <a:r>
              <a:rPr lang="de-CH" sz="1000" dirty="0">
                <a:solidFill>
                  <a:srgbClr val="A31515"/>
                </a:solidFill>
                <a:highlight>
                  <a:srgbClr val="FFFFFF"/>
                </a:highlight>
                <a:latin typeface="Cascadia Mono" panose="020B0609020000020004" pitchFamily="49" charset="0"/>
              </a:rPr>
              <a:t>&gt;</a:t>
            </a:r>
            <a:endParaRPr lang="de-CH" sz="1000" dirty="0">
              <a:solidFill>
                <a:srgbClr val="000000"/>
              </a:solidFill>
              <a:highlight>
                <a:srgbClr val="FFFFFF"/>
              </a:highlight>
              <a:latin typeface="Cascadia Mono" panose="020B0609020000020004" pitchFamily="49" charset="0"/>
            </a:endParaRPr>
          </a:p>
          <a:p>
            <a:r>
              <a:rPr lang="de-CH" sz="1000" dirty="0">
                <a:solidFill>
                  <a:srgbClr val="808080"/>
                </a:solidFill>
                <a:highlight>
                  <a:srgbClr val="FFFFFF"/>
                </a:highlight>
                <a:latin typeface="Cascadia Mono" panose="020B0609020000020004" pitchFamily="49" charset="0"/>
              </a:rPr>
              <a:t>#include</a:t>
            </a:r>
            <a:r>
              <a:rPr lang="de-CH" sz="1000" dirty="0">
                <a:solidFill>
                  <a:srgbClr val="000000"/>
                </a:solidFill>
                <a:highlight>
                  <a:srgbClr val="FFFFFF"/>
                </a:highlight>
                <a:latin typeface="Cascadia Mono" panose="020B0609020000020004" pitchFamily="49" charset="0"/>
              </a:rPr>
              <a:t> </a:t>
            </a:r>
            <a:r>
              <a:rPr lang="de-CH" sz="1000" dirty="0">
                <a:solidFill>
                  <a:srgbClr val="A31515"/>
                </a:solidFill>
                <a:highlight>
                  <a:srgbClr val="FFFFFF"/>
                </a:highlight>
                <a:latin typeface="Cascadia Mono" panose="020B0609020000020004" pitchFamily="49" charset="0"/>
              </a:rPr>
              <a:t>&lt;</a:t>
            </a:r>
            <a:r>
              <a:rPr lang="de-CH" sz="1000" dirty="0" err="1">
                <a:solidFill>
                  <a:srgbClr val="A31515"/>
                </a:solidFill>
                <a:highlight>
                  <a:srgbClr val="FFFFFF"/>
                </a:highlight>
                <a:latin typeface="Cascadia Mono" panose="020B0609020000020004" pitchFamily="49" charset="0"/>
              </a:rPr>
              <a:t>iostream</a:t>
            </a:r>
            <a:r>
              <a:rPr lang="de-CH" sz="1000" dirty="0">
                <a:solidFill>
                  <a:srgbClr val="A31515"/>
                </a:solidFill>
                <a:highlight>
                  <a:srgbClr val="FFFFFF"/>
                </a:highlight>
                <a:latin typeface="Cascadia Mono" panose="020B0609020000020004" pitchFamily="49" charset="0"/>
              </a:rPr>
              <a:t>&gt;</a:t>
            </a:r>
            <a:endParaRPr lang="de-CH" sz="1000" dirty="0">
              <a:solidFill>
                <a:srgbClr val="000000"/>
              </a:solidFill>
              <a:highlight>
                <a:srgbClr val="FFFFFF"/>
              </a:highlight>
              <a:latin typeface="Cascadia Mono" panose="020B0609020000020004" pitchFamily="49" charset="0"/>
            </a:endParaRPr>
          </a:p>
          <a:p>
            <a:r>
              <a:rPr lang="de-CH" sz="1000" dirty="0">
                <a:solidFill>
                  <a:srgbClr val="808080"/>
                </a:solidFill>
                <a:highlight>
                  <a:srgbClr val="FFFFFF"/>
                </a:highlight>
                <a:latin typeface="Cascadia Mono" panose="020B0609020000020004" pitchFamily="49" charset="0"/>
              </a:rPr>
              <a:t>#include</a:t>
            </a:r>
            <a:r>
              <a:rPr lang="de-CH" sz="1000" dirty="0">
                <a:solidFill>
                  <a:srgbClr val="000000"/>
                </a:solidFill>
                <a:highlight>
                  <a:srgbClr val="FFFFFF"/>
                </a:highlight>
                <a:latin typeface="Cascadia Mono" panose="020B0609020000020004" pitchFamily="49" charset="0"/>
              </a:rPr>
              <a:t> </a:t>
            </a:r>
            <a:r>
              <a:rPr lang="de-CH" sz="1000" dirty="0">
                <a:solidFill>
                  <a:srgbClr val="A31515"/>
                </a:solidFill>
                <a:highlight>
                  <a:srgbClr val="FFFFFF"/>
                </a:highlight>
                <a:latin typeface="Cascadia Mono" panose="020B0609020000020004" pitchFamily="49" charset="0"/>
              </a:rPr>
              <a:t>&lt;</a:t>
            </a:r>
            <a:r>
              <a:rPr lang="de-CH" sz="1000" dirty="0" err="1">
                <a:solidFill>
                  <a:srgbClr val="A31515"/>
                </a:solidFill>
                <a:highlight>
                  <a:srgbClr val="FFFFFF"/>
                </a:highlight>
                <a:latin typeface="Cascadia Mono" panose="020B0609020000020004" pitchFamily="49" charset="0"/>
              </a:rPr>
              <a:t>cassert</a:t>
            </a:r>
            <a:r>
              <a:rPr lang="de-CH" sz="1000" dirty="0">
                <a:solidFill>
                  <a:srgbClr val="A31515"/>
                </a:solidFill>
                <a:highlight>
                  <a:srgbClr val="FFFFFF"/>
                </a:highlight>
                <a:latin typeface="Cascadia Mono" panose="020B0609020000020004" pitchFamily="49" charset="0"/>
              </a:rPr>
              <a:t>&gt;</a:t>
            </a:r>
            <a:endParaRPr lang="de-CH" sz="1000" dirty="0">
              <a:solidFill>
                <a:srgbClr val="000000"/>
              </a:solidFill>
              <a:highlight>
                <a:srgbClr val="FFFFFF"/>
              </a:highlight>
              <a:latin typeface="Cascadia Mono" panose="020B0609020000020004" pitchFamily="49" charset="0"/>
            </a:endParaRPr>
          </a:p>
          <a:p>
            <a:endParaRPr lang="ru-RU" sz="1000" dirty="0">
              <a:solidFill>
                <a:srgbClr val="000000"/>
              </a:solidFill>
              <a:highlight>
                <a:srgbClr val="FFFFFF"/>
              </a:highlight>
              <a:latin typeface="Cascadia Mono" panose="020B0609020000020004" pitchFamily="49" charset="0"/>
            </a:endParaRPr>
          </a:p>
          <a:p>
            <a:r>
              <a:rPr lang="de-CH" sz="1000" dirty="0">
                <a:solidFill>
                  <a:srgbClr val="0000FF"/>
                </a:solidFill>
                <a:highlight>
                  <a:srgbClr val="FFFFFF"/>
                </a:highlight>
                <a:latin typeface="Cascadia Mono" panose="020B0609020000020004" pitchFamily="49" charset="0"/>
              </a:rPr>
              <a:t>int</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factorial</a:t>
            </a:r>
            <a:r>
              <a:rPr lang="de-CH" sz="1000" dirty="0">
                <a:solidFill>
                  <a:srgbClr val="000000"/>
                </a:solidFill>
                <a:highlight>
                  <a:srgbClr val="FFFFFF"/>
                </a:highlight>
                <a:latin typeface="Cascadia Mono" panose="020B0609020000020004" pitchFamily="49" charset="0"/>
              </a:rPr>
              <a:t>(</a:t>
            </a:r>
            <a:r>
              <a:rPr lang="de-CH" sz="1000" dirty="0">
                <a:solidFill>
                  <a:srgbClr val="0000FF"/>
                </a:solidFill>
                <a:highlight>
                  <a:srgbClr val="FFFFFF"/>
                </a:highlight>
                <a:latin typeface="Cascadia Mono" panose="020B0609020000020004" pitchFamily="49" charset="0"/>
              </a:rPr>
              <a:t>int</a:t>
            </a:r>
            <a:r>
              <a:rPr lang="de-CH" sz="1000" dirty="0">
                <a:solidFill>
                  <a:srgbClr val="000000"/>
                </a:solidFill>
                <a:highlight>
                  <a:srgbClr val="FFFFFF"/>
                </a:highlight>
                <a:latin typeface="Cascadia Mono" panose="020B0609020000020004" pitchFamily="49" charset="0"/>
              </a:rPr>
              <a:t> </a:t>
            </a:r>
            <a:r>
              <a:rPr lang="de-CH" sz="1000" dirty="0">
                <a:solidFill>
                  <a:srgbClr val="808080"/>
                </a:solidFill>
                <a:highlight>
                  <a:srgbClr val="FFFFFF"/>
                </a:highlight>
                <a:latin typeface="Cascadia Mono" panose="020B0609020000020004" pitchFamily="49" charset="0"/>
              </a:rPr>
              <a:t>n</a:t>
            </a:r>
            <a:r>
              <a:rPr lang="de-CH"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    </a:t>
            </a:r>
            <a:r>
              <a:rPr lang="ru-RU" sz="1000" dirty="0">
                <a:solidFill>
                  <a:srgbClr val="008000"/>
                </a:solidFill>
                <a:highlight>
                  <a:srgbClr val="FFFFFF"/>
                </a:highlight>
                <a:latin typeface="Cascadia Mono" panose="020B0609020000020004" pitchFamily="49" charset="0"/>
              </a:rPr>
              <a:t>// Факториал отрицательного числа не считается</a:t>
            </a:r>
            <a:endParaRPr lang="ru-RU" sz="1000" dirty="0">
              <a:solidFill>
                <a:srgbClr val="000000"/>
              </a:solidFill>
              <a:highlight>
                <a:srgbClr val="FFFFFF"/>
              </a:highlight>
              <a:latin typeface="Cascadia Mono" panose="020B0609020000020004" pitchFamily="49" charset="0"/>
            </a:endParaRPr>
          </a:p>
          <a:p>
            <a:r>
              <a:rPr lang="de-CH" sz="1000" dirty="0">
                <a:solidFill>
                  <a:srgbClr val="000000"/>
                </a:solidFill>
                <a:highlight>
                  <a:srgbClr val="FFFFFF"/>
                </a:highlight>
                <a:latin typeface="Cascadia Mono" panose="020B0609020000020004" pitchFamily="49" charset="0"/>
              </a:rPr>
              <a:t>    </a:t>
            </a:r>
            <a:r>
              <a:rPr lang="de-CH" sz="1000" dirty="0" err="1">
                <a:solidFill>
                  <a:srgbClr val="6F008A"/>
                </a:solidFill>
                <a:highlight>
                  <a:srgbClr val="FFFFFF"/>
                </a:highlight>
                <a:latin typeface="Cascadia Mono" panose="020B0609020000020004" pitchFamily="49" charset="0"/>
              </a:rPr>
              <a:t>assert</a:t>
            </a:r>
            <a:r>
              <a:rPr lang="de-CH" sz="1000" dirty="0">
                <a:solidFill>
                  <a:srgbClr val="000000"/>
                </a:solidFill>
                <a:highlight>
                  <a:srgbClr val="FFFFFF"/>
                </a:highlight>
                <a:latin typeface="Cascadia Mono" panose="020B0609020000020004" pitchFamily="49" charset="0"/>
              </a:rPr>
              <a:t>(</a:t>
            </a:r>
            <a:r>
              <a:rPr lang="de-CH" sz="1000" dirty="0">
                <a:solidFill>
                  <a:srgbClr val="808080"/>
                </a:solidFill>
                <a:highlight>
                  <a:srgbClr val="FFFFFF"/>
                </a:highlight>
                <a:latin typeface="Cascadia Mono" panose="020B0609020000020004" pitchFamily="49" charset="0"/>
              </a:rPr>
              <a:t>n</a:t>
            </a:r>
            <a:r>
              <a:rPr lang="de-CH" sz="1000" dirty="0">
                <a:solidFill>
                  <a:srgbClr val="000000"/>
                </a:solidFill>
                <a:highlight>
                  <a:srgbClr val="FFFFFF"/>
                </a:highlight>
                <a:latin typeface="Cascadia Mono" panose="020B0609020000020004" pitchFamily="49" charset="0"/>
              </a:rPr>
              <a:t> &gt;= 0);</a:t>
            </a:r>
          </a:p>
          <a:p>
            <a:endParaRPr lang="ru-RU" sz="1000" dirty="0">
              <a:solidFill>
                <a:srgbClr val="000000"/>
              </a:solidFill>
              <a:highlight>
                <a:srgbClr val="FFFFFF"/>
              </a:highlight>
              <a:latin typeface="Cascadia Mono" panose="020B0609020000020004" pitchFamily="49" charset="0"/>
            </a:endParaRPr>
          </a:p>
          <a:p>
            <a:r>
              <a:rPr lang="ru-RU" sz="1000" dirty="0">
                <a:solidFill>
                  <a:srgbClr val="000000"/>
                </a:solidFill>
                <a:highlight>
                  <a:srgbClr val="FFFFFF"/>
                </a:highlight>
                <a:latin typeface="Cascadia Mono" panose="020B0609020000020004" pitchFamily="49" charset="0"/>
              </a:rPr>
              <a:t>    </a:t>
            </a:r>
            <a:r>
              <a:rPr lang="ru-RU" sz="1000" dirty="0">
                <a:solidFill>
                  <a:srgbClr val="008000"/>
                </a:solidFill>
                <a:highlight>
                  <a:srgbClr val="FFFFFF"/>
                </a:highlight>
                <a:latin typeface="Cascadia Mono" panose="020B0609020000020004" pitchFamily="49" charset="0"/>
              </a:rPr>
              <a:t>// Если n превысит 10, то это может привести либо к целочисленному</a:t>
            </a:r>
            <a:endParaRPr lang="ru-RU" sz="1000" dirty="0">
              <a:solidFill>
                <a:srgbClr val="000000"/>
              </a:solidFill>
              <a:highlight>
                <a:srgbClr val="FFFFFF"/>
              </a:highlight>
              <a:latin typeface="Cascadia Mono" panose="020B0609020000020004" pitchFamily="49" charset="0"/>
            </a:endParaRPr>
          </a:p>
          <a:p>
            <a:r>
              <a:rPr lang="ru-RU" sz="1000" dirty="0">
                <a:solidFill>
                  <a:srgbClr val="000000"/>
                </a:solidFill>
                <a:highlight>
                  <a:srgbClr val="FFFFFF"/>
                </a:highlight>
                <a:latin typeface="Cascadia Mono" panose="020B0609020000020004" pitchFamily="49" charset="0"/>
              </a:rPr>
              <a:t>    </a:t>
            </a:r>
            <a:r>
              <a:rPr lang="ru-RU" sz="1000" dirty="0">
                <a:solidFill>
                  <a:srgbClr val="008000"/>
                </a:solidFill>
                <a:highlight>
                  <a:srgbClr val="FFFFFF"/>
                </a:highlight>
                <a:latin typeface="Cascadia Mono" panose="020B0609020000020004" pitchFamily="49" charset="0"/>
              </a:rPr>
              <a:t>// переполнению результата, либо к переполнению </a:t>
            </a:r>
            <a:r>
              <a:rPr lang="ru-RU" sz="1000" dirty="0" err="1">
                <a:solidFill>
                  <a:srgbClr val="008000"/>
                </a:solidFill>
                <a:highlight>
                  <a:srgbClr val="FFFFFF"/>
                </a:highlight>
                <a:latin typeface="Cascadia Mono" panose="020B0609020000020004" pitchFamily="49" charset="0"/>
              </a:rPr>
              <a:t>стэка</a:t>
            </a:r>
            <a:r>
              <a:rPr lang="ru-RU" sz="1000" dirty="0">
                <a:solidFill>
                  <a:srgbClr val="008000"/>
                </a:solidFill>
                <a:highlight>
                  <a:srgbClr val="FFFFFF"/>
                </a:highlight>
                <a:latin typeface="Cascadia Mono" panose="020B0609020000020004" pitchFamily="49" charset="0"/>
              </a:rPr>
              <a:t>.</a:t>
            </a:r>
            <a:endParaRPr lang="ru-RU" sz="1000" dirty="0">
              <a:solidFill>
                <a:srgbClr val="000000"/>
              </a:solidFill>
              <a:highlight>
                <a:srgbClr val="FFFFFF"/>
              </a:highlight>
              <a:latin typeface="Cascadia Mono" panose="020B0609020000020004" pitchFamily="49" charset="0"/>
            </a:endParaRPr>
          </a:p>
          <a:p>
            <a:r>
              <a:rPr lang="de-CH" sz="1000" dirty="0">
                <a:solidFill>
                  <a:srgbClr val="000000"/>
                </a:solidFill>
                <a:highlight>
                  <a:srgbClr val="FFFFFF"/>
                </a:highlight>
                <a:latin typeface="Cascadia Mono" panose="020B0609020000020004" pitchFamily="49" charset="0"/>
              </a:rPr>
              <a:t>    </a:t>
            </a:r>
            <a:r>
              <a:rPr lang="de-CH" sz="1000" dirty="0" err="1">
                <a:solidFill>
                  <a:srgbClr val="6F008A"/>
                </a:solidFill>
                <a:highlight>
                  <a:srgbClr val="FFFFFF"/>
                </a:highlight>
                <a:latin typeface="Cascadia Mono" panose="020B0609020000020004" pitchFamily="49" charset="0"/>
              </a:rPr>
              <a:t>assert</a:t>
            </a:r>
            <a:r>
              <a:rPr lang="de-CH" sz="1000" dirty="0">
                <a:solidFill>
                  <a:srgbClr val="000000"/>
                </a:solidFill>
                <a:highlight>
                  <a:srgbClr val="FFFFFF"/>
                </a:highlight>
                <a:latin typeface="Cascadia Mono" panose="020B0609020000020004" pitchFamily="49" charset="0"/>
              </a:rPr>
              <a:t>(</a:t>
            </a:r>
            <a:r>
              <a:rPr lang="de-CH" sz="1000" dirty="0">
                <a:solidFill>
                  <a:srgbClr val="808080"/>
                </a:solidFill>
                <a:highlight>
                  <a:srgbClr val="FFFFFF"/>
                </a:highlight>
                <a:latin typeface="Cascadia Mono" panose="020B0609020000020004" pitchFamily="49" charset="0"/>
              </a:rPr>
              <a:t>n</a:t>
            </a:r>
            <a:r>
              <a:rPr lang="de-CH" sz="1000" dirty="0">
                <a:solidFill>
                  <a:srgbClr val="000000"/>
                </a:solidFill>
                <a:highlight>
                  <a:srgbClr val="FFFFFF"/>
                </a:highlight>
                <a:latin typeface="Cascadia Mono" panose="020B0609020000020004" pitchFamily="49" charset="0"/>
              </a:rPr>
              <a:t> &lt;= 10);</a:t>
            </a:r>
          </a:p>
          <a:p>
            <a:endParaRPr lang="ru-RU" sz="1000" dirty="0">
              <a:solidFill>
                <a:srgbClr val="000000"/>
              </a:solidFill>
              <a:highlight>
                <a:srgbClr val="FFFFFF"/>
              </a:highlight>
              <a:latin typeface="Cascadia Mono" panose="020B0609020000020004" pitchFamily="49" charset="0"/>
            </a:endParaRP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if</a:t>
            </a:r>
            <a:r>
              <a:rPr lang="de-CH" sz="1000" dirty="0">
                <a:solidFill>
                  <a:srgbClr val="000000"/>
                </a:solidFill>
                <a:highlight>
                  <a:srgbClr val="FFFFFF"/>
                </a:highlight>
                <a:latin typeface="Cascadia Mono" panose="020B0609020000020004" pitchFamily="49" charset="0"/>
              </a:rPr>
              <a:t> (</a:t>
            </a:r>
            <a:r>
              <a:rPr lang="de-CH" sz="1000" dirty="0">
                <a:solidFill>
                  <a:srgbClr val="808080"/>
                </a:solidFill>
                <a:highlight>
                  <a:srgbClr val="FFFFFF"/>
                </a:highlight>
                <a:latin typeface="Cascadia Mono" panose="020B0609020000020004" pitchFamily="49" charset="0"/>
              </a:rPr>
              <a:t>n</a:t>
            </a:r>
            <a:r>
              <a:rPr lang="de-CH" sz="1000" dirty="0">
                <a:solidFill>
                  <a:srgbClr val="000000"/>
                </a:solidFill>
                <a:highlight>
                  <a:srgbClr val="FFFFFF"/>
                </a:highlight>
                <a:latin typeface="Cascadia Mono" panose="020B0609020000020004" pitchFamily="49" charset="0"/>
              </a:rPr>
              <a:t> &lt; 2)</a:t>
            </a:r>
          </a:p>
          <a:p>
            <a:r>
              <a:rPr lang="ru-RU"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return</a:t>
            </a:r>
            <a:r>
              <a:rPr lang="de-CH" sz="1000" dirty="0">
                <a:solidFill>
                  <a:srgbClr val="000000"/>
                </a:solidFill>
                <a:highlight>
                  <a:srgbClr val="FFFFFF"/>
                </a:highlight>
                <a:latin typeface="Cascadia Mono" panose="020B0609020000020004" pitchFamily="49" charset="0"/>
              </a:rPr>
              <a:t> 1;</a:t>
            </a:r>
          </a:p>
          <a:p>
            <a:r>
              <a:rPr lang="ru-RU" sz="1000" dirty="0">
                <a:solidFill>
                  <a:srgbClr val="000000"/>
                </a:solidFill>
                <a:highlight>
                  <a:srgbClr val="FFFFFF"/>
                </a:highlight>
                <a:latin typeface="Cascadia Mono" panose="020B0609020000020004" pitchFamily="49" charset="0"/>
              </a:rPr>
              <a:t>    }</a:t>
            </a:r>
          </a:p>
          <a:p>
            <a:endParaRPr lang="ru-RU" sz="1000" dirty="0">
              <a:solidFill>
                <a:srgbClr val="000000"/>
              </a:solidFill>
              <a:highlight>
                <a:srgbClr val="FFFFFF"/>
              </a:highlight>
              <a:latin typeface="Cascadia Mono" panose="020B0609020000020004" pitchFamily="49" charset="0"/>
            </a:endParaRPr>
          </a:p>
          <a:p>
            <a:r>
              <a:rPr lang="pt-BR" sz="1000" dirty="0">
                <a:solidFill>
                  <a:srgbClr val="000000"/>
                </a:solidFill>
                <a:highlight>
                  <a:srgbClr val="FFFFFF"/>
                </a:highlight>
                <a:latin typeface="Cascadia Mono" panose="020B0609020000020004" pitchFamily="49" charset="0"/>
              </a:rPr>
              <a:t>    </a:t>
            </a:r>
            <a:r>
              <a:rPr lang="pt-BR" sz="1000" dirty="0">
                <a:solidFill>
                  <a:srgbClr val="0000FF"/>
                </a:solidFill>
                <a:highlight>
                  <a:srgbClr val="FFFFFF"/>
                </a:highlight>
                <a:latin typeface="Cascadia Mono" panose="020B0609020000020004" pitchFamily="49" charset="0"/>
              </a:rPr>
              <a:t>return</a:t>
            </a:r>
            <a:r>
              <a:rPr lang="pt-BR" sz="1000" dirty="0">
                <a:solidFill>
                  <a:srgbClr val="000000"/>
                </a:solidFill>
                <a:highlight>
                  <a:srgbClr val="FFFFFF"/>
                </a:highlight>
                <a:latin typeface="Cascadia Mono" panose="020B0609020000020004" pitchFamily="49" charset="0"/>
              </a:rPr>
              <a:t> factorial(</a:t>
            </a:r>
            <a:r>
              <a:rPr lang="pt-BR" sz="1000" dirty="0">
                <a:solidFill>
                  <a:srgbClr val="808080"/>
                </a:solidFill>
                <a:highlight>
                  <a:srgbClr val="FFFFFF"/>
                </a:highlight>
                <a:latin typeface="Cascadia Mono" panose="020B0609020000020004" pitchFamily="49" charset="0"/>
              </a:rPr>
              <a:t>n</a:t>
            </a:r>
            <a:r>
              <a:rPr lang="pt-BR" sz="1000" dirty="0">
                <a:solidFill>
                  <a:srgbClr val="000000"/>
                </a:solidFill>
                <a:highlight>
                  <a:srgbClr val="FFFFFF"/>
                </a:highlight>
                <a:latin typeface="Cascadia Mono" panose="020B0609020000020004" pitchFamily="49" charset="0"/>
              </a:rPr>
              <a:t> - 1) * </a:t>
            </a:r>
            <a:r>
              <a:rPr lang="pt-BR" sz="1000" dirty="0">
                <a:solidFill>
                  <a:srgbClr val="808080"/>
                </a:solidFill>
                <a:highlight>
                  <a:srgbClr val="FFFFFF"/>
                </a:highlight>
                <a:latin typeface="Cascadia Mono" panose="020B0609020000020004" pitchFamily="49" charset="0"/>
              </a:rPr>
              <a:t>n</a:t>
            </a:r>
            <a:r>
              <a:rPr lang="pt-BR" sz="1000" dirty="0">
                <a:solidFill>
                  <a:srgbClr val="000000"/>
                </a:solidFill>
                <a:highlight>
                  <a:srgbClr val="FFFFFF"/>
                </a:highlight>
                <a:latin typeface="Cascadia Mono" panose="020B0609020000020004" pitchFamily="49" charset="0"/>
              </a:rPr>
              <a:t>;</a:t>
            </a:r>
          </a:p>
          <a:p>
            <a:r>
              <a:rPr lang="ru-RU" sz="1000" dirty="0">
                <a:solidFill>
                  <a:srgbClr val="000000"/>
                </a:solidFill>
                <a:highlight>
                  <a:srgbClr val="FFFFFF"/>
                </a:highlight>
                <a:latin typeface="Cascadia Mono" panose="020B0609020000020004" pitchFamily="49" charset="0"/>
              </a:rPr>
              <a:t>}</a:t>
            </a:r>
          </a:p>
          <a:p>
            <a:r>
              <a:rPr lang="de-CH" sz="1000" dirty="0">
                <a:solidFill>
                  <a:srgbClr val="0000FF"/>
                </a:solidFill>
                <a:highlight>
                  <a:srgbClr val="FFFFFF"/>
                </a:highlight>
                <a:latin typeface="Cascadia Mono" panose="020B0609020000020004" pitchFamily="49" charset="0"/>
              </a:rPr>
              <a:t>int</a:t>
            </a:r>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main</a:t>
            </a:r>
            <a:r>
              <a:rPr lang="de-CH" sz="1000" dirty="0">
                <a:solidFill>
                  <a:srgbClr val="000000"/>
                </a:solidFill>
                <a:highlight>
                  <a:srgbClr val="FFFFFF"/>
                </a:highlight>
                <a:latin typeface="Cascadia Mono" panose="020B0609020000020004" pitchFamily="49" charset="0"/>
              </a:rPr>
              <a:t>(</a:t>
            </a:r>
            <a:r>
              <a:rPr lang="de-CH" sz="1000" dirty="0" err="1">
                <a:solidFill>
                  <a:srgbClr val="0000FF"/>
                </a:solidFill>
                <a:highlight>
                  <a:srgbClr val="FFFFFF"/>
                </a:highlight>
                <a:latin typeface="Cascadia Mono" panose="020B0609020000020004" pitchFamily="49" charset="0"/>
              </a:rPr>
              <a:t>void</a:t>
            </a:r>
            <a:r>
              <a:rPr lang="de-CH" sz="1000" dirty="0">
                <a:solidFill>
                  <a:srgbClr val="000000"/>
                </a:solidFill>
                <a:highlight>
                  <a:srgbClr val="FFFFFF"/>
                </a:highlight>
                <a:latin typeface="Cascadia Mono" panose="020B0609020000020004" pitchFamily="49" charset="0"/>
              </a:rPr>
              <a:t>) {</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factorial</a:t>
            </a:r>
            <a:r>
              <a:rPr lang="de-CH" sz="1000" dirty="0">
                <a:solidFill>
                  <a:srgbClr val="000000"/>
                </a:solidFill>
                <a:highlight>
                  <a:srgbClr val="FFFFFF"/>
                </a:highlight>
                <a:latin typeface="Cascadia Mono" panose="020B0609020000020004" pitchFamily="49" charset="0"/>
              </a:rPr>
              <a:t>(-1);</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00"/>
                </a:solidFill>
                <a:highlight>
                  <a:srgbClr val="FFFFFF"/>
                </a:highlight>
                <a:latin typeface="Cascadia Mono" panose="020B0609020000020004" pitchFamily="49" charset="0"/>
              </a:rPr>
              <a:t>factorial</a:t>
            </a:r>
            <a:r>
              <a:rPr lang="de-CH" sz="1000" dirty="0">
                <a:solidFill>
                  <a:srgbClr val="000000"/>
                </a:solidFill>
                <a:highlight>
                  <a:srgbClr val="FFFFFF"/>
                </a:highlight>
                <a:latin typeface="Cascadia Mono" panose="020B0609020000020004" pitchFamily="49" charset="0"/>
              </a:rPr>
              <a:t>(100);</a:t>
            </a:r>
          </a:p>
          <a:p>
            <a:r>
              <a:rPr lang="de-CH" sz="1000" dirty="0">
                <a:solidFill>
                  <a:srgbClr val="000000"/>
                </a:solidFill>
                <a:highlight>
                  <a:srgbClr val="FFFFFF"/>
                </a:highlight>
                <a:latin typeface="Cascadia Mono" panose="020B0609020000020004" pitchFamily="49" charset="0"/>
              </a:rPr>
              <a:t>    </a:t>
            </a:r>
            <a:r>
              <a:rPr lang="de-CH" sz="1000" dirty="0" err="1">
                <a:solidFill>
                  <a:srgbClr val="0000FF"/>
                </a:solidFill>
                <a:highlight>
                  <a:srgbClr val="FFFFFF"/>
                </a:highlight>
                <a:latin typeface="Cascadia Mono" panose="020B0609020000020004" pitchFamily="49" charset="0"/>
              </a:rPr>
              <a:t>return</a:t>
            </a:r>
            <a:r>
              <a:rPr lang="de-CH" sz="1000" dirty="0">
                <a:solidFill>
                  <a:srgbClr val="000000"/>
                </a:solidFill>
                <a:highlight>
                  <a:srgbClr val="FFFFFF"/>
                </a:highlight>
                <a:latin typeface="Cascadia Mono" panose="020B0609020000020004" pitchFamily="49" charset="0"/>
              </a:rPr>
              <a:t> 0;</a:t>
            </a:r>
          </a:p>
          <a:p>
            <a:r>
              <a:rPr lang="ru-RU" sz="1000" dirty="0">
                <a:solidFill>
                  <a:srgbClr val="000000"/>
                </a:solidFill>
                <a:highlight>
                  <a:srgbClr val="FFFFFF"/>
                </a:highlight>
                <a:latin typeface="Cascadia Mono" panose="020B0609020000020004" pitchFamily="49" charset="0"/>
              </a:rPr>
              <a:t>}</a:t>
            </a:r>
          </a:p>
          <a:p>
            <a:endParaRPr lang="ru-RU" dirty="0"/>
          </a:p>
        </p:txBody>
      </p:sp>
    </p:spTree>
    <p:extLst>
      <p:ext uri="{BB962C8B-B14F-4D97-AF65-F5344CB8AC3E}">
        <p14:creationId xmlns:p14="http://schemas.microsoft.com/office/powerpoint/2010/main" val="1007834519"/>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042EC-9AE9-0C67-0CF2-ECE6DC9A4C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D727A0-3193-EE63-68CB-02CF0638D360}"/>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F6EAA50-A469-82D7-B659-0290E8EE658C}"/>
              </a:ext>
            </a:extLst>
          </p:cNvPr>
          <p:cNvSpPr>
            <a:spLocks noGrp="1"/>
          </p:cNvSpPr>
          <p:nvPr>
            <p:ph idx="1"/>
          </p:nvPr>
        </p:nvSpPr>
        <p:spPr/>
        <p:txBody>
          <a:bodyPr/>
          <a:lstStyle/>
          <a:p>
            <a:r>
              <a:rPr lang="ru-RU" b="1" dirty="0"/>
              <a:t>Отключение </a:t>
            </a:r>
            <a:r>
              <a:rPr lang="ru-RU" b="1" dirty="0" err="1"/>
              <a:t>assert</a:t>
            </a:r>
            <a:endParaRPr lang="ru-RU" b="1" dirty="0"/>
          </a:p>
          <a:p>
            <a:pPr lvl="1"/>
            <a:r>
              <a:rPr lang="ru-RU" dirty="0"/>
              <a:t>Основная особенность </a:t>
            </a:r>
            <a:r>
              <a:rPr lang="ru-RU" dirty="0" err="1"/>
              <a:t>assert</a:t>
            </a:r>
            <a:r>
              <a:rPr lang="ru-RU" dirty="0"/>
              <a:t> заключается в том, что его можно легко отключить во всей программе во время компиляции. Это часто используется для удаления проверок из финальной "релизной" версии программы в целях оптимизации. </a:t>
            </a:r>
          </a:p>
          <a:p>
            <a:pPr lvl="1"/>
            <a:r>
              <a:rPr lang="ru-RU" dirty="0"/>
              <a:t>Чтобы отключить все вызовы </a:t>
            </a:r>
            <a:r>
              <a:rPr lang="ru-RU" dirty="0" err="1"/>
              <a:t>assert</a:t>
            </a:r>
            <a:r>
              <a:rPr lang="ru-RU" dirty="0"/>
              <a:t>, нужно определить макрос NDEBUG до включения заголовочного файла &lt;</a:t>
            </a:r>
            <a:r>
              <a:rPr lang="ru-RU" dirty="0" err="1"/>
              <a:t>cassert</a:t>
            </a:r>
            <a:r>
              <a:rPr lang="ru-RU" dirty="0"/>
              <a:t>&gt;</a:t>
            </a:r>
          </a:p>
        </p:txBody>
      </p:sp>
    </p:spTree>
    <p:extLst>
      <p:ext uri="{BB962C8B-B14F-4D97-AF65-F5344CB8AC3E}">
        <p14:creationId xmlns:p14="http://schemas.microsoft.com/office/powerpoint/2010/main" val="1881924454"/>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F818B4-E638-E023-10F0-99077B15D46F}"/>
              </a:ext>
            </a:extLst>
          </p:cNvPr>
          <p:cNvSpPr>
            <a:spLocks noGrp="1"/>
          </p:cNvSpPr>
          <p:nvPr>
            <p:ph type="title"/>
          </p:nvPr>
        </p:nvSpPr>
        <p:spPr/>
        <p:txBody>
          <a:bodyPr/>
          <a:lstStyle/>
          <a:p>
            <a:r>
              <a:rPr lang="ru-RU" b="1" dirty="0"/>
              <a:t>Встроенные функции (</a:t>
            </a:r>
            <a:r>
              <a:rPr lang="de-CH" b="1" dirty="0"/>
              <a:t>C++)</a:t>
            </a:r>
            <a:endParaRPr lang="ru-RU" dirty="0"/>
          </a:p>
        </p:txBody>
      </p:sp>
      <p:sp>
        <p:nvSpPr>
          <p:cNvPr id="3" name="Объект 2">
            <a:extLst>
              <a:ext uri="{FF2B5EF4-FFF2-40B4-BE49-F238E27FC236}">
                <a16:creationId xmlns:a16="http://schemas.microsoft.com/office/drawing/2014/main" id="{FEC41C64-7E10-E5C1-1BD7-C6EAA76F42FE}"/>
              </a:ext>
            </a:extLst>
          </p:cNvPr>
          <p:cNvSpPr>
            <a:spLocks noGrp="1"/>
          </p:cNvSpPr>
          <p:nvPr>
            <p:ph idx="1"/>
          </p:nvPr>
        </p:nvSpPr>
        <p:spPr/>
        <p:txBody>
          <a:bodyPr/>
          <a:lstStyle/>
          <a:p>
            <a:r>
              <a:rPr lang="ru-RU" dirty="0"/>
              <a:t>Ключевое </a:t>
            </a:r>
            <a:r>
              <a:rPr lang="ru-RU" b="1" dirty="0" err="1"/>
              <a:t>inline</a:t>
            </a:r>
            <a:r>
              <a:rPr lang="ru-RU" dirty="0"/>
              <a:t> слово предполагает, что компилятор заменяет код в определении функции вместо каждого вызова этой функции.</a:t>
            </a:r>
          </a:p>
          <a:p>
            <a:endParaRPr lang="ru-RU" dirty="0"/>
          </a:p>
          <a:p>
            <a:r>
              <a:rPr lang="ru-RU" dirty="0"/>
              <a:t>В теории, использование встроенных функций может ускорить работу программы, так как они устраняют издержки, связанные с вызовами функций. Вызов функции требует отправки возвращаемого адреса в стеке, отправки аргументов в стек, перехода к тексту функции, а затем выполнения инструкции возврата после завершения функции. Этот процесс устраняется путем встраиванием функции. Компилятор также имеет различные возможности для оптимизации функций, развернутых встроенными, и тех, которые не являются. Компромисс встроенных функций заключается в том, что общий размер программы может увеличиться.</a:t>
            </a:r>
          </a:p>
        </p:txBody>
      </p:sp>
    </p:spTree>
    <p:extLst>
      <p:ext uri="{BB962C8B-B14F-4D97-AF65-F5344CB8AC3E}">
        <p14:creationId xmlns:p14="http://schemas.microsoft.com/office/powerpoint/2010/main" val="2287949366"/>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73191B-500A-1F8B-D209-CB774FABA3BC}"/>
              </a:ext>
            </a:extLst>
          </p:cNvPr>
          <p:cNvSpPr>
            <a:spLocks noGrp="1"/>
          </p:cNvSpPr>
          <p:nvPr>
            <p:ph type="title"/>
          </p:nvPr>
        </p:nvSpPr>
        <p:spPr/>
        <p:txBody>
          <a:bodyPr/>
          <a:lstStyle/>
          <a:p>
            <a:r>
              <a:rPr lang="ru-RU" b="1" dirty="0"/>
              <a:t>Встроенные функции (</a:t>
            </a:r>
            <a:r>
              <a:rPr lang="de-CH" b="1" dirty="0"/>
              <a:t>C++)</a:t>
            </a:r>
            <a:endParaRPr lang="ru-RU" dirty="0"/>
          </a:p>
        </p:txBody>
      </p:sp>
      <p:sp>
        <p:nvSpPr>
          <p:cNvPr id="3" name="Объект 2">
            <a:extLst>
              <a:ext uri="{FF2B5EF4-FFF2-40B4-BE49-F238E27FC236}">
                <a16:creationId xmlns:a16="http://schemas.microsoft.com/office/drawing/2014/main" id="{658E06B9-31EE-64EF-2081-750296AB4F65}"/>
              </a:ext>
            </a:extLst>
          </p:cNvPr>
          <p:cNvSpPr>
            <a:spLocks noGrp="1"/>
          </p:cNvSpPr>
          <p:nvPr>
            <p:ph idx="1"/>
          </p:nvPr>
        </p:nvSpPr>
        <p:spPr/>
        <p:txBody>
          <a:bodyPr/>
          <a:lstStyle/>
          <a:p>
            <a:r>
              <a:rPr lang="de-CH" sz="1200" dirty="0" err="1">
                <a:solidFill>
                  <a:srgbClr val="0000FF"/>
                </a:solidFill>
                <a:highlight>
                  <a:srgbClr val="FFFFFF"/>
                </a:highlight>
                <a:latin typeface="Cascadia Mono" panose="020B0609020000020004" pitchFamily="49" charset="0"/>
              </a:rPr>
              <a:t>class</a:t>
            </a:r>
            <a:r>
              <a:rPr lang="de-CH" sz="1200" dirty="0">
                <a:solidFill>
                  <a:srgbClr val="000000"/>
                </a:solidFill>
                <a:highlight>
                  <a:srgbClr val="FFFFFF"/>
                </a:highlight>
                <a:latin typeface="Cascadia Mono" panose="020B0609020000020004" pitchFamily="49" charset="0"/>
              </a:rPr>
              <a:t> </a:t>
            </a:r>
            <a:r>
              <a:rPr lang="de-CH" sz="1200" dirty="0">
                <a:solidFill>
                  <a:srgbClr val="2B91AF"/>
                </a:solidFill>
                <a:highlight>
                  <a:srgbClr val="FFFFFF"/>
                </a:highlight>
                <a:latin typeface="Cascadia Mono" panose="020B0609020000020004" pitchFamily="49" charset="0"/>
              </a:rPr>
              <a:t>cl</a:t>
            </a:r>
            <a:endParaRPr lang="de-CH"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a:t>
            </a:r>
          </a:p>
          <a:p>
            <a:pPr lvl="1"/>
            <a:r>
              <a:rPr lang="ru-RU" sz="1200" dirty="0">
                <a:solidFill>
                  <a:srgbClr val="0000FF"/>
                </a:solidFill>
                <a:highlight>
                  <a:srgbClr val="FFFFFF"/>
                </a:highlight>
                <a:latin typeface="Cascadia Mono" panose="020B0609020000020004" pitchFamily="49" charset="0"/>
              </a:rPr>
              <a:t>int</a:t>
            </a:r>
            <a:r>
              <a:rPr lang="ru-RU" sz="1200" dirty="0">
                <a:solidFill>
                  <a:srgbClr val="000000"/>
                </a:solidFill>
                <a:highlight>
                  <a:srgbClr val="FFFFFF"/>
                </a:highlight>
                <a:latin typeface="Cascadia Mono" panose="020B0609020000020004" pitchFamily="49" charset="0"/>
              </a:rPr>
              <a:t> i; </a:t>
            </a:r>
            <a:r>
              <a:rPr lang="ru-RU" sz="1200" dirty="0">
                <a:solidFill>
                  <a:srgbClr val="008000"/>
                </a:solidFill>
                <a:highlight>
                  <a:srgbClr val="FFFFFF"/>
                </a:highlight>
                <a:latin typeface="Cascadia Mono" panose="020B0609020000020004" pitchFamily="49" charset="0"/>
              </a:rPr>
              <a:t>// закрытый член по умолчанию</a:t>
            </a:r>
            <a:endParaRPr lang="ru-RU" sz="1200" dirty="0">
              <a:solidFill>
                <a:srgbClr val="000000"/>
              </a:solidFill>
              <a:highlight>
                <a:srgbClr val="FFFFFF"/>
              </a:highlight>
              <a:latin typeface="Cascadia Mono" panose="020B0609020000020004" pitchFamily="49" charset="0"/>
            </a:endParaRPr>
          </a:p>
          <a:p>
            <a:pPr lvl="1"/>
            <a:r>
              <a:rPr lang="de-CH" sz="1200" dirty="0" err="1">
                <a:solidFill>
                  <a:srgbClr val="0000FF"/>
                </a:solidFill>
                <a:highlight>
                  <a:srgbClr val="FFFFFF"/>
                </a:highlight>
                <a:latin typeface="Cascadia Mono" panose="020B0609020000020004" pitchFamily="49" charset="0"/>
              </a:rPr>
              <a:t>public</a:t>
            </a:r>
            <a:r>
              <a:rPr lang="de-CH" sz="1200" dirty="0">
                <a:solidFill>
                  <a:srgbClr val="000000"/>
                </a:solidFill>
                <a:highlight>
                  <a:srgbClr val="FFFFFF"/>
                </a:highlight>
                <a:latin typeface="Cascadia Mono" panose="020B0609020000020004" pitchFamily="49" charset="0"/>
              </a:rPr>
              <a:t>:</a:t>
            </a:r>
          </a:p>
          <a:p>
            <a:pPr lvl="1"/>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get_i</a:t>
            </a:r>
            <a:r>
              <a:rPr lang="de-CH" sz="1200" dirty="0">
                <a:solidFill>
                  <a:srgbClr val="000000"/>
                </a:solidFill>
                <a:highlight>
                  <a:srgbClr val="FFFFFF"/>
                </a:highlight>
                <a:latin typeface="Cascadia Mono" panose="020B0609020000020004" pitchFamily="49" charset="0"/>
              </a:rPr>
              <a:t>();</a:t>
            </a:r>
          </a:p>
          <a:p>
            <a:pPr lvl="1"/>
            <a:r>
              <a:rPr lang="de-CH" sz="1200" dirty="0" err="1">
                <a:solidFill>
                  <a:srgbClr val="0000FF"/>
                </a:solidFill>
                <a:highlight>
                  <a:srgbClr val="FFFFFF"/>
                </a:highlight>
                <a:latin typeface="Cascadia Mono" panose="020B0609020000020004" pitchFamily="49" charset="0"/>
              </a:rPr>
              <a:t>void</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put_i</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j</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inline</a:t>
            </a:r>
            <a:r>
              <a:rPr lang="de-CH" sz="1200" dirty="0">
                <a:solidFill>
                  <a:srgbClr val="000000"/>
                </a:solidFill>
                <a:highlight>
                  <a:srgbClr val="FFFFFF"/>
                </a:highlight>
                <a:latin typeface="Cascadia Mono" panose="020B0609020000020004" pitchFamily="49" charset="0"/>
              </a:rPr>
              <a:t> </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2B91AF"/>
                </a:solidFill>
                <a:highlight>
                  <a:srgbClr val="FFFFFF"/>
                </a:highlight>
                <a:latin typeface="Cascadia Mono" panose="020B0609020000020004" pitchFamily="49" charset="0"/>
              </a:rPr>
              <a:t>cl</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get_i</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endParaRPr lang="en-US"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i;</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inline</a:t>
            </a:r>
            <a:r>
              <a:rPr lang="de-CH" sz="1200" dirty="0">
                <a:solidFill>
                  <a:srgbClr val="000000"/>
                </a:solidFill>
                <a:highlight>
                  <a:srgbClr val="FFFFFF"/>
                </a:highlight>
                <a:latin typeface="Cascadia Mono" panose="020B0609020000020004" pitchFamily="49" charset="0"/>
              </a:rPr>
              <a:t> </a:t>
            </a:r>
            <a:r>
              <a:rPr lang="de-CH" sz="1200" dirty="0" err="1">
                <a:solidFill>
                  <a:srgbClr val="0000FF"/>
                </a:solidFill>
                <a:highlight>
                  <a:srgbClr val="FFFFFF"/>
                </a:highlight>
                <a:latin typeface="Cascadia Mono" panose="020B0609020000020004" pitchFamily="49" charset="0"/>
              </a:rPr>
              <a:t>void</a:t>
            </a:r>
            <a:r>
              <a:rPr lang="de-CH" sz="1200" dirty="0">
                <a:solidFill>
                  <a:srgbClr val="000000"/>
                </a:solidFill>
                <a:highlight>
                  <a:srgbClr val="FFFFFF"/>
                </a:highlight>
                <a:latin typeface="Cascadia Mono" panose="020B0609020000020004" pitchFamily="49" charset="0"/>
              </a:rPr>
              <a:t> </a:t>
            </a:r>
            <a:r>
              <a:rPr lang="de-CH" sz="1200" dirty="0">
                <a:solidFill>
                  <a:srgbClr val="2B91AF"/>
                </a:solidFill>
                <a:highlight>
                  <a:srgbClr val="FFFFFF"/>
                </a:highlight>
                <a:latin typeface="Cascadia Mono" panose="020B0609020000020004" pitchFamily="49" charset="0"/>
              </a:rPr>
              <a:t>cl</a:t>
            </a:r>
            <a:r>
              <a:rPr lang="de-CH" sz="1200" dirty="0">
                <a:solidFill>
                  <a:srgbClr val="000000"/>
                </a:solidFill>
                <a:highlight>
                  <a:srgbClr val="FFFFFF"/>
                </a:highlight>
                <a:latin typeface="Cascadia Mono" panose="020B0609020000020004" pitchFamily="49" charset="0"/>
              </a:rPr>
              <a:t>::</a:t>
            </a:r>
            <a:r>
              <a:rPr lang="de-CH" sz="1200" dirty="0" err="1">
                <a:solidFill>
                  <a:srgbClr val="000000"/>
                </a:solidFill>
                <a:highlight>
                  <a:srgbClr val="FFFFFF"/>
                </a:highlight>
                <a:latin typeface="Cascadia Mono" panose="020B0609020000020004" pitchFamily="49" charset="0"/>
              </a:rPr>
              <a:t>put_i</a:t>
            </a:r>
            <a:r>
              <a:rPr lang="de-CH" sz="1200" dirty="0">
                <a:solidFill>
                  <a:srgbClr val="000000"/>
                </a:solidFill>
                <a:highlight>
                  <a:srgbClr val="FFFFFF"/>
                </a:highlight>
                <a:latin typeface="Cascadia Mono" panose="020B0609020000020004" pitchFamily="49" charset="0"/>
              </a:rPr>
              <a:t>(</a:t>
            </a:r>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a:solidFill>
                  <a:srgbClr val="808080"/>
                </a:solidFill>
                <a:highlight>
                  <a:srgbClr val="FFFFFF"/>
                </a:highlight>
                <a:latin typeface="Cascadia Mono" panose="020B0609020000020004" pitchFamily="49" charset="0"/>
              </a:rPr>
              <a:t>j</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endParaRPr lang="en-US" sz="1200" dirty="0">
              <a:solidFill>
                <a:srgbClr val="000000"/>
              </a:solidFill>
              <a:highlight>
                <a:srgbClr val="FFFFFF"/>
              </a:highlight>
              <a:latin typeface="Cascadia Mono" panose="020B0609020000020004" pitchFamily="49" charset="0"/>
            </a:endParaRPr>
          </a:p>
          <a:p>
            <a:r>
              <a:rPr lang="en-US" sz="1200" dirty="0">
                <a:solidFill>
                  <a:srgbClr val="000000"/>
                </a:solidFill>
                <a:highlight>
                  <a:srgbClr val="FFFFFF"/>
                </a:highlight>
                <a:latin typeface="Cascadia Mono" panose="020B0609020000020004" pitchFamily="49" charset="0"/>
              </a:rPr>
              <a:t>	</a:t>
            </a:r>
            <a:r>
              <a:rPr lang="de-CH" sz="1200" dirty="0">
                <a:solidFill>
                  <a:srgbClr val="000000"/>
                </a:solidFill>
                <a:highlight>
                  <a:srgbClr val="FFFFFF"/>
                </a:highlight>
                <a:latin typeface="Cascadia Mono" panose="020B0609020000020004" pitchFamily="49" charset="0"/>
              </a:rPr>
              <a:t>i = </a:t>
            </a:r>
            <a:r>
              <a:rPr lang="de-CH" sz="1200" dirty="0">
                <a:solidFill>
                  <a:srgbClr val="808080"/>
                </a:solidFill>
                <a:highlight>
                  <a:srgbClr val="FFFFFF"/>
                </a:highlight>
                <a:latin typeface="Cascadia Mono" panose="020B0609020000020004" pitchFamily="49" charset="0"/>
              </a:rPr>
              <a:t>j</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main</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pPr lvl="1"/>
            <a:r>
              <a:rPr lang="de-CH" sz="1200" dirty="0">
                <a:solidFill>
                  <a:srgbClr val="2B91AF"/>
                </a:solidFill>
                <a:highlight>
                  <a:srgbClr val="FFFFFF"/>
                </a:highlight>
                <a:latin typeface="Cascadia Mono" panose="020B0609020000020004" pitchFamily="49" charset="0"/>
              </a:rPr>
              <a:t>cl</a:t>
            </a:r>
            <a:r>
              <a:rPr lang="de-CH" sz="1200" dirty="0">
                <a:solidFill>
                  <a:srgbClr val="000000"/>
                </a:solidFill>
                <a:highlight>
                  <a:srgbClr val="FFFFFF"/>
                </a:highlight>
                <a:latin typeface="Cascadia Mono" panose="020B0609020000020004" pitchFamily="49" charset="0"/>
              </a:rPr>
              <a:t> s;</a:t>
            </a:r>
          </a:p>
          <a:p>
            <a:pPr lvl="1"/>
            <a:r>
              <a:rPr lang="de-CH" sz="1200" dirty="0" err="1">
                <a:solidFill>
                  <a:srgbClr val="000000"/>
                </a:solidFill>
                <a:highlight>
                  <a:srgbClr val="FFFFFF"/>
                </a:highlight>
                <a:latin typeface="Cascadia Mono" panose="020B0609020000020004" pitchFamily="49" charset="0"/>
              </a:rPr>
              <a:t>s.put_i</a:t>
            </a:r>
            <a:r>
              <a:rPr lang="de-CH" sz="1200" dirty="0">
                <a:solidFill>
                  <a:srgbClr val="000000"/>
                </a:solidFill>
                <a:highlight>
                  <a:srgbClr val="FFFFFF"/>
                </a:highlight>
                <a:latin typeface="Cascadia Mono" panose="020B0609020000020004" pitchFamily="49" charset="0"/>
              </a:rPr>
              <a:t>(10);</a:t>
            </a:r>
          </a:p>
          <a:p>
            <a:pPr lvl="1"/>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s.get_i</a:t>
            </a:r>
            <a:r>
              <a:rPr lang="de-CH" sz="1200" dirty="0">
                <a:solidFill>
                  <a:srgbClr val="000000"/>
                </a:solidFill>
                <a:highlight>
                  <a:srgbClr val="FFFFFF"/>
                </a:highlight>
                <a:latin typeface="Cascadia Mono" panose="020B0609020000020004" pitchFamily="49" charset="0"/>
              </a:rPr>
              <a:t>();</a:t>
            </a:r>
          </a:p>
          <a:p>
            <a:pPr lvl="1"/>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0;</a:t>
            </a:r>
          </a:p>
          <a:p>
            <a:r>
              <a:rPr lang="ru-RU" sz="1200" dirty="0">
                <a:solidFill>
                  <a:srgbClr val="000000"/>
                </a:solidFill>
                <a:highlight>
                  <a:srgbClr val="FFFFFF"/>
                </a:highlight>
                <a:latin typeface="Cascadia Mono" panose="020B0609020000020004" pitchFamily="49" charset="0"/>
              </a:rPr>
              <a:t>}</a:t>
            </a:r>
            <a:endParaRPr lang="ru-RU" sz="1200" dirty="0"/>
          </a:p>
        </p:txBody>
      </p:sp>
    </p:spTree>
    <p:extLst>
      <p:ext uri="{BB962C8B-B14F-4D97-AF65-F5344CB8AC3E}">
        <p14:creationId xmlns:p14="http://schemas.microsoft.com/office/powerpoint/2010/main" val="436759290"/>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DF7923-466A-F4E5-C3BB-4EFFDCAE2A7F}"/>
              </a:ext>
            </a:extLst>
          </p:cNvPr>
          <p:cNvSpPr>
            <a:spLocks noGrp="1"/>
          </p:cNvSpPr>
          <p:nvPr>
            <p:ph type="title"/>
          </p:nvPr>
        </p:nvSpPr>
        <p:spPr/>
        <p:txBody>
          <a:bodyPr/>
          <a:lstStyle/>
          <a:p>
            <a:r>
              <a:rPr lang="ru-RU" b="1" dirty="0"/>
              <a:t>Встроенные функции (</a:t>
            </a:r>
            <a:r>
              <a:rPr lang="de-CH" b="1" dirty="0"/>
              <a:t>C++)</a:t>
            </a:r>
            <a:endParaRPr lang="ru-RU" dirty="0"/>
          </a:p>
        </p:txBody>
      </p:sp>
      <p:sp>
        <p:nvSpPr>
          <p:cNvPr id="3" name="Объект 2">
            <a:extLst>
              <a:ext uri="{FF2B5EF4-FFF2-40B4-BE49-F238E27FC236}">
                <a16:creationId xmlns:a16="http://schemas.microsoft.com/office/drawing/2014/main" id="{2B5FC1B8-E746-7BFA-EA2C-CDF4ED185C55}"/>
              </a:ext>
            </a:extLst>
          </p:cNvPr>
          <p:cNvSpPr>
            <a:spLocks noGrp="1"/>
          </p:cNvSpPr>
          <p:nvPr>
            <p:ph idx="1"/>
          </p:nvPr>
        </p:nvSpPr>
        <p:spPr/>
        <p:txBody>
          <a:bodyPr/>
          <a:lstStyle/>
          <a:p>
            <a:r>
              <a:rPr lang="ru-RU" dirty="0"/>
              <a:t>Важно понимать, что в действительности использование модификатора </a:t>
            </a:r>
            <a:r>
              <a:rPr lang="ru-RU" dirty="0" err="1"/>
              <a:t>inline</a:t>
            </a:r>
            <a:r>
              <a:rPr lang="ru-RU" dirty="0"/>
              <a:t> является </a:t>
            </a:r>
            <a:r>
              <a:rPr lang="ru-RU" b="1" u="sng" dirty="0"/>
              <a:t>запросом</a:t>
            </a:r>
            <a:r>
              <a:rPr lang="ru-RU" dirty="0"/>
              <a:t>, а не командой, по которой компилятор сгенерирует встраиваемый (</a:t>
            </a:r>
            <a:r>
              <a:rPr lang="ru-RU" dirty="0" err="1"/>
              <a:t>inline</a:t>
            </a:r>
            <a:r>
              <a:rPr lang="ru-RU" dirty="0"/>
              <a:t>-) код. </a:t>
            </a:r>
            <a:endParaRPr lang="en-US" dirty="0"/>
          </a:p>
          <a:p>
            <a:r>
              <a:rPr lang="ru-RU" dirty="0"/>
              <a:t>Существуют различные ситуации, которые могут не позволить компилятору удовлетворить наш запрос. Вот несколько примеров. </a:t>
            </a:r>
            <a:endParaRPr lang="en-US" dirty="0"/>
          </a:p>
          <a:p>
            <a:pPr lvl="1"/>
            <a:endParaRPr lang="en-US" dirty="0"/>
          </a:p>
          <a:p>
            <a:pPr lvl="1"/>
            <a:r>
              <a:rPr lang="ru-RU" sz="1800" dirty="0"/>
              <a:t>■ Некоторые компиляторы не генерируют встраиваемый код, если соответствующая функция содержит цикл, конструкцию </a:t>
            </a:r>
            <a:r>
              <a:rPr lang="ru-RU" sz="1800" dirty="0" err="1"/>
              <a:t>switch</a:t>
            </a:r>
            <a:r>
              <a:rPr lang="ru-RU" sz="1800" dirty="0"/>
              <a:t> или инструкцию </a:t>
            </a:r>
            <a:r>
              <a:rPr lang="ru-RU" sz="1800" dirty="0" err="1"/>
              <a:t>goto</a:t>
            </a:r>
            <a:r>
              <a:rPr lang="ru-RU" sz="1800" dirty="0"/>
              <a:t>. </a:t>
            </a:r>
            <a:endParaRPr lang="en-US" sz="1800" dirty="0"/>
          </a:p>
          <a:p>
            <a:pPr lvl="1"/>
            <a:r>
              <a:rPr lang="ru-RU" sz="1800" dirty="0"/>
              <a:t>■ Чаще всего встраиваемыми не могут быть рекурсивные функции. </a:t>
            </a:r>
            <a:endParaRPr lang="en-US" sz="1800" dirty="0"/>
          </a:p>
          <a:p>
            <a:pPr lvl="1"/>
            <a:r>
              <a:rPr lang="ru-RU" sz="1800" dirty="0"/>
              <a:t>■ Как правило, встраивание "не проходит" для функций, которые содержат статические (</a:t>
            </a:r>
            <a:r>
              <a:rPr lang="ru-RU" sz="1800" dirty="0" err="1"/>
              <a:t>static</a:t>
            </a:r>
            <a:r>
              <a:rPr lang="ru-RU" sz="1800" dirty="0"/>
              <a:t>) переменные</a:t>
            </a:r>
          </a:p>
        </p:txBody>
      </p:sp>
    </p:spTree>
    <p:extLst>
      <p:ext uri="{BB962C8B-B14F-4D97-AF65-F5344CB8AC3E}">
        <p14:creationId xmlns:p14="http://schemas.microsoft.com/office/powerpoint/2010/main" val="2361728913"/>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87633D-7592-7556-F010-BBE8121F28CB}"/>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98732127-6335-A8FF-1FC4-7770BC3D9DEB}"/>
              </a:ext>
            </a:extLst>
          </p:cNvPr>
          <p:cNvSpPr>
            <a:spLocks noGrp="1"/>
          </p:cNvSpPr>
          <p:nvPr>
            <p:ph idx="1"/>
          </p:nvPr>
        </p:nvSpPr>
        <p:spPr/>
        <p:txBody>
          <a:bodyPr/>
          <a:lstStyle/>
          <a:p>
            <a:r>
              <a:rPr lang="ru-RU" dirty="0"/>
              <a:t>В языке C++ определено несколько составных типов данных, т.е. типов, которые состоят из двух или более элементов. С одним из составных типов — массивом — вы уже знакомы. С двумя другими — структурами и объединениями — вы познакомитесь в этой главе, а знакомство с еще одним типом — классом — мы отложим до главы 11. И хотя структура и объединение предназначены для удовлетворения различных потребностей программистов, оба они представляют собой удобные средства управления группами связанных переменных. При этом важно понимать, что создание структуры (или объединения) означает создание нового определенного программистом типа данных. Сама возможность создания собственных типов данных является признаком могущества языка C++. </a:t>
            </a:r>
          </a:p>
        </p:txBody>
      </p:sp>
    </p:spTree>
    <p:extLst>
      <p:ext uri="{BB962C8B-B14F-4D97-AF65-F5344CB8AC3E}">
        <p14:creationId xmlns:p14="http://schemas.microsoft.com/office/powerpoint/2010/main" val="2430013934"/>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D44DFE-9C7D-D253-EE88-5067DC67B8B8}"/>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116D1265-91B4-B5FB-A11F-6125F5724414}"/>
              </a:ext>
            </a:extLst>
          </p:cNvPr>
          <p:cNvSpPr>
            <a:spLocks noGrp="1"/>
          </p:cNvSpPr>
          <p:nvPr>
            <p:ph idx="1"/>
          </p:nvPr>
        </p:nvSpPr>
        <p:spPr/>
        <p:txBody>
          <a:bodyPr/>
          <a:lstStyle/>
          <a:p>
            <a:pPr algn="just"/>
            <a:r>
              <a:rPr lang="ru-RU" b="1" dirty="0"/>
              <a:t>Структура </a:t>
            </a:r>
            <a:r>
              <a:rPr lang="ru-RU" dirty="0"/>
              <a:t>— это группа связанных переменных. В C++ структура представляет собой коллекцию объединенных общим именем переменных, которая обеспечивает удобное средство хранения родственных данных в одном месте. Структуры — это совокупные типы данных, поскольку они состоят из нескольких различных, но логически связанных переменных. По тем же причинам их иногда называют составными или конгломератными типами данных. </a:t>
            </a:r>
            <a:endParaRPr lang="en-US" dirty="0"/>
          </a:p>
          <a:p>
            <a:pPr algn="just"/>
            <a:r>
              <a:rPr lang="ru-RU" b="1" dirty="0"/>
              <a:t>Прежде чем будет создан объект структуры, должен быть определен ее формат</a:t>
            </a:r>
            <a:r>
              <a:rPr lang="ru-RU" dirty="0"/>
              <a:t>. Это делается посредством объявления структуры. Объявление структуры позволяет понять, переменные какого типа она содержит. Переменные, составляющие структуру, называются ее членами. Члены структуры также называют элементами или полями.</a:t>
            </a:r>
          </a:p>
        </p:txBody>
      </p:sp>
    </p:spTree>
    <p:extLst>
      <p:ext uri="{BB962C8B-B14F-4D97-AF65-F5344CB8AC3E}">
        <p14:creationId xmlns:p14="http://schemas.microsoft.com/office/powerpoint/2010/main" val="2951343910"/>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8A1F11-5573-F02E-7806-90EBFADA85ED}"/>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63F80AB0-A5B7-60B7-6944-287033646E16}"/>
              </a:ext>
            </a:extLst>
          </p:cNvPr>
          <p:cNvSpPr>
            <a:spLocks noGrp="1"/>
          </p:cNvSpPr>
          <p:nvPr>
            <p:ph idx="1"/>
          </p:nvPr>
        </p:nvSpPr>
        <p:spPr/>
        <p:txBody>
          <a:bodyPr/>
          <a:lstStyle/>
          <a:p>
            <a:pPr algn="just"/>
            <a:r>
              <a:rPr lang="ru-RU" b="1" dirty="0"/>
              <a:t>Член структуры </a:t>
            </a:r>
            <a:r>
              <a:rPr lang="ru-RU" dirty="0"/>
              <a:t>— это переменная, которая является частью структуры. В общем случае все члены структуры должны быть логически связаны друг с другом. Например, структуры обычно используются для хранения такой информации, как почтовые адреса, таблицы имен компилятора, элементы карточного каталога и т.п. Безусловно, отношения между членами структуры совершенно субъективны и определяются программистом. Компилятор "ничего о них не знает" (или "не хочет знать"). </a:t>
            </a:r>
          </a:p>
        </p:txBody>
      </p:sp>
    </p:spTree>
    <p:extLst>
      <p:ext uri="{BB962C8B-B14F-4D97-AF65-F5344CB8AC3E}">
        <p14:creationId xmlns:p14="http://schemas.microsoft.com/office/powerpoint/2010/main" val="1420529155"/>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CC9E41-1CBC-CF61-69FE-9EE55D9FE057}"/>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86E9DA1F-B331-0979-7434-E08AB18DD78B}"/>
              </a:ext>
            </a:extLst>
          </p:cNvPr>
          <p:cNvSpPr>
            <a:spLocks noGrp="1"/>
          </p:cNvSpPr>
          <p:nvPr>
            <p:ph idx="1"/>
          </p:nvPr>
        </p:nvSpPr>
        <p:spPr/>
        <p:txBody>
          <a:bodyPr/>
          <a:lstStyle/>
          <a:p>
            <a:r>
              <a:rPr lang="de-CH" sz="1800" dirty="0" err="1">
                <a:solidFill>
                  <a:srgbClr val="0000FF"/>
                </a:solidFill>
                <a:highlight>
                  <a:srgbClr val="FFFFFF"/>
                </a:highlight>
                <a:latin typeface="Cascadia Mono" panose="020B0609020000020004" pitchFamily="49" charset="0"/>
              </a:rPr>
              <a:t>struct</a:t>
            </a:r>
            <a:r>
              <a:rPr lang="de-CH" sz="1800" dirty="0">
                <a:solidFill>
                  <a:srgbClr val="000000"/>
                </a:solidFill>
                <a:highlight>
                  <a:srgbClr val="FFFFFF"/>
                </a:highlight>
                <a:latin typeface="Cascadia Mono" panose="020B0609020000020004" pitchFamily="49" charset="0"/>
              </a:rPr>
              <a:t> </a:t>
            </a:r>
            <a:r>
              <a:rPr lang="de-CH" sz="1800" dirty="0" err="1">
                <a:solidFill>
                  <a:srgbClr val="2B91AF"/>
                </a:solidFill>
                <a:highlight>
                  <a:srgbClr val="FFFFFF"/>
                </a:highlight>
                <a:latin typeface="Cascadia Mono" panose="020B0609020000020004" pitchFamily="49" charset="0"/>
              </a:rPr>
              <a:t>inv_type</a:t>
            </a:r>
            <a:endParaRPr lang="de-CH" sz="1800" dirty="0">
              <a:solidFill>
                <a:srgbClr val="000000"/>
              </a:solidFill>
              <a:highlight>
                <a:srgbClr val="FFFFFF"/>
              </a:highlight>
              <a:latin typeface="Cascadia Mono" panose="020B0609020000020004" pitchFamily="49" charset="0"/>
            </a:endParaRPr>
          </a:p>
          <a:p>
            <a:r>
              <a:rPr lang="ru-RU" sz="1800" dirty="0">
                <a:solidFill>
                  <a:srgbClr val="000000"/>
                </a:solidFill>
                <a:highlight>
                  <a:srgbClr val="FFFFFF"/>
                </a:highlight>
                <a:latin typeface="Cascadia Mono" panose="020B0609020000020004" pitchFamily="49" charset="0"/>
              </a:rPr>
              <a:t>{</a:t>
            </a:r>
          </a:p>
          <a:p>
            <a:r>
              <a:rPr lang="en-US" sz="1800" dirty="0">
                <a:solidFill>
                  <a:srgbClr val="0000FF"/>
                </a:solidFill>
                <a:highlight>
                  <a:srgbClr val="FFFFFF"/>
                </a:highlight>
                <a:latin typeface="Cascadia Mono" panose="020B0609020000020004" pitchFamily="49" charset="0"/>
              </a:rPr>
              <a:t>	</a:t>
            </a:r>
            <a:r>
              <a:rPr lang="ru-RU" sz="1800" dirty="0" err="1">
                <a:solidFill>
                  <a:srgbClr val="0000FF"/>
                </a:solidFill>
                <a:highlight>
                  <a:srgbClr val="FFFFFF"/>
                </a:highlight>
                <a:latin typeface="Cascadia Mono" panose="020B0609020000020004" pitchFamily="49" charset="0"/>
              </a:rPr>
              <a:t>char</a:t>
            </a:r>
            <a:r>
              <a:rPr lang="ru-RU" sz="1800" dirty="0">
                <a:solidFill>
                  <a:srgbClr val="000000"/>
                </a:solidFill>
                <a:highlight>
                  <a:srgbClr val="FFFFFF"/>
                </a:highlight>
                <a:latin typeface="Cascadia Mono" panose="020B0609020000020004" pitchFamily="49" charset="0"/>
              </a:rPr>
              <a:t> </a:t>
            </a:r>
            <a:r>
              <a:rPr lang="ru-RU" sz="1800" dirty="0" err="1">
                <a:solidFill>
                  <a:srgbClr val="000000"/>
                </a:solidFill>
                <a:highlight>
                  <a:srgbClr val="FFFFFF"/>
                </a:highlight>
                <a:latin typeface="Cascadia Mono" panose="020B0609020000020004" pitchFamily="49" charset="0"/>
              </a:rPr>
              <a:t>item</a:t>
            </a:r>
            <a:r>
              <a:rPr lang="ru-RU" sz="1800" dirty="0">
                <a:solidFill>
                  <a:srgbClr val="000000"/>
                </a:solidFill>
                <a:highlight>
                  <a:srgbClr val="FFFFFF"/>
                </a:highlight>
                <a:latin typeface="Cascadia Mono" panose="020B0609020000020004" pitchFamily="49" charset="0"/>
              </a:rPr>
              <a:t>[40]; </a:t>
            </a:r>
            <a:r>
              <a:rPr lang="ru-RU" sz="1800" dirty="0">
                <a:solidFill>
                  <a:srgbClr val="008000"/>
                </a:solidFill>
                <a:highlight>
                  <a:srgbClr val="FFFFFF"/>
                </a:highlight>
                <a:latin typeface="Cascadia Mono" panose="020B0609020000020004" pitchFamily="49" charset="0"/>
              </a:rPr>
              <a:t>// наименование товара</a:t>
            </a:r>
            <a:endParaRPr lang="ru-RU" sz="1800" dirty="0">
              <a:solidFill>
                <a:srgbClr val="000000"/>
              </a:solidFill>
              <a:highlight>
                <a:srgbClr val="FFFFFF"/>
              </a:highlight>
              <a:latin typeface="Cascadia Mono" panose="020B0609020000020004" pitchFamily="49" charset="0"/>
            </a:endParaRPr>
          </a:p>
          <a:p>
            <a:r>
              <a:rPr lang="de-CH" sz="1800" dirty="0">
                <a:solidFill>
                  <a:srgbClr val="0000FF"/>
                </a:solidFill>
                <a:highlight>
                  <a:srgbClr val="FFFFFF"/>
                </a:highlight>
                <a:latin typeface="Cascadia Mono" panose="020B0609020000020004" pitchFamily="49" charset="0"/>
              </a:rPr>
              <a:t>	double</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cost</a:t>
            </a:r>
            <a:r>
              <a:rPr lang="de-CH" sz="1800" dirty="0">
                <a:solidFill>
                  <a:srgbClr val="000000"/>
                </a:solidFill>
                <a:highlight>
                  <a:srgbClr val="FFFFFF"/>
                </a:highlight>
                <a:latin typeface="Cascadia Mono" panose="020B0609020000020004" pitchFamily="49" charset="0"/>
              </a:rPr>
              <a:t>; </a:t>
            </a:r>
            <a:r>
              <a:rPr lang="de-CH" sz="1800" dirty="0">
                <a:solidFill>
                  <a:srgbClr val="008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стоимость</a:t>
            </a:r>
            <a:endParaRPr lang="ru-RU" sz="1800" dirty="0">
              <a:solidFill>
                <a:srgbClr val="000000"/>
              </a:solidFill>
              <a:highlight>
                <a:srgbClr val="FFFFFF"/>
              </a:highlight>
              <a:latin typeface="Cascadia Mono" panose="020B0609020000020004" pitchFamily="49" charset="0"/>
            </a:endParaRPr>
          </a:p>
          <a:p>
            <a:r>
              <a:rPr lang="de-CH" sz="1800" dirty="0">
                <a:solidFill>
                  <a:srgbClr val="0000FF"/>
                </a:solidFill>
                <a:highlight>
                  <a:srgbClr val="FFFFFF"/>
                </a:highlight>
                <a:latin typeface="Cascadia Mono" panose="020B0609020000020004" pitchFamily="49" charset="0"/>
              </a:rPr>
              <a:t>	double</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retail</a:t>
            </a:r>
            <a:r>
              <a:rPr lang="de-CH" sz="1800" dirty="0">
                <a:solidFill>
                  <a:srgbClr val="000000"/>
                </a:solidFill>
                <a:highlight>
                  <a:srgbClr val="FFFFFF"/>
                </a:highlight>
                <a:latin typeface="Cascadia Mono" panose="020B0609020000020004" pitchFamily="49" charset="0"/>
              </a:rPr>
              <a:t>; </a:t>
            </a:r>
            <a:r>
              <a:rPr lang="de-CH" sz="1800" dirty="0">
                <a:solidFill>
                  <a:srgbClr val="008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розничная цена</a:t>
            </a:r>
            <a:endParaRPr lang="ru-RU" sz="1800" dirty="0">
              <a:solidFill>
                <a:srgbClr val="000000"/>
              </a:solidFill>
              <a:highlight>
                <a:srgbClr val="FFFFFF"/>
              </a:highlight>
              <a:latin typeface="Cascadia Mono" panose="020B0609020000020004" pitchFamily="49" charset="0"/>
            </a:endParaRPr>
          </a:p>
          <a:p>
            <a:r>
              <a:rPr lang="en-US" sz="1800" dirty="0">
                <a:solidFill>
                  <a:srgbClr val="0000FF"/>
                </a:solidFill>
                <a:highlight>
                  <a:srgbClr val="FFFFFF"/>
                </a:highlight>
                <a:latin typeface="Cascadia Mono" panose="020B0609020000020004" pitchFamily="49" charset="0"/>
              </a:rPr>
              <a:t>	</a:t>
            </a:r>
            <a:r>
              <a:rPr lang="ru-RU" sz="1800" dirty="0">
                <a:solidFill>
                  <a:srgbClr val="0000FF"/>
                </a:solidFill>
                <a:highlight>
                  <a:srgbClr val="FFFFFF"/>
                </a:highlight>
                <a:latin typeface="Cascadia Mono" panose="020B0609020000020004" pitchFamily="49" charset="0"/>
              </a:rPr>
              <a:t>int</a:t>
            </a:r>
            <a:r>
              <a:rPr lang="ru-RU" sz="1800" dirty="0">
                <a:solidFill>
                  <a:srgbClr val="000000"/>
                </a:solidFill>
                <a:highlight>
                  <a:srgbClr val="FFFFFF"/>
                </a:highlight>
                <a:latin typeface="Cascadia Mono" panose="020B0609020000020004" pitchFamily="49" charset="0"/>
              </a:rPr>
              <a:t> </a:t>
            </a:r>
            <a:r>
              <a:rPr lang="ru-RU" sz="1800" dirty="0" err="1">
                <a:solidFill>
                  <a:srgbClr val="000000"/>
                </a:solidFill>
                <a:highlight>
                  <a:srgbClr val="FFFFFF"/>
                </a:highlight>
                <a:latin typeface="Cascadia Mono" panose="020B0609020000020004" pitchFamily="49" charset="0"/>
              </a:rPr>
              <a:t>on_hand</a:t>
            </a:r>
            <a:r>
              <a:rPr lang="ru-RU" sz="1800" dirty="0">
                <a:solidFill>
                  <a:srgbClr val="000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 имеющееся в наличии количество</a:t>
            </a:r>
            <a:endParaRPr lang="ru-RU" sz="1800" dirty="0">
              <a:solidFill>
                <a:srgbClr val="000000"/>
              </a:solidFill>
              <a:highlight>
                <a:srgbClr val="FFFFFF"/>
              </a:highlight>
              <a:latin typeface="Cascadia Mono" panose="020B0609020000020004" pitchFamily="49" charset="0"/>
            </a:endParaRPr>
          </a:p>
          <a:p>
            <a:r>
              <a:rPr lang="en-US" sz="1800" dirty="0">
                <a:solidFill>
                  <a:srgbClr val="0000FF"/>
                </a:solidFill>
                <a:highlight>
                  <a:srgbClr val="FFFFFF"/>
                </a:highlight>
                <a:latin typeface="Cascadia Mono" panose="020B0609020000020004" pitchFamily="49" charset="0"/>
              </a:rPr>
              <a:t>	</a:t>
            </a:r>
            <a:r>
              <a:rPr lang="ru-RU" sz="1800" dirty="0">
                <a:solidFill>
                  <a:srgbClr val="0000FF"/>
                </a:solidFill>
                <a:highlight>
                  <a:srgbClr val="FFFFFF"/>
                </a:highlight>
                <a:latin typeface="Cascadia Mono" panose="020B0609020000020004" pitchFamily="49" charset="0"/>
              </a:rPr>
              <a:t>int</a:t>
            </a:r>
            <a:r>
              <a:rPr lang="ru-RU" sz="1800" dirty="0">
                <a:solidFill>
                  <a:srgbClr val="000000"/>
                </a:solidFill>
                <a:highlight>
                  <a:srgbClr val="FFFFFF"/>
                </a:highlight>
                <a:latin typeface="Cascadia Mono" panose="020B0609020000020004" pitchFamily="49" charset="0"/>
              </a:rPr>
              <a:t> </a:t>
            </a:r>
            <a:r>
              <a:rPr lang="ru-RU" sz="1800" dirty="0" err="1">
                <a:solidFill>
                  <a:srgbClr val="000000"/>
                </a:solidFill>
                <a:highlight>
                  <a:srgbClr val="FFFFFF"/>
                </a:highlight>
                <a:latin typeface="Cascadia Mono" panose="020B0609020000020004" pitchFamily="49" charset="0"/>
              </a:rPr>
              <a:t>lead_time</a:t>
            </a:r>
            <a:r>
              <a:rPr lang="ru-RU" sz="1800" dirty="0">
                <a:solidFill>
                  <a:srgbClr val="000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 число дней до пополнения запасов</a:t>
            </a:r>
            <a:endParaRPr lang="ru-RU" sz="1800" dirty="0">
              <a:solidFill>
                <a:srgbClr val="000000"/>
              </a:solidFill>
              <a:highlight>
                <a:srgbClr val="FFFFFF"/>
              </a:highlight>
              <a:latin typeface="Cascadia Mono" panose="020B0609020000020004" pitchFamily="49" charset="0"/>
            </a:endParaRPr>
          </a:p>
          <a:p>
            <a:r>
              <a:rPr lang="ru-RU" sz="1800" dirty="0">
                <a:solidFill>
                  <a:srgbClr val="000000"/>
                </a:solidFill>
                <a:highlight>
                  <a:srgbClr val="FFFFFF"/>
                </a:highlight>
                <a:latin typeface="Cascadia Mono" panose="020B0609020000020004" pitchFamily="49" charset="0"/>
              </a:rPr>
              <a:t>};</a:t>
            </a:r>
            <a:endParaRPr lang="ru-RU" sz="1800" dirty="0"/>
          </a:p>
        </p:txBody>
      </p:sp>
    </p:spTree>
    <p:extLst>
      <p:ext uri="{BB962C8B-B14F-4D97-AF65-F5344CB8AC3E}">
        <p14:creationId xmlns:p14="http://schemas.microsoft.com/office/powerpoint/2010/main" val="2187730006"/>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0C79EA-C4AF-BE86-A85D-A32AD1EE2ED0}"/>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242B5F7B-3516-2971-6EC6-298ACF9CC0D5}"/>
              </a:ext>
            </a:extLst>
          </p:cNvPr>
          <p:cNvSpPr>
            <a:spLocks noGrp="1"/>
          </p:cNvSpPr>
          <p:nvPr>
            <p:ph idx="1"/>
          </p:nvPr>
        </p:nvSpPr>
        <p:spPr/>
        <p:txBody>
          <a:bodyPr/>
          <a:lstStyle/>
          <a:p>
            <a:r>
              <a:rPr lang="ru-RU" sz="2000" dirty="0">
                <a:solidFill>
                  <a:srgbClr val="0000FF"/>
                </a:solidFill>
                <a:highlight>
                  <a:srgbClr val="FFFFFF"/>
                </a:highlight>
                <a:latin typeface="Cascadia Mono" panose="020B0609020000020004" pitchFamily="49" charset="0"/>
              </a:rPr>
              <a:t>Анонимные структуры</a:t>
            </a:r>
            <a:endParaRPr lang="de-CH" sz="2000" dirty="0">
              <a:solidFill>
                <a:srgbClr val="0000FF"/>
              </a:solidFill>
              <a:highlight>
                <a:srgbClr val="FFFFFF"/>
              </a:highlight>
              <a:latin typeface="Cascadia Mono" panose="020B0609020000020004" pitchFamily="49" charset="0"/>
            </a:endParaRPr>
          </a:p>
          <a:p>
            <a:endParaRPr lang="de-CH" dirty="0">
              <a:solidFill>
                <a:srgbClr val="0000FF"/>
              </a:solidFill>
              <a:highlight>
                <a:srgbClr val="FFFFFF"/>
              </a:highlight>
              <a:latin typeface="Cascadia Mono" panose="020B0609020000020004" pitchFamily="49" charset="0"/>
            </a:endParaRPr>
          </a:p>
          <a:p>
            <a:r>
              <a:rPr lang="de-CH" sz="2000" dirty="0" err="1">
                <a:solidFill>
                  <a:srgbClr val="0000FF"/>
                </a:solidFill>
                <a:highlight>
                  <a:srgbClr val="FFFFFF"/>
                </a:highlight>
                <a:latin typeface="Cascadia Mono" panose="020B0609020000020004" pitchFamily="49" charset="0"/>
              </a:rPr>
              <a:t>struct</a:t>
            </a:r>
            <a:r>
              <a:rPr lang="de-CH" sz="2000" dirty="0">
                <a:solidFill>
                  <a:srgbClr val="000000"/>
                </a:solidFill>
                <a:highlight>
                  <a:srgbClr val="FFFFFF"/>
                </a:highlight>
                <a:latin typeface="Cascadia Mono" panose="020B0609020000020004" pitchFamily="49" charset="0"/>
              </a:rPr>
              <a:t> </a:t>
            </a:r>
          </a:p>
          <a:p>
            <a:r>
              <a:rPr lang="ru-RU" sz="2000" dirty="0">
                <a:solidFill>
                  <a:srgbClr val="000000"/>
                </a:solidFill>
                <a:highlight>
                  <a:srgbClr val="FFFFFF"/>
                </a:highlight>
                <a:latin typeface="Cascadia Mono" panose="020B0609020000020004" pitchFamily="49" charset="0"/>
              </a:rPr>
              <a:t>{</a:t>
            </a:r>
          </a:p>
          <a:p>
            <a:r>
              <a:rPr lang="ru-RU" sz="2000" dirty="0" err="1">
                <a:solidFill>
                  <a:srgbClr val="0000FF"/>
                </a:solidFill>
                <a:highlight>
                  <a:srgbClr val="FFFFFF"/>
                </a:highlight>
                <a:latin typeface="Cascadia Mono" panose="020B0609020000020004" pitchFamily="49" charset="0"/>
              </a:rPr>
              <a:t>char</a:t>
            </a:r>
            <a:r>
              <a:rPr lang="ru-RU" sz="2000" dirty="0">
                <a:solidFill>
                  <a:srgbClr val="000000"/>
                </a:solidFill>
                <a:highlight>
                  <a:srgbClr val="FFFFFF"/>
                </a:highlight>
                <a:latin typeface="Cascadia Mono" panose="020B0609020000020004" pitchFamily="49" charset="0"/>
              </a:rPr>
              <a:t> </a:t>
            </a:r>
            <a:r>
              <a:rPr lang="ru-RU" sz="2000" dirty="0" err="1">
                <a:solidFill>
                  <a:srgbClr val="000000"/>
                </a:solidFill>
                <a:highlight>
                  <a:srgbClr val="FFFFFF"/>
                </a:highlight>
                <a:latin typeface="Cascadia Mono" panose="020B0609020000020004" pitchFamily="49" charset="0"/>
              </a:rPr>
              <a:t>item</a:t>
            </a:r>
            <a:r>
              <a:rPr lang="ru-RU" sz="2000" dirty="0">
                <a:solidFill>
                  <a:srgbClr val="000000"/>
                </a:solidFill>
                <a:highlight>
                  <a:srgbClr val="FFFFFF"/>
                </a:highlight>
                <a:latin typeface="Cascadia Mono" panose="020B0609020000020004" pitchFamily="49" charset="0"/>
              </a:rPr>
              <a:t>[40]; </a:t>
            </a:r>
            <a:r>
              <a:rPr lang="ru-RU" sz="2000" dirty="0">
                <a:solidFill>
                  <a:srgbClr val="008000"/>
                </a:solidFill>
                <a:highlight>
                  <a:srgbClr val="FFFFFF"/>
                </a:highlight>
                <a:latin typeface="Cascadia Mono" panose="020B0609020000020004" pitchFamily="49" charset="0"/>
              </a:rPr>
              <a:t>// наименование товара</a:t>
            </a:r>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double</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cost</a:t>
            </a:r>
            <a:r>
              <a:rPr lang="de-CH" sz="2000" dirty="0">
                <a:solidFill>
                  <a:srgbClr val="000000"/>
                </a:solidFill>
                <a:highlight>
                  <a:srgbClr val="FFFFFF"/>
                </a:highlight>
                <a:latin typeface="Cascadia Mono" panose="020B0609020000020004" pitchFamily="49" charset="0"/>
              </a:rPr>
              <a:t>;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стоимость</a:t>
            </a:r>
            <a:endParaRPr lang="ru-RU" sz="2000" dirty="0">
              <a:solidFill>
                <a:srgbClr val="000000"/>
              </a:solidFill>
              <a:highlight>
                <a:srgbClr val="FFFFFF"/>
              </a:highlight>
              <a:latin typeface="Cascadia Mono" panose="020B0609020000020004" pitchFamily="49" charset="0"/>
            </a:endParaRPr>
          </a:p>
          <a:p>
            <a:r>
              <a:rPr lang="de-CH" sz="2000" dirty="0">
                <a:solidFill>
                  <a:srgbClr val="0000FF"/>
                </a:solidFill>
                <a:highlight>
                  <a:srgbClr val="FFFFFF"/>
                </a:highlight>
                <a:latin typeface="Cascadia Mono" panose="020B0609020000020004" pitchFamily="49" charset="0"/>
              </a:rPr>
              <a:t>double</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retail</a:t>
            </a:r>
            <a:r>
              <a:rPr lang="de-CH" sz="2000" dirty="0">
                <a:solidFill>
                  <a:srgbClr val="000000"/>
                </a:solidFill>
                <a:highlight>
                  <a:srgbClr val="FFFFFF"/>
                </a:highlight>
                <a:latin typeface="Cascadia Mono" panose="020B0609020000020004" pitchFamily="49" charset="0"/>
              </a:rPr>
              <a:t>; </a:t>
            </a:r>
            <a:r>
              <a:rPr lang="de-CH" sz="2000" dirty="0">
                <a:solidFill>
                  <a:srgbClr val="008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розничная цена</a:t>
            </a:r>
            <a:endParaRPr lang="ru-RU" sz="2000" dirty="0">
              <a:solidFill>
                <a:srgbClr val="000000"/>
              </a:solidFill>
              <a:highlight>
                <a:srgbClr val="FFFFFF"/>
              </a:highlight>
              <a:latin typeface="Cascadia Mono" panose="020B0609020000020004" pitchFamily="49" charset="0"/>
            </a:endParaRPr>
          </a:p>
          <a:p>
            <a:r>
              <a:rPr lang="ru-RU" sz="2000" dirty="0">
                <a:solidFill>
                  <a:srgbClr val="0000FF"/>
                </a:solidFill>
                <a:highlight>
                  <a:srgbClr val="FFFFFF"/>
                </a:highlight>
                <a:latin typeface="Cascadia Mono" panose="020B0609020000020004" pitchFamily="49" charset="0"/>
              </a:rPr>
              <a:t>int</a:t>
            </a:r>
            <a:r>
              <a:rPr lang="ru-RU" sz="2000" dirty="0">
                <a:solidFill>
                  <a:srgbClr val="000000"/>
                </a:solidFill>
                <a:highlight>
                  <a:srgbClr val="FFFFFF"/>
                </a:highlight>
                <a:latin typeface="Cascadia Mono" panose="020B0609020000020004" pitchFamily="49" charset="0"/>
              </a:rPr>
              <a:t> </a:t>
            </a:r>
            <a:r>
              <a:rPr lang="ru-RU" sz="2000" dirty="0" err="1">
                <a:solidFill>
                  <a:srgbClr val="000000"/>
                </a:solidFill>
                <a:highlight>
                  <a:srgbClr val="FFFFFF"/>
                </a:highlight>
                <a:latin typeface="Cascadia Mono" panose="020B0609020000020004" pitchFamily="49" charset="0"/>
              </a:rPr>
              <a:t>on_hand</a:t>
            </a:r>
            <a:r>
              <a:rPr lang="ru-RU" sz="2000" dirty="0">
                <a:solidFill>
                  <a:srgbClr val="000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 имеющееся в наличии количество</a:t>
            </a:r>
            <a:endParaRPr lang="ru-RU" sz="2000" dirty="0">
              <a:solidFill>
                <a:srgbClr val="000000"/>
              </a:solidFill>
              <a:highlight>
                <a:srgbClr val="FFFFFF"/>
              </a:highlight>
              <a:latin typeface="Cascadia Mono" panose="020B0609020000020004" pitchFamily="49" charset="0"/>
            </a:endParaRPr>
          </a:p>
          <a:p>
            <a:r>
              <a:rPr lang="ru-RU" sz="2000" dirty="0">
                <a:solidFill>
                  <a:srgbClr val="0000FF"/>
                </a:solidFill>
                <a:highlight>
                  <a:srgbClr val="FFFFFF"/>
                </a:highlight>
                <a:latin typeface="Cascadia Mono" panose="020B0609020000020004" pitchFamily="49" charset="0"/>
              </a:rPr>
              <a:t>int</a:t>
            </a:r>
            <a:r>
              <a:rPr lang="ru-RU" sz="2000" dirty="0">
                <a:solidFill>
                  <a:srgbClr val="000000"/>
                </a:solidFill>
                <a:highlight>
                  <a:srgbClr val="FFFFFF"/>
                </a:highlight>
                <a:latin typeface="Cascadia Mono" panose="020B0609020000020004" pitchFamily="49" charset="0"/>
              </a:rPr>
              <a:t> </a:t>
            </a:r>
            <a:r>
              <a:rPr lang="ru-RU" sz="2000" dirty="0" err="1">
                <a:solidFill>
                  <a:srgbClr val="000000"/>
                </a:solidFill>
                <a:highlight>
                  <a:srgbClr val="FFFFFF"/>
                </a:highlight>
                <a:latin typeface="Cascadia Mono" panose="020B0609020000020004" pitchFamily="49" charset="0"/>
              </a:rPr>
              <a:t>lead_time</a:t>
            </a:r>
            <a:r>
              <a:rPr lang="ru-RU" sz="2000" dirty="0">
                <a:solidFill>
                  <a:srgbClr val="000000"/>
                </a:solidFill>
                <a:highlight>
                  <a:srgbClr val="FFFFFF"/>
                </a:highlight>
                <a:latin typeface="Cascadia Mono" panose="020B0609020000020004" pitchFamily="49" charset="0"/>
              </a:rPr>
              <a:t>; </a:t>
            </a:r>
            <a:r>
              <a:rPr lang="ru-RU" sz="2000" dirty="0">
                <a:solidFill>
                  <a:srgbClr val="008000"/>
                </a:solidFill>
                <a:highlight>
                  <a:srgbClr val="FFFFFF"/>
                </a:highlight>
                <a:latin typeface="Cascadia Mono" panose="020B0609020000020004" pitchFamily="49" charset="0"/>
              </a:rPr>
              <a:t>// число дней до пополнения запасов</a:t>
            </a:r>
            <a:endParaRPr lang="ru-RU"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temp</a:t>
            </a:r>
            <a:r>
              <a:rPr lang="de-CH"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1406705922"/>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B11C7D-358B-ECEB-F10E-94794F91ADC6}"/>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EFEE9AFC-F68B-87C5-8E70-0772DF990944}"/>
              </a:ext>
            </a:extLst>
          </p:cNvPr>
          <p:cNvSpPr>
            <a:spLocks noGrp="1"/>
          </p:cNvSpPr>
          <p:nvPr>
            <p:ph idx="1"/>
          </p:nvPr>
        </p:nvSpPr>
        <p:spPr/>
        <p:txBody>
          <a:bodyPr/>
          <a:lstStyle/>
          <a:p>
            <a:r>
              <a:rPr lang="de-CH" sz="1800" dirty="0" err="1">
                <a:solidFill>
                  <a:srgbClr val="0000FF"/>
                </a:solidFill>
                <a:highlight>
                  <a:srgbClr val="FFFFFF"/>
                </a:highlight>
                <a:latin typeface="Cascadia Mono" panose="020B0609020000020004" pitchFamily="49" charset="0"/>
              </a:rPr>
              <a:t>struct</a:t>
            </a:r>
            <a:r>
              <a:rPr lang="de-CH" sz="1800" dirty="0">
                <a:solidFill>
                  <a:srgbClr val="000000"/>
                </a:solidFill>
                <a:highlight>
                  <a:srgbClr val="FFFFFF"/>
                </a:highlight>
                <a:latin typeface="Cascadia Mono" panose="020B0609020000020004" pitchFamily="49" charset="0"/>
              </a:rPr>
              <a:t> </a:t>
            </a:r>
          </a:p>
          <a:p>
            <a:r>
              <a:rPr lang="ru-RU" sz="1800" dirty="0">
                <a:solidFill>
                  <a:srgbClr val="000000"/>
                </a:solidFill>
                <a:highlight>
                  <a:srgbClr val="FFFFFF"/>
                </a:highlight>
                <a:latin typeface="Cascadia Mono" panose="020B0609020000020004" pitchFamily="49" charset="0"/>
              </a:rPr>
              <a:t>{</a:t>
            </a:r>
          </a:p>
          <a:p>
            <a:r>
              <a:rPr lang="ru-RU" sz="1800" dirty="0" err="1">
                <a:solidFill>
                  <a:srgbClr val="0000FF"/>
                </a:solidFill>
                <a:highlight>
                  <a:srgbClr val="FFFFFF"/>
                </a:highlight>
                <a:latin typeface="Cascadia Mono" panose="020B0609020000020004" pitchFamily="49" charset="0"/>
              </a:rPr>
              <a:t>char</a:t>
            </a:r>
            <a:r>
              <a:rPr lang="ru-RU" sz="1800" dirty="0">
                <a:solidFill>
                  <a:srgbClr val="000000"/>
                </a:solidFill>
                <a:highlight>
                  <a:srgbClr val="FFFFFF"/>
                </a:highlight>
                <a:latin typeface="Cascadia Mono" panose="020B0609020000020004" pitchFamily="49" charset="0"/>
              </a:rPr>
              <a:t> </a:t>
            </a:r>
            <a:r>
              <a:rPr lang="ru-RU" sz="1800" dirty="0" err="1">
                <a:solidFill>
                  <a:srgbClr val="000000"/>
                </a:solidFill>
                <a:highlight>
                  <a:srgbClr val="FFFFFF"/>
                </a:highlight>
                <a:latin typeface="Cascadia Mono" panose="020B0609020000020004" pitchFamily="49" charset="0"/>
              </a:rPr>
              <a:t>item</a:t>
            </a:r>
            <a:r>
              <a:rPr lang="ru-RU" sz="1800" dirty="0">
                <a:solidFill>
                  <a:srgbClr val="000000"/>
                </a:solidFill>
                <a:highlight>
                  <a:srgbClr val="FFFFFF"/>
                </a:highlight>
                <a:latin typeface="Cascadia Mono" panose="020B0609020000020004" pitchFamily="49" charset="0"/>
              </a:rPr>
              <a:t>[40]; </a:t>
            </a:r>
            <a:r>
              <a:rPr lang="ru-RU" sz="1800" dirty="0">
                <a:solidFill>
                  <a:srgbClr val="008000"/>
                </a:solidFill>
                <a:highlight>
                  <a:srgbClr val="FFFFFF"/>
                </a:highlight>
                <a:latin typeface="Cascadia Mono" panose="020B0609020000020004" pitchFamily="49" charset="0"/>
              </a:rPr>
              <a:t>// наименование товара</a:t>
            </a:r>
            <a:endParaRPr lang="ru-RU" sz="1800" dirty="0">
              <a:solidFill>
                <a:srgbClr val="000000"/>
              </a:solidFill>
              <a:highlight>
                <a:srgbClr val="FFFFFF"/>
              </a:highlight>
              <a:latin typeface="Cascadia Mono" panose="020B0609020000020004" pitchFamily="49" charset="0"/>
            </a:endParaRPr>
          </a:p>
          <a:p>
            <a:r>
              <a:rPr lang="de-CH" sz="1800" dirty="0">
                <a:solidFill>
                  <a:srgbClr val="0000FF"/>
                </a:solidFill>
                <a:highlight>
                  <a:srgbClr val="FFFFFF"/>
                </a:highlight>
                <a:latin typeface="Cascadia Mono" panose="020B0609020000020004" pitchFamily="49" charset="0"/>
              </a:rPr>
              <a:t>double</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cost</a:t>
            </a:r>
            <a:r>
              <a:rPr lang="de-CH" sz="1800" dirty="0">
                <a:solidFill>
                  <a:srgbClr val="000000"/>
                </a:solidFill>
                <a:highlight>
                  <a:srgbClr val="FFFFFF"/>
                </a:highlight>
                <a:latin typeface="Cascadia Mono" panose="020B0609020000020004" pitchFamily="49" charset="0"/>
              </a:rPr>
              <a:t>; </a:t>
            </a:r>
            <a:r>
              <a:rPr lang="de-CH" sz="1800" dirty="0">
                <a:solidFill>
                  <a:srgbClr val="008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стоимость</a:t>
            </a:r>
            <a:endParaRPr lang="ru-RU" sz="1800" dirty="0">
              <a:solidFill>
                <a:srgbClr val="000000"/>
              </a:solidFill>
              <a:highlight>
                <a:srgbClr val="FFFFFF"/>
              </a:highlight>
              <a:latin typeface="Cascadia Mono" panose="020B0609020000020004" pitchFamily="49" charset="0"/>
            </a:endParaRPr>
          </a:p>
          <a:p>
            <a:r>
              <a:rPr lang="de-CH" sz="1800" dirty="0">
                <a:solidFill>
                  <a:srgbClr val="0000FF"/>
                </a:solidFill>
                <a:highlight>
                  <a:srgbClr val="FFFFFF"/>
                </a:highlight>
                <a:latin typeface="Cascadia Mono" panose="020B0609020000020004" pitchFamily="49" charset="0"/>
              </a:rPr>
              <a:t>double</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retail</a:t>
            </a:r>
            <a:r>
              <a:rPr lang="de-CH" sz="1800" dirty="0">
                <a:solidFill>
                  <a:srgbClr val="000000"/>
                </a:solidFill>
                <a:highlight>
                  <a:srgbClr val="FFFFFF"/>
                </a:highlight>
                <a:latin typeface="Cascadia Mono" panose="020B0609020000020004" pitchFamily="49" charset="0"/>
              </a:rPr>
              <a:t>; </a:t>
            </a:r>
            <a:r>
              <a:rPr lang="de-CH" sz="1800" dirty="0">
                <a:solidFill>
                  <a:srgbClr val="008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розничная цена</a:t>
            </a:r>
            <a:endParaRPr lang="ru-RU" sz="1800" dirty="0">
              <a:solidFill>
                <a:srgbClr val="000000"/>
              </a:solidFill>
              <a:highlight>
                <a:srgbClr val="FFFFFF"/>
              </a:highlight>
              <a:latin typeface="Cascadia Mono" panose="020B0609020000020004" pitchFamily="49" charset="0"/>
            </a:endParaRPr>
          </a:p>
          <a:p>
            <a:r>
              <a:rPr lang="ru-RU" sz="1800" dirty="0">
                <a:solidFill>
                  <a:srgbClr val="0000FF"/>
                </a:solidFill>
                <a:highlight>
                  <a:srgbClr val="FFFFFF"/>
                </a:highlight>
                <a:latin typeface="Cascadia Mono" panose="020B0609020000020004" pitchFamily="49" charset="0"/>
              </a:rPr>
              <a:t>int</a:t>
            </a:r>
            <a:r>
              <a:rPr lang="ru-RU" sz="1800" dirty="0">
                <a:solidFill>
                  <a:srgbClr val="000000"/>
                </a:solidFill>
                <a:highlight>
                  <a:srgbClr val="FFFFFF"/>
                </a:highlight>
                <a:latin typeface="Cascadia Mono" panose="020B0609020000020004" pitchFamily="49" charset="0"/>
              </a:rPr>
              <a:t> </a:t>
            </a:r>
            <a:r>
              <a:rPr lang="ru-RU" sz="1800" dirty="0" err="1">
                <a:solidFill>
                  <a:srgbClr val="000000"/>
                </a:solidFill>
                <a:highlight>
                  <a:srgbClr val="FFFFFF"/>
                </a:highlight>
                <a:latin typeface="Cascadia Mono" panose="020B0609020000020004" pitchFamily="49" charset="0"/>
              </a:rPr>
              <a:t>on_hand</a:t>
            </a:r>
            <a:r>
              <a:rPr lang="ru-RU" sz="1800" dirty="0">
                <a:solidFill>
                  <a:srgbClr val="000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 имеющееся в наличии количество</a:t>
            </a:r>
            <a:endParaRPr lang="ru-RU" sz="1800" dirty="0">
              <a:solidFill>
                <a:srgbClr val="000000"/>
              </a:solidFill>
              <a:highlight>
                <a:srgbClr val="FFFFFF"/>
              </a:highlight>
              <a:latin typeface="Cascadia Mono" panose="020B0609020000020004" pitchFamily="49" charset="0"/>
            </a:endParaRPr>
          </a:p>
          <a:p>
            <a:r>
              <a:rPr lang="ru-RU" sz="1800" dirty="0">
                <a:solidFill>
                  <a:srgbClr val="0000FF"/>
                </a:solidFill>
                <a:highlight>
                  <a:srgbClr val="FFFFFF"/>
                </a:highlight>
                <a:latin typeface="Cascadia Mono" panose="020B0609020000020004" pitchFamily="49" charset="0"/>
              </a:rPr>
              <a:t>int</a:t>
            </a:r>
            <a:r>
              <a:rPr lang="ru-RU" sz="1800" dirty="0">
                <a:solidFill>
                  <a:srgbClr val="000000"/>
                </a:solidFill>
                <a:highlight>
                  <a:srgbClr val="FFFFFF"/>
                </a:highlight>
                <a:latin typeface="Cascadia Mono" panose="020B0609020000020004" pitchFamily="49" charset="0"/>
              </a:rPr>
              <a:t> </a:t>
            </a:r>
            <a:r>
              <a:rPr lang="ru-RU" sz="1800" dirty="0" err="1">
                <a:solidFill>
                  <a:srgbClr val="000000"/>
                </a:solidFill>
                <a:highlight>
                  <a:srgbClr val="FFFFFF"/>
                </a:highlight>
                <a:latin typeface="Cascadia Mono" panose="020B0609020000020004" pitchFamily="49" charset="0"/>
              </a:rPr>
              <a:t>lead_time</a:t>
            </a:r>
            <a:r>
              <a:rPr lang="ru-RU" sz="1800" dirty="0">
                <a:solidFill>
                  <a:srgbClr val="000000"/>
                </a:solidFill>
                <a:highlight>
                  <a:srgbClr val="FFFFFF"/>
                </a:highlight>
                <a:latin typeface="Cascadia Mono" panose="020B0609020000020004" pitchFamily="49" charset="0"/>
              </a:rPr>
              <a:t>; </a:t>
            </a:r>
            <a:r>
              <a:rPr lang="ru-RU" sz="1800" dirty="0">
                <a:solidFill>
                  <a:srgbClr val="008000"/>
                </a:solidFill>
                <a:highlight>
                  <a:srgbClr val="FFFFFF"/>
                </a:highlight>
                <a:latin typeface="Cascadia Mono" panose="020B0609020000020004" pitchFamily="49" charset="0"/>
              </a:rPr>
              <a:t>// число дней до пополнения запасов</a:t>
            </a:r>
            <a:endParaRPr lang="ru-RU" sz="1800" dirty="0">
              <a:solidFill>
                <a:srgbClr val="000000"/>
              </a:solidFill>
              <a:highlight>
                <a:srgbClr val="FFFFFF"/>
              </a:highlight>
              <a:latin typeface="Cascadia Mono" panose="020B0609020000020004" pitchFamily="49" charset="0"/>
            </a:endParaRPr>
          </a:p>
          <a:p>
            <a:r>
              <a:rPr lang="de-CH" sz="1800" dirty="0">
                <a:solidFill>
                  <a:srgbClr val="000000"/>
                </a:solidFill>
                <a:highlight>
                  <a:srgbClr val="FFFFFF"/>
                </a:highlight>
                <a:latin typeface="Cascadia Mono" panose="020B0609020000020004" pitchFamily="49" charset="0"/>
              </a:rPr>
              <a:t>} A, B, C;</a:t>
            </a:r>
          </a:p>
          <a:p>
            <a:endParaRPr lang="ru-RU" sz="1800" dirty="0">
              <a:solidFill>
                <a:srgbClr val="000000"/>
              </a:solidFill>
              <a:highlight>
                <a:srgbClr val="FFFFFF"/>
              </a:highlight>
              <a:latin typeface="Cascadia Mono" panose="020B0609020000020004" pitchFamily="49" charset="0"/>
            </a:endParaRPr>
          </a:p>
          <a:p>
            <a:r>
              <a:rPr lang="de-CH" sz="1800" dirty="0">
                <a:solidFill>
                  <a:srgbClr val="0000FF"/>
                </a:solidFill>
                <a:highlight>
                  <a:srgbClr val="FFFFFF"/>
                </a:highlight>
                <a:latin typeface="Cascadia Mono" panose="020B0609020000020004" pitchFamily="49" charset="0"/>
              </a:rPr>
              <a:t>int</a:t>
            </a:r>
            <a:r>
              <a:rPr lang="de-CH" sz="1800" dirty="0">
                <a:solidFill>
                  <a:srgbClr val="000000"/>
                </a:solidFill>
                <a:highlight>
                  <a:srgbClr val="FFFFFF"/>
                </a:highlight>
                <a:latin typeface="Cascadia Mono" panose="020B0609020000020004" pitchFamily="49" charset="0"/>
              </a:rPr>
              <a:t> </a:t>
            </a:r>
            <a:r>
              <a:rPr lang="de-CH" sz="1800" dirty="0" err="1">
                <a:solidFill>
                  <a:srgbClr val="000000"/>
                </a:solidFill>
                <a:highlight>
                  <a:srgbClr val="FFFFFF"/>
                </a:highlight>
                <a:latin typeface="Cascadia Mono" panose="020B0609020000020004" pitchFamily="49" charset="0"/>
              </a:rPr>
              <a:t>main</a:t>
            </a:r>
            <a:r>
              <a:rPr lang="de-CH" sz="1800" dirty="0">
                <a:solidFill>
                  <a:srgbClr val="000000"/>
                </a:solidFill>
                <a:highlight>
                  <a:srgbClr val="FFFFFF"/>
                </a:highlight>
                <a:latin typeface="Cascadia Mono" panose="020B0609020000020004" pitchFamily="49" charset="0"/>
              </a:rPr>
              <a:t>() </a:t>
            </a:r>
          </a:p>
          <a:p>
            <a:r>
              <a:rPr lang="ru-RU" sz="1800" dirty="0">
                <a:solidFill>
                  <a:srgbClr val="000000"/>
                </a:solidFill>
                <a:highlight>
                  <a:srgbClr val="FFFFFF"/>
                </a:highlight>
                <a:latin typeface="Cascadia Mono" panose="020B0609020000020004" pitchFamily="49" charset="0"/>
              </a:rPr>
              <a:t>{</a:t>
            </a:r>
          </a:p>
          <a:p>
            <a:r>
              <a:rPr lang="de-CH" sz="1800" dirty="0" err="1">
                <a:solidFill>
                  <a:srgbClr val="000000"/>
                </a:solidFill>
                <a:highlight>
                  <a:srgbClr val="FFFFFF"/>
                </a:highlight>
                <a:latin typeface="Cascadia Mono" panose="020B0609020000020004" pitchFamily="49" charset="0"/>
              </a:rPr>
              <a:t>A.cost</a:t>
            </a:r>
            <a:r>
              <a:rPr lang="de-CH" sz="1800" dirty="0">
                <a:solidFill>
                  <a:srgbClr val="000000"/>
                </a:solidFill>
                <a:highlight>
                  <a:srgbClr val="FFFFFF"/>
                </a:highlight>
                <a:latin typeface="Cascadia Mono" panose="020B0609020000020004" pitchFamily="49" charset="0"/>
              </a:rPr>
              <a:t>=0;</a:t>
            </a:r>
          </a:p>
          <a:p>
            <a:r>
              <a:rPr lang="de-CH" sz="1800" dirty="0" err="1">
                <a:solidFill>
                  <a:srgbClr val="000000"/>
                </a:solidFill>
                <a:highlight>
                  <a:srgbClr val="FFFFFF"/>
                </a:highlight>
                <a:latin typeface="Cascadia Mono" panose="020B0609020000020004" pitchFamily="49" charset="0"/>
              </a:rPr>
              <a:t>B.cost</a:t>
            </a:r>
            <a:r>
              <a:rPr lang="de-CH" sz="1800" dirty="0">
                <a:solidFill>
                  <a:srgbClr val="000000"/>
                </a:solidFill>
                <a:highlight>
                  <a:srgbClr val="FFFFFF"/>
                </a:highlight>
                <a:latin typeface="Cascadia Mono" panose="020B0609020000020004" pitchFamily="49" charset="0"/>
              </a:rPr>
              <a:t> = 0;</a:t>
            </a:r>
          </a:p>
          <a:p>
            <a:r>
              <a:rPr lang="de-CH" sz="1800" dirty="0" err="1">
                <a:solidFill>
                  <a:srgbClr val="000000"/>
                </a:solidFill>
                <a:highlight>
                  <a:srgbClr val="FFFFFF"/>
                </a:highlight>
                <a:latin typeface="Cascadia Mono" panose="020B0609020000020004" pitchFamily="49" charset="0"/>
              </a:rPr>
              <a:t>C.cost</a:t>
            </a:r>
            <a:r>
              <a:rPr lang="de-CH" sz="1800" dirty="0">
                <a:solidFill>
                  <a:srgbClr val="000000"/>
                </a:solidFill>
                <a:highlight>
                  <a:srgbClr val="FFFFFF"/>
                </a:highlight>
                <a:latin typeface="Cascadia Mono" panose="020B0609020000020004" pitchFamily="49" charset="0"/>
              </a:rPr>
              <a:t> = 1;</a:t>
            </a:r>
          </a:p>
          <a:p>
            <a:endParaRPr lang="ru-RU" sz="1800" dirty="0">
              <a:solidFill>
                <a:srgbClr val="000000"/>
              </a:solidFill>
              <a:highlight>
                <a:srgbClr val="FFFFFF"/>
              </a:highlight>
              <a:latin typeface="Cascadia Mono" panose="020B0609020000020004" pitchFamily="49" charset="0"/>
            </a:endParaRPr>
          </a:p>
          <a:p>
            <a:r>
              <a:rPr lang="ru-RU" sz="1800" dirty="0">
                <a:solidFill>
                  <a:srgbClr val="000000"/>
                </a:solidFill>
                <a:highlight>
                  <a:srgbClr val="FFFFFF"/>
                </a:highlight>
                <a:latin typeface="Cascadia Mono" panose="020B0609020000020004" pitchFamily="49" charset="0"/>
              </a:rPr>
              <a:t>}</a:t>
            </a:r>
            <a:endParaRPr lang="ru-RU" sz="1800" dirty="0"/>
          </a:p>
        </p:txBody>
      </p:sp>
    </p:spTree>
    <p:extLst>
      <p:ext uri="{BB962C8B-B14F-4D97-AF65-F5344CB8AC3E}">
        <p14:creationId xmlns:p14="http://schemas.microsoft.com/office/powerpoint/2010/main" val="2029122469"/>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BBCDA9-1F83-0560-BD96-522C2A67CBBB}"/>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107D783C-9C57-E290-EC03-3D570C60FB54}"/>
              </a:ext>
            </a:extLst>
          </p:cNvPr>
          <p:cNvSpPr>
            <a:spLocks noGrp="1"/>
          </p:cNvSpPr>
          <p:nvPr>
            <p:ph idx="1"/>
          </p:nvPr>
        </p:nvSpPr>
        <p:spPr/>
        <p:txBody>
          <a:bodyPr/>
          <a:lstStyle/>
          <a:p>
            <a:r>
              <a:rPr lang="ru-RU" dirty="0"/>
              <a:t>Массивы структур </a:t>
            </a:r>
          </a:p>
          <a:p>
            <a:r>
              <a:rPr lang="ru-RU" dirty="0"/>
              <a:t>Структуры могут быть элементами массивов. </a:t>
            </a:r>
            <a:endParaRPr lang="en-US" dirty="0"/>
          </a:p>
          <a:p>
            <a:r>
              <a:rPr lang="de-CH" sz="1600" dirty="0" err="1">
                <a:solidFill>
                  <a:srgbClr val="0000FF"/>
                </a:solidFill>
                <a:highlight>
                  <a:srgbClr val="FFFFFF"/>
                </a:highlight>
                <a:latin typeface="Cascadia Mono" panose="020B0609020000020004" pitchFamily="49" charset="0"/>
              </a:rPr>
              <a:t>struct</a:t>
            </a:r>
            <a:r>
              <a:rPr lang="de-CH"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p>
          <a:p>
            <a:pPr lvl="1"/>
            <a:r>
              <a:rPr lang="ru-RU" dirty="0" err="1">
                <a:solidFill>
                  <a:srgbClr val="0000FF"/>
                </a:solidFill>
                <a:highlight>
                  <a:srgbClr val="FFFFFF"/>
                </a:highlight>
                <a:latin typeface="Cascadia Mono" panose="020B0609020000020004" pitchFamily="49" charset="0"/>
              </a:rPr>
              <a:t>char</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item</a:t>
            </a:r>
            <a:r>
              <a:rPr lang="ru-RU" dirty="0">
                <a:solidFill>
                  <a:srgbClr val="000000"/>
                </a:solidFill>
                <a:highlight>
                  <a:srgbClr val="FFFFFF"/>
                </a:highlight>
                <a:latin typeface="Cascadia Mono" panose="020B0609020000020004" pitchFamily="49" charset="0"/>
              </a:rPr>
              <a:t>[40]; </a:t>
            </a:r>
            <a:r>
              <a:rPr lang="ru-RU" dirty="0">
                <a:solidFill>
                  <a:srgbClr val="008000"/>
                </a:solidFill>
                <a:highlight>
                  <a:srgbClr val="FFFFFF"/>
                </a:highlight>
                <a:latin typeface="Cascadia Mono" panose="020B0609020000020004" pitchFamily="49" charset="0"/>
              </a:rPr>
              <a:t>// наименование товара</a:t>
            </a:r>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double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cost</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стоимость</a:t>
            </a:r>
            <a:endParaRPr lang="ru-RU" dirty="0">
              <a:solidFill>
                <a:srgbClr val="000000"/>
              </a:solidFill>
              <a:highlight>
                <a:srgbClr val="FFFFFF"/>
              </a:highlight>
              <a:latin typeface="Cascadia Mono" panose="020B0609020000020004" pitchFamily="49" charset="0"/>
            </a:endParaRPr>
          </a:p>
          <a:p>
            <a:pPr lvl="1"/>
            <a:r>
              <a:rPr lang="de-CH" dirty="0">
                <a:solidFill>
                  <a:srgbClr val="0000FF"/>
                </a:solidFill>
                <a:highlight>
                  <a:srgbClr val="FFFFFF"/>
                </a:highlight>
                <a:latin typeface="Cascadia Mono" panose="020B0609020000020004" pitchFamily="49" charset="0"/>
              </a:rPr>
              <a:t>double</a:t>
            </a:r>
            <a:r>
              <a:rPr lang="de-CH" dirty="0">
                <a:solidFill>
                  <a:srgbClr val="000000"/>
                </a:solidFill>
                <a:highlight>
                  <a:srgbClr val="FFFFFF"/>
                </a:highlight>
                <a:latin typeface="Cascadia Mono" panose="020B0609020000020004" pitchFamily="49" charset="0"/>
              </a:rPr>
              <a:t> </a:t>
            </a:r>
            <a:r>
              <a:rPr lang="de-CH" dirty="0" err="1">
                <a:solidFill>
                  <a:srgbClr val="000000"/>
                </a:solidFill>
                <a:highlight>
                  <a:srgbClr val="FFFFFF"/>
                </a:highlight>
                <a:latin typeface="Cascadia Mono" panose="020B0609020000020004" pitchFamily="49" charset="0"/>
              </a:rPr>
              <a:t>retail</a:t>
            </a:r>
            <a:r>
              <a:rPr lang="de-CH" dirty="0">
                <a:solidFill>
                  <a:srgbClr val="000000"/>
                </a:solidFill>
                <a:highlight>
                  <a:srgbClr val="FFFFFF"/>
                </a:highlight>
                <a:latin typeface="Cascadia Mono" panose="020B0609020000020004" pitchFamily="49" charset="0"/>
              </a:rPr>
              <a:t>; </a:t>
            </a:r>
            <a:r>
              <a:rPr lang="de-CH" dirty="0">
                <a:solidFill>
                  <a:srgbClr val="008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розничная цена</a:t>
            </a:r>
            <a:endParaRPr lang="ru-RU" dirty="0">
              <a:solidFill>
                <a:srgbClr val="000000"/>
              </a:solidFill>
              <a:highlight>
                <a:srgbClr val="FFFFFF"/>
              </a:highlight>
              <a:latin typeface="Cascadia Mono" panose="020B0609020000020004" pitchFamily="49" charset="0"/>
            </a:endParaRPr>
          </a:p>
          <a:p>
            <a:pPr lvl="1"/>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on_hand</a:t>
            </a:r>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имеющееся в наличии количество</a:t>
            </a:r>
            <a:endParaRPr lang="ru-RU" dirty="0">
              <a:solidFill>
                <a:srgbClr val="000000"/>
              </a:solidFill>
              <a:highlight>
                <a:srgbClr val="FFFFFF"/>
              </a:highlight>
              <a:latin typeface="Cascadia Mono" panose="020B0609020000020004" pitchFamily="49" charset="0"/>
            </a:endParaRPr>
          </a:p>
          <a:p>
            <a:pPr lvl="1"/>
            <a:r>
              <a:rPr lang="ru-RU" dirty="0">
                <a:solidFill>
                  <a:srgbClr val="0000FF"/>
                </a:solidFill>
                <a:highlight>
                  <a:srgbClr val="FFFFFF"/>
                </a:highlight>
                <a:latin typeface="Cascadia Mono" panose="020B0609020000020004" pitchFamily="49" charset="0"/>
              </a:rPr>
              <a:t>int</a:t>
            </a:r>
            <a:r>
              <a:rPr lang="ru-RU" dirty="0">
                <a:solidFill>
                  <a:srgbClr val="000000"/>
                </a:solidFill>
                <a:highlight>
                  <a:srgbClr val="FFFFFF"/>
                </a:highlight>
                <a:latin typeface="Cascadia Mono" panose="020B0609020000020004" pitchFamily="49" charset="0"/>
              </a:rPr>
              <a:t> </a:t>
            </a:r>
            <a:r>
              <a:rPr lang="ru-RU" dirty="0" err="1">
                <a:solidFill>
                  <a:srgbClr val="000000"/>
                </a:solidFill>
                <a:highlight>
                  <a:srgbClr val="FFFFFF"/>
                </a:highlight>
                <a:latin typeface="Cascadia Mono" panose="020B0609020000020004" pitchFamily="49" charset="0"/>
              </a:rPr>
              <a:t>lead_time</a:t>
            </a:r>
            <a:r>
              <a:rPr lang="ru-RU" dirty="0">
                <a:solidFill>
                  <a:srgbClr val="000000"/>
                </a:solidFill>
                <a:highlight>
                  <a:srgbClr val="FFFFFF"/>
                </a:highlight>
                <a:latin typeface="Cascadia Mono" panose="020B0609020000020004" pitchFamily="49" charset="0"/>
              </a:rPr>
              <a:t>; </a:t>
            </a:r>
            <a:r>
              <a:rPr lang="ru-RU" dirty="0">
                <a:solidFill>
                  <a:srgbClr val="008000"/>
                </a:solidFill>
                <a:highlight>
                  <a:srgbClr val="FFFFFF"/>
                </a:highlight>
                <a:latin typeface="Cascadia Mono" panose="020B0609020000020004" pitchFamily="49" charset="0"/>
              </a:rPr>
              <a:t>// число дней до пополнения запасов</a:t>
            </a:r>
            <a:endParaRPr lang="ru-RU" dirty="0">
              <a:solidFill>
                <a:srgbClr val="000000"/>
              </a:solidFill>
              <a:highlight>
                <a:srgbClr val="FFFFFF"/>
              </a:highlight>
              <a:latin typeface="Cascadia Mono" panose="020B0609020000020004" pitchFamily="49" charset="0"/>
            </a:endParaRPr>
          </a:p>
          <a:p>
            <a:r>
              <a:rPr lang="de-CH" sz="1600" dirty="0">
                <a:solidFill>
                  <a:srgbClr val="000000"/>
                </a:solidFill>
                <a:highlight>
                  <a:srgbClr val="FFFFFF"/>
                </a:highlight>
                <a:latin typeface="Cascadia Mono" panose="020B0609020000020004" pitchFamily="49" charset="0"/>
              </a:rPr>
              <a:t>} A[10];</a:t>
            </a:r>
          </a:p>
          <a:p>
            <a:endParaRPr lang="ru-RU" sz="1600" dirty="0">
              <a:solidFill>
                <a:srgbClr val="000000"/>
              </a:solidFill>
              <a:highlight>
                <a:srgbClr val="FFFFFF"/>
              </a:highlight>
              <a:latin typeface="Cascadia Mono" panose="020B0609020000020004" pitchFamily="49" charset="0"/>
            </a:endParaRP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 </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	A[1].</a:t>
            </a:r>
            <a:r>
              <a:rPr lang="de-CH" sz="1600" dirty="0" err="1">
                <a:solidFill>
                  <a:srgbClr val="000000"/>
                </a:solidFill>
                <a:highlight>
                  <a:srgbClr val="FFFFFF"/>
                </a:highlight>
                <a:latin typeface="Cascadia Mono" panose="020B0609020000020004" pitchFamily="49" charset="0"/>
              </a:rPr>
              <a:t>cost</a:t>
            </a:r>
            <a:r>
              <a:rPr lang="de-CH" sz="1600" dirty="0">
                <a:solidFill>
                  <a:srgbClr val="000000"/>
                </a:solidFill>
                <a:highlight>
                  <a:srgbClr val="FFFFFF"/>
                </a:highlight>
                <a:latin typeface="Cascadia Mono" panose="020B0609020000020004" pitchFamily="49" charset="0"/>
              </a:rPr>
              <a:t> =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943929053"/>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6D7A7C-AB0B-396C-1C42-7D25E9351950}"/>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1047514E-5ABA-47DA-A327-C4C85142ECA8}"/>
              </a:ext>
            </a:extLst>
          </p:cNvPr>
          <p:cNvSpPr>
            <a:spLocks noGrp="1"/>
          </p:cNvSpPr>
          <p:nvPr>
            <p:ph idx="1"/>
          </p:nvPr>
        </p:nvSpPr>
        <p:spPr/>
        <p:txBody>
          <a:bodyPr/>
          <a:lstStyle/>
          <a:p>
            <a:r>
              <a:rPr lang="ru-RU" sz="1400" dirty="0">
                <a:solidFill>
                  <a:srgbClr val="0000FF"/>
                </a:solidFill>
                <a:highlight>
                  <a:srgbClr val="FFFFFF"/>
                </a:highlight>
                <a:latin typeface="Cascadia Mono" panose="020B0609020000020004" pitchFamily="49" charset="0"/>
              </a:rPr>
              <a:t>Структура как параметр функции</a:t>
            </a:r>
            <a:endParaRPr lang="de-CH" sz="1400" dirty="0">
              <a:solidFill>
                <a:srgbClr val="0000FF"/>
              </a:solidFill>
              <a:highlight>
                <a:srgbClr val="FFFFFF"/>
              </a:highlight>
              <a:latin typeface="Cascadia Mono" panose="020B0609020000020004" pitchFamily="49" charset="0"/>
            </a:endParaRPr>
          </a:p>
          <a:p>
            <a:r>
              <a:rPr lang="de-CH" sz="1400" dirty="0" err="1">
                <a:solidFill>
                  <a:srgbClr val="0000FF"/>
                </a:solidFill>
                <a:highlight>
                  <a:srgbClr val="FFFFFF"/>
                </a:highlight>
                <a:latin typeface="Cascadia Mono" panose="020B0609020000020004" pitchFamily="49" charset="0"/>
              </a:rPr>
              <a:t>struct</a:t>
            </a:r>
            <a:r>
              <a:rPr lang="de-CH" sz="1400" dirty="0">
                <a:solidFill>
                  <a:srgbClr val="000000"/>
                </a:solidFill>
                <a:highlight>
                  <a:srgbClr val="FFFFFF"/>
                </a:highlight>
                <a:latin typeface="Cascadia Mono" panose="020B0609020000020004" pitchFamily="49" charset="0"/>
              </a:rPr>
              <a:t> </a:t>
            </a:r>
            <a:r>
              <a:rPr lang="de-CH" sz="1400" dirty="0">
                <a:solidFill>
                  <a:srgbClr val="2B91AF"/>
                </a:solidFill>
                <a:highlight>
                  <a:srgbClr val="FFFFFF"/>
                </a:highlight>
                <a:latin typeface="Cascadia Mono" panose="020B0609020000020004" pitchFamily="49" charset="0"/>
              </a:rPr>
              <a:t>sample</a:t>
            </a:r>
            <a:endParaRPr lang="de-CH" sz="1400" dirty="0">
              <a:solidFill>
                <a:srgbClr val="000000"/>
              </a:solidFill>
              <a:highlight>
                <a:srgbClr val="FFFFFF"/>
              </a:highlight>
              <a:latin typeface="Cascadia Mono" panose="020B0609020000020004" pitchFamily="49" charset="0"/>
            </a:endParaRPr>
          </a:p>
          <a:p>
            <a:r>
              <a:rPr lang="ru-RU" sz="1400" dirty="0">
                <a:solidFill>
                  <a:srgbClr val="000000"/>
                </a:solidFill>
                <a:highlight>
                  <a:srgbClr val="FFFFFF"/>
                </a:highlight>
                <a:latin typeface="Cascadia Mono" panose="020B0609020000020004" pitchFamily="49" charset="0"/>
              </a:rPr>
              <a:t>{</a:t>
            </a:r>
          </a:p>
          <a:p>
            <a:r>
              <a:rPr lang="de-CH" sz="1400" dirty="0">
                <a:solidFill>
                  <a:srgbClr val="0000FF"/>
                </a:solidFill>
                <a:highlight>
                  <a:srgbClr val="FFFFFF"/>
                </a:highlight>
                <a:latin typeface="Cascadia Mono" panose="020B0609020000020004" pitchFamily="49" charset="0"/>
              </a:rPr>
              <a:t>	int</a:t>
            </a:r>
            <a:r>
              <a:rPr lang="de-CH" sz="1400" dirty="0">
                <a:solidFill>
                  <a:srgbClr val="000000"/>
                </a:solidFill>
                <a:highlight>
                  <a:srgbClr val="FFFFFF"/>
                </a:highlight>
                <a:latin typeface="Cascadia Mono" panose="020B0609020000020004" pitchFamily="49" charset="0"/>
              </a:rPr>
              <a:t> a;</a:t>
            </a:r>
          </a:p>
          <a:p>
            <a:r>
              <a:rPr lang="de-CH" sz="1400" dirty="0">
                <a:solidFill>
                  <a:srgbClr val="0000FF"/>
                </a:solidFill>
                <a:highlight>
                  <a:srgbClr val="FFFFFF"/>
                </a:highlight>
                <a:latin typeface="Cascadia Mono" panose="020B0609020000020004" pitchFamily="49" charset="0"/>
              </a:rPr>
              <a:t>	</a:t>
            </a:r>
            <a:r>
              <a:rPr lang="de-CH" sz="1400" dirty="0" err="1">
                <a:solidFill>
                  <a:srgbClr val="0000FF"/>
                </a:solidFill>
                <a:highlight>
                  <a:srgbClr val="FFFFFF"/>
                </a:highlight>
                <a:latin typeface="Cascadia Mono" panose="020B0609020000020004" pitchFamily="49" charset="0"/>
              </a:rPr>
              <a:t>char</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ch</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endParaRPr lang="de-CH" sz="1400" dirty="0">
              <a:solidFill>
                <a:srgbClr val="0000FF"/>
              </a:solidFill>
              <a:highlight>
                <a:srgbClr val="FFFFFF"/>
              </a:highlight>
              <a:latin typeface="Cascadia Mono" panose="020B0609020000020004" pitchFamily="49" charset="0"/>
            </a:endParaRPr>
          </a:p>
          <a:p>
            <a:r>
              <a:rPr lang="de-CH" sz="1400" dirty="0" err="1">
                <a:solidFill>
                  <a:srgbClr val="0000FF"/>
                </a:solidFill>
                <a:highlight>
                  <a:srgbClr val="FFFFFF"/>
                </a:highlight>
                <a:latin typeface="Cascadia Mono" panose="020B0609020000020004" pitchFamily="49" charset="0"/>
              </a:rPr>
              <a:t>void</a:t>
            </a:r>
            <a:r>
              <a:rPr lang="de-CH" sz="1400" dirty="0">
                <a:solidFill>
                  <a:srgbClr val="000000"/>
                </a:solidFill>
                <a:highlight>
                  <a:srgbClr val="FFFFFF"/>
                </a:highlight>
                <a:latin typeface="Cascadia Mono" panose="020B0609020000020004" pitchFamily="49" charset="0"/>
              </a:rPr>
              <a:t> f1(</a:t>
            </a:r>
            <a:r>
              <a:rPr lang="de-CH" sz="1400" dirty="0">
                <a:solidFill>
                  <a:srgbClr val="2B91AF"/>
                </a:solidFill>
                <a:highlight>
                  <a:srgbClr val="FFFFFF"/>
                </a:highlight>
                <a:latin typeface="Cascadia Mono" panose="020B0609020000020004" pitchFamily="49" charset="0"/>
              </a:rPr>
              <a:t>sample</a:t>
            </a:r>
            <a:r>
              <a:rPr lang="de-CH" sz="1400" dirty="0">
                <a:solidFill>
                  <a:srgbClr val="000000"/>
                </a:solidFill>
                <a:highlight>
                  <a:srgbClr val="FFFFFF"/>
                </a:highlight>
                <a:latin typeface="Cascadia Mono" panose="020B0609020000020004" pitchFamily="49" charset="0"/>
              </a:rPr>
              <a:t> </a:t>
            </a:r>
            <a:r>
              <a:rPr lang="de-CH" sz="1400" dirty="0" err="1">
                <a:solidFill>
                  <a:srgbClr val="808080"/>
                </a:solidFill>
                <a:highlight>
                  <a:srgbClr val="FFFFFF"/>
                </a:highlight>
                <a:latin typeface="Cascadia Mono" panose="020B0609020000020004" pitchFamily="49" charset="0"/>
              </a:rPr>
              <a:t>parm</a:t>
            </a:r>
            <a:r>
              <a:rPr lang="de-CH" sz="1400" dirty="0">
                <a:solidFill>
                  <a:srgbClr val="000000"/>
                </a:solidFill>
                <a:highlight>
                  <a:srgbClr val="FFFFFF"/>
                </a:highlight>
                <a:latin typeface="Cascadia Mono" panose="020B0609020000020004" pitchFamily="49" charset="0"/>
              </a:rPr>
              <a:t>);</a:t>
            </a:r>
          </a:p>
          <a:p>
            <a:endParaRPr lang="de-CH" sz="1400" dirty="0">
              <a:solidFill>
                <a:srgbClr val="0000FF"/>
              </a:solidFill>
              <a:highlight>
                <a:srgbClr val="FFFFFF"/>
              </a:highlight>
              <a:latin typeface="Cascadia Mono" panose="020B0609020000020004" pitchFamily="49" charset="0"/>
            </a:endParaRPr>
          </a:p>
          <a:p>
            <a:r>
              <a:rPr lang="de-CH" sz="1400" dirty="0">
                <a:solidFill>
                  <a:srgbClr val="0000FF"/>
                </a:solidFill>
                <a:highlight>
                  <a:srgbClr val="FFFFFF"/>
                </a:highlight>
                <a:latin typeface="Cascadia Mono" panose="020B0609020000020004" pitchFamily="49" charset="0"/>
              </a:rPr>
              <a:t>int</a:t>
            </a:r>
            <a:r>
              <a:rPr lang="de-CH" sz="1400" dirty="0">
                <a:solidFill>
                  <a:srgbClr val="000000"/>
                </a:solidFill>
                <a:highlight>
                  <a:srgbClr val="FFFFFF"/>
                </a:highlight>
                <a:latin typeface="Cascadia Mono" panose="020B0609020000020004" pitchFamily="49" charset="0"/>
              </a:rPr>
              <a:t> </a:t>
            </a:r>
            <a:r>
              <a:rPr lang="de-CH" sz="1400" dirty="0" err="1">
                <a:solidFill>
                  <a:srgbClr val="000000"/>
                </a:solidFill>
                <a:highlight>
                  <a:srgbClr val="FFFFFF"/>
                </a:highlight>
                <a:latin typeface="Cascadia Mono" panose="020B0609020000020004" pitchFamily="49" charset="0"/>
              </a:rPr>
              <a:t>main</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r>
              <a:rPr lang="de-CH" sz="1400" dirty="0" err="1">
                <a:solidFill>
                  <a:srgbClr val="0000FF"/>
                </a:solidFill>
                <a:highlight>
                  <a:srgbClr val="FFFFFF"/>
                </a:highlight>
                <a:latin typeface="Cascadia Mono" panose="020B0609020000020004" pitchFamily="49" charset="0"/>
              </a:rPr>
              <a:t>struct</a:t>
            </a:r>
            <a:r>
              <a:rPr lang="de-CH" sz="1400" dirty="0">
                <a:solidFill>
                  <a:srgbClr val="000000"/>
                </a:solidFill>
                <a:highlight>
                  <a:srgbClr val="FFFFFF"/>
                </a:highlight>
                <a:latin typeface="Cascadia Mono" panose="020B0609020000020004" pitchFamily="49" charset="0"/>
              </a:rPr>
              <a:t> </a:t>
            </a:r>
            <a:r>
              <a:rPr lang="de-CH" sz="1400" dirty="0">
                <a:solidFill>
                  <a:srgbClr val="2B91AF"/>
                </a:solidFill>
                <a:highlight>
                  <a:srgbClr val="FFFFFF"/>
                </a:highlight>
                <a:latin typeface="Cascadia Mono" panose="020B0609020000020004" pitchFamily="49" charset="0"/>
              </a:rPr>
              <a:t>sample</a:t>
            </a:r>
            <a:r>
              <a:rPr lang="de-CH" sz="1400" dirty="0">
                <a:solidFill>
                  <a:srgbClr val="000000"/>
                </a:solidFill>
                <a:highlight>
                  <a:srgbClr val="FFFFFF"/>
                </a:highlight>
                <a:latin typeface="Cascadia Mono" panose="020B0609020000020004" pitchFamily="49" charset="0"/>
              </a:rPr>
              <a:t> arg; </a:t>
            </a:r>
            <a:r>
              <a:rPr lang="de-CH" sz="1400" dirty="0">
                <a:solidFill>
                  <a:srgbClr val="008000"/>
                </a:solidFill>
                <a:highlight>
                  <a:srgbClr val="FFFFFF"/>
                </a:highlight>
                <a:latin typeface="Cascadia Mono" panose="020B0609020000020004" pitchFamily="49" charset="0"/>
              </a:rPr>
              <a:t>// </a:t>
            </a:r>
            <a:r>
              <a:rPr lang="ru-RU" sz="1400" dirty="0">
                <a:solidFill>
                  <a:srgbClr val="008000"/>
                </a:solidFill>
                <a:highlight>
                  <a:srgbClr val="FFFFFF"/>
                </a:highlight>
                <a:latin typeface="Cascadia Mono" panose="020B0609020000020004" pitchFamily="49" charset="0"/>
              </a:rPr>
              <a:t>Объявляем переменную </a:t>
            </a:r>
            <a:r>
              <a:rPr lang="de-CH" sz="1400" dirty="0">
                <a:solidFill>
                  <a:srgbClr val="008000"/>
                </a:solidFill>
                <a:highlight>
                  <a:srgbClr val="FFFFFF"/>
                </a:highlight>
                <a:latin typeface="Cascadia Mono" panose="020B0609020000020004" pitchFamily="49" charset="0"/>
              </a:rPr>
              <a:t>arg </a:t>
            </a:r>
            <a:r>
              <a:rPr lang="ru-RU" sz="1400" dirty="0">
                <a:solidFill>
                  <a:srgbClr val="008000"/>
                </a:solidFill>
                <a:highlight>
                  <a:srgbClr val="FFFFFF"/>
                </a:highlight>
                <a:latin typeface="Cascadia Mono" panose="020B0609020000020004" pitchFamily="49" charset="0"/>
              </a:rPr>
              <a:t>типа </a:t>
            </a:r>
            <a:r>
              <a:rPr lang="de-CH" sz="1400" dirty="0">
                <a:solidFill>
                  <a:srgbClr val="008000"/>
                </a:solidFill>
                <a:highlight>
                  <a:srgbClr val="FFFFFF"/>
                </a:highlight>
                <a:latin typeface="Cascadia Mono" panose="020B0609020000020004" pitchFamily="49" charset="0"/>
              </a:rPr>
              <a:t>sample.</a:t>
            </a:r>
            <a:endParaRPr lang="de-CH" sz="1400" dirty="0">
              <a:solidFill>
                <a:srgbClr val="000000"/>
              </a:solidFill>
              <a:highlight>
                <a:srgbClr val="FFFFFF"/>
              </a:highlight>
              <a:latin typeface="Cascadia Mono" panose="020B0609020000020004" pitchFamily="49" charset="0"/>
            </a:endParaRPr>
          </a:p>
          <a:p>
            <a:r>
              <a:rPr lang="de-CH" sz="1400" dirty="0" err="1">
                <a:solidFill>
                  <a:srgbClr val="000000"/>
                </a:solidFill>
                <a:highlight>
                  <a:srgbClr val="FFFFFF"/>
                </a:highlight>
                <a:latin typeface="Cascadia Mono" panose="020B0609020000020004" pitchFamily="49" charset="0"/>
              </a:rPr>
              <a:t>arg.a</a:t>
            </a:r>
            <a:r>
              <a:rPr lang="de-CH" sz="1400" dirty="0">
                <a:solidFill>
                  <a:srgbClr val="000000"/>
                </a:solidFill>
                <a:highlight>
                  <a:srgbClr val="FFFFFF"/>
                </a:highlight>
                <a:latin typeface="Cascadia Mono" panose="020B0609020000020004" pitchFamily="49" charset="0"/>
              </a:rPr>
              <a:t> = 1000;</a:t>
            </a:r>
          </a:p>
          <a:p>
            <a:r>
              <a:rPr lang="de-CH" sz="1400" dirty="0">
                <a:solidFill>
                  <a:srgbClr val="000000"/>
                </a:solidFill>
                <a:highlight>
                  <a:srgbClr val="FFFFFF"/>
                </a:highlight>
                <a:latin typeface="Cascadia Mono" panose="020B0609020000020004" pitchFamily="49" charset="0"/>
              </a:rPr>
              <a:t>arg.ch = </a:t>
            </a:r>
            <a:r>
              <a:rPr lang="de-CH" sz="1400" dirty="0">
                <a:solidFill>
                  <a:srgbClr val="A31515"/>
                </a:solidFill>
                <a:highlight>
                  <a:srgbClr val="FFFFFF"/>
                </a:highlight>
                <a:latin typeface="Cascadia Mono" panose="020B0609020000020004" pitchFamily="49" charset="0"/>
              </a:rPr>
              <a:t>'x'</a:t>
            </a:r>
            <a:r>
              <a:rPr lang="de-CH" sz="1400" dirty="0">
                <a:solidFill>
                  <a:srgbClr val="000000"/>
                </a:solidFill>
                <a:highlight>
                  <a:srgbClr val="FFFFFF"/>
                </a:highlight>
                <a:latin typeface="Cascadia Mono" panose="020B0609020000020004" pitchFamily="49" charset="0"/>
              </a:rPr>
              <a:t>;</a:t>
            </a:r>
          </a:p>
          <a:p>
            <a:r>
              <a:rPr lang="de-CH" sz="1400" dirty="0">
                <a:solidFill>
                  <a:srgbClr val="000000"/>
                </a:solidFill>
                <a:highlight>
                  <a:srgbClr val="FFFFFF"/>
                </a:highlight>
                <a:latin typeface="Cascadia Mono" panose="020B0609020000020004" pitchFamily="49" charset="0"/>
              </a:rPr>
              <a:t>f1(arg);</a:t>
            </a:r>
          </a:p>
          <a:p>
            <a:r>
              <a:rPr lang="de-CH" sz="1400" dirty="0" err="1">
                <a:solidFill>
                  <a:srgbClr val="0000FF"/>
                </a:solidFill>
                <a:highlight>
                  <a:srgbClr val="FFFFFF"/>
                </a:highlight>
                <a:latin typeface="Cascadia Mono" panose="020B0609020000020004" pitchFamily="49" charset="0"/>
              </a:rPr>
              <a:t>return</a:t>
            </a:r>
            <a:r>
              <a:rPr lang="de-CH" sz="1400" dirty="0">
                <a:solidFill>
                  <a:srgbClr val="000000"/>
                </a:solidFill>
                <a:highlight>
                  <a:srgbClr val="FFFFFF"/>
                </a:highlight>
                <a:latin typeface="Cascadia Mono" panose="020B0609020000020004" pitchFamily="49" charset="0"/>
              </a:rPr>
              <a:t> 0;</a:t>
            </a:r>
          </a:p>
          <a:p>
            <a:r>
              <a:rPr lang="ru-RU" sz="1400" dirty="0">
                <a:solidFill>
                  <a:srgbClr val="000000"/>
                </a:solidFill>
                <a:highlight>
                  <a:srgbClr val="FFFFFF"/>
                </a:highlight>
                <a:latin typeface="Cascadia Mono" panose="020B0609020000020004" pitchFamily="49" charset="0"/>
              </a:rPr>
              <a:t>}</a:t>
            </a:r>
          </a:p>
          <a:p>
            <a:r>
              <a:rPr lang="de-CH" sz="1400" dirty="0" err="1">
                <a:solidFill>
                  <a:srgbClr val="0000FF"/>
                </a:solidFill>
                <a:highlight>
                  <a:srgbClr val="FFFFFF"/>
                </a:highlight>
                <a:latin typeface="Cascadia Mono" panose="020B0609020000020004" pitchFamily="49" charset="0"/>
              </a:rPr>
              <a:t>void</a:t>
            </a:r>
            <a:r>
              <a:rPr lang="de-CH" sz="1400" dirty="0">
                <a:solidFill>
                  <a:srgbClr val="000000"/>
                </a:solidFill>
                <a:highlight>
                  <a:srgbClr val="FFFFFF"/>
                </a:highlight>
                <a:latin typeface="Cascadia Mono" panose="020B0609020000020004" pitchFamily="49" charset="0"/>
              </a:rPr>
              <a:t> f1(</a:t>
            </a:r>
            <a:r>
              <a:rPr lang="de-CH" sz="1400" dirty="0">
                <a:solidFill>
                  <a:srgbClr val="2B91AF"/>
                </a:solidFill>
                <a:highlight>
                  <a:srgbClr val="FFFFFF"/>
                </a:highlight>
                <a:latin typeface="Cascadia Mono" panose="020B0609020000020004" pitchFamily="49" charset="0"/>
              </a:rPr>
              <a:t>sample</a:t>
            </a:r>
            <a:r>
              <a:rPr lang="de-CH" sz="1400" dirty="0">
                <a:solidFill>
                  <a:srgbClr val="000000"/>
                </a:solidFill>
                <a:highlight>
                  <a:srgbClr val="FFFFFF"/>
                </a:highlight>
                <a:latin typeface="Cascadia Mono" panose="020B0609020000020004" pitchFamily="49" charset="0"/>
              </a:rPr>
              <a:t> </a:t>
            </a:r>
            <a:r>
              <a:rPr lang="de-CH" sz="1400" dirty="0" err="1">
                <a:solidFill>
                  <a:srgbClr val="808080"/>
                </a:solidFill>
                <a:highlight>
                  <a:srgbClr val="FFFFFF"/>
                </a:highlight>
                <a:latin typeface="Cascadia Mono" panose="020B0609020000020004" pitchFamily="49" charset="0"/>
              </a:rPr>
              <a:t>parm</a:t>
            </a:r>
            <a:r>
              <a:rPr lang="de-CH"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p>
          <a:p>
            <a:r>
              <a:rPr lang="fr-FR" sz="1400" dirty="0">
                <a:solidFill>
                  <a:srgbClr val="000000"/>
                </a:solidFill>
                <a:highlight>
                  <a:srgbClr val="FFFFFF"/>
                </a:highlight>
                <a:latin typeface="Cascadia Mono" panose="020B0609020000020004" pitchFamily="49" charset="0"/>
              </a:rPr>
              <a:t>cout </a:t>
            </a:r>
            <a:r>
              <a:rPr lang="fr-FR" sz="1400" dirty="0">
                <a:solidFill>
                  <a:srgbClr val="008080"/>
                </a:solidFill>
                <a:highlight>
                  <a:srgbClr val="FFFFFF"/>
                </a:highlight>
                <a:latin typeface="Cascadia Mono" panose="020B0609020000020004" pitchFamily="49" charset="0"/>
              </a:rPr>
              <a:t>&lt;&lt;</a:t>
            </a:r>
            <a:r>
              <a:rPr lang="fr-FR" sz="1400" dirty="0">
                <a:solidFill>
                  <a:srgbClr val="000000"/>
                </a:solidFill>
                <a:highlight>
                  <a:srgbClr val="FFFFFF"/>
                </a:highlight>
                <a:latin typeface="Cascadia Mono" panose="020B0609020000020004" pitchFamily="49" charset="0"/>
              </a:rPr>
              <a:t> </a:t>
            </a:r>
            <a:r>
              <a:rPr lang="fr-FR" sz="1400" dirty="0" err="1">
                <a:solidFill>
                  <a:srgbClr val="808080"/>
                </a:solidFill>
                <a:highlight>
                  <a:srgbClr val="FFFFFF"/>
                </a:highlight>
                <a:latin typeface="Cascadia Mono" panose="020B0609020000020004" pitchFamily="49" charset="0"/>
              </a:rPr>
              <a:t>parm</a:t>
            </a:r>
            <a:r>
              <a:rPr lang="fr-FR" sz="1400" dirty="0" err="1">
                <a:solidFill>
                  <a:srgbClr val="000000"/>
                </a:solidFill>
                <a:highlight>
                  <a:srgbClr val="FFFFFF"/>
                </a:highlight>
                <a:latin typeface="Cascadia Mono" panose="020B0609020000020004" pitchFamily="49" charset="0"/>
              </a:rPr>
              <a:t>.a</a:t>
            </a:r>
            <a:r>
              <a:rPr lang="fr-FR" sz="1400" dirty="0">
                <a:solidFill>
                  <a:srgbClr val="000000"/>
                </a:solidFill>
                <a:highlight>
                  <a:srgbClr val="FFFFFF"/>
                </a:highlight>
                <a:latin typeface="Cascadia Mono" panose="020B0609020000020004" pitchFamily="49" charset="0"/>
              </a:rPr>
              <a:t> </a:t>
            </a:r>
            <a:r>
              <a:rPr lang="fr-FR" sz="1400" dirty="0">
                <a:solidFill>
                  <a:srgbClr val="008080"/>
                </a:solidFill>
                <a:highlight>
                  <a:srgbClr val="FFFFFF"/>
                </a:highlight>
                <a:latin typeface="Cascadia Mono" panose="020B0609020000020004" pitchFamily="49" charset="0"/>
              </a:rPr>
              <a:t>&lt;&lt;</a:t>
            </a:r>
            <a:r>
              <a:rPr lang="fr-FR" sz="1400" dirty="0">
                <a:solidFill>
                  <a:srgbClr val="000000"/>
                </a:solidFill>
                <a:highlight>
                  <a:srgbClr val="FFFFFF"/>
                </a:highlight>
                <a:latin typeface="Cascadia Mono" panose="020B0609020000020004" pitchFamily="49" charset="0"/>
              </a:rPr>
              <a:t> </a:t>
            </a:r>
            <a:r>
              <a:rPr lang="fr-FR" sz="1400" dirty="0">
                <a:solidFill>
                  <a:srgbClr val="A31515"/>
                </a:solidFill>
                <a:highlight>
                  <a:srgbClr val="FFFFFF"/>
                </a:highlight>
                <a:latin typeface="Cascadia Mono" panose="020B0609020000020004" pitchFamily="49" charset="0"/>
              </a:rPr>
              <a:t>" "</a:t>
            </a:r>
            <a:r>
              <a:rPr lang="fr-FR" sz="1400" dirty="0">
                <a:solidFill>
                  <a:srgbClr val="000000"/>
                </a:solidFill>
                <a:highlight>
                  <a:srgbClr val="FFFFFF"/>
                </a:highlight>
                <a:latin typeface="Cascadia Mono" panose="020B0609020000020004" pitchFamily="49" charset="0"/>
              </a:rPr>
              <a:t> </a:t>
            </a:r>
            <a:r>
              <a:rPr lang="fr-FR" sz="1400" dirty="0">
                <a:solidFill>
                  <a:srgbClr val="008080"/>
                </a:solidFill>
                <a:highlight>
                  <a:srgbClr val="FFFFFF"/>
                </a:highlight>
                <a:latin typeface="Cascadia Mono" panose="020B0609020000020004" pitchFamily="49" charset="0"/>
              </a:rPr>
              <a:t>&lt;&lt;</a:t>
            </a:r>
            <a:r>
              <a:rPr lang="fr-FR" sz="1400" dirty="0">
                <a:solidFill>
                  <a:srgbClr val="000000"/>
                </a:solidFill>
                <a:highlight>
                  <a:srgbClr val="FFFFFF"/>
                </a:highlight>
                <a:latin typeface="Cascadia Mono" panose="020B0609020000020004" pitchFamily="49" charset="0"/>
              </a:rPr>
              <a:t> </a:t>
            </a:r>
            <a:r>
              <a:rPr lang="fr-FR" sz="1400" dirty="0">
                <a:solidFill>
                  <a:srgbClr val="808080"/>
                </a:solidFill>
                <a:highlight>
                  <a:srgbClr val="FFFFFF"/>
                </a:highlight>
                <a:latin typeface="Cascadia Mono" panose="020B0609020000020004" pitchFamily="49" charset="0"/>
              </a:rPr>
              <a:t>parm</a:t>
            </a:r>
            <a:r>
              <a:rPr lang="fr-FR" sz="1400" dirty="0">
                <a:solidFill>
                  <a:srgbClr val="000000"/>
                </a:solidFill>
                <a:highlight>
                  <a:srgbClr val="FFFFFF"/>
                </a:highlight>
                <a:latin typeface="Cascadia Mono" panose="020B0609020000020004" pitchFamily="49" charset="0"/>
              </a:rPr>
              <a:t>.ch </a:t>
            </a:r>
            <a:r>
              <a:rPr lang="fr-FR" sz="1400" dirty="0">
                <a:solidFill>
                  <a:srgbClr val="008080"/>
                </a:solidFill>
                <a:highlight>
                  <a:srgbClr val="FFFFFF"/>
                </a:highlight>
                <a:latin typeface="Cascadia Mono" panose="020B0609020000020004" pitchFamily="49" charset="0"/>
              </a:rPr>
              <a:t>&lt;&lt;</a:t>
            </a:r>
            <a:r>
              <a:rPr lang="fr-FR" sz="1400" dirty="0">
                <a:solidFill>
                  <a:srgbClr val="000000"/>
                </a:solidFill>
                <a:highlight>
                  <a:srgbClr val="FFFFFF"/>
                </a:highlight>
                <a:latin typeface="Cascadia Mono" panose="020B0609020000020004" pitchFamily="49" charset="0"/>
              </a:rPr>
              <a:t> </a:t>
            </a:r>
            <a:r>
              <a:rPr lang="fr-FR" sz="1400" dirty="0">
                <a:solidFill>
                  <a:srgbClr val="A31515"/>
                </a:solidFill>
                <a:highlight>
                  <a:srgbClr val="FFFFFF"/>
                </a:highlight>
                <a:latin typeface="Cascadia Mono" panose="020B0609020000020004" pitchFamily="49" charset="0"/>
              </a:rPr>
              <a:t>"\n"</a:t>
            </a:r>
            <a:r>
              <a:rPr lang="fr-FR" sz="1400" dirty="0">
                <a:solidFill>
                  <a:srgbClr val="000000"/>
                </a:solidFill>
                <a:highlight>
                  <a:srgbClr val="FFFFFF"/>
                </a:highlight>
                <a:latin typeface="Cascadia Mono" panose="020B0609020000020004" pitchFamily="49" charset="0"/>
              </a:rPr>
              <a:t>;</a:t>
            </a:r>
          </a:p>
          <a:p>
            <a:r>
              <a:rPr lang="ru-RU" sz="1400" dirty="0">
                <a:solidFill>
                  <a:srgbClr val="000000"/>
                </a:solidFill>
                <a:highlight>
                  <a:srgbClr val="FFFFFF"/>
                </a:highlight>
                <a:latin typeface="Cascadia Mono" panose="020B0609020000020004" pitchFamily="49" charset="0"/>
              </a:rPr>
              <a:t>}</a:t>
            </a:r>
            <a:endParaRPr lang="ru-RU" sz="1400" dirty="0"/>
          </a:p>
        </p:txBody>
      </p:sp>
    </p:spTree>
    <p:extLst>
      <p:ext uri="{BB962C8B-B14F-4D97-AF65-F5344CB8AC3E}">
        <p14:creationId xmlns:p14="http://schemas.microsoft.com/office/powerpoint/2010/main" val="2095855437"/>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0F37B1-13FA-F033-7839-60AC3133D1BA}"/>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022E223F-961E-DB86-0731-FC6BD1D13AB0}"/>
              </a:ext>
            </a:extLst>
          </p:cNvPr>
          <p:cNvSpPr>
            <a:spLocks noGrp="1"/>
          </p:cNvSpPr>
          <p:nvPr>
            <p:ph idx="1"/>
          </p:nvPr>
        </p:nvSpPr>
        <p:spPr/>
        <p:txBody>
          <a:bodyPr/>
          <a:lstStyle/>
          <a:p>
            <a:r>
              <a:rPr lang="ru-RU" dirty="0"/>
              <a:t>Возврат структуры из функции</a:t>
            </a:r>
          </a:p>
          <a:p>
            <a:endParaRPr lang="ru-RU" dirty="0"/>
          </a:p>
          <a:p>
            <a:r>
              <a:rPr lang="de-CH" sz="1600" dirty="0" err="1">
                <a:solidFill>
                  <a:srgbClr val="0000FF"/>
                </a:solidFill>
                <a:highlight>
                  <a:srgbClr val="FFFFFF"/>
                </a:highlight>
                <a:latin typeface="Cascadia Mono" panose="020B0609020000020004" pitchFamily="49" charset="0"/>
              </a:rPr>
              <a:t>struct</a:t>
            </a:r>
            <a:r>
              <a:rPr lang="de-CH" sz="1600" dirty="0">
                <a:solidFill>
                  <a:srgbClr val="000000"/>
                </a:solidFill>
                <a:highlight>
                  <a:srgbClr val="FFFFFF"/>
                </a:highlight>
                <a:latin typeface="Cascadia Mono" panose="020B0609020000020004" pitchFamily="49" charset="0"/>
              </a:rPr>
              <a:t> </a:t>
            </a:r>
            <a:r>
              <a:rPr lang="de-CH" sz="1600" dirty="0" err="1">
                <a:solidFill>
                  <a:srgbClr val="2B91AF"/>
                </a:solidFill>
                <a:highlight>
                  <a:srgbClr val="FFFFFF"/>
                </a:highlight>
                <a:latin typeface="Cascadia Mono" panose="020B0609020000020004" pitchFamily="49" charset="0"/>
              </a:rPr>
              <a:t>stype</a:t>
            </a:r>
            <a:endParaRPr lang="de-CH" sz="1600" dirty="0">
              <a:solidFill>
                <a:srgbClr val="000000"/>
              </a:solidFill>
              <a:highlight>
                <a:srgbClr val="FFFFFF"/>
              </a:highlight>
              <a:latin typeface="Cascadia Mono" panose="020B0609020000020004" pitchFamily="49" charset="0"/>
            </a:endParaRPr>
          </a:p>
          <a:p>
            <a:r>
              <a:rPr lang="ru-RU" sz="1600" dirty="0">
                <a:solidFill>
                  <a:srgbClr val="000000"/>
                </a:solidFill>
                <a:highlight>
                  <a:srgbClr val="FFFFFF"/>
                </a:highlight>
                <a:latin typeface="Cascadia Mono" panose="020B0609020000020004" pitchFamily="49" charset="0"/>
              </a:rPr>
              <a:t>{</a:t>
            </a: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 b;</a:t>
            </a:r>
          </a:p>
          <a:p>
            <a:r>
              <a:rPr lang="ru-RU" sz="1600" dirty="0">
                <a:solidFill>
                  <a:srgbClr val="000000"/>
                </a:solidFill>
                <a:highlight>
                  <a:srgbClr val="FFFFFF"/>
                </a:highlight>
                <a:latin typeface="Cascadia Mono" panose="020B0609020000020004" pitchFamily="49" charset="0"/>
              </a:rPr>
              <a:t>};</a:t>
            </a:r>
          </a:p>
          <a:p>
            <a:r>
              <a:rPr lang="de-CH" sz="1600" dirty="0" err="1">
                <a:solidFill>
                  <a:srgbClr val="2B91AF"/>
                </a:solidFill>
                <a:highlight>
                  <a:srgbClr val="FFFFFF"/>
                </a:highlight>
                <a:latin typeface="Cascadia Mono" panose="020B0609020000020004" pitchFamily="49" charset="0"/>
              </a:rPr>
              <a:t>stype</a:t>
            </a:r>
            <a:r>
              <a:rPr lang="de-CH" sz="1600" dirty="0">
                <a:solidFill>
                  <a:srgbClr val="000000"/>
                </a:solidFill>
                <a:highlight>
                  <a:srgbClr val="FFFFFF"/>
                </a:highlight>
                <a:latin typeface="Cascadia Mono" panose="020B0609020000020004" pitchFamily="49" charset="0"/>
              </a:rPr>
              <a:t> F()</a:t>
            </a:r>
          </a:p>
          <a:p>
            <a:r>
              <a:rPr lang="ru-RU" sz="1600" dirty="0">
                <a:solidFill>
                  <a:srgbClr val="000000"/>
                </a:solidFill>
                <a:highlight>
                  <a:srgbClr val="FFFFFF"/>
                </a:highlight>
                <a:latin typeface="Cascadia Mono" panose="020B0609020000020004" pitchFamily="49" charset="0"/>
              </a:rPr>
              <a:t>{</a:t>
            </a:r>
          </a:p>
          <a:p>
            <a:r>
              <a:rPr lang="de-CH" sz="1600" dirty="0" err="1">
                <a:solidFill>
                  <a:srgbClr val="2B91AF"/>
                </a:solidFill>
                <a:highlight>
                  <a:srgbClr val="FFFFFF"/>
                </a:highlight>
                <a:latin typeface="Cascadia Mono" panose="020B0609020000020004" pitchFamily="49" charset="0"/>
              </a:rPr>
              <a:t>stype</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svar</a:t>
            </a:r>
            <a:r>
              <a:rPr lang="de-CH" sz="1600" dirty="0">
                <a:solidFill>
                  <a:srgbClr val="000000"/>
                </a:solidFill>
                <a:highlight>
                  <a:srgbClr val="FFFFFF"/>
                </a:highlight>
                <a:latin typeface="Cascadia Mono" panose="020B0609020000020004" pitchFamily="49" charset="0"/>
              </a:rPr>
              <a:t>{ 3,4 };</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err="1">
                <a:solidFill>
                  <a:srgbClr val="000000"/>
                </a:solidFill>
                <a:highlight>
                  <a:srgbClr val="FFFFFF"/>
                </a:highlight>
                <a:latin typeface="Cascadia Mono" panose="020B0609020000020004" pitchFamily="49" charset="0"/>
              </a:rPr>
              <a:t>setlocale</a:t>
            </a:r>
            <a:r>
              <a:rPr lang="de-CH" sz="1600" dirty="0">
                <a:solidFill>
                  <a:srgbClr val="000000"/>
                </a:solidFill>
                <a:highlight>
                  <a:srgbClr val="FFFFFF"/>
                </a:highlight>
                <a:latin typeface="Cascadia Mono" panose="020B0609020000020004" pitchFamily="49" charset="0"/>
              </a:rPr>
              <a:t>(</a:t>
            </a:r>
            <a:r>
              <a:rPr lang="de-CH" sz="1600" dirty="0">
                <a:solidFill>
                  <a:srgbClr val="6F008A"/>
                </a:solidFill>
                <a:highlight>
                  <a:srgbClr val="FFFFFF"/>
                </a:highlight>
                <a:latin typeface="Cascadia Mono" panose="020B0609020000020004" pitchFamily="49" charset="0"/>
              </a:rPr>
              <a:t>LC_ALL</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err="1">
                <a:solidFill>
                  <a:srgbClr val="2B91AF"/>
                </a:solidFill>
                <a:highlight>
                  <a:srgbClr val="FFFFFF"/>
                </a:highlight>
                <a:latin typeface="Cascadia Mono" panose="020B0609020000020004" pitchFamily="49" charset="0"/>
              </a:rPr>
              <a:t>stype</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svar</a:t>
            </a:r>
            <a:r>
              <a:rPr lang="de-CH" sz="1600" dirty="0">
                <a:solidFill>
                  <a:srgbClr val="000000"/>
                </a:solidFill>
                <a:highlight>
                  <a:srgbClr val="FFFFFF"/>
                </a:highlight>
                <a:latin typeface="Cascadia Mono" panose="020B0609020000020004" pitchFamily="49" charset="0"/>
              </a:rPr>
              <a:t> F();</a:t>
            </a:r>
          </a:p>
          <a:p>
            <a:r>
              <a:rPr lang="de-CH" sz="1600" dirty="0" err="1">
                <a:solidFill>
                  <a:srgbClr val="000000"/>
                </a:solidFill>
                <a:highlight>
                  <a:srgbClr val="FFFFFF"/>
                </a:highlight>
                <a:latin typeface="Cascadia Mono" panose="020B0609020000020004" pitchFamily="49" charset="0"/>
              </a:rPr>
              <a:t>cout</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A31515"/>
                </a:solidFill>
                <a:highlight>
                  <a:srgbClr val="FFFFFF"/>
                </a:highlight>
                <a:latin typeface="Cascadia Mono" panose="020B0609020000020004" pitchFamily="49" charset="0"/>
              </a:rPr>
              <a:t>"a = "</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svar.a</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 b = "</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svar.b</a:t>
            </a:r>
            <a:r>
              <a:rPr lang="de-CH" sz="1600" dirty="0">
                <a:solidFill>
                  <a:srgbClr val="000000"/>
                </a:solidFill>
                <a:highlight>
                  <a:srgbClr val="FFFFFF"/>
                </a:highlight>
                <a:latin typeface="Cascadia Mono" panose="020B0609020000020004" pitchFamily="49" charset="0"/>
              </a:rPr>
              <a:t>;</a:t>
            </a:r>
          </a:p>
          <a:p>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3389991562"/>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1E5867-44BF-9E80-C77A-80134B56666E}"/>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7BE21246-3A33-3600-BD8A-A95A2605ABEA}"/>
              </a:ext>
            </a:extLst>
          </p:cNvPr>
          <p:cNvSpPr>
            <a:spLocks noGrp="1"/>
          </p:cNvSpPr>
          <p:nvPr>
            <p:ph idx="1"/>
          </p:nvPr>
        </p:nvSpPr>
        <p:spPr/>
        <p:txBody>
          <a:bodyPr/>
          <a:lstStyle/>
          <a:p>
            <a:r>
              <a:rPr lang="ru-RU" dirty="0"/>
              <a:t>Содержимое одной структуры можно присвоить другой, если обе эти структуры имеют одинаковый тип.</a:t>
            </a:r>
            <a:endParaRPr lang="en-US" dirty="0"/>
          </a:p>
          <a:p>
            <a:r>
              <a:rPr lang="de-CH" sz="1200" dirty="0" err="1">
                <a:solidFill>
                  <a:srgbClr val="0000FF"/>
                </a:solidFill>
                <a:highlight>
                  <a:srgbClr val="FFFFFF"/>
                </a:highlight>
                <a:latin typeface="Cascadia Mono" panose="020B0609020000020004" pitchFamily="49" charset="0"/>
              </a:rPr>
              <a:t>struct</a:t>
            </a:r>
            <a:r>
              <a:rPr lang="de-CH" sz="1200" dirty="0">
                <a:solidFill>
                  <a:srgbClr val="000000"/>
                </a:solidFill>
                <a:highlight>
                  <a:srgbClr val="FFFFFF"/>
                </a:highlight>
                <a:latin typeface="Cascadia Mono" panose="020B0609020000020004" pitchFamily="49" charset="0"/>
              </a:rPr>
              <a:t> </a:t>
            </a:r>
            <a:r>
              <a:rPr lang="de-CH" sz="1200" dirty="0" err="1">
                <a:solidFill>
                  <a:srgbClr val="2B91AF"/>
                </a:solidFill>
                <a:highlight>
                  <a:srgbClr val="FFFFFF"/>
                </a:highlight>
                <a:latin typeface="Cascadia Mono" panose="020B0609020000020004" pitchFamily="49" charset="0"/>
              </a:rPr>
              <a:t>stype</a:t>
            </a:r>
            <a:endParaRPr lang="de-CH" sz="1200" dirty="0">
              <a:solidFill>
                <a:srgbClr val="000000"/>
              </a:solidFill>
              <a:highlight>
                <a:srgbClr val="FFFFFF"/>
              </a:highlight>
              <a:latin typeface="Cascadia Mono" panose="020B0609020000020004" pitchFamily="49" charset="0"/>
            </a:endParaRP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 b;</a:t>
            </a:r>
          </a:p>
          <a:p>
            <a:r>
              <a:rPr lang="ru-RU" sz="1200" dirty="0">
                <a:solidFill>
                  <a:srgbClr val="000000"/>
                </a:solidFill>
                <a:highlight>
                  <a:srgbClr val="FFFFFF"/>
                </a:highlight>
                <a:latin typeface="Cascadia Mono" panose="020B0609020000020004" pitchFamily="49" charset="0"/>
              </a:rPr>
              <a:t>};</a:t>
            </a:r>
          </a:p>
          <a:p>
            <a:r>
              <a:rPr lang="de-CH" sz="1200" dirty="0">
                <a:solidFill>
                  <a:srgbClr val="0000FF"/>
                </a:solidFill>
                <a:highlight>
                  <a:srgbClr val="FFFFFF"/>
                </a:highlight>
                <a:latin typeface="Cascadia Mono" panose="020B0609020000020004" pitchFamily="49" charset="0"/>
              </a:rPr>
              <a:t>int</a:t>
            </a:r>
            <a:r>
              <a:rPr lang="de-CH" sz="1200" dirty="0">
                <a:solidFill>
                  <a:srgbClr val="000000"/>
                </a:solidFill>
                <a:highlight>
                  <a:srgbClr val="FFFFFF"/>
                </a:highlight>
                <a:latin typeface="Cascadia Mono" panose="020B0609020000020004" pitchFamily="49" charset="0"/>
              </a:rPr>
              <a:t> </a:t>
            </a:r>
            <a:r>
              <a:rPr lang="de-CH" sz="1200" dirty="0" err="1">
                <a:solidFill>
                  <a:srgbClr val="000000"/>
                </a:solidFill>
                <a:highlight>
                  <a:srgbClr val="FFFFFF"/>
                </a:highlight>
                <a:latin typeface="Cascadia Mono" panose="020B0609020000020004" pitchFamily="49" charset="0"/>
              </a:rPr>
              <a:t>main</a:t>
            </a:r>
            <a:r>
              <a:rPr lang="de-CH" sz="1200" dirty="0">
                <a:solidFill>
                  <a:srgbClr val="000000"/>
                </a:solidFill>
                <a:highlight>
                  <a:srgbClr val="FFFFFF"/>
                </a:highlight>
                <a:latin typeface="Cascadia Mono" panose="020B0609020000020004" pitchFamily="49" charset="0"/>
              </a:rPr>
              <a:t>()</a:t>
            </a:r>
          </a:p>
          <a:p>
            <a:r>
              <a:rPr lang="ru-RU" sz="1200" dirty="0">
                <a:solidFill>
                  <a:srgbClr val="000000"/>
                </a:solidFill>
                <a:highlight>
                  <a:srgbClr val="FFFFFF"/>
                </a:highlight>
                <a:latin typeface="Cascadia Mono" panose="020B0609020000020004" pitchFamily="49" charset="0"/>
              </a:rPr>
              <a:t>{</a:t>
            </a:r>
          </a:p>
          <a:p>
            <a:r>
              <a:rPr lang="de-CH" sz="1200" dirty="0" err="1">
                <a:solidFill>
                  <a:srgbClr val="000000"/>
                </a:solidFill>
                <a:highlight>
                  <a:srgbClr val="FFFFFF"/>
                </a:highlight>
                <a:latin typeface="Cascadia Mono" panose="020B0609020000020004" pitchFamily="49" charset="0"/>
              </a:rPr>
              <a:t>setlocale</a:t>
            </a:r>
            <a:r>
              <a:rPr lang="de-CH" sz="1200" dirty="0">
                <a:solidFill>
                  <a:srgbClr val="000000"/>
                </a:solidFill>
                <a:highlight>
                  <a:srgbClr val="FFFFFF"/>
                </a:highlight>
                <a:latin typeface="Cascadia Mono" panose="020B0609020000020004" pitchFamily="49" charset="0"/>
              </a:rPr>
              <a:t>(</a:t>
            </a:r>
            <a:r>
              <a:rPr lang="de-CH" sz="1200" dirty="0">
                <a:solidFill>
                  <a:srgbClr val="6F008A"/>
                </a:solidFill>
                <a:highlight>
                  <a:srgbClr val="FFFFFF"/>
                </a:highlight>
                <a:latin typeface="Cascadia Mono" panose="020B0609020000020004" pitchFamily="49" charset="0"/>
              </a:rPr>
              <a:t>LC_ALL</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a:t>
            </a:r>
            <a:r>
              <a:rPr lang="de-CH" sz="1200" dirty="0">
                <a:solidFill>
                  <a:srgbClr val="000000"/>
                </a:solidFill>
                <a:highlight>
                  <a:srgbClr val="FFFFFF"/>
                </a:highlight>
                <a:latin typeface="Cascadia Mono" panose="020B0609020000020004" pitchFamily="49" charset="0"/>
              </a:rPr>
              <a:t>);</a:t>
            </a:r>
          </a:p>
          <a:p>
            <a:r>
              <a:rPr lang="de-CH" sz="1200" dirty="0" err="1">
                <a:solidFill>
                  <a:srgbClr val="2B91AF"/>
                </a:solidFill>
                <a:highlight>
                  <a:srgbClr val="FFFFFF"/>
                </a:highlight>
                <a:latin typeface="Cascadia Mono" panose="020B0609020000020004" pitchFamily="49" charset="0"/>
              </a:rPr>
              <a:t>stype</a:t>
            </a:r>
            <a:r>
              <a:rPr lang="de-CH" sz="1200" dirty="0">
                <a:solidFill>
                  <a:srgbClr val="000000"/>
                </a:solidFill>
                <a:highlight>
                  <a:srgbClr val="FFFFFF"/>
                </a:highlight>
                <a:latin typeface="Cascadia Mono" panose="020B0609020000020004" pitchFamily="49" charset="0"/>
              </a:rPr>
              <a:t> svar1, svar2;</a:t>
            </a:r>
          </a:p>
          <a:p>
            <a:r>
              <a:rPr lang="sv-SE" sz="1200" dirty="0">
                <a:solidFill>
                  <a:srgbClr val="000000"/>
                </a:solidFill>
                <a:highlight>
                  <a:srgbClr val="FFFFFF"/>
                </a:highlight>
                <a:latin typeface="Cascadia Mono" panose="020B0609020000020004" pitchFamily="49" charset="0"/>
              </a:rPr>
              <a:t>svar1.a = svar1.b = 10;</a:t>
            </a:r>
          </a:p>
          <a:p>
            <a:r>
              <a:rPr lang="sv-SE" sz="1200" dirty="0">
                <a:solidFill>
                  <a:srgbClr val="000000"/>
                </a:solidFill>
                <a:highlight>
                  <a:srgbClr val="FFFFFF"/>
                </a:highlight>
                <a:latin typeface="Cascadia Mono" panose="020B0609020000020004" pitchFamily="49" charset="0"/>
              </a:rPr>
              <a:t>svar2.a = svar2.b = 20;</a:t>
            </a:r>
          </a:p>
          <a:p>
            <a:r>
              <a:rPr lang="ru-RU" sz="1200" dirty="0" err="1">
                <a:solidFill>
                  <a:srgbClr val="000000"/>
                </a:solidFill>
                <a:highlight>
                  <a:srgbClr val="FFFFFF"/>
                </a:highlight>
                <a:latin typeface="Cascadia Mono" panose="020B0609020000020004" pitchFamily="49" charset="0"/>
              </a:rPr>
              <a:t>cout</a:t>
            </a:r>
            <a:r>
              <a:rPr lang="ru-RU" sz="1200" dirty="0">
                <a:solidFill>
                  <a:srgbClr val="000000"/>
                </a:solidFill>
                <a:highlight>
                  <a:srgbClr val="FFFFFF"/>
                </a:highlight>
                <a:latin typeface="Cascadia Mono" panose="020B0609020000020004" pitchFamily="49" charset="0"/>
              </a:rPr>
              <a:t> </a:t>
            </a:r>
            <a:r>
              <a:rPr lang="ru-RU" sz="1200" dirty="0">
                <a:solidFill>
                  <a:srgbClr val="008080"/>
                </a:solidFill>
                <a:highlight>
                  <a:srgbClr val="FFFFFF"/>
                </a:highlight>
                <a:latin typeface="Cascadia Mono" panose="020B0609020000020004" pitchFamily="49" charset="0"/>
              </a:rPr>
              <a:t>&lt;&lt;</a:t>
            </a:r>
            <a:r>
              <a:rPr lang="ru-RU" sz="1200" dirty="0">
                <a:solidFill>
                  <a:srgbClr val="000000"/>
                </a:solidFill>
                <a:highlight>
                  <a:srgbClr val="FFFFFF"/>
                </a:highlight>
                <a:latin typeface="Cascadia Mono" panose="020B0609020000020004" pitchFamily="49" charset="0"/>
              </a:rPr>
              <a:t> </a:t>
            </a:r>
            <a:r>
              <a:rPr lang="ru-RU" sz="1200" dirty="0">
                <a:solidFill>
                  <a:srgbClr val="A31515"/>
                </a:solidFill>
                <a:highlight>
                  <a:srgbClr val="FFFFFF"/>
                </a:highlight>
                <a:latin typeface="Cascadia Mono" panose="020B0609020000020004" pitchFamily="49" charset="0"/>
              </a:rPr>
              <a:t>"Структуры до присваивания.\n"</a:t>
            </a:r>
            <a:r>
              <a:rPr lang="ru-RU" sz="1200" dirty="0">
                <a:solidFill>
                  <a:srgbClr val="000000"/>
                </a:solidFill>
                <a:highlight>
                  <a:srgbClr val="FFFFFF"/>
                </a:highlight>
                <a:latin typeface="Cascadia Mono" panose="020B0609020000020004" pitchFamily="49" charset="0"/>
              </a:rPr>
              <a:t>;</a:t>
            </a:r>
          </a:p>
          <a:p>
            <a:r>
              <a:rPr lang="sv-SE" sz="1200" dirty="0">
                <a:solidFill>
                  <a:srgbClr val="000000"/>
                </a:solidFill>
                <a:highlight>
                  <a:srgbClr val="FFFFFF"/>
                </a:highlight>
                <a:latin typeface="Cascadia Mono" panose="020B0609020000020004" pitchFamily="49" charset="0"/>
              </a:rPr>
              <a:t>cout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a:t>
            </a:r>
            <a:r>
              <a:rPr lang="sv-SE" sz="1200" dirty="0">
                <a:solidFill>
                  <a:srgbClr val="A31515"/>
                </a:solidFill>
                <a:highlight>
                  <a:srgbClr val="FFFFFF"/>
                </a:highlight>
                <a:latin typeface="Cascadia Mono" panose="020B0609020000020004" pitchFamily="49" charset="0"/>
              </a:rPr>
              <a:t>"svar1: "</a:t>
            </a:r>
            <a:r>
              <a:rPr lang="sv-SE" sz="1200" dirty="0">
                <a:solidFill>
                  <a:srgbClr val="000000"/>
                </a:solidFill>
                <a:highlight>
                  <a:srgbClr val="FFFFFF"/>
                </a:highlight>
                <a:latin typeface="Cascadia Mono" panose="020B0609020000020004" pitchFamily="49" charset="0"/>
              </a:rPr>
              <a: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svar1.a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a:t>
            </a:r>
            <a:r>
              <a:rPr lang="sv-SE" sz="1200" dirty="0">
                <a:solidFill>
                  <a:srgbClr val="A31515"/>
                </a:solidFill>
                <a:highlight>
                  <a:srgbClr val="FFFFFF"/>
                </a:highlight>
                <a:latin typeface="Cascadia Mono" panose="020B0609020000020004" pitchFamily="49" charset="0"/>
              </a:rPr>
              <a:t>' '</a:t>
            </a:r>
            <a:r>
              <a:rPr lang="sv-SE" sz="1200" dirty="0">
                <a:solidFill>
                  <a:srgbClr val="000000"/>
                </a:solidFill>
                <a:highlight>
                  <a:srgbClr val="FFFFFF"/>
                </a:highlight>
                <a:latin typeface="Cascadia Mono" panose="020B0609020000020004" pitchFamily="49" charset="0"/>
              </a:rPr>
              <a: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svar1.b;</a:t>
            </a:r>
          </a:p>
          <a:p>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'\n'</a:t>
            </a:r>
            <a:r>
              <a:rPr lang="de-CH" sz="1200" dirty="0">
                <a:solidFill>
                  <a:srgbClr val="000000"/>
                </a:solidFill>
                <a:highlight>
                  <a:srgbClr val="FFFFFF"/>
                </a:highlight>
                <a:latin typeface="Cascadia Mono" panose="020B0609020000020004" pitchFamily="49" charset="0"/>
              </a:rPr>
              <a:t>;</a:t>
            </a:r>
          </a:p>
          <a:p>
            <a:r>
              <a:rPr lang="sv-SE" sz="1200" dirty="0">
                <a:solidFill>
                  <a:srgbClr val="000000"/>
                </a:solidFill>
                <a:highlight>
                  <a:srgbClr val="FFFFFF"/>
                </a:highlight>
                <a:latin typeface="Cascadia Mono" panose="020B0609020000020004" pitchFamily="49" charset="0"/>
              </a:rPr>
              <a:t>cout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a:t>
            </a:r>
            <a:r>
              <a:rPr lang="sv-SE" sz="1200" dirty="0">
                <a:solidFill>
                  <a:srgbClr val="A31515"/>
                </a:solidFill>
                <a:highlight>
                  <a:srgbClr val="FFFFFF"/>
                </a:highlight>
                <a:latin typeface="Cascadia Mono" panose="020B0609020000020004" pitchFamily="49" charset="0"/>
              </a:rPr>
              <a:t>"svar2: "</a:t>
            </a:r>
            <a:r>
              <a:rPr lang="sv-SE" sz="1200" dirty="0">
                <a:solidFill>
                  <a:srgbClr val="000000"/>
                </a:solidFill>
                <a:highlight>
                  <a:srgbClr val="FFFFFF"/>
                </a:highlight>
                <a:latin typeface="Cascadia Mono" panose="020B0609020000020004" pitchFamily="49" charset="0"/>
              </a:rPr>
              <a: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svar2.a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a:t>
            </a:r>
            <a:r>
              <a:rPr lang="sv-SE" sz="1200" dirty="0">
                <a:solidFill>
                  <a:srgbClr val="A31515"/>
                </a:solidFill>
                <a:highlight>
                  <a:srgbClr val="FFFFFF"/>
                </a:highlight>
                <a:latin typeface="Cascadia Mono" panose="020B0609020000020004" pitchFamily="49" charset="0"/>
              </a:rPr>
              <a:t>' '</a:t>
            </a:r>
            <a:r>
              <a:rPr lang="sv-SE" sz="1200" dirty="0">
                <a:solidFill>
                  <a:srgbClr val="000000"/>
                </a:solidFill>
                <a:highlight>
                  <a:srgbClr val="FFFFFF"/>
                </a:highlight>
                <a:latin typeface="Cascadia Mono" panose="020B0609020000020004" pitchFamily="49" charset="0"/>
              </a:rPr>
              <a: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svar2.b;</a:t>
            </a:r>
          </a:p>
          <a:p>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"\n\n"</a:t>
            </a:r>
            <a:r>
              <a:rPr lang="de-CH" sz="1200" dirty="0">
                <a:solidFill>
                  <a:srgbClr val="000000"/>
                </a:solidFill>
                <a:highlight>
                  <a:srgbClr val="FFFFFF"/>
                </a:highlight>
                <a:latin typeface="Cascadia Mono" panose="020B0609020000020004" pitchFamily="49" charset="0"/>
              </a:rPr>
              <a:t>;</a:t>
            </a:r>
          </a:p>
          <a:p>
            <a:r>
              <a:rPr lang="de-CH" sz="1200" dirty="0">
                <a:solidFill>
                  <a:srgbClr val="000000"/>
                </a:solidFill>
                <a:highlight>
                  <a:srgbClr val="FFFFFF"/>
                </a:highlight>
                <a:latin typeface="Cascadia Mono" panose="020B0609020000020004" pitchFamily="49" charset="0"/>
              </a:rPr>
              <a:t>svar2 </a:t>
            </a:r>
            <a:r>
              <a:rPr lang="de-CH" sz="1200" dirty="0">
                <a:solidFill>
                  <a:srgbClr val="008080"/>
                </a:solidFill>
                <a:highlight>
                  <a:srgbClr val="FFFFFF"/>
                </a:highlight>
                <a:latin typeface="Cascadia Mono" panose="020B0609020000020004" pitchFamily="49" charset="0"/>
              </a:rPr>
              <a:t>=</a:t>
            </a:r>
            <a:r>
              <a:rPr lang="de-CH" sz="1200" dirty="0">
                <a:solidFill>
                  <a:srgbClr val="000000"/>
                </a:solidFill>
                <a:highlight>
                  <a:srgbClr val="FFFFFF"/>
                </a:highlight>
                <a:latin typeface="Cascadia Mono" panose="020B0609020000020004" pitchFamily="49" charset="0"/>
              </a:rPr>
              <a:t> svar1; </a:t>
            </a:r>
            <a:r>
              <a:rPr lang="de-CH" sz="1200" dirty="0">
                <a:solidFill>
                  <a:srgbClr val="008000"/>
                </a:solidFill>
                <a:highlight>
                  <a:srgbClr val="FFFFFF"/>
                </a:highlight>
                <a:latin typeface="Cascadia Mono" panose="020B0609020000020004" pitchFamily="49" charset="0"/>
              </a:rPr>
              <a:t>// </a:t>
            </a:r>
            <a:r>
              <a:rPr lang="ru-RU" sz="1200" dirty="0">
                <a:solidFill>
                  <a:srgbClr val="008000"/>
                </a:solidFill>
                <a:highlight>
                  <a:srgbClr val="FFFFFF"/>
                </a:highlight>
                <a:latin typeface="Cascadia Mono" panose="020B0609020000020004" pitchFamily="49" charset="0"/>
              </a:rPr>
              <a:t>присваивание структур</a:t>
            </a:r>
            <a:endParaRPr lang="ru-RU" sz="1200" dirty="0">
              <a:solidFill>
                <a:srgbClr val="000000"/>
              </a:solidFill>
              <a:highlight>
                <a:srgbClr val="FFFFFF"/>
              </a:highlight>
              <a:latin typeface="Cascadia Mono" panose="020B0609020000020004" pitchFamily="49" charset="0"/>
            </a:endParaRPr>
          </a:p>
          <a:p>
            <a:r>
              <a:rPr lang="ru-RU" sz="1200" dirty="0" err="1">
                <a:solidFill>
                  <a:srgbClr val="000000"/>
                </a:solidFill>
                <a:highlight>
                  <a:srgbClr val="FFFFFF"/>
                </a:highlight>
                <a:latin typeface="Cascadia Mono" panose="020B0609020000020004" pitchFamily="49" charset="0"/>
              </a:rPr>
              <a:t>cout</a:t>
            </a:r>
            <a:r>
              <a:rPr lang="ru-RU" sz="1200" dirty="0">
                <a:solidFill>
                  <a:srgbClr val="000000"/>
                </a:solidFill>
                <a:highlight>
                  <a:srgbClr val="FFFFFF"/>
                </a:highlight>
                <a:latin typeface="Cascadia Mono" panose="020B0609020000020004" pitchFamily="49" charset="0"/>
              </a:rPr>
              <a:t> </a:t>
            </a:r>
            <a:r>
              <a:rPr lang="ru-RU" sz="1200" dirty="0">
                <a:solidFill>
                  <a:srgbClr val="008080"/>
                </a:solidFill>
                <a:highlight>
                  <a:srgbClr val="FFFFFF"/>
                </a:highlight>
                <a:latin typeface="Cascadia Mono" panose="020B0609020000020004" pitchFamily="49" charset="0"/>
              </a:rPr>
              <a:t>&lt;&lt;</a:t>
            </a:r>
            <a:r>
              <a:rPr lang="ru-RU" sz="1200" dirty="0">
                <a:solidFill>
                  <a:srgbClr val="000000"/>
                </a:solidFill>
                <a:highlight>
                  <a:srgbClr val="FFFFFF"/>
                </a:highlight>
                <a:latin typeface="Cascadia Mono" panose="020B0609020000020004" pitchFamily="49" charset="0"/>
              </a:rPr>
              <a:t> </a:t>
            </a:r>
            <a:r>
              <a:rPr lang="ru-RU" sz="1200" dirty="0">
                <a:solidFill>
                  <a:srgbClr val="A31515"/>
                </a:solidFill>
                <a:highlight>
                  <a:srgbClr val="FFFFFF"/>
                </a:highlight>
                <a:latin typeface="Cascadia Mono" panose="020B0609020000020004" pitchFamily="49" charset="0"/>
              </a:rPr>
              <a:t>"Структуры после присваивания.\n"</a:t>
            </a:r>
            <a:r>
              <a:rPr lang="ru-RU" sz="1200" dirty="0">
                <a:solidFill>
                  <a:srgbClr val="000000"/>
                </a:solidFill>
                <a:highlight>
                  <a:srgbClr val="FFFFFF"/>
                </a:highlight>
                <a:latin typeface="Cascadia Mono" panose="020B0609020000020004" pitchFamily="49" charset="0"/>
              </a:rPr>
              <a:t>;</a:t>
            </a:r>
          </a:p>
          <a:p>
            <a:r>
              <a:rPr lang="sv-SE" sz="1200" dirty="0">
                <a:solidFill>
                  <a:srgbClr val="000000"/>
                </a:solidFill>
                <a:highlight>
                  <a:srgbClr val="FFFFFF"/>
                </a:highlight>
                <a:latin typeface="Cascadia Mono" panose="020B0609020000020004" pitchFamily="49" charset="0"/>
              </a:rPr>
              <a:t>cout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a:t>
            </a:r>
            <a:r>
              <a:rPr lang="sv-SE" sz="1200" dirty="0">
                <a:solidFill>
                  <a:srgbClr val="A31515"/>
                </a:solidFill>
                <a:highlight>
                  <a:srgbClr val="FFFFFF"/>
                </a:highlight>
                <a:latin typeface="Cascadia Mono" panose="020B0609020000020004" pitchFamily="49" charset="0"/>
              </a:rPr>
              <a:t>"svar1: "</a:t>
            </a:r>
            <a:r>
              <a:rPr lang="sv-SE" sz="1200" dirty="0">
                <a:solidFill>
                  <a:srgbClr val="000000"/>
                </a:solidFill>
                <a:highlight>
                  <a:srgbClr val="FFFFFF"/>
                </a:highlight>
                <a:latin typeface="Cascadia Mono" panose="020B0609020000020004" pitchFamily="49" charset="0"/>
              </a:rPr>
              <a: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svar1.a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a:t>
            </a:r>
            <a:r>
              <a:rPr lang="sv-SE" sz="1200" dirty="0">
                <a:solidFill>
                  <a:srgbClr val="A31515"/>
                </a:solidFill>
                <a:highlight>
                  <a:srgbClr val="FFFFFF"/>
                </a:highlight>
                <a:latin typeface="Cascadia Mono" panose="020B0609020000020004" pitchFamily="49" charset="0"/>
              </a:rPr>
              <a:t>' '</a:t>
            </a:r>
            <a:r>
              <a:rPr lang="sv-SE" sz="1200" dirty="0">
                <a:solidFill>
                  <a:srgbClr val="000000"/>
                </a:solidFill>
                <a:highlight>
                  <a:srgbClr val="FFFFFF"/>
                </a:highlight>
                <a:latin typeface="Cascadia Mono" panose="020B0609020000020004" pitchFamily="49" charset="0"/>
              </a:rPr>
              <a: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svar1.b;</a:t>
            </a:r>
          </a:p>
          <a:p>
            <a:r>
              <a:rPr lang="de-CH" sz="1200" dirty="0" err="1">
                <a:solidFill>
                  <a:srgbClr val="000000"/>
                </a:solidFill>
                <a:highlight>
                  <a:srgbClr val="FFFFFF"/>
                </a:highlight>
                <a:latin typeface="Cascadia Mono" panose="020B0609020000020004" pitchFamily="49" charset="0"/>
              </a:rPr>
              <a:t>cout</a:t>
            </a:r>
            <a:r>
              <a:rPr lang="de-CH" sz="1200" dirty="0">
                <a:solidFill>
                  <a:srgbClr val="000000"/>
                </a:solidFill>
                <a:highlight>
                  <a:srgbClr val="FFFFFF"/>
                </a:highlight>
                <a:latin typeface="Cascadia Mono" panose="020B0609020000020004" pitchFamily="49" charset="0"/>
              </a:rPr>
              <a:t> </a:t>
            </a:r>
            <a:r>
              <a:rPr lang="de-CH" sz="1200" dirty="0">
                <a:solidFill>
                  <a:srgbClr val="008080"/>
                </a:solidFill>
                <a:highlight>
                  <a:srgbClr val="FFFFFF"/>
                </a:highlight>
                <a:latin typeface="Cascadia Mono" panose="020B0609020000020004" pitchFamily="49" charset="0"/>
              </a:rPr>
              <a:t>&lt;&lt;</a:t>
            </a:r>
            <a:r>
              <a:rPr lang="de-CH" sz="1200" dirty="0">
                <a:solidFill>
                  <a:srgbClr val="000000"/>
                </a:solidFill>
                <a:highlight>
                  <a:srgbClr val="FFFFFF"/>
                </a:highlight>
                <a:latin typeface="Cascadia Mono" panose="020B0609020000020004" pitchFamily="49" charset="0"/>
              </a:rPr>
              <a:t> </a:t>
            </a:r>
            <a:r>
              <a:rPr lang="de-CH" sz="1200" dirty="0">
                <a:solidFill>
                  <a:srgbClr val="A31515"/>
                </a:solidFill>
                <a:highlight>
                  <a:srgbClr val="FFFFFF"/>
                </a:highlight>
                <a:latin typeface="Cascadia Mono" panose="020B0609020000020004" pitchFamily="49" charset="0"/>
              </a:rPr>
              <a:t>'\n'</a:t>
            </a:r>
            <a:r>
              <a:rPr lang="de-CH" sz="1200" dirty="0">
                <a:solidFill>
                  <a:srgbClr val="000000"/>
                </a:solidFill>
                <a:highlight>
                  <a:srgbClr val="FFFFFF"/>
                </a:highlight>
                <a:latin typeface="Cascadia Mono" panose="020B0609020000020004" pitchFamily="49" charset="0"/>
              </a:rPr>
              <a:t>;</a:t>
            </a:r>
          </a:p>
          <a:p>
            <a:r>
              <a:rPr lang="sv-SE" sz="1200" dirty="0">
                <a:solidFill>
                  <a:srgbClr val="000000"/>
                </a:solidFill>
                <a:highlight>
                  <a:srgbClr val="FFFFFF"/>
                </a:highlight>
                <a:latin typeface="Cascadia Mono" panose="020B0609020000020004" pitchFamily="49" charset="0"/>
              </a:rPr>
              <a:t>cout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a:t>
            </a:r>
            <a:r>
              <a:rPr lang="sv-SE" sz="1200" dirty="0">
                <a:solidFill>
                  <a:srgbClr val="A31515"/>
                </a:solidFill>
                <a:highlight>
                  <a:srgbClr val="FFFFFF"/>
                </a:highlight>
                <a:latin typeface="Cascadia Mono" panose="020B0609020000020004" pitchFamily="49" charset="0"/>
              </a:rPr>
              <a:t>"svar2: "</a:t>
            </a:r>
            <a:r>
              <a:rPr lang="sv-SE" sz="1200" dirty="0">
                <a:solidFill>
                  <a:srgbClr val="000000"/>
                </a:solidFill>
                <a:highlight>
                  <a:srgbClr val="FFFFFF"/>
                </a:highlight>
                <a:latin typeface="Cascadia Mono" panose="020B0609020000020004" pitchFamily="49" charset="0"/>
              </a:rPr>
              <a: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svar2.a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a:t>
            </a:r>
            <a:r>
              <a:rPr lang="sv-SE" sz="1200" dirty="0">
                <a:solidFill>
                  <a:srgbClr val="A31515"/>
                </a:solidFill>
                <a:highlight>
                  <a:srgbClr val="FFFFFF"/>
                </a:highlight>
                <a:latin typeface="Cascadia Mono" panose="020B0609020000020004" pitchFamily="49" charset="0"/>
              </a:rPr>
              <a:t>' '</a:t>
            </a:r>
            <a:r>
              <a:rPr lang="sv-SE" sz="1200" dirty="0">
                <a:solidFill>
                  <a:srgbClr val="000000"/>
                </a:solidFill>
                <a:highlight>
                  <a:srgbClr val="FFFFFF"/>
                </a:highlight>
                <a:latin typeface="Cascadia Mono" panose="020B0609020000020004" pitchFamily="49" charset="0"/>
              </a:rPr>
              <a:t> </a:t>
            </a:r>
            <a:r>
              <a:rPr lang="sv-SE" sz="1200" dirty="0">
                <a:solidFill>
                  <a:srgbClr val="008080"/>
                </a:solidFill>
                <a:highlight>
                  <a:srgbClr val="FFFFFF"/>
                </a:highlight>
                <a:latin typeface="Cascadia Mono" panose="020B0609020000020004" pitchFamily="49" charset="0"/>
              </a:rPr>
              <a:t>&lt;&lt;</a:t>
            </a:r>
            <a:r>
              <a:rPr lang="sv-SE" sz="1200" dirty="0">
                <a:solidFill>
                  <a:srgbClr val="000000"/>
                </a:solidFill>
                <a:highlight>
                  <a:srgbClr val="FFFFFF"/>
                </a:highlight>
                <a:latin typeface="Cascadia Mono" panose="020B0609020000020004" pitchFamily="49" charset="0"/>
              </a:rPr>
              <a:t> svar2.b;</a:t>
            </a:r>
          </a:p>
          <a:p>
            <a:r>
              <a:rPr lang="de-CH" sz="1200" dirty="0" err="1">
                <a:solidFill>
                  <a:srgbClr val="0000FF"/>
                </a:solidFill>
                <a:highlight>
                  <a:srgbClr val="FFFFFF"/>
                </a:highlight>
                <a:latin typeface="Cascadia Mono" panose="020B0609020000020004" pitchFamily="49" charset="0"/>
              </a:rPr>
              <a:t>return</a:t>
            </a:r>
            <a:r>
              <a:rPr lang="de-CH" sz="1200" dirty="0">
                <a:solidFill>
                  <a:srgbClr val="000000"/>
                </a:solidFill>
                <a:highlight>
                  <a:srgbClr val="FFFFFF"/>
                </a:highlight>
                <a:latin typeface="Cascadia Mono" panose="020B0609020000020004" pitchFamily="49" charset="0"/>
              </a:rPr>
              <a:t> 0;</a:t>
            </a:r>
          </a:p>
          <a:p>
            <a:r>
              <a:rPr lang="ru-RU" sz="1200" dirty="0">
                <a:solidFill>
                  <a:srgbClr val="000000"/>
                </a:solidFill>
                <a:highlight>
                  <a:srgbClr val="FFFFFF"/>
                </a:highlight>
                <a:latin typeface="Cascadia Mono" panose="020B0609020000020004" pitchFamily="49" charset="0"/>
              </a:rPr>
              <a:t>}</a:t>
            </a:r>
            <a:endParaRPr lang="ru-RU" sz="1200" dirty="0"/>
          </a:p>
        </p:txBody>
      </p:sp>
    </p:spTree>
    <p:extLst>
      <p:ext uri="{BB962C8B-B14F-4D97-AF65-F5344CB8AC3E}">
        <p14:creationId xmlns:p14="http://schemas.microsoft.com/office/powerpoint/2010/main" val="2703510897"/>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D53B2D-BC16-D03E-6CFF-0B8850896097}"/>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38B416B0-CAD6-739E-6D99-D61399FE59CC}"/>
              </a:ext>
            </a:extLst>
          </p:cNvPr>
          <p:cNvSpPr>
            <a:spLocks noGrp="1"/>
          </p:cNvSpPr>
          <p:nvPr>
            <p:ph idx="1"/>
          </p:nvPr>
        </p:nvSpPr>
        <p:spPr/>
        <p:txBody>
          <a:bodyPr/>
          <a:lstStyle/>
          <a:p>
            <a:r>
              <a:rPr lang="ru-RU" dirty="0"/>
              <a:t>Использование указателей на структуры и оператора "стрелка“</a:t>
            </a:r>
            <a:endParaRPr lang="en-US" dirty="0"/>
          </a:p>
          <a:p>
            <a:endParaRPr lang="en-US" dirty="0"/>
          </a:p>
          <a:p>
            <a:r>
              <a:rPr lang="ru-RU" dirty="0"/>
              <a:t>В C++ указатели на структуры можно использовать таким же способом, как и указатели на переменные любого другого типа. Однако использование указателей на структуры имеет ряд особенностей, которые необходимо учитывать. </a:t>
            </a:r>
            <a:endParaRPr lang="en-US" dirty="0"/>
          </a:p>
        </p:txBody>
      </p:sp>
    </p:spTree>
    <p:extLst>
      <p:ext uri="{BB962C8B-B14F-4D97-AF65-F5344CB8AC3E}">
        <p14:creationId xmlns:p14="http://schemas.microsoft.com/office/powerpoint/2010/main" val="1897898909"/>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3F101E-7C66-CA17-66E8-E1FFCC4D4114}"/>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B654DBC2-F6FA-3F16-DF51-FAD112FE8988}"/>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de-CH" sz="1600" b="0" i="0" u="none" strike="noStrike" kern="1200" cap="none" spc="0" normalizeH="0" baseline="0" noProof="0" dirty="0" err="1">
                <a:ln>
                  <a:noFill/>
                </a:ln>
                <a:solidFill>
                  <a:srgbClr val="0000FF"/>
                </a:solidFill>
                <a:effectLst/>
                <a:highlight>
                  <a:srgbClr val="FFFFFF"/>
                </a:highlight>
                <a:uLnTx/>
                <a:uFillTx/>
                <a:latin typeface="Cascadia Mono" panose="020B0609020000020004" pitchFamily="49" charset="0"/>
                <a:ea typeface="+mn-ea"/>
                <a:cs typeface="Arial" panose="020B0604020202020204" pitchFamily="34" charset="0"/>
              </a:rPr>
              <a:t>struct</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2B91AF"/>
                </a:solidFill>
                <a:effectLst/>
                <a:highlight>
                  <a:srgbClr val="FFFFFF"/>
                </a:highlight>
                <a:uLnTx/>
                <a:uFillTx/>
                <a:latin typeface="Cascadia Mono" panose="020B0609020000020004" pitchFamily="49" charset="0"/>
                <a:ea typeface="+mn-ea"/>
                <a:cs typeface="Arial" panose="020B0604020202020204" pitchFamily="34" charset="0"/>
              </a:rPr>
              <a:t>stype</a:t>
            </a:r>
            <a:endPar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de-CH" sz="16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Arial" panose="020B0604020202020204" pitchFamily="34" charset="0"/>
              </a:rPr>
              <a:t>int</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a, b;</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de-CH" sz="16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Arial" panose="020B0604020202020204" pitchFamily="34" charset="0"/>
              </a:rPr>
              <a:t>int</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a:t>
            </a:r>
            <a:r>
              <a:rPr kumimoji="0" lang="de-CH" sz="16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main</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de-CH" sz="16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setlocale</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a:t>
            </a:r>
            <a:r>
              <a:rPr kumimoji="0" lang="de-CH" sz="1600" b="0" i="0" u="none" strike="noStrike" kern="1200" cap="none" spc="0" normalizeH="0" baseline="0" noProof="0" dirty="0">
                <a:ln>
                  <a:noFill/>
                </a:ln>
                <a:solidFill>
                  <a:srgbClr val="6F008A"/>
                </a:solidFill>
                <a:effectLst/>
                <a:highlight>
                  <a:srgbClr val="FFFFFF"/>
                </a:highlight>
                <a:uLnTx/>
                <a:uFillTx/>
                <a:latin typeface="Cascadia Mono" panose="020B0609020000020004" pitchFamily="49" charset="0"/>
                <a:ea typeface="+mn-ea"/>
                <a:cs typeface="Arial" panose="020B0604020202020204" pitchFamily="34" charset="0"/>
              </a:rPr>
              <a:t>LC_ALL</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a:t>
            </a:r>
            <a:r>
              <a:rPr kumimoji="0" lang="de-CH" sz="16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Arial" panose="020B0604020202020204" pitchFamily="34" charset="0"/>
              </a:rPr>
              <a:t>""</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endParaRPr kumimoji="0" lang="ru-RU"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nn-NO" sz="16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Arial" panose="020B0604020202020204" pitchFamily="34" charset="0"/>
              </a:rPr>
              <a:t>stype</a:t>
            </a:r>
            <a:r>
              <a:rPr kumimoji="0" lang="nn-NO"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svar1 = </a:t>
            </a:r>
            <a:r>
              <a:rPr kumimoji="0" lang="nn-NO" sz="1600" b="0" i="0" u="none" strike="noStrike" kern="1200" cap="none" spc="0" normalizeH="0" baseline="0" noProof="0" dirty="0">
                <a:ln>
                  <a:noFill/>
                </a:ln>
                <a:solidFill>
                  <a:srgbClr val="0000FF"/>
                </a:solidFill>
                <a:effectLst/>
                <a:highlight>
                  <a:srgbClr val="FFFFFF"/>
                </a:highlight>
                <a:uLnTx/>
                <a:uFillTx/>
                <a:latin typeface="Cascadia Mono" panose="020B0609020000020004" pitchFamily="49" charset="0"/>
                <a:ea typeface="+mn-ea"/>
                <a:cs typeface="Arial" panose="020B0604020202020204" pitchFamily="34" charset="0"/>
              </a:rPr>
              <a:t>new</a:t>
            </a:r>
            <a:r>
              <a:rPr kumimoji="0" lang="nn-NO"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a:t>
            </a:r>
            <a:r>
              <a:rPr kumimoji="0" lang="nn-NO" sz="1600" b="0" i="0" u="none" strike="noStrike" kern="1200" cap="none" spc="0" normalizeH="0" baseline="0" noProof="0" dirty="0">
                <a:ln>
                  <a:noFill/>
                </a:ln>
                <a:solidFill>
                  <a:srgbClr val="2B91AF"/>
                </a:solidFill>
                <a:effectLst/>
                <a:highlight>
                  <a:srgbClr val="FFFFFF"/>
                </a:highlight>
                <a:uLnTx/>
                <a:uFillTx/>
                <a:latin typeface="Cascadia Mono" panose="020B0609020000020004" pitchFamily="49" charset="0"/>
                <a:ea typeface="+mn-ea"/>
                <a:cs typeface="Arial" panose="020B0604020202020204" pitchFamily="34" charset="0"/>
              </a:rPr>
              <a:t>stype</a:t>
            </a:r>
            <a:r>
              <a:rPr kumimoji="0" lang="nn-NO"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{0,1};</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svar1-&gt;a = 10;</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svar1-&gt;b = 20;</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de-CH" sz="1600" b="0" i="0" u="none" strike="noStrike" kern="1200" cap="none" spc="0" normalizeH="0" baseline="0" noProof="0" dirty="0" err="1">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cout</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a:t>
            </a:r>
            <a:r>
              <a:rPr kumimoji="0" lang="de-CH" sz="1600" b="0" i="0" u="none" strike="noStrike" kern="1200" cap="none" spc="0" normalizeH="0" baseline="0" noProof="0" dirty="0">
                <a:ln>
                  <a:noFill/>
                </a:ln>
                <a:solidFill>
                  <a:srgbClr val="008080"/>
                </a:solidFill>
                <a:effectLst/>
                <a:highlight>
                  <a:srgbClr val="FFFFFF"/>
                </a:highlight>
                <a:uLnTx/>
                <a:uFillTx/>
                <a:latin typeface="Cascadia Mono" panose="020B0609020000020004" pitchFamily="49" charset="0"/>
                <a:ea typeface="+mn-ea"/>
                <a:cs typeface="Arial" panose="020B0604020202020204" pitchFamily="34" charset="0"/>
              </a:rPr>
              <a:t>&lt;&lt;</a:t>
            </a:r>
            <a:r>
              <a:rPr kumimoji="0" lang="de-CH" sz="16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Arial" panose="020B0604020202020204" pitchFamily="34" charset="0"/>
              </a:rPr>
              <a:t>"a = "</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a:t>
            </a:r>
            <a:r>
              <a:rPr kumimoji="0" lang="de-CH" sz="1600" b="0" i="0" u="none" strike="noStrike" kern="1200" cap="none" spc="0" normalizeH="0" baseline="0" noProof="0" dirty="0">
                <a:ln>
                  <a:noFill/>
                </a:ln>
                <a:solidFill>
                  <a:srgbClr val="008080"/>
                </a:solidFill>
                <a:effectLst/>
                <a:highlight>
                  <a:srgbClr val="FFFFFF"/>
                </a:highlight>
                <a:uLnTx/>
                <a:uFillTx/>
                <a:latin typeface="Cascadia Mono" panose="020B0609020000020004" pitchFamily="49" charset="0"/>
                <a:ea typeface="+mn-ea"/>
                <a:cs typeface="Arial" panose="020B0604020202020204" pitchFamily="34" charset="0"/>
              </a:rPr>
              <a:t>&lt;&lt;</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svar1-&gt;a </a:t>
            </a:r>
            <a:r>
              <a:rPr kumimoji="0" lang="de-CH" sz="1600" b="0" i="0" u="none" strike="noStrike" kern="1200" cap="none" spc="0" normalizeH="0" baseline="0" noProof="0" dirty="0">
                <a:ln>
                  <a:noFill/>
                </a:ln>
                <a:solidFill>
                  <a:srgbClr val="008080"/>
                </a:solidFill>
                <a:effectLst/>
                <a:highlight>
                  <a:srgbClr val="FFFFFF"/>
                </a:highlight>
                <a:uLnTx/>
                <a:uFillTx/>
                <a:latin typeface="Cascadia Mono" panose="020B0609020000020004" pitchFamily="49" charset="0"/>
                <a:ea typeface="+mn-ea"/>
                <a:cs typeface="Arial" panose="020B0604020202020204" pitchFamily="34" charset="0"/>
              </a:rPr>
              <a:t>&lt;&lt;</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a:t>
            </a:r>
            <a:r>
              <a:rPr kumimoji="0" lang="de-CH" sz="1600" b="0" i="0" u="none" strike="noStrike" kern="1200" cap="none" spc="0" normalizeH="0" baseline="0" noProof="0" dirty="0">
                <a:ln>
                  <a:noFill/>
                </a:ln>
                <a:solidFill>
                  <a:srgbClr val="A31515"/>
                </a:solidFill>
                <a:effectLst/>
                <a:highlight>
                  <a:srgbClr val="FFFFFF"/>
                </a:highlight>
                <a:uLnTx/>
                <a:uFillTx/>
                <a:latin typeface="Cascadia Mono" panose="020B0609020000020004" pitchFamily="49" charset="0"/>
                <a:ea typeface="+mn-ea"/>
                <a:cs typeface="Arial" panose="020B0604020202020204" pitchFamily="34" charset="0"/>
              </a:rPr>
              <a:t>" b = "</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a:t>
            </a:r>
            <a:r>
              <a:rPr kumimoji="0" lang="de-CH" sz="1600" b="0" i="0" u="none" strike="noStrike" kern="1200" cap="none" spc="0" normalizeH="0" baseline="0" noProof="0" dirty="0">
                <a:ln>
                  <a:noFill/>
                </a:ln>
                <a:solidFill>
                  <a:srgbClr val="008080"/>
                </a:solidFill>
                <a:effectLst/>
                <a:highlight>
                  <a:srgbClr val="FFFFFF"/>
                </a:highlight>
                <a:uLnTx/>
                <a:uFillTx/>
                <a:latin typeface="Cascadia Mono" panose="020B0609020000020004" pitchFamily="49" charset="0"/>
                <a:ea typeface="+mn-ea"/>
                <a:cs typeface="Arial" panose="020B0604020202020204" pitchFamily="34" charset="0"/>
              </a:rPr>
              <a:t>&lt;&lt;</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svar1-&gt;b;</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de-CH" sz="1600" b="0" i="0" u="none" strike="noStrike" kern="1200" cap="none" spc="0" normalizeH="0" baseline="0" noProof="0" dirty="0" err="1">
                <a:ln>
                  <a:noFill/>
                </a:ln>
                <a:solidFill>
                  <a:srgbClr val="0000FF"/>
                </a:solidFill>
                <a:effectLst/>
                <a:highlight>
                  <a:srgbClr val="FFFFFF"/>
                </a:highlight>
                <a:uLnTx/>
                <a:uFillTx/>
                <a:latin typeface="Cascadia Mono" panose="020B0609020000020004" pitchFamily="49" charset="0"/>
                <a:ea typeface="+mn-ea"/>
                <a:cs typeface="Arial" panose="020B0604020202020204" pitchFamily="34" charset="0"/>
              </a:rPr>
              <a:t>return</a:t>
            </a:r>
            <a:r>
              <a:rPr kumimoji="0" lang="de-CH"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 0;</a:t>
            </a:r>
          </a:p>
          <a:p>
            <a:pPr marL="0" marR="0" lvl="0" indent="0" algn="l" defTabSz="914400" rtl="0" eaLnBrk="0" fontAlgn="base" latinLnBrk="0" hangingPunct="0">
              <a:lnSpc>
                <a:spcPct val="100000"/>
              </a:lnSpc>
              <a:spcBef>
                <a:spcPct val="20000"/>
              </a:spcBef>
              <a:spcAft>
                <a:spcPct val="0"/>
              </a:spcAft>
              <a:buClr>
                <a:srgbClr val="90B54D"/>
              </a:buClr>
              <a:buSzTx/>
              <a:buFont typeface="Wingdings" pitchFamily="2" charset="2"/>
              <a:buNone/>
              <a:tabLst/>
              <a:defRPr/>
            </a:pPr>
            <a:r>
              <a:rPr kumimoji="0" lang="ru-RU" sz="1600" b="0" i="0" u="none" strike="noStrike" kern="1200" cap="none" spc="0" normalizeH="0" baseline="0" noProof="0" dirty="0">
                <a:ln>
                  <a:noFill/>
                </a:ln>
                <a:solidFill>
                  <a:srgbClr val="000000"/>
                </a:solidFill>
                <a:effectLst/>
                <a:highlight>
                  <a:srgbClr val="FFFFFF"/>
                </a:highlight>
                <a:uLnTx/>
                <a:uFillTx/>
                <a:latin typeface="Cascadia Mono" panose="020B0609020000020004" pitchFamily="49" charset="0"/>
                <a:ea typeface="+mn-ea"/>
                <a:cs typeface="Arial" panose="020B0604020202020204" pitchFamily="34" charset="0"/>
              </a:rPr>
              <a:t>}</a:t>
            </a:r>
            <a:endParaRPr kumimoji="0" lang="ru-RU" sz="1600" b="0" i="0" u="none" strike="noStrike" kern="1200" cap="none" spc="0" normalizeH="0" baseline="0" noProof="0" dirty="0">
              <a:ln>
                <a:noFill/>
              </a:ln>
              <a:solidFill>
                <a:srgbClr val="1A1A70"/>
              </a:solidFill>
              <a:effectLst/>
              <a:uLnTx/>
              <a:uFillTx/>
              <a:latin typeface="Arial" panose="020B0604020202020204" pitchFamily="34" charset="0"/>
              <a:ea typeface="+mn-ea"/>
              <a:cs typeface="Arial" panose="020B0604020202020204" pitchFamily="34" charset="0"/>
            </a:endParaRPr>
          </a:p>
          <a:p>
            <a:endParaRPr lang="ru-RU" dirty="0"/>
          </a:p>
        </p:txBody>
      </p:sp>
    </p:spTree>
    <p:extLst>
      <p:ext uri="{BB962C8B-B14F-4D97-AF65-F5344CB8AC3E}">
        <p14:creationId xmlns:p14="http://schemas.microsoft.com/office/powerpoint/2010/main" val="3619217998"/>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0F6E00-8CA0-6025-5F77-B986AD6DEA54}"/>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A5DC12C9-FD0F-9D21-4A05-F5590B4F7B33}"/>
              </a:ext>
            </a:extLst>
          </p:cNvPr>
          <p:cNvSpPr>
            <a:spLocks noGrp="1"/>
          </p:cNvSpPr>
          <p:nvPr>
            <p:ph idx="1"/>
          </p:nvPr>
        </p:nvSpPr>
        <p:spPr/>
        <p:txBody>
          <a:bodyPr/>
          <a:lstStyle/>
          <a:p>
            <a:r>
              <a:rPr lang="ru-RU" sz="1600" dirty="0">
                <a:highlight>
                  <a:srgbClr val="FFFFFF"/>
                </a:highlight>
              </a:rPr>
              <a:t>Ссылки на структуры</a:t>
            </a:r>
            <a:endParaRPr lang="ru-RU" sz="1600" dirty="0">
              <a:solidFill>
                <a:srgbClr val="0000FF"/>
              </a:solidFill>
              <a:highlight>
                <a:srgbClr val="FFFFFF"/>
              </a:highlight>
              <a:latin typeface="Cascadia Mono" panose="020B0609020000020004" pitchFamily="49" charset="0"/>
            </a:endParaRPr>
          </a:p>
          <a:p>
            <a:endParaRPr lang="ru-RU" sz="1600" dirty="0">
              <a:solidFill>
                <a:srgbClr val="0000FF"/>
              </a:solidFill>
              <a:highlight>
                <a:srgbClr val="FFFFFF"/>
              </a:highlight>
              <a:latin typeface="Cascadia Mono" panose="020B0609020000020004" pitchFamily="49" charset="0"/>
            </a:endParaRPr>
          </a:p>
          <a:p>
            <a:r>
              <a:rPr lang="de-CH" sz="1600" dirty="0" err="1">
                <a:solidFill>
                  <a:srgbClr val="0000FF"/>
                </a:solidFill>
                <a:highlight>
                  <a:srgbClr val="FFFFFF"/>
                </a:highlight>
                <a:latin typeface="Cascadia Mono" panose="020B0609020000020004" pitchFamily="49" charset="0"/>
              </a:rPr>
              <a:t>struct</a:t>
            </a:r>
            <a:r>
              <a:rPr lang="de-CH" sz="1600" dirty="0">
                <a:solidFill>
                  <a:srgbClr val="000000"/>
                </a:solidFill>
                <a:highlight>
                  <a:srgbClr val="FFFFFF"/>
                </a:highlight>
                <a:latin typeface="Cascadia Mono" panose="020B0609020000020004" pitchFamily="49" charset="0"/>
              </a:rPr>
              <a:t> </a:t>
            </a:r>
            <a:r>
              <a:rPr lang="de-CH" sz="1600" dirty="0" err="1">
                <a:solidFill>
                  <a:srgbClr val="2B91AF"/>
                </a:solidFill>
                <a:highlight>
                  <a:srgbClr val="FFFFFF"/>
                </a:highlight>
                <a:latin typeface="Cascadia Mono" panose="020B0609020000020004" pitchFamily="49" charset="0"/>
              </a:rPr>
              <a:t>stype</a:t>
            </a:r>
            <a:endParaRPr lang="de-CH" sz="1600" dirty="0">
              <a:solidFill>
                <a:srgbClr val="000000"/>
              </a:solidFill>
              <a:highlight>
                <a:srgbClr val="FFFFFF"/>
              </a:highlight>
              <a:latin typeface="Cascadia Mono" panose="020B0609020000020004" pitchFamily="49" charset="0"/>
            </a:endParaRPr>
          </a:p>
          <a:p>
            <a:r>
              <a:rPr lang="ru-RU" sz="1600" dirty="0">
                <a:solidFill>
                  <a:srgbClr val="000000"/>
                </a:solidFill>
                <a:highlight>
                  <a:srgbClr val="FFFFFF"/>
                </a:highlight>
                <a:latin typeface="Cascadia Mono" panose="020B0609020000020004" pitchFamily="49" charset="0"/>
              </a:rPr>
              <a:t>{</a:t>
            </a: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 b;</a:t>
            </a:r>
          </a:p>
          <a:p>
            <a:r>
              <a:rPr lang="ru-RU" sz="1600" dirty="0">
                <a:solidFill>
                  <a:srgbClr val="000000"/>
                </a:solidFill>
                <a:highlight>
                  <a:srgbClr val="FFFFFF"/>
                </a:highlight>
                <a:latin typeface="Cascadia Mono" panose="020B0609020000020004" pitchFamily="49" charset="0"/>
              </a:rPr>
              <a:t>};</a:t>
            </a:r>
          </a:p>
          <a:p>
            <a:r>
              <a:rPr lang="de-CH" sz="1600" dirty="0">
                <a:solidFill>
                  <a:srgbClr val="0000FF"/>
                </a:solidFill>
                <a:highlight>
                  <a:srgbClr val="FFFFFF"/>
                </a:highlight>
                <a:latin typeface="Cascadia Mono" panose="020B0609020000020004" pitchFamily="49" charset="0"/>
              </a:rPr>
              <a:t>int</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main</a:t>
            </a:r>
            <a:r>
              <a:rPr lang="de-CH" sz="1600" dirty="0">
                <a:solidFill>
                  <a:srgbClr val="000000"/>
                </a:solidFill>
                <a:highlight>
                  <a:srgbClr val="FFFFFF"/>
                </a:highlight>
                <a:latin typeface="Cascadia Mono" panose="020B0609020000020004" pitchFamily="49" charset="0"/>
              </a:rPr>
              <a:t>()</a:t>
            </a:r>
          </a:p>
          <a:p>
            <a:r>
              <a:rPr lang="ru-RU" sz="1600" dirty="0">
                <a:solidFill>
                  <a:srgbClr val="000000"/>
                </a:solidFill>
                <a:highlight>
                  <a:srgbClr val="FFFFFF"/>
                </a:highlight>
                <a:latin typeface="Cascadia Mono" panose="020B0609020000020004" pitchFamily="49" charset="0"/>
              </a:rPr>
              <a:t>{</a:t>
            </a:r>
          </a:p>
          <a:p>
            <a:r>
              <a:rPr lang="de-CH" sz="1600" dirty="0" err="1">
                <a:solidFill>
                  <a:srgbClr val="000000"/>
                </a:solidFill>
                <a:highlight>
                  <a:srgbClr val="FFFFFF"/>
                </a:highlight>
                <a:latin typeface="Cascadia Mono" panose="020B0609020000020004" pitchFamily="49" charset="0"/>
              </a:rPr>
              <a:t>setlocale</a:t>
            </a:r>
            <a:r>
              <a:rPr lang="de-CH" sz="1600" dirty="0">
                <a:solidFill>
                  <a:srgbClr val="000000"/>
                </a:solidFill>
                <a:highlight>
                  <a:srgbClr val="FFFFFF"/>
                </a:highlight>
                <a:latin typeface="Cascadia Mono" panose="020B0609020000020004" pitchFamily="49" charset="0"/>
              </a:rPr>
              <a:t>(</a:t>
            </a:r>
            <a:r>
              <a:rPr lang="de-CH" sz="1600" dirty="0">
                <a:solidFill>
                  <a:srgbClr val="6F008A"/>
                </a:solidFill>
                <a:highlight>
                  <a:srgbClr val="FFFFFF"/>
                </a:highlight>
                <a:latin typeface="Cascadia Mono" panose="020B0609020000020004" pitchFamily="49" charset="0"/>
              </a:rPr>
              <a:t>LC_ALL</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a:t>
            </a:r>
            <a:r>
              <a:rPr lang="de-CH" sz="1600" dirty="0">
                <a:solidFill>
                  <a:srgbClr val="000000"/>
                </a:solidFill>
                <a:highlight>
                  <a:srgbClr val="FFFFFF"/>
                </a:highlight>
                <a:latin typeface="Cascadia Mono" panose="020B0609020000020004" pitchFamily="49" charset="0"/>
              </a:rPr>
              <a:t>);</a:t>
            </a:r>
          </a:p>
          <a:p>
            <a:r>
              <a:rPr lang="de-CH" sz="1600" dirty="0" err="1">
                <a:solidFill>
                  <a:srgbClr val="2B91AF"/>
                </a:solidFill>
                <a:highlight>
                  <a:srgbClr val="FFFFFF"/>
                </a:highlight>
                <a:latin typeface="Cascadia Mono" panose="020B0609020000020004" pitchFamily="49" charset="0"/>
              </a:rPr>
              <a:t>stype</a:t>
            </a:r>
            <a:r>
              <a:rPr lang="de-CH" sz="1600" dirty="0">
                <a:solidFill>
                  <a:srgbClr val="000000"/>
                </a:solidFill>
                <a:highlight>
                  <a:srgbClr val="FFFFFF"/>
                </a:highlight>
                <a:latin typeface="Cascadia Mono" panose="020B0609020000020004" pitchFamily="49" charset="0"/>
              </a:rPr>
              <a:t> </a:t>
            </a:r>
            <a:r>
              <a:rPr lang="de-CH" sz="1600" dirty="0" err="1">
                <a:solidFill>
                  <a:srgbClr val="000000"/>
                </a:solidFill>
                <a:highlight>
                  <a:srgbClr val="FFFFFF"/>
                </a:highlight>
                <a:latin typeface="Cascadia Mono" panose="020B0609020000020004" pitchFamily="49" charset="0"/>
              </a:rPr>
              <a:t>svar</a:t>
            </a:r>
            <a:r>
              <a:rPr lang="de-CH" sz="1600" dirty="0">
                <a:solidFill>
                  <a:srgbClr val="000000"/>
                </a:solidFill>
                <a:highlight>
                  <a:srgbClr val="FFFFFF"/>
                </a:highlight>
                <a:latin typeface="Cascadia Mono" panose="020B0609020000020004" pitchFamily="49" charset="0"/>
              </a:rPr>
              <a:t>{ 1,2 };</a:t>
            </a:r>
          </a:p>
          <a:p>
            <a:r>
              <a:rPr lang="de-CH" sz="1600" dirty="0" err="1">
                <a:solidFill>
                  <a:srgbClr val="2B91AF"/>
                </a:solidFill>
                <a:highlight>
                  <a:srgbClr val="FFFFFF"/>
                </a:highlight>
                <a:latin typeface="Cascadia Mono" panose="020B0609020000020004" pitchFamily="49" charset="0"/>
              </a:rPr>
              <a:t>stype</a:t>
            </a:r>
            <a:r>
              <a:rPr lang="de-CH" sz="1600" dirty="0">
                <a:solidFill>
                  <a:srgbClr val="000000"/>
                </a:solidFill>
                <a:highlight>
                  <a:srgbClr val="FFFFFF"/>
                </a:highlight>
                <a:latin typeface="Cascadia Mono" panose="020B0609020000020004" pitchFamily="49" charset="0"/>
              </a:rPr>
              <a:t>&amp; svar1 = </a:t>
            </a:r>
            <a:r>
              <a:rPr lang="de-CH" sz="1600" dirty="0" err="1">
                <a:solidFill>
                  <a:srgbClr val="000000"/>
                </a:solidFill>
                <a:highlight>
                  <a:srgbClr val="FFFFFF"/>
                </a:highlight>
                <a:latin typeface="Cascadia Mono" panose="020B0609020000020004" pitchFamily="49" charset="0"/>
              </a:rPr>
              <a:t>svar</a:t>
            </a:r>
            <a:r>
              <a:rPr lang="de-CH" sz="1600" dirty="0">
                <a:solidFill>
                  <a:srgbClr val="000000"/>
                </a:solidFill>
                <a:highlight>
                  <a:srgbClr val="FFFFFF"/>
                </a:highlight>
                <a:latin typeface="Cascadia Mono" panose="020B0609020000020004" pitchFamily="49" charset="0"/>
              </a:rPr>
              <a:t>;</a:t>
            </a:r>
          </a:p>
          <a:p>
            <a:r>
              <a:rPr lang="de-CH" sz="1600" dirty="0">
                <a:solidFill>
                  <a:srgbClr val="000000"/>
                </a:solidFill>
                <a:highlight>
                  <a:srgbClr val="FFFFFF"/>
                </a:highlight>
                <a:latin typeface="Cascadia Mono" panose="020B0609020000020004" pitchFamily="49" charset="0"/>
              </a:rPr>
              <a:t>svar1.a = 10;</a:t>
            </a:r>
          </a:p>
          <a:p>
            <a:r>
              <a:rPr lang="de-CH" sz="1600" dirty="0">
                <a:solidFill>
                  <a:srgbClr val="000000"/>
                </a:solidFill>
                <a:highlight>
                  <a:srgbClr val="FFFFFF"/>
                </a:highlight>
                <a:latin typeface="Cascadia Mono" panose="020B0609020000020004" pitchFamily="49" charset="0"/>
              </a:rPr>
              <a:t>svar1.b = 20;</a:t>
            </a:r>
          </a:p>
          <a:p>
            <a:r>
              <a:rPr lang="de-CH" sz="1600" dirty="0" err="1">
                <a:solidFill>
                  <a:srgbClr val="000000"/>
                </a:solidFill>
                <a:highlight>
                  <a:srgbClr val="FFFFFF"/>
                </a:highlight>
                <a:latin typeface="Cascadia Mono" panose="020B0609020000020004" pitchFamily="49" charset="0"/>
              </a:rPr>
              <a:t>cout</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A31515"/>
                </a:solidFill>
                <a:highlight>
                  <a:srgbClr val="FFFFFF"/>
                </a:highlight>
                <a:latin typeface="Cascadia Mono" panose="020B0609020000020004" pitchFamily="49" charset="0"/>
              </a:rPr>
              <a:t>"a = "</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svar1.a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a:t>
            </a:r>
            <a:r>
              <a:rPr lang="de-CH" sz="1600" dirty="0">
                <a:solidFill>
                  <a:srgbClr val="A31515"/>
                </a:solidFill>
                <a:highlight>
                  <a:srgbClr val="FFFFFF"/>
                </a:highlight>
                <a:latin typeface="Cascadia Mono" panose="020B0609020000020004" pitchFamily="49" charset="0"/>
              </a:rPr>
              <a:t>" b = "</a:t>
            </a:r>
            <a:r>
              <a:rPr lang="de-CH" sz="1600" dirty="0">
                <a:solidFill>
                  <a:srgbClr val="000000"/>
                </a:solidFill>
                <a:highlight>
                  <a:srgbClr val="FFFFFF"/>
                </a:highlight>
                <a:latin typeface="Cascadia Mono" panose="020B0609020000020004" pitchFamily="49" charset="0"/>
              </a:rPr>
              <a:t> </a:t>
            </a:r>
            <a:r>
              <a:rPr lang="de-CH" sz="1600" dirty="0">
                <a:solidFill>
                  <a:srgbClr val="008080"/>
                </a:solidFill>
                <a:highlight>
                  <a:srgbClr val="FFFFFF"/>
                </a:highlight>
                <a:latin typeface="Cascadia Mono" panose="020B0609020000020004" pitchFamily="49" charset="0"/>
              </a:rPr>
              <a:t>&lt;&lt;</a:t>
            </a:r>
            <a:r>
              <a:rPr lang="de-CH" sz="1600" dirty="0">
                <a:solidFill>
                  <a:srgbClr val="000000"/>
                </a:solidFill>
                <a:highlight>
                  <a:srgbClr val="FFFFFF"/>
                </a:highlight>
                <a:latin typeface="Cascadia Mono" panose="020B0609020000020004" pitchFamily="49" charset="0"/>
              </a:rPr>
              <a:t> svar1.b;</a:t>
            </a:r>
          </a:p>
          <a:p>
            <a:r>
              <a:rPr lang="de-CH" sz="1600" dirty="0" err="1">
                <a:solidFill>
                  <a:srgbClr val="0000FF"/>
                </a:solidFill>
                <a:highlight>
                  <a:srgbClr val="FFFFFF"/>
                </a:highlight>
                <a:latin typeface="Cascadia Mono" panose="020B0609020000020004" pitchFamily="49" charset="0"/>
              </a:rPr>
              <a:t>return</a:t>
            </a:r>
            <a:r>
              <a:rPr lang="de-CH" sz="1600" dirty="0">
                <a:solidFill>
                  <a:srgbClr val="000000"/>
                </a:solidFill>
                <a:highlight>
                  <a:srgbClr val="FFFFFF"/>
                </a:highlight>
                <a:latin typeface="Cascadia Mono" panose="020B0609020000020004" pitchFamily="49" charset="0"/>
              </a:rPr>
              <a:t> 0;</a:t>
            </a:r>
          </a:p>
          <a:p>
            <a:r>
              <a:rPr lang="ru-RU" sz="1600" dirty="0">
                <a:solidFill>
                  <a:srgbClr val="000000"/>
                </a:solidFill>
                <a:highlight>
                  <a:srgbClr val="FFFFFF"/>
                </a:highlight>
                <a:latin typeface="Cascadia Mono" panose="020B0609020000020004" pitchFamily="49" charset="0"/>
              </a:rPr>
              <a:t>}</a:t>
            </a:r>
            <a:endParaRPr lang="ru-RU" sz="1600" dirty="0"/>
          </a:p>
        </p:txBody>
      </p:sp>
    </p:spTree>
    <p:extLst>
      <p:ext uri="{BB962C8B-B14F-4D97-AF65-F5344CB8AC3E}">
        <p14:creationId xmlns:p14="http://schemas.microsoft.com/office/powerpoint/2010/main" val="4286248648"/>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84A2BEC-F132-0F0D-285F-091698B20D44}"/>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327F8DD0-E027-F491-8358-C4311BE867B9}"/>
              </a:ext>
            </a:extLst>
          </p:cNvPr>
          <p:cNvSpPr>
            <a:spLocks noGrp="1"/>
          </p:cNvSpPr>
          <p:nvPr>
            <p:ph idx="1"/>
          </p:nvPr>
        </p:nvSpPr>
        <p:spPr/>
        <p:txBody>
          <a:bodyPr/>
          <a:lstStyle/>
          <a:p>
            <a:r>
              <a:rPr lang="ru-RU" dirty="0"/>
              <a:t>Битовые поля структур </a:t>
            </a:r>
            <a:endParaRPr lang="en-US" dirty="0"/>
          </a:p>
          <a:p>
            <a:endParaRPr lang="en-US" dirty="0"/>
          </a:p>
          <a:p>
            <a:r>
              <a:rPr lang="ru-RU" dirty="0"/>
              <a:t>Битовые поля обеспечивают удобный доступ к отдельным битам данных. Они позволяют формировать объекты с длиной, не кратной байту. Что в свою очередь позволяет экономить память, более плотно размещая данные.</a:t>
            </a:r>
          </a:p>
          <a:p>
            <a:r>
              <a:rPr lang="ru-RU" dirty="0"/>
              <a:t>Битовое поле не может существовать само по себе. Оно может быть только элементом структуры или объединения. Например, в рамках структуры битовые поля имеют следующую форму определений:</a:t>
            </a:r>
          </a:p>
          <a:p>
            <a:endParaRPr lang="en-US" dirty="0"/>
          </a:p>
          <a:p>
            <a:endParaRPr lang="ru-RU" dirty="0"/>
          </a:p>
        </p:txBody>
      </p:sp>
    </p:spTree>
    <p:extLst>
      <p:ext uri="{BB962C8B-B14F-4D97-AF65-F5344CB8AC3E}">
        <p14:creationId xmlns:p14="http://schemas.microsoft.com/office/powerpoint/2010/main" val="1208799077"/>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30B37C-BE5F-43DB-8E95-7426634EA93F}"/>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0A6D10F2-C12A-8C20-92C7-DA01808314EC}"/>
              </a:ext>
            </a:extLst>
          </p:cNvPr>
          <p:cNvSpPr>
            <a:spLocks noGrp="1"/>
          </p:cNvSpPr>
          <p:nvPr>
            <p:ph idx="1"/>
          </p:nvPr>
        </p:nvSpPr>
        <p:spPr/>
        <p:txBody>
          <a:bodyPr/>
          <a:lstStyle/>
          <a:p>
            <a:r>
              <a:rPr lang="ru-RU" b="1" dirty="0" err="1"/>
              <a:t>struct</a:t>
            </a:r>
            <a:r>
              <a:rPr lang="ru-RU" dirty="0"/>
              <a:t> </a:t>
            </a:r>
            <a:r>
              <a:rPr lang="ru-RU" dirty="0" err="1"/>
              <a:t>имя_структуры</a:t>
            </a:r>
            <a:endParaRPr lang="ru-RU" dirty="0"/>
          </a:p>
          <a:p>
            <a:r>
              <a:rPr lang="ru-RU" dirty="0"/>
              <a:t>{</a:t>
            </a:r>
          </a:p>
          <a:p>
            <a:r>
              <a:rPr lang="ru-RU" dirty="0"/>
              <a:t>    тип1 имя_поля1 : ширина_поля1;</a:t>
            </a:r>
          </a:p>
          <a:p>
            <a:r>
              <a:rPr lang="ru-RU" dirty="0"/>
              <a:t>    тип2 имя_поля2 : ширина_поля2;</a:t>
            </a:r>
          </a:p>
          <a:p>
            <a:r>
              <a:rPr lang="ru-RU" dirty="0"/>
              <a:t>    //..............</a:t>
            </a:r>
          </a:p>
          <a:p>
            <a:r>
              <a:rPr lang="ru-RU" dirty="0"/>
              <a:t>    </a:t>
            </a:r>
            <a:r>
              <a:rPr lang="ru-RU" dirty="0" err="1"/>
              <a:t>типi</a:t>
            </a:r>
            <a:r>
              <a:rPr lang="ru-RU" dirty="0"/>
              <a:t> </a:t>
            </a:r>
            <a:r>
              <a:rPr lang="ru-RU" dirty="0" err="1"/>
              <a:t>имя_поляi</a:t>
            </a:r>
            <a:r>
              <a:rPr lang="ru-RU" dirty="0"/>
              <a:t> : </a:t>
            </a:r>
            <a:r>
              <a:rPr lang="ru-RU" dirty="0" err="1"/>
              <a:t>ширина_поляi</a:t>
            </a:r>
            <a:r>
              <a:rPr lang="ru-RU" dirty="0"/>
              <a:t>;</a:t>
            </a:r>
          </a:p>
          <a:p>
            <a:r>
              <a:rPr lang="ru-RU" dirty="0"/>
              <a:t>}</a:t>
            </a:r>
          </a:p>
          <a:p>
            <a:endParaRPr lang="ru-RU" dirty="0"/>
          </a:p>
          <a:p>
            <a:endParaRPr lang="ru-RU" dirty="0"/>
          </a:p>
        </p:txBody>
      </p:sp>
    </p:spTree>
    <p:extLst>
      <p:ext uri="{BB962C8B-B14F-4D97-AF65-F5344CB8AC3E}">
        <p14:creationId xmlns:p14="http://schemas.microsoft.com/office/powerpoint/2010/main" val="2265068368"/>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F3AB1-C4A8-8A74-FA16-FD6C4AA7EC3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E33E6B-B113-45D6-A350-90CA30130268}"/>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389F6CA9-9674-ACD4-E6B1-AA9F7645312C}"/>
              </a:ext>
            </a:extLst>
          </p:cNvPr>
          <p:cNvSpPr>
            <a:spLocks noGrp="1"/>
          </p:cNvSpPr>
          <p:nvPr>
            <p:ph idx="1"/>
          </p:nvPr>
        </p:nvSpPr>
        <p:spPr/>
        <p:txBody>
          <a:bodyPr/>
          <a:lstStyle/>
          <a:p>
            <a:r>
              <a:rPr lang="ru-RU" dirty="0"/>
              <a:t>Здесь элемент </a:t>
            </a:r>
            <a:r>
              <a:rPr lang="ru-RU" i="1" dirty="0"/>
              <a:t>тип </a:t>
            </a:r>
            <a:r>
              <a:rPr lang="ru-RU" dirty="0"/>
              <a:t>означает тип битового поля, а элемент </a:t>
            </a:r>
            <a:r>
              <a:rPr lang="ru-RU" i="1" dirty="0"/>
              <a:t>длина </a:t>
            </a:r>
            <a:r>
              <a:rPr lang="ru-RU" dirty="0"/>
              <a:t>— количество битов в этом поле. </a:t>
            </a:r>
          </a:p>
          <a:p>
            <a:r>
              <a:rPr lang="ru-RU" dirty="0"/>
              <a:t>Битовое поле должно быть   </a:t>
            </a:r>
            <a:r>
              <a:rPr lang="ru-RU" dirty="0" err="1"/>
              <a:t>бъявлено</a:t>
            </a:r>
            <a:r>
              <a:rPr lang="ru-RU" dirty="0"/>
              <a:t> как значение целочисленного типа или перечисления. Битовые поля длиной </a:t>
            </a:r>
            <a:r>
              <a:rPr lang="ru-RU" i="1" dirty="0"/>
              <a:t>1 бит </a:t>
            </a:r>
            <a:r>
              <a:rPr lang="ru-RU" dirty="0"/>
              <a:t>объявляются как значения типа без знака (</a:t>
            </a:r>
            <a:r>
              <a:rPr lang="ru-RU" i="1" dirty="0" err="1"/>
              <a:t>unsigned</a:t>
            </a:r>
            <a:r>
              <a:rPr lang="ru-RU" dirty="0"/>
              <a:t>), поскольку единственный бит не может иметь знакового разряда.</a:t>
            </a:r>
          </a:p>
          <a:p>
            <a:r>
              <a:rPr lang="ru-RU" dirty="0"/>
              <a:t>Битовые поля обычно используются для анализа входных данных, принимаемых от устройств, входящих в состав оборудования системы. Например, порт состояний последовательного адаптера связи может возвращать байт состояния, организованный таким</a:t>
            </a:r>
          </a:p>
          <a:p>
            <a:r>
              <a:rPr lang="ru-RU" dirty="0"/>
              <a:t>образом.</a:t>
            </a:r>
          </a:p>
          <a:p>
            <a:endParaRPr lang="ru-RU" dirty="0"/>
          </a:p>
        </p:txBody>
      </p:sp>
    </p:spTree>
    <p:extLst>
      <p:ext uri="{BB962C8B-B14F-4D97-AF65-F5344CB8AC3E}">
        <p14:creationId xmlns:p14="http://schemas.microsoft.com/office/powerpoint/2010/main" val="16438879"/>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4E6D85-056D-A3E2-61C2-15010775924C}"/>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24FF5641-1D70-A305-1BBC-5EF53D30E6AA}"/>
              </a:ext>
            </a:extLst>
          </p:cNvPr>
          <p:cNvSpPr>
            <a:spLocks noGrp="1"/>
          </p:cNvSpPr>
          <p:nvPr>
            <p:ph idx="1"/>
          </p:nvPr>
        </p:nvSpPr>
        <p:spPr/>
        <p:txBody>
          <a:bodyPr/>
          <a:lstStyle/>
          <a:p>
            <a:r>
              <a:rPr lang="de-CH" sz="2000" dirty="0" err="1">
                <a:solidFill>
                  <a:srgbClr val="0000FF"/>
                </a:solidFill>
                <a:highlight>
                  <a:srgbClr val="FFFFFF"/>
                </a:highlight>
                <a:latin typeface="Cascadia Mono" panose="020B0609020000020004" pitchFamily="49" charset="0"/>
              </a:rPr>
              <a:t>struct</a:t>
            </a:r>
            <a:r>
              <a:rPr lang="de-CH" sz="2000" dirty="0">
                <a:solidFill>
                  <a:srgbClr val="000000"/>
                </a:solidFill>
                <a:highlight>
                  <a:srgbClr val="FFFFFF"/>
                </a:highlight>
                <a:latin typeface="Cascadia Mono" panose="020B0609020000020004" pitchFamily="49" charset="0"/>
              </a:rPr>
              <a:t> </a:t>
            </a:r>
            <a:r>
              <a:rPr lang="de-CH" sz="2000" dirty="0" err="1">
                <a:solidFill>
                  <a:srgbClr val="2B91AF"/>
                </a:solidFill>
                <a:highlight>
                  <a:srgbClr val="FFFFFF"/>
                </a:highlight>
                <a:latin typeface="Cascadia Mono" panose="020B0609020000020004" pitchFamily="49" charset="0"/>
              </a:rPr>
              <a:t>point</a:t>
            </a:r>
            <a:endParaRPr lang="de-CH"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unsigned</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x : 5;   </a:t>
            </a:r>
            <a:r>
              <a:rPr lang="de-CH" sz="2000" dirty="0">
                <a:solidFill>
                  <a:srgbClr val="008000"/>
                </a:solidFill>
                <a:highlight>
                  <a:srgbClr val="FFFFFF"/>
                </a:highlight>
                <a:latin typeface="Cascadia Mono" panose="020B0609020000020004" pitchFamily="49" charset="0"/>
              </a:rPr>
              <a:t>// 0-31</a:t>
            </a:r>
            <a:endParaRPr lang="de-CH"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unsigned</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y : 3;   </a:t>
            </a:r>
            <a:r>
              <a:rPr lang="de-CH" sz="2000" dirty="0">
                <a:solidFill>
                  <a:srgbClr val="008000"/>
                </a:solidFill>
                <a:highlight>
                  <a:srgbClr val="FFFFFF"/>
                </a:highlight>
                <a:latin typeface="Cascadia Mono" panose="020B0609020000020004" pitchFamily="49" charset="0"/>
              </a:rPr>
              <a:t>// 0-7</a:t>
            </a:r>
            <a:endParaRPr lang="de-CH"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a:t>
            </a:r>
          </a:p>
          <a:p>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main</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struct</a:t>
            </a:r>
            <a:r>
              <a:rPr lang="de-CH" sz="2000" dirty="0">
                <a:solidFill>
                  <a:srgbClr val="000000"/>
                </a:solidFill>
                <a:highlight>
                  <a:srgbClr val="FFFFFF"/>
                </a:highlight>
                <a:latin typeface="Cascadia Mono" panose="020B0609020000020004" pitchFamily="49" charset="0"/>
              </a:rPr>
              <a:t> </a:t>
            </a:r>
            <a:r>
              <a:rPr lang="de-CH" sz="2000" dirty="0" err="1">
                <a:solidFill>
                  <a:srgbClr val="2B91AF"/>
                </a:solidFill>
                <a:highlight>
                  <a:srgbClr val="FFFFFF"/>
                </a:highlight>
                <a:latin typeface="Cascadia Mono" panose="020B0609020000020004" pitchFamily="49" charset="0"/>
              </a:rPr>
              <a:t>point</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center</a:t>
            </a:r>
            <a:r>
              <a:rPr lang="de-CH" sz="2000" dirty="0">
                <a:solidFill>
                  <a:srgbClr val="000000"/>
                </a:solidFill>
                <a:highlight>
                  <a:srgbClr val="FFFFFF"/>
                </a:highlight>
                <a:latin typeface="Cascadia Mono" panose="020B0609020000020004" pitchFamily="49" charset="0"/>
              </a:rPr>
              <a:t> = { 0, 5 };</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center.x</a:t>
            </a:r>
            <a:r>
              <a:rPr lang="de-CH" sz="2000" dirty="0">
                <a:solidFill>
                  <a:srgbClr val="000000"/>
                </a:solidFill>
                <a:highlight>
                  <a:srgbClr val="FFFFFF"/>
                </a:highlight>
                <a:latin typeface="Cascadia Mono" panose="020B0609020000020004" pitchFamily="49" charset="0"/>
              </a:rPr>
              <a:t> = 2;</a:t>
            </a:r>
          </a:p>
          <a:p>
            <a:r>
              <a:rPr lang="es-ES" sz="2000" dirty="0">
                <a:solidFill>
                  <a:srgbClr val="000000"/>
                </a:solidFill>
                <a:highlight>
                  <a:srgbClr val="FFFFFF"/>
                </a:highlight>
                <a:latin typeface="Cascadia Mono" panose="020B0609020000020004" pitchFamily="49" charset="0"/>
              </a:rPr>
              <a:t>    </a:t>
            </a:r>
            <a:r>
              <a:rPr lang="es-ES" sz="2000" dirty="0" err="1">
                <a:solidFill>
                  <a:srgbClr val="000000"/>
                </a:solidFill>
                <a:highlight>
                  <a:srgbClr val="FFFFFF"/>
                </a:highlight>
                <a:latin typeface="Cascadia Mono" panose="020B0609020000020004" pitchFamily="49" charset="0"/>
              </a:rPr>
              <a:t>printf</a:t>
            </a:r>
            <a:r>
              <a:rPr lang="es-ES" sz="2000" dirty="0">
                <a:solidFill>
                  <a:srgbClr val="000000"/>
                </a:solidFill>
                <a:highlight>
                  <a:srgbClr val="FFFFFF"/>
                </a:highlight>
                <a:latin typeface="Cascadia Mono" panose="020B0609020000020004" pitchFamily="49" charset="0"/>
              </a:rPr>
              <a:t>(</a:t>
            </a:r>
            <a:r>
              <a:rPr lang="es-ES" sz="2000" dirty="0">
                <a:solidFill>
                  <a:srgbClr val="A31515"/>
                </a:solidFill>
                <a:highlight>
                  <a:srgbClr val="FFFFFF"/>
                </a:highlight>
                <a:latin typeface="Cascadia Mono" panose="020B0609020000020004" pitchFamily="49" charset="0"/>
              </a:rPr>
              <a:t>"x=%d    y=%d \n"</a:t>
            </a:r>
            <a:r>
              <a:rPr lang="es-ES" sz="2000" dirty="0">
                <a:solidFill>
                  <a:srgbClr val="000000"/>
                </a:solidFill>
                <a:highlight>
                  <a:srgbClr val="FFFFFF"/>
                </a:highlight>
                <a:latin typeface="Cascadia Mono" panose="020B0609020000020004" pitchFamily="49" charset="0"/>
              </a:rPr>
              <a:t>, </a:t>
            </a:r>
            <a:r>
              <a:rPr lang="es-ES" sz="2000" dirty="0" err="1">
                <a:solidFill>
                  <a:srgbClr val="000000"/>
                </a:solidFill>
                <a:highlight>
                  <a:srgbClr val="FFFFFF"/>
                </a:highlight>
                <a:latin typeface="Cascadia Mono" panose="020B0609020000020004" pitchFamily="49" charset="0"/>
              </a:rPr>
              <a:t>center.x</a:t>
            </a:r>
            <a:r>
              <a:rPr lang="es-ES" sz="2000" dirty="0">
                <a:solidFill>
                  <a:srgbClr val="000000"/>
                </a:solidFill>
                <a:highlight>
                  <a:srgbClr val="FFFFFF"/>
                </a:highlight>
                <a:latin typeface="Cascadia Mono" panose="020B0609020000020004" pitchFamily="49" charset="0"/>
              </a:rPr>
              <a:t>, </a:t>
            </a:r>
            <a:r>
              <a:rPr lang="es-ES" sz="2000" dirty="0" err="1">
                <a:solidFill>
                  <a:srgbClr val="000000"/>
                </a:solidFill>
                <a:highlight>
                  <a:srgbClr val="FFFFFF"/>
                </a:highlight>
                <a:latin typeface="Cascadia Mono" panose="020B0609020000020004" pitchFamily="49" charset="0"/>
              </a:rPr>
              <a:t>center.y</a:t>
            </a:r>
            <a:r>
              <a:rPr lang="es-ES" sz="2000" dirty="0">
                <a:solidFill>
                  <a:srgbClr val="000000"/>
                </a:solidFill>
                <a:highlight>
                  <a:srgbClr val="FFFFFF"/>
                </a:highlight>
                <a:latin typeface="Cascadia Mono" panose="020B0609020000020004" pitchFamily="49" charset="0"/>
              </a:rPr>
              <a:t>);  </a:t>
            </a:r>
            <a:r>
              <a:rPr lang="es-ES" sz="2000" dirty="0">
                <a:solidFill>
                  <a:srgbClr val="008000"/>
                </a:solidFill>
                <a:highlight>
                  <a:srgbClr val="FFFFFF"/>
                </a:highlight>
                <a:latin typeface="Cascadia Mono" panose="020B0609020000020004" pitchFamily="49" charset="0"/>
              </a:rPr>
              <a:t>// x=2  y=5</a:t>
            </a:r>
            <a:endParaRPr lang="es-ES" sz="2000" dirty="0">
              <a:solidFill>
                <a:srgbClr val="000000"/>
              </a:solidFill>
              <a:highlight>
                <a:srgbClr val="FFFFFF"/>
              </a:highlight>
              <a:latin typeface="Cascadia Mono" panose="020B0609020000020004" pitchFamily="49" charset="0"/>
            </a:endParaRPr>
          </a:p>
          <a:p>
            <a:endParaRPr lang="ru-RU" sz="2000" dirty="0">
              <a:solidFill>
                <a:srgbClr val="000000"/>
              </a:solidFill>
              <a:highlight>
                <a:srgbClr val="FFFFFF"/>
              </a:highlight>
              <a:latin typeface="Cascadia Mono" panose="020B0609020000020004" pitchFamily="49" charset="0"/>
            </a:endParaRP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return</a:t>
            </a:r>
            <a:r>
              <a:rPr lang="de-CH" sz="2000" dirty="0">
                <a:solidFill>
                  <a:srgbClr val="000000"/>
                </a:solidFill>
                <a:highlight>
                  <a:srgbClr val="FFFFFF"/>
                </a:highlight>
                <a:latin typeface="Cascadia Mono" panose="020B0609020000020004" pitchFamily="49" charset="0"/>
              </a:rPr>
              <a:t> 0;</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893655336"/>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A03C-3808-0D92-A3DB-B1A0D077C616}"/>
              </a:ext>
            </a:extLst>
          </p:cNvPr>
          <p:cNvSpPr>
            <a:spLocks noGrp="1"/>
          </p:cNvSpPr>
          <p:nvPr>
            <p:ph type="title"/>
          </p:nvPr>
        </p:nvSpPr>
        <p:spPr/>
        <p:txBody>
          <a:bodyPr/>
          <a:lstStyle/>
          <a:p>
            <a:r>
              <a:rPr lang="ru-RU" dirty="0"/>
              <a:t>Структуры и объединения</a:t>
            </a:r>
          </a:p>
        </p:txBody>
      </p:sp>
      <p:sp>
        <p:nvSpPr>
          <p:cNvPr id="9" name="Объект 8">
            <a:extLst>
              <a:ext uri="{FF2B5EF4-FFF2-40B4-BE49-F238E27FC236}">
                <a16:creationId xmlns:a16="http://schemas.microsoft.com/office/drawing/2014/main" id="{44EFDBA6-76B0-37B0-8E0B-05AFC24DBAE2}"/>
              </a:ext>
            </a:extLst>
          </p:cNvPr>
          <p:cNvSpPr>
            <a:spLocks noGrp="1"/>
          </p:cNvSpPr>
          <p:nvPr>
            <p:ph idx="1"/>
          </p:nvPr>
        </p:nvSpPr>
        <p:spPr/>
        <p:txBody>
          <a:bodyPr/>
          <a:lstStyle/>
          <a:p>
            <a:r>
              <a:rPr lang="ru-RU" dirty="0"/>
              <a:t>В зависимости от платформы расположение полей структуры в памяти может отличаться. В частности, на Windows порядок расположения следующий: поля в начале структуры имеют младшие адреса, а поля в конце структуры имеют старшие адреса. То есть если мы возьмем из примера выше поля x и y структуры </a:t>
            </a:r>
            <a:r>
              <a:rPr lang="ru-RU" dirty="0" err="1"/>
              <a:t>point</a:t>
            </a:r>
            <a:r>
              <a:rPr lang="ru-RU" dirty="0"/>
              <a:t> с финальными значениями x=2 и y=5, то мы получим на Windows следующее размещение битов в памяти:</a:t>
            </a:r>
            <a:endParaRPr lang="en-US" dirty="0"/>
          </a:p>
          <a:p>
            <a:endParaRPr lang="ru-RU" dirty="0"/>
          </a:p>
        </p:txBody>
      </p:sp>
      <p:pic>
        <p:nvPicPr>
          <p:cNvPr id="13" name="Рисунок 12" descr="Изображение выглядит как снимок экрана, Прямоугольник, клавиатура, рычаг&#10;&#10;Содержимое, созданное искусственным интеллектом, может быть неверным.">
            <a:extLst>
              <a:ext uri="{FF2B5EF4-FFF2-40B4-BE49-F238E27FC236}">
                <a16:creationId xmlns:a16="http://schemas.microsoft.com/office/drawing/2014/main" id="{E7F14398-3276-BB30-8126-9284B661EEE1}"/>
              </a:ext>
            </a:extLst>
          </p:cNvPr>
          <p:cNvPicPr>
            <a:picLocks noChangeAspect="1"/>
          </p:cNvPicPr>
          <p:nvPr/>
        </p:nvPicPr>
        <p:blipFill>
          <a:blip r:embed="rId2"/>
          <a:stretch>
            <a:fillRect/>
          </a:stretch>
        </p:blipFill>
        <p:spPr>
          <a:xfrm>
            <a:off x="539552" y="3717032"/>
            <a:ext cx="5296639" cy="2162477"/>
          </a:xfrm>
          <a:prstGeom prst="rect">
            <a:avLst/>
          </a:prstGeom>
        </p:spPr>
      </p:pic>
    </p:spTree>
    <p:extLst>
      <p:ext uri="{BB962C8B-B14F-4D97-AF65-F5344CB8AC3E}">
        <p14:creationId xmlns:p14="http://schemas.microsoft.com/office/powerpoint/2010/main" val="2601669988"/>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BFB766-9FE8-F647-EA7F-09618347C974}"/>
              </a:ext>
            </a:extLst>
          </p:cNvPr>
          <p:cNvSpPr>
            <a:spLocks noGrp="1"/>
          </p:cNvSpPr>
          <p:nvPr>
            <p:ph type="title"/>
          </p:nvPr>
        </p:nvSpPr>
        <p:spPr/>
        <p:txBody>
          <a:bodyPr/>
          <a:lstStyle/>
          <a:p>
            <a:r>
              <a:rPr lang="ru-RU" dirty="0"/>
              <a:t>Структуры и объединения</a:t>
            </a:r>
          </a:p>
        </p:txBody>
      </p:sp>
      <p:sp>
        <p:nvSpPr>
          <p:cNvPr id="3" name="Объект 2">
            <a:extLst>
              <a:ext uri="{FF2B5EF4-FFF2-40B4-BE49-F238E27FC236}">
                <a16:creationId xmlns:a16="http://schemas.microsoft.com/office/drawing/2014/main" id="{24450EB8-EA97-C416-C7F4-C3A0C0DEBC1D}"/>
              </a:ext>
            </a:extLst>
          </p:cNvPr>
          <p:cNvSpPr>
            <a:spLocks noGrp="1"/>
          </p:cNvSpPr>
          <p:nvPr>
            <p:ph idx="1"/>
          </p:nvPr>
        </p:nvSpPr>
        <p:spPr/>
        <p:txBody>
          <a:bodyPr/>
          <a:lstStyle/>
          <a:p>
            <a:r>
              <a:rPr lang="ru-RU" dirty="0"/>
              <a:t>Чтобы присвоить битовому полю значение, достаточно использовать такую же форму, которая обычно применяется для элемента структуры любого другого типа. </a:t>
            </a:r>
          </a:p>
        </p:txBody>
      </p:sp>
    </p:spTree>
    <p:extLst>
      <p:ext uri="{BB962C8B-B14F-4D97-AF65-F5344CB8AC3E}">
        <p14:creationId xmlns:p14="http://schemas.microsoft.com/office/powerpoint/2010/main" val="3492428353"/>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33EDFE-C052-6135-96E8-143C6BE96D40}"/>
              </a:ext>
            </a:extLst>
          </p:cNvPr>
          <p:cNvSpPr>
            <a:spLocks noGrp="1"/>
          </p:cNvSpPr>
          <p:nvPr>
            <p:ph type="title"/>
          </p:nvPr>
        </p:nvSpPr>
        <p:spPr/>
        <p:txBody>
          <a:bodyPr/>
          <a:lstStyle/>
          <a:p>
            <a:r>
              <a:rPr lang="ru-RU" b="1" i="1" dirty="0"/>
              <a:t>Сравнение С- и С++-структур</a:t>
            </a:r>
            <a:endParaRPr lang="ru-RU" dirty="0"/>
          </a:p>
        </p:txBody>
      </p:sp>
      <p:sp>
        <p:nvSpPr>
          <p:cNvPr id="3" name="Объект 2">
            <a:extLst>
              <a:ext uri="{FF2B5EF4-FFF2-40B4-BE49-F238E27FC236}">
                <a16:creationId xmlns:a16="http://schemas.microsoft.com/office/drawing/2014/main" id="{6C502FAB-E4D9-BBCD-BED5-219D7021736A}"/>
              </a:ext>
            </a:extLst>
          </p:cNvPr>
          <p:cNvSpPr>
            <a:spLocks noGrp="1"/>
          </p:cNvSpPr>
          <p:nvPr>
            <p:ph idx="1"/>
          </p:nvPr>
        </p:nvSpPr>
        <p:spPr/>
        <p:txBody>
          <a:bodyPr/>
          <a:lstStyle/>
          <a:p>
            <a:pPr algn="just"/>
            <a:r>
              <a:rPr lang="ru-RU" dirty="0"/>
              <a:t>С++</a:t>
            </a:r>
            <a:r>
              <a:rPr lang="en-US" dirty="0"/>
              <a:t> </a:t>
            </a:r>
            <a:r>
              <a:rPr lang="ru-RU" dirty="0"/>
              <a:t>-</a:t>
            </a:r>
            <a:r>
              <a:rPr lang="en-US" dirty="0"/>
              <a:t> </a:t>
            </a:r>
            <a:r>
              <a:rPr lang="ru-RU" dirty="0"/>
              <a:t>структуры — потомки С-структур. Следовательно, любая С-структура также</a:t>
            </a:r>
            <a:r>
              <a:rPr lang="en-US" dirty="0"/>
              <a:t> </a:t>
            </a:r>
            <a:r>
              <a:rPr lang="ru-RU" dirty="0"/>
              <a:t>является действительной С++</a:t>
            </a:r>
            <a:r>
              <a:rPr lang="en-US" dirty="0"/>
              <a:t> </a:t>
            </a:r>
            <a:r>
              <a:rPr lang="ru-RU" dirty="0"/>
              <a:t>-</a:t>
            </a:r>
            <a:r>
              <a:rPr lang="en-US" dirty="0"/>
              <a:t> </a:t>
            </a:r>
            <a:r>
              <a:rPr lang="ru-RU" dirty="0"/>
              <a:t>структурой. Между ними, однако, существуют важные</a:t>
            </a:r>
            <a:r>
              <a:rPr lang="en-US" dirty="0"/>
              <a:t> </a:t>
            </a:r>
            <a:r>
              <a:rPr lang="ru-RU" dirty="0"/>
              <a:t>различия. Во-первых</a:t>
            </a:r>
            <a:r>
              <a:rPr lang="en-US" dirty="0"/>
              <a:t> </a:t>
            </a:r>
            <a:r>
              <a:rPr lang="ru-RU" dirty="0"/>
              <a:t>С++</a:t>
            </a:r>
            <a:r>
              <a:rPr lang="en-US" dirty="0"/>
              <a:t> </a:t>
            </a:r>
            <a:r>
              <a:rPr lang="ru-RU" dirty="0"/>
              <a:t>-</a:t>
            </a:r>
            <a:r>
              <a:rPr lang="en-US" dirty="0"/>
              <a:t> </a:t>
            </a:r>
            <a:r>
              <a:rPr lang="ru-RU" dirty="0"/>
              <a:t>структуры имеют</a:t>
            </a:r>
            <a:r>
              <a:rPr lang="en-US" dirty="0"/>
              <a:t> </a:t>
            </a:r>
            <a:r>
              <a:rPr lang="ru-RU" dirty="0"/>
              <a:t>некоторые уникальные атрибуты, которые позволяют им поддерживать </a:t>
            </a:r>
            <a:r>
              <a:rPr lang="ru-RU" i="1" dirty="0"/>
              <a:t>объектно-ориентированное </a:t>
            </a:r>
            <a:r>
              <a:rPr lang="ru-RU" dirty="0"/>
              <a:t>программирование. Во-вторых, в языке С структура не определяет в</a:t>
            </a:r>
            <a:r>
              <a:rPr lang="en-US" dirty="0"/>
              <a:t> </a:t>
            </a:r>
            <a:r>
              <a:rPr lang="ru-RU" dirty="0"/>
              <a:t>действительности новый тип данных. Как</a:t>
            </a:r>
            <a:r>
              <a:rPr lang="en-US" dirty="0"/>
              <a:t> </a:t>
            </a:r>
            <a:r>
              <a:rPr lang="ru-RU" dirty="0"/>
              <a:t>вы уже знаете, определяя структуру в C++, вы определяете новый тип, который называется</a:t>
            </a:r>
            <a:r>
              <a:rPr lang="en-US" dirty="0"/>
              <a:t> </a:t>
            </a:r>
            <a:r>
              <a:rPr lang="ru-RU" dirty="0"/>
              <a:t>по имени этой структуры. Этот новый тип можно использовать для объявления переменных,</a:t>
            </a:r>
            <a:r>
              <a:rPr lang="en-US" dirty="0"/>
              <a:t> </a:t>
            </a:r>
            <a:r>
              <a:rPr lang="ru-RU" dirty="0"/>
              <a:t>определения значений, возвращаемых функциями, и т.п. Однако в С имя структуры</a:t>
            </a:r>
            <a:r>
              <a:rPr lang="en-US" dirty="0"/>
              <a:t> </a:t>
            </a:r>
            <a:r>
              <a:rPr lang="ru-RU" dirty="0"/>
              <a:t>называется ее </a:t>
            </a:r>
            <a:r>
              <a:rPr lang="ru-RU" i="1" dirty="0"/>
              <a:t>тегом </a:t>
            </a:r>
            <a:r>
              <a:rPr lang="ru-RU" dirty="0"/>
              <a:t>(или </a:t>
            </a:r>
            <a:r>
              <a:rPr lang="ru-RU" i="1" dirty="0"/>
              <a:t>дескриптором</a:t>
            </a:r>
            <a:r>
              <a:rPr lang="ru-RU" dirty="0"/>
              <a:t>). А </a:t>
            </a:r>
            <a:r>
              <a:rPr lang="ru-RU" i="1" dirty="0"/>
              <a:t>тег </a:t>
            </a:r>
            <a:r>
              <a:rPr lang="ru-RU" dirty="0"/>
              <a:t>сам по себе не является именем типа.</a:t>
            </a:r>
          </a:p>
        </p:txBody>
      </p:sp>
    </p:spTree>
    <p:extLst>
      <p:ext uri="{BB962C8B-B14F-4D97-AF65-F5344CB8AC3E}">
        <p14:creationId xmlns:p14="http://schemas.microsoft.com/office/powerpoint/2010/main" val="929064709"/>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AF55ED-4957-0FE6-9FDF-A758C4F7B1A1}"/>
              </a:ext>
            </a:extLst>
          </p:cNvPr>
          <p:cNvSpPr>
            <a:spLocks noGrp="1"/>
          </p:cNvSpPr>
          <p:nvPr>
            <p:ph type="title"/>
          </p:nvPr>
        </p:nvSpPr>
        <p:spPr/>
        <p:txBody>
          <a:bodyPr/>
          <a:lstStyle/>
          <a:p>
            <a:r>
              <a:rPr lang="ru-RU" b="1" i="1" dirty="0"/>
              <a:t>Сравнение С- и С++-структур</a:t>
            </a:r>
            <a:endParaRPr lang="ru-RU" dirty="0"/>
          </a:p>
        </p:txBody>
      </p:sp>
      <p:sp>
        <p:nvSpPr>
          <p:cNvPr id="3" name="Объект 2">
            <a:extLst>
              <a:ext uri="{FF2B5EF4-FFF2-40B4-BE49-F238E27FC236}">
                <a16:creationId xmlns:a16="http://schemas.microsoft.com/office/drawing/2014/main" id="{68148056-75CB-0E59-8C34-C224A2E30576}"/>
              </a:ext>
            </a:extLst>
          </p:cNvPr>
          <p:cNvSpPr>
            <a:spLocks noGrp="1"/>
          </p:cNvSpPr>
          <p:nvPr>
            <p:ph idx="1"/>
          </p:nvPr>
        </p:nvSpPr>
        <p:spPr/>
        <p:txBody>
          <a:bodyPr/>
          <a:lstStyle/>
          <a:p>
            <a:pPr lvl="1"/>
            <a:endParaRPr lang="de-CH" sz="2000" dirty="0"/>
          </a:p>
          <a:p>
            <a:pPr lvl="1"/>
            <a:r>
              <a:rPr lang="de-CH" sz="2000" dirty="0" err="1"/>
              <a:t>struct</a:t>
            </a:r>
            <a:r>
              <a:rPr lang="de-CH" sz="2000" dirty="0"/>
              <a:t> </a:t>
            </a:r>
            <a:r>
              <a:rPr lang="de-CH" sz="2000" dirty="0" err="1"/>
              <a:t>C_struct</a:t>
            </a:r>
            <a:r>
              <a:rPr lang="de-CH" sz="2000" dirty="0"/>
              <a:t> {</a:t>
            </a:r>
          </a:p>
          <a:p>
            <a:pPr lvl="1"/>
            <a:r>
              <a:rPr lang="de-CH" sz="2000" dirty="0"/>
              <a:t>　int </a:t>
            </a:r>
            <a:r>
              <a:rPr lang="ru-RU" sz="2000" dirty="0"/>
              <a:t>а; </a:t>
            </a:r>
            <a:r>
              <a:rPr lang="de-CH" sz="2000" dirty="0"/>
              <a:t>int b;</a:t>
            </a:r>
          </a:p>
          <a:p>
            <a:pPr lvl="1"/>
            <a:r>
              <a:rPr lang="ru-RU" sz="2000" dirty="0"/>
              <a:t>}</a:t>
            </a:r>
          </a:p>
          <a:p>
            <a:pPr lvl="1"/>
            <a:r>
              <a:rPr lang="ru-RU" sz="2000" dirty="0"/>
              <a:t>// объявление переменной </a:t>
            </a:r>
            <a:r>
              <a:rPr lang="de-CH" sz="2000" dirty="0" err="1"/>
              <a:t>C_struct</a:t>
            </a:r>
            <a:endParaRPr lang="de-CH" sz="2000" dirty="0"/>
          </a:p>
          <a:p>
            <a:pPr lvl="1"/>
            <a:r>
              <a:rPr lang="de-CH" sz="2000" dirty="0" err="1"/>
              <a:t>struct</a:t>
            </a:r>
            <a:r>
              <a:rPr lang="de-CH" sz="2000" dirty="0"/>
              <a:t> </a:t>
            </a:r>
            <a:r>
              <a:rPr lang="de-CH" sz="2000" dirty="0" err="1"/>
              <a:t>C_struct</a:t>
            </a:r>
            <a:r>
              <a:rPr lang="de-CH" sz="2000" dirty="0"/>
              <a:t> </a:t>
            </a:r>
            <a:r>
              <a:rPr lang="de-CH" sz="2000" dirty="0" err="1"/>
              <a:t>svar</a:t>
            </a:r>
            <a:r>
              <a:rPr lang="de-CH" sz="2000" dirty="0"/>
              <a:t>;</a:t>
            </a:r>
            <a:endParaRPr lang="ru-RU" sz="2000" dirty="0"/>
          </a:p>
        </p:txBody>
      </p:sp>
    </p:spTree>
    <p:extLst>
      <p:ext uri="{BB962C8B-B14F-4D97-AF65-F5344CB8AC3E}">
        <p14:creationId xmlns:p14="http://schemas.microsoft.com/office/powerpoint/2010/main" val="2213621782"/>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3FE018-80EA-66F5-3C6E-87A558590090}"/>
              </a:ext>
            </a:extLst>
          </p:cNvPr>
          <p:cNvSpPr>
            <a:spLocks noGrp="1"/>
          </p:cNvSpPr>
          <p:nvPr>
            <p:ph type="title"/>
          </p:nvPr>
        </p:nvSpPr>
        <p:spPr/>
        <p:txBody>
          <a:bodyPr/>
          <a:lstStyle/>
          <a:p>
            <a:r>
              <a:rPr lang="ru-RU" dirty="0"/>
              <a:t>Объединения</a:t>
            </a:r>
          </a:p>
        </p:txBody>
      </p:sp>
      <p:sp>
        <p:nvSpPr>
          <p:cNvPr id="3" name="Объект 2">
            <a:extLst>
              <a:ext uri="{FF2B5EF4-FFF2-40B4-BE49-F238E27FC236}">
                <a16:creationId xmlns:a16="http://schemas.microsoft.com/office/drawing/2014/main" id="{F0D612FB-C345-DC6A-2877-F22D382CC7EE}"/>
              </a:ext>
            </a:extLst>
          </p:cNvPr>
          <p:cNvSpPr>
            <a:spLocks noGrp="1"/>
          </p:cNvSpPr>
          <p:nvPr>
            <p:ph idx="1"/>
          </p:nvPr>
        </p:nvSpPr>
        <p:spPr/>
        <p:txBody>
          <a:bodyPr/>
          <a:lstStyle/>
          <a:p>
            <a:r>
              <a:rPr lang="ru-RU" dirty="0"/>
              <a:t>Объединение состоит из нескольких переменных, которые разделяют одну и ту же</a:t>
            </a:r>
          </a:p>
          <a:p>
            <a:r>
              <a:rPr lang="ru-RU" dirty="0"/>
              <a:t>область памяти. Следовательно, объединение обеспечивает возможность интерпретации</a:t>
            </a:r>
          </a:p>
          <a:p>
            <a:r>
              <a:rPr lang="ru-RU" dirty="0"/>
              <a:t>одной и той же конфигурации битов двумя (или более) различными способами.</a:t>
            </a:r>
          </a:p>
          <a:p>
            <a:endParaRPr lang="ru-RU" dirty="0"/>
          </a:p>
          <a:p>
            <a:r>
              <a:rPr lang="de-CH" sz="2000" dirty="0" err="1">
                <a:solidFill>
                  <a:srgbClr val="0000FF"/>
                </a:solidFill>
                <a:highlight>
                  <a:srgbClr val="FFFFFF"/>
                </a:highlight>
                <a:latin typeface="Cascadia Mono" panose="020B0609020000020004" pitchFamily="49" charset="0"/>
              </a:rPr>
              <a:t>union</a:t>
            </a:r>
            <a:r>
              <a:rPr lang="de-CH" sz="2000" dirty="0">
                <a:solidFill>
                  <a:srgbClr val="000000"/>
                </a:solidFill>
                <a:highlight>
                  <a:srgbClr val="FFFFFF"/>
                </a:highlight>
                <a:latin typeface="Cascadia Mono" panose="020B0609020000020004" pitchFamily="49" charset="0"/>
              </a:rPr>
              <a:t> </a:t>
            </a:r>
            <a:r>
              <a:rPr lang="de-CH" sz="2000" dirty="0" err="1">
                <a:solidFill>
                  <a:srgbClr val="2B91AF"/>
                </a:solidFill>
                <a:highlight>
                  <a:srgbClr val="FFFFFF"/>
                </a:highlight>
                <a:latin typeface="Cascadia Mono" panose="020B0609020000020004" pitchFamily="49" charset="0"/>
              </a:rPr>
              <a:t>utype</a:t>
            </a:r>
            <a:endParaRPr lang="de-CH" sz="2000" dirty="0">
              <a:solidFill>
                <a:srgbClr val="000000"/>
              </a:solidFill>
              <a:highlight>
                <a:srgbClr val="FFFFFF"/>
              </a:highlight>
              <a:latin typeface="Cascadia Mono" panose="020B0609020000020004" pitchFamily="49" charset="0"/>
            </a:endParaRPr>
          </a:p>
          <a:p>
            <a:r>
              <a:rPr lang="ru-RU" sz="2000" dirty="0">
                <a:solidFill>
                  <a:srgbClr val="000000"/>
                </a:solidFill>
                <a:highlight>
                  <a:srgbClr val="FFFFFF"/>
                </a:highlight>
                <a:latin typeface="Cascadia Mono" panose="020B0609020000020004" pitchFamily="49" charset="0"/>
              </a:rPr>
              <a:t>{</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short</a:t>
            </a:r>
            <a:r>
              <a:rPr lang="de-CH" sz="2000" dirty="0">
                <a:solidFill>
                  <a:srgbClr val="000000"/>
                </a:solidFill>
                <a:highlight>
                  <a:srgbClr val="FFFFFF"/>
                </a:highlight>
                <a:latin typeface="Cascadia Mono" panose="020B0609020000020004" pitchFamily="49" charset="0"/>
              </a:rPr>
              <a:t> </a:t>
            </a:r>
            <a:r>
              <a:rPr lang="de-CH" sz="2000" dirty="0">
                <a:solidFill>
                  <a:srgbClr val="0000FF"/>
                </a:solidFill>
                <a:highlight>
                  <a:srgbClr val="FFFFFF"/>
                </a:highlight>
                <a:latin typeface="Cascadia Mono" panose="020B0609020000020004" pitchFamily="49" charset="0"/>
              </a:rPr>
              <a:t>int</a:t>
            </a:r>
            <a:r>
              <a:rPr lang="de-CH" sz="2000" dirty="0">
                <a:solidFill>
                  <a:srgbClr val="000000"/>
                </a:solidFill>
                <a:highlight>
                  <a:srgbClr val="FFFFFF"/>
                </a:highlight>
                <a:latin typeface="Cascadia Mono" panose="020B0609020000020004" pitchFamily="49" charset="0"/>
              </a:rPr>
              <a:t> i;</a:t>
            </a:r>
          </a:p>
          <a:p>
            <a:r>
              <a:rPr lang="de-CH" sz="2000" dirty="0">
                <a:solidFill>
                  <a:srgbClr val="000000"/>
                </a:solidFill>
                <a:highlight>
                  <a:srgbClr val="FFFFFF"/>
                </a:highlight>
                <a:latin typeface="Cascadia Mono" panose="020B0609020000020004" pitchFamily="49" charset="0"/>
              </a:rPr>
              <a:t>    </a:t>
            </a:r>
            <a:r>
              <a:rPr lang="de-CH" sz="2000" dirty="0" err="1">
                <a:solidFill>
                  <a:srgbClr val="0000FF"/>
                </a:solidFill>
                <a:highlight>
                  <a:srgbClr val="FFFFFF"/>
                </a:highlight>
                <a:latin typeface="Cascadia Mono" panose="020B0609020000020004" pitchFamily="49" charset="0"/>
              </a:rPr>
              <a:t>char</a:t>
            </a:r>
            <a:r>
              <a:rPr lang="de-CH" sz="2000" dirty="0">
                <a:solidFill>
                  <a:srgbClr val="000000"/>
                </a:solidFill>
                <a:highlight>
                  <a:srgbClr val="FFFFFF"/>
                </a:highlight>
                <a:latin typeface="Cascadia Mono" panose="020B0609020000020004" pitchFamily="49" charset="0"/>
              </a:rPr>
              <a:t> </a:t>
            </a:r>
            <a:r>
              <a:rPr lang="de-CH" sz="2000" dirty="0" err="1">
                <a:solidFill>
                  <a:srgbClr val="000000"/>
                </a:solidFill>
                <a:highlight>
                  <a:srgbClr val="FFFFFF"/>
                </a:highlight>
                <a:latin typeface="Cascadia Mono" panose="020B0609020000020004" pitchFamily="49" charset="0"/>
              </a:rPr>
              <a:t>ch</a:t>
            </a:r>
            <a:r>
              <a:rPr lang="de-CH" sz="2000" dirty="0">
                <a:solidFill>
                  <a:srgbClr val="000000"/>
                </a:solidFill>
                <a:highlight>
                  <a:srgbClr val="FFFFFF"/>
                </a:highlight>
                <a:latin typeface="Cascadia Mono" panose="020B0609020000020004" pitchFamily="49" charset="0"/>
              </a:rPr>
              <a:t>;</a:t>
            </a:r>
          </a:p>
          <a:p>
            <a:r>
              <a:rPr lang="ru-RU" sz="2000" dirty="0">
                <a:solidFill>
                  <a:srgbClr val="000000"/>
                </a:solidFill>
                <a:highlight>
                  <a:srgbClr val="FFFFFF"/>
                </a:highlight>
                <a:latin typeface="Cascadia Mono" panose="020B0609020000020004" pitchFamily="49" charset="0"/>
              </a:rPr>
              <a:t>};</a:t>
            </a:r>
            <a:endParaRPr lang="ru-RU" dirty="0"/>
          </a:p>
        </p:txBody>
      </p:sp>
    </p:spTree>
    <p:extLst>
      <p:ext uri="{BB962C8B-B14F-4D97-AF65-F5344CB8AC3E}">
        <p14:creationId xmlns:p14="http://schemas.microsoft.com/office/powerpoint/2010/main" val="3031652012"/>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481FF9-B65B-93A7-D32A-742A7C8D6E39}"/>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9DDC407E-9259-B4AF-F2EA-592FCEA75E1E}"/>
              </a:ext>
            </a:extLst>
          </p:cNvPr>
          <p:cNvSpPr>
            <a:spLocks noGrp="1"/>
          </p:cNvSpPr>
          <p:nvPr>
            <p:ph idx="1"/>
          </p:nvPr>
        </p:nvSpPr>
        <p:spPr/>
        <p:txBody>
          <a:bodyPr/>
          <a:lstStyle/>
          <a:p>
            <a:r>
              <a:rPr lang="ru-RU" dirty="0"/>
              <a:t>Невозможно сделать так, чтобы это объединение хранило и целочисленное значение, и символ одновременно, поскольку переменные </a:t>
            </a:r>
            <a:r>
              <a:rPr lang="ru-RU" i="1" dirty="0"/>
              <a:t>i </a:t>
            </a:r>
            <a:r>
              <a:rPr lang="ru-RU" dirty="0"/>
              <a:t>и </a:t>
            </a:r>
            <a:r>
              <a:rPr lang="ru-RU" i="1" dirty="0" err="1"/>
              <a:t>ch</a:t>
            </a:r>
            <a:r>
              <a:rPr lang="ru-RU" i="1" dirty="0"/>
              <a:t> </a:t>
            </a:r>
            <a:r>
              <a:rPr lang="ru-RU" dirty="0"/>
              <a:t>накладываются (в памяти) друг на друга. Но программа в любой момент может обрабатывать информацию, содержащуюся в этом объединении, как целочисленное значение или как символ. Следовательно, объединение обеспечивает два (или больше) способа представления одной и той же порции</a:t>
            </a:r>
          </a:p>
          <a:p>
            <a:r>
              <a:rPr lang="ru-RU" dirty="0"/>
              <a:t>данных.</a:t>
            </a:r>
          </a:p>
        </p:txBody>
      </p:sp>
    </p:spTree>
    <p:extLst>
      <p:ext uri="{BB962C8B-B14F-4D97-AF65-F5344CB8AC3E}">
        <p14:creationId xmlns:p14="http://schemas.microsoft.com/office/powerpoint/2010/main" val="540161459"/>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BBEEC2-1A96-D479-F1D1-4D0A942E9324}"/>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B4E49577-E611-6009-3D24-E87A240E5C90}"/>
              </a:ext>
            </a:extLst>
          </p:cNvPr>
          <p:cNvSpPr>
            <a:spLocks noGrp="1"/>
          </p:cNvSpPr>
          <p:nvPr>
            <p:ph idx="1"/>
          </p:nvPr>
        </p:nvSpPr>
        <p:spPr/>
        <p:txBody>
          <a:bodyPr numCol="2"/>
          <a:lstStyle/>
          <a:p>
            <a:r>
              <a:rPr lang="de-CH" sz="1100" dirty="0">
                <a:solidFill>
                  <a:srgbClr val="808080"/>
                </a:solidFill>
                <a:highlight>
                  <a:srgbClr val="FFFFFF"/>
                </a:highlight>
                <a:latin typeface="Cascadia Mono" panose="020B0609020000020004" pitchFamily="49" charset="0"/>
              </a:rPr>
              <a:t>#include</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&lt;</a:t>
            </a:r>
            <a:r>
              <a:rPr lang="de-CH" sz="1100" dirty="0" err="1">
                <a:solidFill>
                  <a:srgbClr val="A31515"/>
                </a:solidFill>
                <a:highlight>
                  <a:srgbClr val="FFFFFF"/>
                </a:highlight>
                <a:latin typeface="Cascadia Mono" panose="020B0609020000020004" pitchFamily="49" charset="0"/>
              </a:rPr>
              <a:t>iostream</a:t>
            </a:r>
            <a:r>
              <a:rPr lang="de-CH" sz="1100" dirty="0">
                <a:solidFill>
                  <a:srgbClr val="A31515"/>
                </a:solidFill>
                <a:highlight>
                  <a:srgbClr val="FFFFFF"/>
                </a:highlight>
                <a:latin typeface="Cascadia Mono" panose="020B0609020000020004" pitchFamily="49" charset="0"/>
              </a:rPr>
              <a:t>&gt;</a:t>
            </a:r>
            <a:endParaRPr lang="de-CH" sz="1100" dirty="0">
              <a:solidFill>
                <a:srgbClr val="000000"/>
              </a:solidFill>
              <a:highlight>
                <a:srgbClr val="FFFFFF"/>
              </a:highlight>
              <a:latin typeface="Cascadia Mono" panose="020B0609020000020004" pitchFamily="49" charset="0"/>
            </a:endParaRPr>
          </a:p>
          <a:p>
            <a:r>
              <a:rPr lang="de-CH" sz="1100" dirty="0" err="1">
                <a:solidFill>
                  <a:srgbClr val="0000FF"/>
                </a:solidFill>
                <a:highlight>
                  <a:srgbClr val="FFFFFF"/>
                </a:highlight>
                <a:latin typeface="Cascadia Mono" panose="020B0609020000020004" pitchFamily="49" charset="0"/>
              </a:rPr>
              <a:t>using</a:t>
            </a:r>
            <a:r>
              <a:rPr lang="de-CH" sz="1100" dirty="0">
                <a:solidFill>
                  <a:srgbClr val="000000"/>
                </a:solidFill>
                <a:highlight>
                  <a:srgbClr val="FFFFFF"/>
                </a:highlight>
                <a:latin typeface="Cascadia Mono" panose="020B0609020000020004" pitchFamily="49" charset="0"/>
              </a:rPr>
              <a:t> </a:t>
            </a:r>
            <a:r>
              <a:rPr lang="de-CH" sz="1100" dirty="0" err="1">
                <a:solidFill>
                  <a:srgbClr val="0000FF"/>
                </a:solidFill>
                <a:highlight>
                  <a:srgbClr val="FFFFFF"/>
                </a:highlight>
                <a:latin typeface="Cascadia Mono" panose="020B0609020000020004" pitchFamily="49" charset="0"/>
              </a:rPr>
              <a:t>namespace</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std</a:t>
            </a:r>
            <a:r>
              <a:rPr lang="de-CH" sz="1100" dirty="0">
                <a:solidFill>
                  <a:srgbClr val="000000"/>
                </a:solidFill>
                <a:highlight>
                  <a:srgbClr val="FFFFFF"/>
                </a:highlight>
                <a:latin typeface="Cascadia Mono" panose="020B0609020000020004" pitchFamily="49" charset="0"/>
              </a:rPr>
              <a:t>;</a:t>
            </a:r>
          </a:p>
          <a:p>
            <a:r>
              <a:rPr lang="en-US" sz="1100" dirty="0">
                <a:solidFill>
                  <a:srgbClr val="0000FF"/>
                </a:solidFill>
                <a:highlight>
                  <a:srgbClr val="FFFFFF"/>
                </a:highlight>
                <a:latin typeface="Cascadia Mono" panose="020B0609020000020004" pitchFamily="49" charset="0"/>
              </a:rPr>
              <a:t>void</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disp_binary</a:t>
            </a:r>
            <a:r>
              <a:rPr lang="en-US" sz="1100" dirty="0">
                <a:solidFill>
                  <a:srgbClr val="000000"/>
                </a:solidFill>
                <a:highlight>
                  <a:srgbClr val="FFFFFF"/>
                </a:highlight>
                <a:latin typeface="Cascadia Mono" panose="020B0609020000020004" pitchFamily="49" charset="0"/>
              </a:rPr>
              <a:t>(</a:t>
            </a:r>
            <a:r>
              <a:rPr lang="en-US" sz="1100" dirty="0">
                <a:solidFill>
                  <a:srgbClr val="0000FF"/>
                </a:solidFill>
                <a:highlight>
                  <a:srgbClr val="FFFFFF"/>
                </a:highlight>
                <a:latin typeface="Cascadia Mono" panose="020B0609020000020004" pitchFamily="49" charset="0"/>
              </a:rPr>
              <a:t>unsigned</a:t>
            </a:r>
            <a:r>
              <a:rPr lang="en-US" sz="1100" dirty="0">
                <a:solidFill>
                  <a:srgbClr val="000000"/>
                </a:solidFill>
                <a:highlight>
                  <a:srgbClr val="FFFFFF"/>
                </a:highlight>
                <a:latin typeface="Cascadia Mono" panose="020B0609020000020004" pitchFamily="49" charset="0"/>
              </a:rPr>
              <a:t> </a:t>
            </a:r>
            <a:r>
              <a:rPr lang="en-US" sz="1100" dirty="0">
                <a:solidFill>
                  <a:srgbClr val="808080"/>
                </a:solidFill>
                <a:highlight>
                  <a:srgbClr val="FFFFFF"/>
                </a:highlight>
                <a:latin typeface="Cascadia Mono" panose="020B0609020000020004" pitchFamily="49" charset="0"/>
              </a:rPr>
              <a:t>u</a:t>
            </a:r>
            <a:r>
              <a:rPr lang="en-US" sz="1100" dirty="0">
                <a:solidFill>
                  <a:srgbClr val="000000"/>
                </a:solidFill>
                <a:highlight>
                  <a:srgbClr val="FFFFFF"/>
                </a:highlight>
                <a:latin typeface="Cascadia Mono" panose="020B0609020000020004" pitchFamily="49" charset="0"/>
              </a:rPr>
              <a:t>);</a:t>
            </a:r>
          </a:p>
          <a:p>
            <a:r>
              <a:rPr lang="de-CH" sz="1100" dirty="0" err="1">
                <a:solidFill>
                  <a:srgbClr val="0000FF"/>
                </a:solidFill>
                <a:highlight>
                  <a:srgbClr val="FFFFFF"/>
                </a:highlight>
                <a:latin typeface="Cascadia Mono" panose="020B0609020000020004" pitchFamily="49" charset="0"/>
              </a:rPr>
              <a:t>union</a:t>
            </a:r>
            <a:r>
              <a:rPr lang="de-CH" sz="1100" dirty="0">
                <a:solidFill>
                  <a:srgbClr val="000000"/>
                </a:solidFill>
                <a:highlight>
                  <a:srgbClr val="FFFFFF"/>
                </a:highlight>
                <a:latin typeface="Cascadia Mono" panose="020B0609020000020004" pitchFamily="49" charset="0"/>
              </a:rPr>
              <a:t> </a:t>
            </a:r>
            <a:r>
              <a:rPr lang="de-CH" sz="1100" dirty="0" err="1">
                <a:solidFill>
                  <a:srgbClr val="2B91AF"/>
                </a:solidFill>
                <a:highlight>
                  <a:srgbClr val="FFFFFF"/>
                </a:highlight>
                <a:latin typeface="Cascadia Mono" panose="020B0609020000020004" pitchFamily="49" charset="0"/>
              </a:rPr>
              <a:t>swap_bytes</a:t>
            </a:r>
            <a:endParaRPr lang="de-CH" sz="1100" dirty="0">
              <a:solidFill>
                <a:srgbClr val="000000"/>
              </a:solidFill>
              <a:highlight>
                <a:srgbClr val="FFFFFF"/>
              </a:highlight>
              <a:latin typeface="Cascadia Mono" panose="020B0609020000020004" pitchFamily="49" charset="0"/>
            </a:endParaRPr>
          </a:p>
          <a:p>
            <a:r>
              <a:rPr lang="ru-RU" sz="1100" dirty="0">
                <a:solidFill>
                  <a:srgbClr val="000000"/>
                </a:solidFill>
                <a:highlight>
                  <a:srgbClr val="FFFFFF"/>
                </a:highlight>
                <a:latin typeface="Cascadia Mono" panose="020B0609020000020004" pitchFamily="49" charset="0"/>
              </a:rPr>
              <a:t>{</a:t>
            </a:r>
          </a:p>
          <a:p>
            <a:r>
              <a:rPr lang="de-CH" sz="1100" dirty="0" err="1">
                <a:solidFill>
                  <a:srgbClr val="0000FF"/>
                </a:solidFill>
                <a:highlight>
                  <a:srgbClr val="FFFFFF"/>
                </a:highlight>
                <a:latin typeface="Cascadia Mono" panose="020B0609020000020004" pitchFamily="49" charset="0"/>
              </a:rPr>
              <a:t>short</a:t>
            </a:r>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num</a:t>
            </a:r>
            <a:r>
              <a:rPr lang="de-CH" sz="1100" dirty="0">
                <a:solidFill>
                  <a:srgbClr val="000000"/>
                </a:solidFill>
                <a:highlight>
                  <a:srgbClr val="FFFFFF"/>
                </a:highlight>
                <a:latin typeface="Cascadia Mono" panose="020B0609020000020004" pitchFamily="49" charset="0"/>
              </a:rPr>
              <a:t>;</a:t>
            </a:r>
          </a:p>
          <a:p>
            <a:r>
              <a:rPr lang="de-CH" sz="1100" dirty="0" err="1">
                <a:solidFill>
                  <a:srgbClr val="0000FF"/>
                </a:solidFill>
                <a:highlight>
                  <a:srgbClr val="FFFFFF"/>
                </a:highlight>
                <a:latin typeface="Cascadia Mono" panose="020B0609020000020004" pitchFamily="49" charset="0"/>
              </a:rPr>
              <a:t>char</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ch</a:t>
            </a:r>
            <a:r>
              <a:rPr lang="de-CH" sz="1100" dirty="0">
                <a:solidFill>
                  <a:srgbClr val="000000"/>
                </a:solidFill>
                <a:highlight>
                  <a:srgbClr val="FFFFFF"/>
                </a:highlight>
                <a:latin typeface="Cascadia Mono" panose="020B0609020000020004" pitchFamily="49" charset="0"/>
              </a:rPr>
              <a:t>[2];</a:t>
            </a:r>
          </a:p>
          <a:p>
            <a:r>
              <a:rPr lang="ru-RU" sz="1100" dirty="0">
                <a:solidFill>
                  <a:srgbClr val="000000"/>
                </a:solidFill>
                <a:highlight>
                  <a:srgbClr val="FFFFFF"/>
                </a:highlight>
                <a:latin typeface="Cascadia Mono" panose="020B0609020000020004" pitchFamily="49" charset="0"/>
              </a:rPr>
              <a:t>};</a:t>
            </a:r>
          </a:p>
          <a:p>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main</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de-CH" sz="1100" dirty="0" err="1">
                <a:solidFill>
                  <a:srgbClr val="000000"/>
                </a:solidFill>
                <a:highlight>
                  <a:srgbClr val="FFFFFF"/>
                </a:highlight>
                <a:latin typeface="Cascadia Mono" panose="020B0609020000020004" pitchFamily="49" charset="0"/>
              </a:rPr>
              <a:t>setlocale</a:t>
            </a:r>
            <a:r>
              <a:rPr lang="de-CH" sz="1100" dirty="0">
                <a:solidFill>
                  <a:srgbClr val="000000"/>
                </a:solidFill>
                <a:highlight>
                  <a:srgbClr val="FFFFFF"/>
                </a:highlight>
                <a:latin typeface="Cascadia Mono" panose="020B0609020000020004" pitchFamily="49" charset="0"/>
              </a:rPr>
              <a:t>(</a:t>
            </a:r>
            <a:r>
              <a:rPr lang="de-CH" sz="1100" dirty="0">
                <a:solidFill>
                  <a:srgbClr val="6F008A"/>
                </a:solidFill>
                <a:highlight>
                  <a:srgbClr val="FFFFFF"/>
                </a:highlight>
                <a:latin typeface="Cascadia Mono" panose="020B0609020000020004" pitchFamily="49" charset="0"/>
              </a:rPr>
              <a:t>LC_ALL</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a:t>
            </a:r>
            <a:r>
              <a:rPr lang="de-CH" sz="1100" dirty="0">
                <a:solidFill>
                  <a:srgbClr val="000000"/>
                </a:solidFill>
                <a:highlight>
                  <a:srgbClr val="FFFFFF"/>
                </a:highlight>
                <a:latin typeface="Cascadia Mono" panose="020B0609020000020004" pitchFamily="49" charset="0"/>
              </a:rPr>
              <a:t>);</a:t>
            </a:r>
          </a:p>
          <a:p>
            <a:r>
              <a:rPr lang="de-CH" sz="1100" dirty="0" err="1">
                <a:solidFill>
                  <a:srgbClr val="2B91AF"/>
                </a:solidFill>
                <a:highlight>
                  <a:srgbClr val="FFFFFF"/>
                </a:highlight>
                <a:latin typeface="Cascadia Mono" panose="020B0609020000020004" pitchFamily="49" charset="0"/>
              </a:rPr>
              <a:t>swap_bytes</a:t>
            </a:r>
            <a:r>
              <a:rPr lang="de-CH" sz="1100" dirty="0">
                <a:solidFill>
                  <a:srgbClr val="000000"/>
                </a:solidFill>
                <a:highlight>
                  <a:srgbClr val="FFFFFF"/>
                </a:highlight>
                <a:latin typeface="Cascadia Mono" panose="020B0609020000020004" pitchFamily="49" charset="0"/>
              </a:rPr>
              <a:t> sb;</a:t>
            </a:r>
          </a:p>
          <a:p>
            <a:r>
              <a:rPr lang="de-CH" sz="1100" dirty="0" err="1">
                <a:solidFill>
                  <a:srgbClr val="0000FF"/>
                </a:solidFill>
                <a:highlight>
                  <a:srgbClr val="FFFFFF"/>
                </a:highlight>
                <a:latin typeface="Cascadia Mono" panose="020B0609020000020004" pitchFamily="49" charset="0"/>
              </a:rPr>
              <a:t>char</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temp</a:t>
            </a:r>
            <a:r>
              <a:rPr lang="de-CH" sz="1100" dirty="0">
                <a:solidFill>
                  <a:srgbClr val="000000"/>
                </a:solidFill>
                <a:highlight>
                  <a:srgbClr val="FFFFFF"/>
                </a:highlight>
                <a:latin typeface="Cascadia Mono" panose="020B0609020000020004" pitchFamily="49" charset="0"/>
              </a:rPr>
              <a:t>;</a:t>
            </a:r>
          </a:p>
          <a:p>
            <a:r>
              <a:rPr lang="ru-RU" sz="1100" dirty="0" err="1">
                <a:solidFill>
                  <a:srgbClr val="000000"/>
                </a:solidFill>
                <a:highlight>
                  <a:srgbClr val="FFFFFF"/>
                </a:highlight>
                <a:latin typeface="Cascadia Mono" panose="020B0609020000020004" pitchFamily="49" charset="0"/>
              </a:rPr>
              <a:t>sb.num</a:t>
            </a:r>
            <a:r>
              <a:rPr lang="ru-RU" sz="1100" dirty="0">
                <a:solidFill>
                  <a:srgbClr val="000000"/>
                </a:solidFill>
                <a:highlight>
                  <a:srgbClr val="FFFFFF"/>
                </a:highlight>
                <a:latin typeface="Cascadia Mono" panose="020B0609020000020004" pitchFamily="49" charset="0"/>
              </a:rPr>
              <a:t> = 15; </a:t>
            </a:r>
            <a:r>
              <a:rPr lang="ru-RU" sz="1100" dirty="0">
                <a:solidFill>
                  <a:srgbClr val="008000"/>
                </a:solidFill>
                <a:highlight>
                  <a:srgbClr val="FFFFFF"/>
                </a:highlight>
                <a:latin typeface="Cascadia Mono" panose="020B0609020000020004" pitchFamily="49" charset="0"/>
              </a:rPr>
              <a:t>// двоичный код: 0000 0000 0000 1111</a:t>
            </a:r>
            <a:endParaRPr lang="ru-RU" sz="1100" dirty="0">
              <a:solidFill>
                <a:srgbClr val="000000"/>
              </a:solidFill>
              <a:highlight>
                <a:srgbClr val="FFFFFF"/>
              </a:highlight>
              <a:latin typeface="Cascadia Mono" panose="020B0609020000020004" pitchFamily="49" charset="0"/>
            </a:endParaRPr>
          </a:p>
          <a:p>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a:t>
            </a:r>
            <a:r>
              <a:rPr lang="ru-RU" sz="1100" dirty="0">
                <a:solidFill>
                  <a:srgbClr val="A31515"/>
                </a:solidFill>
                <a:highlight>
                  <a:srgbClr val="FFFFFF"/>
                </a:highlight>
                <a:latin typeface="Cascadia Mono" panose="020B0609020000020004" pitchFamily="49" charset="0"/>
              </a:rPr>
              <a:t>Исходные байты: "</a:t>
            </a:r>
            <a:r>
              <a:rPr lang="ru-RU" sz="1100" dirty="0">
                <a:solidFill>
                  <a:srgbClr val="000000"/>
                </a:solidFill>
                <a:highlight>
                  <a:srgbClr val="FFFFFF"/>
                </a:highlight>
                <a:latin typeface="Cascadia Mono" panose="020B0609020000020004" pitchFamily="49" charset="0"/>
              </a:rPr>
              <a:t>;</a:t>
            </a:r>
          </a:p>
          <a:p>
            <a:r>
              <a:rPr lang="en-US" sz="1100" dirty="0" err="1">
                <a:solidFill>
                  <a:srgbClr val="000000"/>
                </a:solidFill>
                <a:highlight>
                  <a:srgbClr val="FFFFFF"/>
                </a:highlight>
                <a:latin typeface="Cascadia Mono" panose="020B0609020000020004" pitchFamily="49" charset="0"/>
              </a:rPr>
              <a:t>disp_binary</a:t>
            </a:r>
            <a:r>
              <a:rPr lang="en-US" sz="1100" dirty="0">
                <a:solidFill>
                  <a:srgbClr val="000000"/>
                </a:solidFill>
                <a:highlight>
                  <a:srgbClr val="FFFFFF"/>
                </a:highlight>
                <a:latin typeface="Cascadia Mono" panose="020B0609020000020004" pitchFamily="49" charset="0"/>
              </a:rPr>
              <a:t>(sb.ch[1]);</a:t>
            </a:r>
          </a:p>
          <a:p>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 "</a:t>
            </a:r>
            <a:r>
              <a:rPr lang="de-CH" sz="1100" dirty="0">
                <a:solidFill>
                  <a:srgbClr val="000000"/>
                </a:solidFill>
                <a:highlight>
                  <a:srgbClr val="FFFFFF"/>
                </a:highlight>
                <a:latin typeface="Cascadia Mono" panose="020B0609020000020004" pitchFamily="49" charset="0"/>
              </a:rPr>
              <a:t>;</a:t>
            </a:r>
          </a:p>
          <a:p>
            <a:r>
              <a:rPr lang="en-US" sz="1100" dirty="0" err="1">
                <a:solidFill>
                  <a:srgbClr val="000000"/>
                </a:solidFill>
                <a:highlight>
                  <a:srgbClr val="FFFFFF"/>
                </a:highlight>
                <a:latin typeface="Cascadia Mono" panose="020B0609020000020004" pitchFamily="49" charset="0"/>
              </a:rPr>
              <a:t>disp_binary</a:t>
            </a:r>
            <a:r>
              <a:rPr lang="en-US" sz="1100" dirty="0">
                <a:solidFill>
                  <a:srgbClr val="000000"/>
                </a:solidFill>
                <a:highlight>
                  <a:srgbClr val="FFFFFF"/>
                </a:highlight>
                <a:latin typeface="Cascadia Mono" panose="020B0609020000020004" pitchFamily="49" charset="0"/>
              </a:rPr>
              <a:t>(sb.ch[0]);</a:t>
            </a:r>
          </a:p>
          <a:p>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"\n\n"</a:t>
            </a:r>
            <a:r>
              <a:rPr lang="de-CH" sz="1100" dirty="0">
                <a:solidFill>
                  <a:srgbClr val="000000"/>
                </a:solidFill>
                <a:highlight>
                  <a:srgbClr val="FFFFFF"/>
                </a:highlight>
                <a:latin typeface="Cascadia Mono" panose="020B0609020000020004" pitchFamily="49" charset="0"/>
              </a:rPr>
              <a:t>;</a:t>
            </a:r>
          </a:p>
          <a:p>
            <a:r>
              <a:rPr lang="ru-RU" sz="1100" dirty="0">
                <a:solidFill>
                  <a:srgbClr val="008000"/>
                </a:solidFill>
                <a:highlight>
                  <a:srgbClr val="FFFFFF"/>
                </a:highlight>
                <a:latin typeface="Cascadia Mono" panose="020B0609020000020004" pitchFamily="49" charset="0"/>
              </a:rPr>
              <a:t>// Обмен байтов.</a:t>
            </a:r>
            <a:endParaRPr lang="ru-RU" sz="1100" dirty="0">
              <a:solidFill>
                <a:srgbClr val="000000"/>
              </a:solidFill>
              <a:highlight>
                <a:srgbClr val="FFFFFF"/>
              </a:highlight>
              <a:latin typeface="Cascadia Mono" panose="020B0609020000020004" pitchFamily="49" charset="0"/>
            </a:endParaRPr>
          </a:p>
          <a:p>
            <a:r>
              <a:rPr lang="de-CH" sz="1100" dirty="0" err="1">
                <a:solidFill>
                  <a:srgbClr val="000000"/>
                </a:solidFill>
                <a:highlight>
                  <a:srgbClr val="FFFFFF"/>
                </a:highlight>
                <a:latin typeface="Cascadia Mono" panose="020B0609020000020004" pitchFamily="49" charset="0"/>
              </a:rPr>
              <a:t>temp</a:t>
            </a:r>
            <a:r>
              <a:rPr lang="de-CH" sz="1100" dirty="0">
                <a:solidFill>
                  <a:srgbClr val="000000"/>
                </a:solidFill>
                <a:highlight>
                  <a:srgbClr val="FFFFFF"/>
                </a:highlight>
                <a:latin typeface="Cascadia Mono" panose="020B0609020000020004" pitchFamily="49" charset="0"/>
              </a:rPr>
              <a:t> = sb.ch[0];</a:t>
            </a:r>
          </a:p>
          <a:p>
            <a:r>
              <a:rPr lang="de-CH" sz="1100" dirty="0">
                <a:solidFill>
                  <a:srgbClr val="000000"/>
                </a:solidFill>
                <a:highlight>
                  <a:srgbClr val="FFFFFF"/>
                </a:highlight>
                <a:latin typeface="Cascadia Mono" panose="020B0609020000020004" pitchFamily="49" charset="0"/>
              </a:rPr>
              <a:t>sb.ch[0] = sb.ch[1];</a:t>
            </a:r>
          </a:p>
          <a:p>
            <a:r>
              <a:rPr lang="de-CH" sz="1100" dirty="0">
                <a:solidFill>
                  <a:srgbClr val="000000"/>
                </a:solidFill>
                <a:highlight>
                  <a:srgbClr val="FFFFFF"/>
                </a:highlight>
                <a:latin typeface="Cascadia Mono" panose="020B0609020000020004" pitchFamily="49" charset="0"/>
              </a:rPr>
              <a:t>sb.ch[1] = </a:t>
            </a:r>
            <a:r>
              <a:rPr lang="de-CH" sz="1100" dirty="0" err="1">
                <a:solidFill>
                  <a:srgbClr val="000000"/>
                </a:solidFill>
                <a:highlight>
                  <a:srgbClr val="FFFFFF"/>
                </a:highlight>
                <a:latin typeface="Cascadia Mono" panose="020B0609020000020004" pitchFamily="49" charset="0"/>
              </a:rPr>
              <a:t>temp</a:t>
            </a:r>
            <a:r>
              <a:rPr lang="de-CH" sz="1100" dirty="0">
                <a:solidFill>
                  <a:srgbClr val="000000"/>
                </a:solidFill>
                <a:highlight>
                  <a:srgbClr val="FFFFFF"/>
                </a:highlight>
                <a:latin typeface="Cascadia Mono" panose="020B0609020000020004" pitchFamily="49" charset="0"/>
              </a:rPr>
              <a:t>;</a:t>
            </a:r>
          </a:p>
          <a:p>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a:t>
            </a:r>
            <a:r>
              <a:rPr lang="ru-RU" sz="1100" dirty="0">
                <a:solidFill>
                  <a:srgbClr val="A31515"/>
                </a:solidFill>
                <a:highlight>
                  <a:srgbClr val="FFFFFF"/>
                </a:highlight>
                <a:latin typeface="Cascadia Mono" panose="020B0609020000020004" pitchFamily="49" charset="0"/>
              </a:rPr>
              <a:t>Байты после перестановки: "</a:t>
            </a:r>
            <a:r>
              <a:rPr lang="ru-RU" sz="1100" dirty="0">
                <a:solidFill>
                  <a:srgbClr val="000000"/>
                </a:solidFill>
                <a:highlight>
                  <a:srgbClr val="FFFFFF"/>
                </a:highlight>
                <a:latin typeface="Cascadia Mono" panose="020B0609020000020004" pitchFamily="49" charset="0"/>
              </a:rPr>
              <a:t>;</a:t>
            </a:r>
          </a:p>
          <a:p>
            <a:r>
              <a:rPr lang="en-US" sz="1100" dirty="0" err="1">
                <a:solidFill>
                  <a:srgbClr val="000000"/>
                </a:solidFill>
                <a:highlight>
                  <a:srgbClr val="FFFFFF"/>
                </a:highlight>
                <a:latin typeface="Cascadia Mono" panose="020B0609020000020004" pitchFamily="49" charset="0"/>
              </a:rPr>
              <a:t>disp_binary</a:t>
            </a:r>
            <a:r>
              <a:rPr lang="en-US" sz="1100" dirty="0">
                <a:solidFill>
                  <a:srgbClr val="000000"/>
                </a:solidFill>
                <a:highlight>
                  <a:srgbClr val="FFFFFF"/>
                </a:highlight>
                <a:latin typeface="Cascadia Mono" panose="020B0609020000020004" pitchFamily="49" charset="0"/>
              </a:rPr>
              <a:t>(sb.ch[1]);</a:t>
            </a:r>
          </a:p>
          <a:p>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 "</a:t>
            </a:r>
            <a:r>
              <a:rPr lang="de-CH" sz="1100" dirty="0">
                <a:solidFill>
                  <a:srgbClr val="000000"/>
                </a:solidFill>
                <a:highlight>
                  <a:srgbClr val="FFFFFF"/>
                </a:highlight>
                <a:latin typeface="Cascadia Mono" panose="020B0609020000020004" pitchFamily="49" charset="0"/>
              </a:rPr>
              <a:t>;</a:t>
            </a:r>
          </a:p>
          <a:p>
            <a:r>
              <a:rPr lang="en-US" sz="1100" dirty="0" err="1">
                <a:solidFill>
                  <a:srgbClr val="000000"/>
                </a:solidFill>
                <a:highlight>
                  <a:srgbClr val="FFFFFF"/>
                </a:highlight>
                <a:latin typeface="Cascadia Mono" panose="020B0609020000020004" pitchFamily="49" charset="0"/>
              </a:rPr>
              <a:t>disp_binary</a:t>
            </a:r>
            <a:r>
              <a:rPr lang="en-US" sz="1100" dirty="0">
                <a:solidFill>
                  <a:srgbClr val="000000"/>
                </a:solidFill>
                <a:highlight>
                  <a:srgbClr val="FFFFFF"/>
                </a:highlight>
                <a:latin typeface="Cascadia Mono" panose="020B0609020000020004" pitchFamily="49" charset="0"/>
              </a:rPr>
              <a:t>(sb.ch[0]);</a:t>
            </a:r>
          </a:p>
          <a:p>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"\n\n"</a:t>
            </a:r>
            <a:r>
              <a:rPr lang="de-CH" sz="1100" dirty="0">
                <a:solidFill>
                  <a:srgbClr val="000000"/>
                </a:solidFill>
                <a:highlight>
                  <a:srgbClr val="FFFFFF"/>
                </a:highlight>
                <a:latin typeface="Cascadia Mono" panose="020B0609020000020004" pitchFamily="49" charset="0"/>
              </a:rPr>
              <a:t>;</a:t>
            </a:r>
          </a:p>
          <a:p>
            <a:r>
              <a:rPr lang="de-CH" sz="1100" dirty="0" err="1">
                <a:solidFill>
                  <a:srgbClr val="0000FF"/>
                </a:solidFill>
                <a:highlight>
                  <a:srgbClr val="FFFFFF"/>
                </a:highlight>
                <a:latin typeface="Cascadia Mono" panose="020B0609020000020004" pitchFamily="49" charset="0"/>
              </a:rPr>
              <a:t>return</a:t>
            </a:r>
            <a:r>
              <a:rPr lang="de-CH" sz="1100" dirty="0">
                <a:solidFill>
                  <a:srgbClr val="000000"/>
                </a:solidFill>
                <a:highlight>
                  <a:srgbClr val="FFFFFF"/>
                </a:highlight>
                <a:latin typeface="Cascadia Mono" panose="020B0609020000020004" pitchFamily="49" charset="0"/>
              </a:rPr>
              <a:t> 0;</a:t>
            </a:r>
          </a:p>
          <a:p>
            <a:r>
              <a:rPr lang="ru-RU" sz="1100" dirty="0">
                <a:solidFill>
                  <a:srgbClr val="000000"/>
                </a:solidFill>
                <a:highlight>
                  <a:srgbClr val="FFFFFF"/>
                </a:highlight>
                <a:latin typeface="Cascadia Mono" panose="020B0609020000020004" pitchFamily="49" charset="0"/>
              </a:rPr>
              <a:t>}</a:t>
            </a:r>
          </a:p>
          <a:p>
            <a:r>
              <a:rPr lang="ru-RU" sz="1100" dirty="0">
                <a:solidFill>
                  <a:srgbClr val="008000"/>
                </a:solidFill>
                <a:highlight>
                  <a:srgbClr val="FFFFFF"/>
                </a:highlight>
                <a:latin typeface="Cascadia Mono" panose="020B0609020000020004" pitchFamily="49" charset="0"/>
              </a:rPr>
              <a:t>// Отображение битов, составляющих байт.</a:t>
            </a:r>
            <a:endParaRPr lang="ru-RU" sz="1100" dirty="0">
              <a:solidFill>
                <a:srgbClr val="000000"/>
              </a:solidFill>
              <a:highlight>
                <a:srgbClr val="FFFFFF"/>
              </a:highlight>
              <a:latin typeface="Cascadia Mono" panose="020B0609020000020004" pitchFamily="49" charset="0"/>
            </a:endParaRPr>
          </a:p>
          <a:p>
            <a:r>
              <a:rPr lang="en-US" sz="1100" dirty="0">
                <a:solidFill>
                  <a:srgbClr val="0000FF"/>
                </a:solidFill>
                <a:highlight>
                  <a:srgbClr val="FFFFFF"/>
                </a:highlight>
                <a:latin typeface="Cascadia Mono" panose="020B0609020000020004" pitchFamily="49" charset="0"/>
              </a:rPr>
              <a:t>void</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disp_binary</a:t>
            </a:r>
            <a:r>
              <a:rPr lang="en-US" sz="1100" dirty="0">
                <a:solidFill>
                  <a:srgbClr val="000000"/>
                </a:solidFill>
                <a:highlight>
                  <a:srgbClr val="FFFFFF"/>
                </a:highlight>
                <a:latin typeface="Cascadia Mono" panose="020B0609020000020004" pitchFamily="49" charset="0"/>
              </a:rPr>
              <a:t>(</a:t>
            </a:r>
            <a:r>
              <a:rPr lang="en-US" sz="1100" dirty="0">
                <a:solidFill>
                  <a:srgbClr val="0000FF"/>
                </a:solidFill>
                <a:highlight>
                  <a:srgbClr val="FFFFFF"/>
                </a:highlight>
                <a:latin typeface="Cascadia Mono" panose="020B0609020000020004" pitchFamily="49" charset="0"/>
              </a:rPr>
              <a:t>unsigned</a:t>
            </a:r>
            <a:r>
              <a:rPr lang="en-US" sz="1100" dirty="0">
                <a:solidFill>
                  <a:srgbClr val="000000"/>
                </a:solidFill>
                <a:highlight>
                  <a:srgbClr val="FFFFFF"/>
                </a:highlight>
                <a:latin typeface="Cascadia Mono" panose="020B0609020000020004" pitchFamily="49" charset="0"/>
              </a:rPr>
              <a:t> </a:t>
            </a:r>
            <a:r>
              <a:rPr lang="en-US" sz="1100" dirty="0">
                <a:solidFill>
                  <a:srgbClr val="808080"/>
                </a:solidFill>
                <a:highlight>
                  <a:srgbClr val="FFFFFF"/>
                </a:highlight>
                <a:latin typeface="Cascadia Mono" panose="020B0609020000020004" pitchFamily="49" charset="0"/>
              </a:rPr>
              <a:t>u</a:t>
            </a:r>
            <a:r>
              <a:rPr lang="en-US"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p>
          <a:p>
            <a:r>
              <a:rPr lang="de-CH" sz="1100" dirty="0" err="1">
                <a:solidFill>
                  <a:srgbClr val="0000FF"/>
                </a:solidFill>
                <a:highlight>
                  <a:srgbClr val="FFFFFF"/>
                </a:highlight>
                <a:latin typeface="Cascadia Mono" panose="020B0609020000020004" pitchFamily="49" charset="0"/>
              </a:rPr>
              <a:t>register</a:t>
            </a:r>
            <a:r>
              <a:rPr lang="de-CH" sz="1100" dirty="0">
                <a:solidFill>
                  <a:srgbClr val="000000"/>
                </a:solidFill>
                <a:highlight>
                  <a:srgbClr val="FFFFFF"/>
                </a:highlight>
                <a:latin typeface="Cascadia Mono" panose="020B0609020000020004" pitchFamily="49" charset="0"/>
              </a:rPr>
              <a:t> </a:t>
            </a:r>
            <a:r>
              <a:rPr lang="de-CH" sz="1100" dirty="0">
                <a:solidFill>
                  <a:srgbClr val="0000FF"/>
                </a:solidFill>
                <a:highlight>
                  <a:srgbClr val="FFFFFF"/>
                </a:highlight>
                <a:latin typeface="Cascadia Mono" panose="020B0609020000020004" pitchFamily="49" charset="0"/>
              </a:rPr>
              <a:t>int</a:t>
            </a:r>
            <a:r>
              <a:rPr lang="de-CH" sz="1100" dirty="0">
                <a:solidFill>
                  <a:srgbClr val="000000"/>
                </a:solidFill>
                <a:highlight>
                  <a:srgbClr val="FFFFFF"/>
                </a:highlight>
                <a:latin typeface="Cascadia Mono" panose="020B0609020000020004" pitchFamily="49" charset="0"/>
              </a:rPr>
              <a:t> t;</a:t>
            </a:r>
          </a:p>
          <a:p>
            <a:r>
              <a:rPr lang="de-CH" sz="1100" dirty="0" err="1">
                <a:solidFill>
                  <a:srgbClr val="0000FF"/>
                </a:solidFill>
                <a:highlight>
                  <a:srgbClr val="FFFFFF"/>
                </a:highlight>
                <a:latin typeface="Cascadia Mono" panose="020B0609020000020004" pitchFamily="49" charset="0"/>
              </a:rPr>
              <a:t>for</a:t>
            </a:r>
            <a:r>
              <a:rPr lang="de-CH" sz="1100" dirty="0">
                <a:solidFill>
                  <a:srgbClr val="000000"/>
                </a:solidFill>
                <a:highlight>
                  <a:srgbClr val="FFFFFF"/>
                </a:highlight>
                <a:latin typeface="Cascadia Mono" panose="020B0609020000020004" pitchFamily="49" charset="0"/>
              </a:rPr>
              <a:t> (t = 128; t &gt; 0; t = t / 2)</a:t>
            </a:r>
          </a:p>
          <a:p>
            <a:r>
              <a:rPr lang="fr-FR" sz="1100" dirty="0">
                <a:solidFill>
                  <a:srgbClr val="0000FF"/>
                </a:solidFill>
                <a:highlight>
                  <a:srgbClr val="FFFFFF"/>
                </a:highlight>
                <a:latin typeface="Cascadia Mono" panose="020B0609020000020004" pitchFamily="49" charset="0"/>
              </a:rPr>
              <a:t>if</a:t>
            </a:r>
            <a:r>
              <a:rPr lang="fr-FR" sz="1100" dirty="0">
                <a:solidFill>
                  <a:srgbClr val="000000"/>
                </a:solidFill>
                <a:highlight>
                  <a:srgbClr val="FFFFFF"/>
                </a:highlight>
                <a:latin typeface="Cascadia Mono" panose="020B0609020000020004" pitchFamily="49" charset="0"/>
              </a:rPr>
              <a:t> (</a:t>
            </a:r>
            <a:r>
              <a:rPr lang="fr-FR" sz="1100" dirty="0">
                <a:solidFill>
                  <a:srgbClr val="808080"/>
                </a:solidFill>
                <a:highlight>
                  <a:srgbClr val="FFFFFF"/>
                </a:highlight>
                <a:latin typeface="Cascadia Mono" panose="020B0609020000020004" pitchFamily="49" charset="0"/>
              </a:rPr>
              <a:t>u</a:t>
            </a:r>
            <a:r>
              <a:rPr lang="fr-FR" sz="1100" dirty="0">
                <a:solidFill>
                  <a:srgbClr val="000000"/>
                </a:solidFill>
                <a:highlight>
                  <a:srgbClr val="FFFFFF"/>
                </a:highlight>
                <a:latin typeface="Cascadia Mono" panose="020B0609020000020004" pitchFamily="49" charset="0"/>
              </a:rPr>
              <a:t> &amp; t) cout </a:t>
            </a:r>
            <a:r>
              <a:rPr lang="fr-FR" sz="1100" dirty="0">
                <a:solidFill>
                  <a:srgbClr val="008080"/>
                </a:solidFill>
                <a:highlight>
                  <a:srgbClr val="FFFFFF"/>
                </a:highlight>
                <a:latin typeface="Cascadia Mono" panose="020B0609020000020004" pitchFamily="49" charset="0"/>
              </a:rPr>
              <a:t>&lt;&lt;</a:t>
            </a:r>
            <a:r>
              <a:rPr lang="fr-FR" sz="1100" dirty="0">
                <a:solidFill>
                  <a:srgbClr val="000000"/>
                </a:solidFill>
                <a:highlight>
                  <a:srgbClr val="FFFFFF"/>
                </a:highlight>
                <a:latin typeface="Cascadia Mono" panose="020B0609020000020004" pitchFamily="49" charset="0"/>
              </a:rPr>
              <a:t> </a:t>
            </a:r>
            <a:r>
              <a:rPr lang="fr-FR" sz="1100" dirty="0">
                <a:solidFill>
                  <a:srgbClr val="A31515"/>
                </a:solidFill>
                <a:highlight>
                  <a:srgbClr val="FFFFFF"/>
                </a:highlight>
                <a:latin typeface="Cascadia Mono" panose="020B0609020000020004" pitchFamily="49" charset="0"/>
              </a:rPr>
              <a:t>"1 "</a:t>
            </a:r>
            <a:r>
              <a:rPr lang="fr-FR" sz="1100" dirty="0">
                <a:solidFill>
                  <a:srgbClr val="000000"/>
                </a:solidFill>
                <a:highlight>
                  <a:srgbClr val="FFFFFF"/>
                </a:highlight>
                <a:latin typeface="Cascadia Mono" panose="020B0609020000020004" pitchFamily="49" charset="0"/>
              </a:rPr>
              <a:t>;</a:t>
            </a:r>
          </a:p>
          <a:p>
            <a:r>
              <a:rPr lang="de-CH" sz="1100" dirty="0" err="1">
                <a:solidFill>
                  <a:srgbClr val="0000FF"/>
                </a:solidFill>
                <a:highlight>
                  <a:srgbClr val="FFFFFF"/>
                </a:highlight>
                <a:latin typeface="Cascadia Mono" panose="020B0609020000020004" pitchFamily="49" charset="0"/>
              </a:rPr>
              <a:t>else</a:t>
            </a:r>
            <a:r>
              <a:rPr lang="de-CH" sz="1100" dirty="0">
                <a:solidFill>
                  <a:srgbClr val="000000"/>
                </a:solidFill>
                <a:highlight>
                  <a:srgbClr val="FFFFFF"/>
                </a:highlight>
                <a:latin typeface="Cascadia Mono" panose="020B0609020000020004" pitchFamily="49" charset="0"/>
              </a:rPr>
              <a:t> </a:t>
            </a:r>
            <a:r>
              <a:rPr lang="de-CH" sz="1100" dirty="0" err="1">
                <a:solidFill>
                  <a:srgbClr val="000000"/>
                </a:solidFill>
                <a:highlight>
                  <a:srgbClr val="FFFFFF"/>
                </a:highlight>
                <a:latin typeface="Cascadia Mono" panose="020B0609020000020004" pitchFamily="49" charset="0"/>
              </a:rPr>
              <a:t>cout</a:t>
            </a:r>
            <a:r>
              <a:rPr lang="de-CH" sz="1100" dirty="0">
                <a:solidFill>
                  <a:srgbClr val="000000"/>
                </a:solidFill>
                <a:highlight>
                  <a:srgbClr val="FFFFFF"/>
                </a:highlight>
                <a:latin typeface="Cascadia Mono" panose="020B0609020000020004" pitchFamily="49" charset="0"/>
              </a:rPr>
              <a:t> </a:t>
            </a:r>
            <a:r>
              <a:rPr lang="de-CH" sz="1100" dirty="0">
                <a:solidFill>
                  <a:srgbClr val="008080"/>
                </a:solidFill>
                <a:highlight>
                  <a:srgbClr val="FFFFFF"/>
                </a:highlight>
                <a:latin typeface="Cascadia Mono" panose="020B0609020000020004" pitchFamily="49" charset="0"/>
              </a:rPr>
              <a:t>&lt;&lt;</a:t>
            </a:r>
            <a:r>
              <a:rPr lang="de-CH" sz="1100" dirty="0">
                <a:solidFill>
                  <a:srgbClr val="000000"/>
                </a:solidFill>
                <a:highlight>
                  <a:srgbClr val="FFFFFF"/>
                </a:highlight>
                <a:latin typeface="Cascadia Mono" panose="020B0609020000020004" pitchFamily="49" charset="0"/>
              </a:rPr>
              <a:t> </a:t>
            </a:r>
            <a:r>
              <a:rPr lang="de-CH" sz="1100" dirty="0">
                <a:solidFill>
                  <a:srgbClr val="A31515"/>
                </a:solidFill>
                <a:highlight>
                  <a:srgbClr val="FFFFFF"/>
                </a:highlight>
                <a:latin typeface="Cascadia Mono" panose="020B0609020000020004" pitchFamily="49" charset="0"/>
              </a:rPr>
              <a:t>"0 "</a:t>
            </a:r>
            <a:r>
              <a:rPr lang="de-CH" sz="1100" dirty="0">
                <a:solidFill>
                  <a:srgbClr val="000000"/>
                </a:solidFill>
                <a:highlight>
                  <a:srgbClr val="FFFFFF"/>
                </a:highlight>
                <a:latin typeface="Cascadia Mono" panose="020B0609020000020004" pitchFamily="49" charset="0"/>
              </a:rPr>
              <a:t>;</a:t>
            </a:r>
          </a:p>
          <a:p>
            <a:r>
              <a:rPr lang="ru-RU" sz="1100" dirty="0">
                <a:solidFill>
                  <a:srgbClr val="000000"/>
                </a:solidFill>
                <a:highlight>
                  <a:srgbClr val="FFFFFF"/>
                </a:highlight>
                <a:latin typeface="Cascadia Mono" panose="020B0609020000020004" pitchFamily="49" charset="0"/>
              </a:rPr>
              <a:t>}</a:t>
            </a:r>
            <a:endParaRPr lang="ru-RU" sz="1100" dirty="0"/>
          </a:p>
        </p:txBody>
      </p:sp>
    </p:spTree>
    <p:extLst>
      <p:ext uri="{BB962C8B-B14F-4D97-AF65-F5344CB8AC3E}">
        <p14:creationId xmlns:p14="http://schemas.microsoft.com/office/powerpoint/2010/main" val="495108217"/>
      </p:ext>
    </p:extLst>
  </p:cSld>
  <p:clrMapOvr>
    <a:masterClrMapping/>
  </p:clrMapOvr>
</p:sld>
</file>

<file path=ppt/theme/theme1.xml><?xml version="1.0" encoding="utf-8"?>
<a:theme xmlns:a="http://schemas.openxmlformats.org/drawingml/2006/main" name="sample">
  <a:themeElements>
    <a:clrScheme name="sample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fontScheme name="sample">
      <a:majorFont>
        <a:latin typeface="Verdana"/>
        <a:ea typeface=""/>
        <a:cs typeface=""/>
      </a:majorFont>
      <a:minorFont>
        <a:latin typeface="Verdana"/>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ample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sample 2">
        <a:dk1>
          <a:srgbClr val="2D4473"/>
        </a:dk1>
        <a:lt1>
          <a:srgbClr val="FFFFFF"/>
        </a:lt1>
        <a:dk2>
          <a:srgbClr val="2B6185"/>
        </a:dk2>
        <a:lt2>
          <a:srgbClr val="D3D9DD"/>
        </a:lt2>
        <a:accent1>
          <a:srgbClr val="638AA1"/>
        </a:accent1>
        <a:accent2>
          <a:srgbClr val="8CA8B5"/>
        </a:accent2>
        <a:accent3>
          <a:srgbClr val="FFFFFF"/>
        </a:accent3>
        <a:accent4>
          <a:srgbClr val="253961"/>
        </a:accent4>
        <a:accent5>
          <a:srgbClr val="B7C4CD"/>
        </a:accent5>
        <a:accent6>
          <a:srgbClr val="7E98A4"/>
        </a:accent6>
        <a:hlink>
          <a:srgbClr val="6FA2E7"/>
        </a:hlink>
        <a:folHlink>
          <a:srgbClr val="99C25C"/>
        </a:folHlink>
      </a:clrScheme>
      <a:clrMap bg1="lt1" tx1="dk1" bg2="lt2" tx2="dk2" accent1="accent1" accent2="accent2" accent3="accent3" accent4="accent4" accent5="accent5" accent6="accent6" hlink="hlink" folHlink="folHlink"/>
    </a:extraClrScheme>
    <a:extraClrScheme>
      <a:clrScheme name="sample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cdb2004132l</Template>
  <TotalTime>34565</TotalTime>
  <Words>39684</Words>
  <Application>Microsoft Office PowerPoint</Application>
  <PresentationFormat>Экран (4:3)</PresentationFormat>
  <Paragraphs>5511</Paragraphs>
  <Slides>463</Slides>
  <Notes>1</Notes>
  <HiddenSlides>0</HiddenSlides>
  <MMClips>0</MMClips>
  <ScaleCrop>false</ScaleCrop>
  <HeadingPairs>
    <vt:vector size="8" baseType="variant">
      <vt:variant>
        <vt:lpstr>Использованные шрифты</vt:lpstr>
      </vt:variant>
      <vt:variant>
        <vt:i4>10</vt:i4>
      </vt:variant>
      <vt:variant>
        <vt:lpstr>Тема</vt:lpstr>
      </vt:variant>
      <vt:variant>
        <vt:i4>1</vt:i4>
      </vt:variant>
      <vt:variant>
        <vt:lpstr>Внедренные серверы OLE</vt:lpstr>
      </vt:variant>
      <vt:variant>
        <vt:i4>1</vt:i4>
      </vt:variant>
      <vt:variant>
        <vt:lpstr>Заголовки слайдов</vt:lpstr>
      </vt:variant>
      <vt:variant>
        <vt:i4>463</vt:i4>
      </vt:variant>
    </vt:vector>
  </HeadingPairs>
  <TitlesOfParts>
    <vt:vector size="475" baseType="lpstr">
      <vt:lpstr>-apple-system</vt:lpstr>
      <vt:lpstr>Arial</vt:lpstr>
      <vt:lpstr>Calibri</vt:lpstr>
      <vt:lpstr>Cascadia Mono</vt:lpstr>
      <vt:lpstr>Consolas</vt:lpstr>
      <vt:lpstr>Monotype Corsiva</vt:lpstr>
      <vt:lpstr>SFMono-Regular</vt:lpstr>
      <vt:lpstr>Times New Roman</vt:lpstr>
      <vt:lpstr>Verdana</vt:lpstr>
      <vt:lpstr>Wingdings</vt:lpstr>
      <vt:lpstr>sample</vt:lpstr>
      <vt:lpstr>Image</vt:lpstr>
      <vt:lpstr>C++</vt:lpstr>
      <vt:lpstr>История языка Си++</vt:lpstr>
      <vt:lpstr>История языка Си++</vt:lpstr>
      <vt:lpstr>Состав языка</vt:lpstr>
      <vt:lpstr>Состав языка</vt:lpstr>
      <vt:lpstr>Состав языка</vt:lpstr>
      <vt:lpstr>Состав языка</vt:lpstr>
      <vt:lpstr>Состав языка</vt:lpstr>
      <vt:lpstr>Состав языка</vt:lpstr>
      <vt:lpstr>Алфавит языка </vt:lpstr>
      <vt:lpstr>Алфавит языка </vt:lpstr>
      <vt:lpstr>Структура программы </vt:lpstr>
      <vt:lpstr>Структура программы</vt:lpstr>
      <vt:lpstr>Структура программы</vt:lpstr>
      <vt:lpstr>Структура программы</vt:lpstr>
      <vt:lpstr>Структура программы</vt:lpstr>
      <vt:lpstr>Структура программы</vt:lpstr>
      <vt:lpstr>Структура программы</vt:lpstr>
      <vt:lpstr>Структура программы</vt:lpstr>
      <vt:lpstr>Компиляция</vt:lpstr>
      <vt:lpstr>Компиляция</vt:lpstr>
      <vt:lpstr> </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Переменные</vt:lpstr>
      <vt:lpstr>Константы</vt:lpstr>
      <vt:lpstr>Типы данных</vt:lpstr>
      <vt:lpstr>Целочисленные типы </vt:lpstr>
      <vt:lpstr>Целочисленные типы</vt:lpstr>
      <vt:lpstr>Целочисленные типы</vt:lpstr>
      <vt:lpstr>Целочисленные типы</vt:lpstr>
      <vt:lpstr>Целочисленные типы</vt:lpstr>
      <vt:lpstr>Целочисленные типы</vt:lpstr>
      <vt:lpstr>Целочисленные типы</vt:lpstr>
      <vt:lpstr>Целочисленные типы</vt:lpstr>
      <vt:lpstr>Целочисленные типы</vt:lpstr>
      <vt:lpstr>Целочисленные типы</vt:lpstr>
      <vt:lpstr>Числа с плавающей точкой</vt:lpstr>
      <vt:lpstr>Числа с плавающей точкой</vt:lpstr>
      <vt:lpstr>Числа с плавающей точкой</vt:lpstr>
      <vt:lpstr>Числа с плавающей точкой</vt:lpstr>
      <vt:lpstr>Числа с плавающей точкой</vt:lpstr>
      <vt:lpstr>Числа с плавающей точкой</vt:lpstr>
      <vt:lpstr>Размеры типов данных</vt:lpstr>
      <vt:lpstr>Символьные типы</vt:lpstr>
      <vt:lpstr>Презентация PowerPoint</vt:lpstr>
      <vt:lpstr>Кодировки символов</vt:lpstr>
      <vt:lpstr>wchar_t</vt:lpstr>
      <vt:lpstr>Спецификатор auto</vt:lpstr>
      <vt:lpstr>Презентация PowerPoint</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Арифметические операции</vt:lpstr>
      <vt:lpstr>Статическая типизация</vt:lpstr>
      <vt:lpstr>Преобразования типов</vt:lpstr>
      <vt:lpstr>Преобразования типов</vt:lpstr>
      <vt:lpstr>Преобразования типов</vt:lpstr>
      <vt:lpstr>Презентация PowerPoint</vt:lpstr>
      <vt:lpstr>Преобразования типов</vt:lpstr>
      <vt:lpstr>Презентация PowerPoint</vt:lpstr>
      <vt:lpstr>Преобразования типов</vt:lpstr>
      <vt:lpstr>Преобразования типов</vt:lpstr>
      <vt:lpstr>Презентация PowerPoint</vt:lpstr>
      <vt:lpstr>Преобразования типов</vt:lpstr>
      <vt:lpstr>Преобразования типов</vt:lpstr>
      <vt:lpstr>Поразрядные операции</vt:lpstr>
      <vt:lpstr>Преобразования типов</vt:lpstr>
      <vt:lpstr>Поразрядные операции</vt:lpstr>
      <vt:lpstr>Поразрядные операции</vt:lpstr>
      <vt:lpstr>Поразрядные операции</vt:lpstr>
      <vt:lpstr>Поразрядные операции</vt:lpstr>
      <vt:lpstr>Выражения</vt:lpstr>
      <vt:lpstr>using. Подключение пространств имен и определение псевдонимов</vt:lpstr>
      <vt:lpstr>Презентация PowerPoint</vt:lpstr>
      <vt:lpstr>Презентация PowerPoint</vt:lpstr>
      <vt:lpstr>Операции присваивания</vt:lpstr>
      <vt:lpstr>Операции присваивания</vt:lpstr>
      <vt:lpstr>Презентация PowerPoint</vt:lpstr>
      <vt:lpstr>Презентация PowerPoint</vt:lpstr>
      <vt:lpstr>Условные выражения</vt:lpstr>
      <vt:lpstr>Условные выражения</vt:lpstr>
      <vt:lpstr>Презентация PowerPoint</vt:lpstr>
      <vt:lpstr>Вывод в консоль </vt:lpstr>
      <vt:lpstr>Логические операции</vt:lpstr>
      <vt:lpstr>Логические операции</vt:lpstr>
      <vt:lpstr>Логические операции</vt:lpstr>
      <vt:lpstr>Логические операции</vt:lpstr>
      <vt:lpstr>Перечисления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Условные выражения</vt:lpstr>
      <vt:lpstr>Конструкция switch-case</vt:lpstr>
      <vt:lpstr>Конструкция switch-case</vt:lpstr>
      <vt:lpstr>Конструкция switch-case</vt:lpstr>
      <vt:lpstr>Конструкция switch-case</vt:lpstr>
      <vt:lpstr>Конструкция switch-case</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Циклы</vt:lpstr>
      <vt:lpstr>Презентация PowerPoint</vt:lpstr>
      <vt:lpstr>Область видимости</vt:lpstr>
      <vt:lpstr>Область видимости</vt:lpstr>
      <vt:lpstr>Область видимости</vt:lpstr>
      <vt:lpstr>Область видимости</vt:lpstr>
      <vt:lpstr>Область видимости</vt:lpstr>
      <vt:lpstr>Презентация PowerPoint</vt:lpstr>
      <vt:lpstr>Презентация PowerPoint</vt:lpstr>
      <vt:lpstr>Задачи</vt:lpstr>
      <vt:lpstr>Задачи</vt:lpstr>
      <vt:lpstr>Задачи</vt:lpstr>
      <vt:lpstr>Задачи</vt:lpstr>
      <vt:lpstr>Задачи</vt:lpstr>
      <vt:lpstr>Задачи</vt:lpstr>
      <vt:lpstr>Задачи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Указатели</vt:lpstr>
      <vt:lpstr>Массивы</vt:lpstr>
      <vt:lpstr>Массивы</vt:lpstr>
      <vt:lpstr>Массивы</vt:lpstr>
      <vt:lpstr>Массивы</vt:lpstr>
      <vt:lpstr>Массивы</vt:lpstr>
      <vt:lpstr>Массивы</vt:lpstr>
      <vt:lpstr>Массивы</vt:lpstr>
      <vt:lpstr>Массивы</vt:lpstr>
      <vt:lpstr>Массивы</vt:lpstr>
      <vt:lpstr>Многомерные Массивы</vt:lpstr>
      <vt:lpstr>Многомерные Массивы</vt:lpstr>
      <vt:lpstr>Многомерные Массивы</vt:lpstr>
      <vt:lpstr>Многомерные Массивы</vt:lpstr>
      <vt:lpstr>Многомерные Массивы</vt:lpstr>
      <vt:lpstr>Многомерные Массивы</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и указатели</vt:lpstr>
      <vt:lpstr>Массивы символов</vt:lpstr>
      <vt:lpstr>Массивы символов</vt:lpstr>
      <vt:lpstr>Массивы символов</vt:lpstr>
      <vt:lpstr>Массивы символов</vt:lpstr>
      <vt:lpstr>Массивы символов</vt:lpstr>
      <vt:lpstr>Массивы символов</vt:lpstr>
      <vt:lpstr>Введение в строки</vt:lpstr>
      <vt:lpstr>Введение в строки</vt:lpstr>
      <vt:lpstr>Введение в строки</vt:lpstr>
      <vt:lpstr>Введение в строки</vt:lpstr>
      <vt:lpstr>Введение в строки</vt:lpstr>
      <vt:lpstr>Введение в строки</vt:lpstr>
      <vt:lpstr>Ссылки</vt:lpstr>
      <vt:lpstr>Ссылки</vt:lpstr>
      <vt:lpstr>Ссылки</vt:lpstr>
      <vt:lpstr>Ссылки</vt:lpstr>
      <vt:lpstr>Ссылки</vt:lpstr>
      <vt:lpstr>Ссылки</vt:lpstr>
      <vt:lpstr>Функции</vt:lpstr>
      <vt:lpstr>Функции</vt:lpstr>
      <vt:lpstr>Функции</vt:lpstr>
      <vt:lpstr>Функции</vt:lpstr>
      <vt:lpstr>Презентация PowerPoint</vt:lpstr>
      <vt:lpstr>Презентация PowerPoint</vt:lpstr>
      <vt:lpstr>Презентация PowerPoint</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Область видимости объектов</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Параметры функций</vt:lpstr>
      <vt:lpstr>Оператор return и возвращение результата</vt:lpstr>
      <vt:lpstr>Презентация PowerPoint</vt:lpstr>
      <vt:lpstr>Оператор return и возвращение результата</vt:lpstr>
      <vt:lpstr>Выведение типа результата</vt:lpstr>
      <vt:lpstr>Указатели в параметрах функции</vt:lpstr>
      <vt:lpstr>Указатели в параметрах функции</vt:lpstr>
      <vt:lpstr>Указатели в параметрах функции</vt:lpstr>
      <vt:lpstr>Константные параметры-указатели</vt:lpstr>
      <vt:lpstr>Константные параметры-указатели</vt:lpstr>
      <vt:lpstr>Константные параметры-указатели</vt:lpstr>
      <vt:lpstr>Массивы в параметрах функции</vt:lpstr>
      <vt:lpstr>Массивы в параметрах функции</vt:lpstr>
      <vt:lpstr>Массивы в параметрах функции</vt:lpstr>
      <vt:lpstr>Ограничения</vt:lpstr>
      <vt:lpstr>Ограничения</vt:lpstr>
      <vt:lpstr>Передача маркера конца массива</vt:lpstr>
      <vt:lpstr>Передача маркера конца массива</vt:lpstr>
      <vt:lpstr>Передача маркера конца массива</vt:lpstr>
      <vt:lpstr>Константные массивы</vt:lpstr>
      <vt:lpstr>Передача массив по ссылке</vt:lpstr>
      <vt:lpstr>Передача многомерного массива</vt:lpstr>
      <vt:lpstr>Параметры функции main</vt:lpstr>
      <vt:lpstr>Параметры функции main</vt:lpstr>
      <vt:lpstr>Возвращение указателя</vt:lpstr>
      <vt:lpstr>Возвращение указателя</vt:lpstr>
      <vt:lpstr>Возвращение ссылки</vt:lpstr>
      <vt:lpstr>Перегрузка функций</vt:lpstr>
      <vt:lpstr>Перегрузка функций</vt:lpstr>
      <vt:lpstr>Перегрузка функций</vt:lpstr>
      <vt:lpstr>Перегрузка функций и параметрами-ссылки</vt:lpstr>
      <vt:lpstr>Перегрузка и параметры-константы</vt:lpstr>
      <vt:lpstr>Перегрузка и параметры-константы</vt:lpstr>
      <vt:lpstr>Рекурсивные функции</vt:lpstr>
      <vt:lpstr>Рекурсивные функции</vt:lpstr>
      <vt:lpstr>Рекурсивные функции</vt:lpstr>
      <vt:lpstr>Рекурсивные функции</vt:lpstr>
      <vt:lpstr>Рекурсивные функции</vt:lpstr>
      <vt:lpstr>Указатели на функции как параметры</vt:lpstr>
      <vt:lpstr>Указатели на функции как параметры</vt:lpstr>
      <vt:lpstr>Определение и инициализация указателя</vt:lpstr>
      <vt:lpstr>Определение и инициализация указателя</vt:lpstr>
      <vt:lpstr>Определение и инициализация указателя</vt:lpstr>
      <vt:lpstr>Указатель на функцию с параметрами</vt:lpstr>
      <vt:lpstr>Массивы указателей на функции</vt:lpstr>
      <vt:lpstr>Массивы указателей на функции</vt:lpstr>
      <vt:lpstr>Указатели на функции как параметры</vt:lpstr>
      <vt:lpstr>Тип функции</vt:lpstr>
      <vt:lpstr>Тип функции</vt:lpstr>
      <vt:lpstr>Тип функции</vt:lpstr>
      <vt:lpstr>Указатель на функцию как возвращаемое значение</vt:lpstr>
      <vt:lpstr>Указатель на функцию как возвращаемое значение</vt:lpstr>
      <vt:lpstr>Указатель на функцию как возвращаемое значение</vt:lpstr>
      <vt:lpstr>Указатель на функцию как возвращаемое значение</vt:lpstr>
      <vt:lpstr>Разделение программы на файлы</vt:lpstr>
      <vt:lpstr>Разделение программы на файлы</vt:lpstr>
      <vt:lpstr>Разделение программы на файлы</vt:lpstr>
      <vt:lpstr>Внешние объекты</vt:lpstr>
      <vt:lpstr>Внешние объекты</vt:lpstr>
      <vt:lpstr>Внешние объекты</vt:lpstr>
      <vt:lpstr>Вынесение объявления в заголовочные файлы</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Динамическая память</vt:lpstr>
      <vt:lpstr>Динамические массивы</vt:lpstr>
      <vt:lpstr>Динамические массивы</vt:lpstr>
      <vt:lpstr>Динамические массивы</vt:lpstr>
      <vt:lpstr>Динамические массивы</vt:lpstr>
      <vt:lpstr>Динамические массивы</vt:lpstr>
      <vt:lpstr>Динамические массивы</vt:lpstr>
      <vt:lpstr>Многомерные динамические массивы</vt:lpstr>
      <vt:lpstr>Многомерные динамические массивы</vt:lpstr>
      <vt:lpstr>Указатель на массив</vt:lpstr>
      <vt:lpstr>Smart-указатели. unique_ptr&lt;T&gt;</vt:lpstr>
      <vt:lpstr>unique_ptr&lt;T&gt;</vt:lpstr>
      <vt:lpstr>unique_ptr&lt;T&gt;</vt:lpstr>
      <vt:lpstr>unique_ptr&lt;T&gt;</vt:lpstr>
      <vt:lpstr>unique_ptr&lt;T&gt;</vt:lpstr>
      <vt:lpstr>unique_ptr&lt;T&gt;</vt:lpstr>
      <vt:lpstr>unique_ptr&lt;T&gt;</vt:lpstr>
      <vt:lpstr>unique_ptr&lt;T&gt;</vt:lpstr>
      <vt:lpstr>unique_ptr&lt;T&gt;</vt:lpstr>
      <vt:lpstr>shared_ptr&lt;T&gt;</vt:lpstr>
      <vt:lpstr>shared_ptr&lt;T&gt;</vt:lpstr>
      <vt:lpstr>shared_ptr&lt;T&gt;</vt:lpstr>
      <vt:lpstr>shared_ptr&lt;T&gt;</vt:lpstr>
      <vt:lpstr>shared_ptr&lt;T&gt;</vt:lpstr>
      <vt:lpstr>shared_ptr&lt;T&gt;</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Презентация PowerPoint</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Строки</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Шаблоны функций</vt:lpstr>
      <vt:lpstr>Презентация PowerPoint</vt:lpstr>
      <vt:lpstr>ИСКЛЮЧЕНИЯ</vt:lpstr>
      <vt:lpstr>ИСКЛЮЧЕНИЯ</vt:lpstr>
      <vt:lpstr>ИСКЛЮЧЕНИЯ</vt:lpstr>
      <vt:lpstr>ИСКЛЮЧЕНИЯ</vt:lpstr>
      <vt:lpstr>Обработка исключений</vt:lpstr>
      <vt:lpstr>Обработка исключений</vt:lpstr>
      <vt:lpstr>Обработка исключений</vt:lpstr>
      <vt:lpstr>Обработка исключений</vt:lpstr>
      <vt:lpstr>Создание объекта исключения</vt:lpstr>
      <vt:lpstr>Обработка и генерация разных типов исключений</vt:lpstr>
      <vt:lpstr>Вложенные try-catch</vt:lpstr>
      <vt:lpstr>Вложенные try-catch</vt:lpstr>
      <vt:lpstr>Вложенные try-catch</vt:lpstr>
      <vt:lpstr>Вложенные try-catch</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ПРЕПРОЦЕССОР</vt:lpstr>
      <vt:lpstr>Презентация PowerPoint</vt:lpstr>
      <vt:lpstr>Презентация PowerPoint</vt:lpstr>
      <vt:lpstr>Презентация PowerPoint</vt:lpstr>
      <vt:lpstr>Встроенные функции (C++)</vt:lpstr>
      <vt:lpstr>Встроенные функции (C++)</vt:lpstr>
      <vt:lpstr>Встроенные функции (C++)</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Структуры и объединения</vt:lpstr>
      <vt:lpstr>Сравнение С- и С++-структур</vt:lpstr>
      <vt:lpstr>Сравнение С- и С++-структур</vt:lpstr>
      <vt:lpstr>Объединения</vt:lpstr>
      <vt:lpstr>Презентация PowerPoint</vt:lpstr>
      <vt:lpstr>Презентация PowerPoint</vt:lpstr>
    </vt:vector>
  </TitlesOfParts>
  <Company>School51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man</dc:creator>
  <cp:lastModifiedBy>Еввгений</cp:lastModifiedBy>
  <cp:revision>161</cp:revision>
  <dcterms:created xsi:type="dcterms:W3CDTF">2014-10-02T05:45:48Z</dcterms:created>
  <dcterms:modified xsi:type="dcterms:W3CDTF">2025-12-21T22:19:31Z</dcterms:modified>
</cp:coreProperties>
</file>